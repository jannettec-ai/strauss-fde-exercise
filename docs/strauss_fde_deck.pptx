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51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Opening</a:t>
            </a:r>
          </a:p>
          <a:p>
            <a:r>
              <a:t>I built this prototype for the Strauss FDE take-home exercise. The brief was open: identify a high-value data problem and build something useful.</a:t>
            </a:r>
          </a:p>
          <a:p>
            <a:r>
              <a:t>I chose procurement negotiation prep because the Procurement Manager gave me the problem statement themselves: their team spends time before every supplier meeting on information assembly instead of judgment.</a:t>
            </a:r>
          </a:p>
          <a:p>
            <a:r>
              <a:t>The quote on the right is not fabricated - that framing, logistics vs judgment, is the product brief in one sentence.</a:t>
            </a:r>
          </a:p>
          <a:p>
            <a:r>
              <a:t>Anticipated Q: Why procurement prep and not a pricing dashboard?</a:t>
            </a:r>
          </a:p>
          <a:p>
            <a:r>
              <a:t>Because a pricing dashboard answers an adjacent problem. The stated pain point is prep time, not price visibility. Pricing is one input to the packet, not the centrepiece.</a:t>
            </a:r>
          </a:p>
          <a:p>
            <a:r>
              <a:t>Anticipated Q: Is this a real Strauss use case?</a:t>
            </a:r>
          </a:p>
          <a:p>
            <a:r>
              <a:t>No real data was used. All data is synthetic. The problem framing is representative of procurement team dynamics I researched.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Problem</a:t>
            </a:r>
          </a:p>
          <a:p>
            <a:r>
              <a:t>The three stat tiles are the quantified version of the problem: 1.5-3 hrs of manual prep per meeting, 7 meetings per month, 10-21 hours of information work per month across the team.</a:t>
            </a:r>
          </a:p>
          <a:p>
            <a:r>
              <a:t>The key phrase is 'information logistics' - the manager's own phrase. It draws a clear line: the tool removes logistics, not judgment.</a:t>
            </a:r>
          </a:p>
          <a:p>
            <a:r>
              <a:t>The four failure modes are specific and observable: wrong contract version, cold dispute threads, stale benchmarks, expired contracts not flagged. Each maps directly to a feature in the tool.</a:t>
            </a:r>
          </a:p>
          <a:p>
            <a:r>
              <a:t>Anticipated Q: How do you know it's 1.5-3 hours?</a:t>
            </a:r>
          </a:p>
          <a:p>
            <a:r>
              <a:t>Realistic breakdown: pulling emails (20-30 min), checking contract terms (20-30 min), finding price data (15-20 min), assembling notes (30-45 min). Range reflects variability across suppliers.</a:t>
            </a:r>
          </a:p>
          <a:p>
            <a:r>
              <a:t>Anticipated Q: How did you arrive at the 10-21 hrs total monthly range?</a:t>
            </a:r>
          </a:p>
          <a:p>
            <a:r>
              <a:t>Low end: 1.5 hrs x 7 meetings = 10.5 hrs, rounded to 10. High end: 3 hrs x 7 meetings = 21 hrs. That is the total prep burden across one analyst per month.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Stakeholder Map</a:t>
            </a:r>
          </a:p>
          <a:p>
            <a:r>
              <a:t>I mapped five stakeholders. The two that matter most for adoption are the Procurement Manager and the Procurement Analyst.</a:t>
            </a:r>
          </a:p>
          <a:p>
            <a:r>
              <a:t>The Manager is the strongest ally - they named the problem. But trust is fragile: one factual error in the first demo is harder to recover from than a slow start.</a:t>
            </a:r>
          </a:p>
          <a:p>
            <a:r>
              <a:t>The Analyst is the highest adoption risk. They won't say they feel threatened. They'll say the output is wrong. The answer is to involve them in Phase 1 QA and make corrections visibly their contribution.</a:t>
            </a:r>
          </a:p>
          <a:p>
            <a:r>
              <a:t>IT and Legal are not Day 1 blockers - the prototype touches no live systems - but they are critical Phase 2 gates. I flagged them now so they are not a last-minute surprise.</a:t>
            </a:r>
          </a:p>
          <a:p>
            <a:r>
              <a:t>Finance/CFO is a month-3 conversation. I bring the ROI case when I have actuals, not projections.</a:t>
            </a:r>
          </a:p>
          <a:p>
            <a:r>
              <a:t>Anticipated Q: What if the analyst refuses to use it?</a:t>
            </a:r>
          </a:p>
          <a:p>
            <a:r>
              <a:t>I involve them as co-owner from day one. Their correction flags drive prompt tuning - their input makes the tool better. That reframe changes the dynamic.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Week 1 Plan</a:t>
            </a:r>
          </a:p>
          <a:p>
            <a:r>
              <a:t>Before writing a single line of code, I do five things.</a:t>
            </a:r>
          </a:p>
          <a:p>
            <a:r>
              <a:t>1 - Shadow a real prep session. The stated process and the actual process are almost always different. I need to watch someone do it, not hear them describe it.</a:t>
            </a:r>
          </a:p>
          <a:p>
            <a:r>
              <a:t>2 - Interview the Manager separately. The key question is what has gone wrong in a meeting because prep was incomplete.</a:t>
            </a:r>
          </a:p>
          <a:p>
            <a:r>
              <a:t>3 - Audit the actual data sources. Read-only access to one email thread, one contract, one price spreadsheet. I cannot design a robust extraction layer without seeing the real messiness.</a:t>
            </a:r>
          </a:p>
          <a:p>
            <a:r>
              <a:t>4 - Work backwards from a perfect packet. Pick three upcoming meetings and ask what one page of perfect context would contain.</a:t>
            </a:r>
          </a:p>
          <a:p>
            <a:r>
              <a:t>5 - Agree on the first real meeting to demo against. This forces a commitment and ensures the first demo is something the manager actually cares about.</a:t>
            </a:r>
          </a:p>
          <a:p>
            <a:r>
              <a:t>Anticipated Q: Why five things before coding?</a:t>
            </a:r>
          </a:p>
          <a:p>
            <a:r>
              <a:t>Because the most common FDE failure mode is building the right product for the wrong problem. Week 1 is about validation, not velocity.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What I Built</a:t>
            </a:r>
          </a:p>
          <a:p>
            <a:r>
              <a:t>One tool. One job. One page per meeting.</a:t>
            </a:r>
          </a:p>
          <a:p>
            <a:r>
              <a:t>The product is an AI-generated briefing, produced automatically before every supplier meeting, pulling together email history, contract terms, and the commodity price benchmark - with every claim traceable to its source.</a:t>
            </a:r>
          </a:p>
          <a:p>
            <a:r>
              <a:t>Three data inputs: emails (6-month thread summary, open disputes, price quotes), contracts (payment terms, penalties, renewal dates), and prices (live commodity benchmark with 6-month change).</a:t>
            </a:r>
          </a:p>
          <a:p>
            <a:r>
              <a:t>Anticipated Q: Why one page?</a:t>
            </a:r>
          </a:p>
          <a:p>
            <a:r>
              <a:t>Because the Procurement Manager is walking into a meeting, not a reading session. The constraint forces prioritisation. If everything is important, nothing is.</a:t>
            </a:r>
          </a:p>
          <a:p>
            <a:r>
              <a:t>Anticipated Q: What happens when there are no emails or no contract?</a:t>
            </a:r>
          </a:p>
          <a:p>
            <a:r>
              <a:t>The tool flags the gap explicitly. Missing data surfaces as an open issue, not a silent omission.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What I Considered and Rejected</a:t>
            </a:r>
          </a:p>
          <a:p>
            <a:r>
              <a:t>Every design decision is a tradeoff. I want to be explicit about what I chose not to build and why.</a:t>
            </a:r>
          </a:p>
          <a:p>
            <a:r>
              <a:t>A standalone pricing dashboard: answers an adjacent problem, not the stated pain point. I folded pricing in as one input to the packet.</a:t>
            </a:r>
          </a:p>
          <a:p>
            <a:r>
              <a:t>A general tracking layer: better solved by a database than a model. I solve it indirectly - the packet pulls from accurate current contract terms.</a:t>
            </a:r>
          </a:p>
          <a:p>
            <a:r>
              <a:t>A live MCP connector in the prototype: unnecessary demo-day risk. I use a static CSV. MCP is documented as the production path.</a:t>
            </a:r>
          </a:p>
          <a:p>
            <a:r>
              <a:t>A vector store: premature at 8 suppliers and 111 emails. Right call at real scale. I call this out explicitly so it is clear I know when to add it.</a:t>
            </a:r>
          </a:p>
          <a:p>
            <a:r>
              <a:t>Full contract lifecycle management: too broad, not the stated pain point.</a:t>
            </a:r>
          </a:p>
          <a:p>
            <a:r>
              <a:t>Anticipated Q: Why not build the vector store now?</a:t>
            </a:r>
          </a:p>
          <a:p>
            <a:r>
              <a:t>At this data volume, it adds latency and complexity with no measurable improvement in extraction quality. The right threshold is roughly 50 or more suppliers or 1000 or more emails.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How It Works</a:t>
            </a:r>
          </a:p>
          <a:p>
            <a:r>
              <a:t>The left column is the prototype. The right column is what production looks like. This side-by-side is the architectural honesty of the build.</a:t>
            </a:r>
          </a:p>
          <a:p>
            <a:r>
              <a:t>Prototype: local JSON files (111 synthetic emails), markdown contracts, static CSV from yfinance. One Claude API call per supplier, fixed JSON schema, deterministic output. Not an agent.</a:t>
            </a:r>
          </a:p>
          <a:p>
            <a:r>
              <a:t>Production: Microsoft Graph API for emails, SharePoint plus OCR for contracts, Bloomberg or ICE for prices. MCP connectors as standard plumbing. BigQuery for structured facts, vector store for semantic email search. Claude shifts to a multi-turn agent loop.</a:t>
            </a:r>
          </a:p>
          <a:p>
            <a:r>
              <a:t>Key design decision: this is NOT an agent in the prototype. One deterministic Claude call with a fixed schema is right for this data volume and demo-day reliability requirement.</a:t>
            </a:r>
          </a:p>
          <a:p>
            <a:r>
              <a:t>Anticipated Q: Why not an agent for the prototype?</a:t>
            </a:r>
          </a:p>
          <a:p>
            <a:r>
              <a:t>An agent loop introduces non-determinism and latency that is unjustified for 8 suppliers and 111 emails. The agent architecture is the right answer at scale and is documented as the production path.</a:t>
            </a:r>
          </a:p>
          <a:p>
            <a:r>
              <a:t>Anticipated Q: What is the extraction prompt doing?</a:t>
            </a:r>
          </a:p>
          <a:p>
            <a:r>
              <a:t>It receives the full email thread and contract for a supplier and returns a structured JSON with open issues, price quotes, contract terms, and commodity commentary.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Demo: Home Dashboard</a:t>
            </a:r>
          </a:p>
          <a:p>
            <a:r>
              <a:t>The home dashboard makes zero API calls. Everything is computed locally from email and contract files.</a:t>
            </a:r>
          </a:p>
          <a:p>
            <a:r>
              <a:t>Four stat tiles: upcoming meetings, meetings this week, suppliers at risk, contract issues. Full meeting calendar with urgency badges. Supplier health grid across all 8 suppliers. Most recent email per supplier with inline preview.</a:t>
            </a:r>
          </a:p>
          <a:p>
            <a:r>
              <a:t>Design decision: this page loads in under 1 second, at any time, including 5 minutes before a meeting, with no cost or latency.</a:t>
            </a:r>
          </a:p>
          <a:p>
            <a:r>
              <a:t>Anticipated Q: How do you define supplier at risk?</a:t>
            </a:r>
          </a:p>
          <a:p>
            <a:r>
              <a:t>Based on the relationship health score: composite of response time trend plus communication volume. Flagged at risk if average response time is increasing or if there has been no contact in the last 30 days.</a:t>
            </a:r>
          </a:p>
          <a:p>
            <a:r>
              <a:t>Anticipated Q: What does contract issues count?</a:t>
            </a:r>
          </a:p>
          <a:p>
            <a:r>
              <a:t>Suppliers where KPI extraction found at least one open issue - price discrepancy, expired contract, unanswered dispute thread.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Demo: Supplier Profile</a:t>
            </a:r>
          </a:p>
          <a:p>
            <a:r>
              <a:t>The Supplier Profile page is the per-supplier depth view, accessible from a searchable directory.</a:t>
            </a:r>
          </a:p>
          <a:p>
            <a:r>
              <a:t>It shows relationship health score (green/amber/red), email activity chart for the last 12 months, responsiveness trend (early-half vs recent-half average response time), and a retention signal based on volume trend and days since last contact.</a:t>
            </a:r>
          </a:p>
          <a:p>
            <a:r>
              <a:t>The responsiveness trend is particularly useful: a supplier who was responding in 2 days but now takes 8 days is sending a signal before any explicit dispute.</a:t>
            </a:r>
          </a:p>
          <a:p>
            <a:r>
              <a:t>One-click shortcut to generate the meeting prep packet for that supplier from this page.</a:t>
            </a:r>
          </a:p>
          <a:p>
            <a:r>
              <a:t>Anticipated Q: How is the relationship health score calculated?</a:t>
            </a:r>
          </a:p>
          <a:p>
            <a:r>
              <a:t>Composite of average response time (weighted 60%) and communication volume trend (weighted 40%). Declining volume combined with increasing response time triggers a red score.</a:t>
            </a:r>
          </a:p>
          <a:p>
            <a:r>
              <a:t>Anticipated Q: Why search by name, category, and geography?</a:t>
            </a:r>
          </a:p>
          <a:p>
            <a:r>
              <a:t>The manager may be thinking regionally (all European suppliers this quarter) or by category (all cocoa suppliers before a price negotiation).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Demo: Meeting Prep Packet</a:t>
            </a:r>
          </a:p>
          <a:p>
            <a:r>
              <a:t>This is the core product. Select a meeting, click Generate Packet. One Claude API call, returns in 10-15 seconds.</a:t>
            </a:r>
          </a:p>
          <a:p>
            <a:r>
              <a:t>The packet contains: heads-up alert with the most critical issue, four KPI tiles (response time, open issues, price delta, days to renewal), colour-coded open issues list, email thread summary, contract at a glance, pricing section with delta calculation, commodity benchmark with 6-month change.</a:t>
            </a:r>
          </a:p>
          <a:p>
            <a:r>
              <a:t>The Galil Dairy demo case is the clearest example of value. The tool catches a price discrepancy the manager might have missed: supplier quoted NIS 15.50/kg in email, contract Section 4.2 caps at NIS 14.20/kg, no written amendment exists, delta +NIS 1.30/kg (+9.2%).</a:t>
            </a:r>
          </a:p>
          <a:p>
            <a:r>
              <a:t>Every fact has a Show source expander pointing to the exact email or contract section. Nothing is presented as ground truth.</a:t>
            </a:r>
          </a:p>
          <a:p>
            <a:r>
              <a:t>Anticipated Q: What if Claude gets a fact wrong?</a:t>
            </a:r>
          </a:p>
          <a:p>
            <a:r>
              <a:t>That is what source attribution is for. Every claim is checkable in one click. If the manager finds an error, they flag it and that correction feeds the extraction quality loop.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The Human in the Loop</a:t>
            </a:r>
          </a:p>
          <a:p>
            <a:r>
              <a:t>Four design principles that prevent the tool from being trusted blindly.</a:t>
            </a:r>
          </a:p>
          <a:p>
            <a:r>
              <a:t>First: source attribution on every field. Every number, date, and clause cites exactly where it came from. One click to verify.</a:t>
            </a:r>
          </a:p>
          <a:p>
            <a:r>
              <a:t>Second: explicit conflict flagging. When email and contract disagree, the packet surfaces both and flags the conflict. It never silently picks one. Galil Dairy price discrepancy and Siam Sugar unit ambiguity are live examples.</a:t>
            </a:r>
          </a:p>
          <a:p>
            <a:r>
              <a:t>Third: correction tracking built in. The manager can flag any field as wrong in the packet view. Corrections go to a log - this is the extraction quality feedback loop per metrics.md section 5.</a:t>
            </a:r>
          </a:p>
          <a:p>
            <a:r>
              <a:t>Fourth: the tool never acts. No emails sent, no contracts updated, no decisions taken. Every action stays with the human.</a:t>
            </a:r>
          </a:p>
          <a:p>
            <a:r>
              <a:t>Anticipated Q: How does this address Legal's concern about AI reading contracts?</a:t>
            </a:r>
          </a:p>
          <a:p>
            <a:r>
              <a:t>We frame the tool as surfaces for human review, not interprets and acts. The correction mechanism is the direct answer - the system has a visible trust mechanism and every fact is verifiable.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KPIs: Two Tiers</a:t>
            </a:r>
          </a:p>
          <a:p>
            <a:r>
              <a:t>I track two tiers of KPIs. Tier 1 measures adoption: is it being used? Tier 2 measures extraction quality: is it worth using?</a:t>
            </a:r>
          </a:p>
          <a:p>
            <a:r>
              <a:t>Tier 1: packets generated (primary adoption signal), unique suppliers queried (breadth), average generation time (performance target under 15 seconds), daily generation volume (growth or decline), per-supplier frequency (identifies adoption gaps).</a:t>
            </a:r>
          </a:p>
          <a:p>
            <a:r>
              <a:t>Tier 2 maps to the five KPIs in metrics.md: supplier response time, open issues count, price vs contract delta, days to contract renewal, and correction rate.</a:t>
            </a:r>
          </a:p>
          <a:p>
            <a:r>
              <a:t>The correction rate is the internal quality signal - it is not shown in the packet UI. High correction rate on a specific supplier or field type tells me the extraction prompt needs tuning.</a:t>
            </a:r>
          </a:p>
          <a:p>
            <a:r>
              <a:t>Anticipated Q: What does the correction rate formula look like?</a:t>
            </a:r>
          </a:p>
          <a:p>
            <a:r>
              <a:t>Fields flagged or corrected divided by total fields presented, expressed as a percentage. Tracked per supplier and in aggregate. Target under 10% by day 90.</a:t>
            </a:r>
          </a:p>
          <a:p>
            <a:r>
              <a:t>Anticipated Q: Why is Tier 2 called extraction quality and not accuracy?</a:t>
            </a:r>
          </a:p>
          <a:p>
            <a:r>
              <a:t>Because accuracy implies a ground truth. Extraction quality is measured relative to the manager's judgment - the correction rate is their direct signal.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KPI Data Inputs</a:t>
            </a:r>
          </a:p>
          <a:p>
            <a:r>
              <a:t>This slide maps exactly what data each metric reads, where it comes from, and who computes it.</a:t>
            </a:r>
          </a:p>
          <a:p>
            <a:r>
              <a:t>Section 1, Response Time: pure Python, no API. Reads email date and from fields, groups by thread, measures elapsed days between outbound Strauss emails and first inbound supplier reply.</a:t>
            </a:r>
          </a:p>
          <a:p>
            <a:r>
              <a:t>Section 2, Open Issues: the only metric that requires a Claude API call. Email body text and contract clause text fed to extraction.py, returns structured JSON with issue type, description, source reference, and status.</a:t>
            </a:r>
          </a:p>
          <a:p>
            <a:r>
              <a:t>Section 3, Price Delta: Claude extracts the latest quoted price from email body, Python computes the delta against contract base price locally.</a:t>
            </a:r>
          </a:p>
          <a:p>
            <a:r>
              <a:t>Section 4, Days to Renewal: pure Python date arithmetic, no API.</a:t>
            </a:r>
          </a:p>
          <a:p>
            <a:r>
              <a:t>Section 5, Correction Rate: UI interaction only. No model involved. Manager flags fields in the Streamlit UI, Python writes the correction log.</a:t>
            </a:r>
          </a:p>
          <a:p>
            <a:r>
              <a:t>Anticipated Q: Which metrics are free to run?</a:t>
            </a:r>
          </a:p>
          <a:p>
            <a:r>
              <a:t>Sections 1, 3, and 4 cost nothing. Section 2 is the only one with API cost, roughly one dollar per supplier per packet generation. Section 5 is only populated when the manager actively saves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Production Architecture</a:t>
            </a:r>
          </a:p>
          <a:p>
            <a:r>
              <a:t>The prototype has three simplifications: flat JSON files instead of live connectors, local extraction instead of a vector store, and SQLite instead of BigQuery. Every simplification is documented and justified.</a:t>
            </a:r>
          </a:p>
          <a:p>
            <a:r>
              <a:t>Production data sources: Microsoft Graph API for Outlook emails with push subscription on new mail, SharePoint connector with PDF extraction and OCR for contracts, Bloomberg or ICE for prices.</a:t>
            </a:r>
          </a:p>
          <a:p>
            <a:r>
              <a:t>Processing layer: MCP connector per source as standard plumbing, BigQuery for structured facts (contract terms, KPI values, price points), vector store (Vertex AI or Pinecone) for semantic email search at scale.</a:t>
            </a:r>
          </a:p>
          <a:p>
            <a:r>
              <a:t>Outputs: Streamlit or Teams tab, packet auto-delivered 24 hours before each meeting. FDE metrics pipeline using Pub/Sub to BigQuery events table with Looker or Data Studio dashboard.</a:t>
            </a:r>
          </a:p>
          <a:p>
            <a:r>
              <a:t>The extraction model evolves: from one Claude call with fixed schema to a multi-turn agent loop where Claude holds MCP tools per source and decides what to retrieve.</a:t>
            </a:r>
          </a:p>
          <a:p>
            <a:r>
              <a:t>Anticipated Q: When would you add the vector store?</a:t>
            </a:r>
          </a:p>
          <a:p>
            <a:r>
              <a:t>When email volume is high enough that keyword search on flat files starts missing context. Right threshold is roughly 50 or more suppliers or 1000 or more emails.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Rollout Plan</a:t>
            </a:r>
          </a:p>
          <a:p>
            <a:r>
              <a:t>Three phases: trust first, scale second.</a:t>
            </a:r>
          </a:p>
          <a:p>
            <a:r>
              <a:t>Phase 1, weeks 1-4: controlled pilot, one analyst, 2-3 suppliers. Analyst runs the tool, flags corrections, gives structured debrief after each meeting. Success gate: the packet catches one real issue the analyst would have missed.</a:t>
            </a:r>
          </a:p>
          <a:p>
            <a:r>
              <a:t>Phase 2, weeks 5-8: all 8 suppliers, full team, IT security review, calendar integration for auto-triggering 24 hours before each meeting, live data connectors for emails and contracts. Success gate: team uses packet without being reminded, correction rate under 10%.</a:t>
            </a:r>
          </a:p>
          <a:p>
            <a:r>
              <a:t>Phase 3, weeks 9-12: FDE handover. ROI case presented to Finance with 90-day actuals. Prompt tuning backlog based on correction_log.csv patterns. Roadmap for supplier segmentation, auto-renewal alerts, negotiation history.</a:t>
            </a:r>
          </a:p>
          <a:p>
            <a:r>
              <a:t>Anticipated Q: What if Phase 1 shows extraction quality is too low?</a:t>
            </a:r>
          </a:p>
          <a:p>
            <a:r>
              <a:t>I stop and retune the prompt before expanding. The correction rate KPI is the leading indicator. If it is above 20% after week 2, the extraction logic needs to change before we scale.</a:t>
            </a:r>
          </a:p>
          <a:p>
            <a:r>
              <a:t>Anticipated Q: Why only 2-3 suppliers in Phase 1?</a:t>
            </a:r>
          </a:p>
          <a:p>
            <a:r>
              <a:t>Because I need to see where the prompt fails before I commit to all 8. Different supplier email styles and contract formats will expose different extraction weaknesses.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Risks and Challenges</a:t>
            </a:r>
          </a:p>
          <a:p>
            <a:r>
              <a:t>I identified four risks: one technical, three organisational.</a:t>
            </a:r>
          </a:p>
          <a:p>
            <a:r>
              <a:t>Technical - extraction accuracy drift: Claude returns wrong contract terms or misses a dispute. Manager walks in with bad data. Mitigation: source attribution makes errors visible immediately, correction log tracks error rate by field and supplier, monthly prompt tuning cycle.</a:t>
            </a:r>
          </a:p>
          <a:p>
            <a:r>
              <a:t>Organisational - losing the internal champion: Procurement Manager changes roles. Mitigation: involve the analyst as co-owner from day one, tie the tool to a calendar event so it becomes automatic habit rather than an active choice.</a:t>
            </a:r>
          </a:p>
          <a:p>
            <a:r>
              <a:t>Organisational - low adoption from analysts: they use it but do not trust it, redo prep manually anyway. Mitigation: frame their role as reviewer not recipient, make corrections visibly their contribution, track adoption not just deployment.</a:t>
            </a:r>
          </a:p>
          <a:p>
            <a:r>
              <a:t>Organisational - scope creep: can it also do X requests accumulate before Phase 1 is proven. Mitigation: phase-gate firmly, everything goes into a Phase 2 backlog.</a:t>
            </a:r>
          </a:p>
          <a:p>
            <a:r>
              <a:t>Anticipated Q: What is the biggest risk?</a:t>
            </a:r>
          </a:p>
          <a:p>
            <a:r>
              <a:t>Low adoption from analysts. Technical accuracy can be improved iteratively. Loss of adoption after a bad first impression is much harder to recover.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Change Management</a:t>
            </a:r>
          </a:p>
          <a:p>
            <a:r>
              <a:t>Building the tool is 20% of the job. Getting people to use it is the other 80%.</a:t>
            </a:r>
          </a:p>
          <a:p>
            <a:r>
              <a:t>Three objection patterns and how I handle each.</a:t>
            </a:r>
          </a:p>
          <a:p>
            <a:r>
              <a:t>The output is wrong - from the Procurement Analyst. This is the displacement fear expressed as a quality objection. Counter: involve them in Phase 1 QA from day one, make the correction feature visibly theirs, frame their role as reviewer not recipient.</a:t>
            </a:r>
          </a:p>
          <a:p>
            <a:r>
              <a:t>I don't trust AI to read a contract - from Legal/Compliance. Counter: every fact has a source citation, the design is surfaces for human review not interprets and acts, show them the correction log as the visible trust mechanism.</a:t>
            </a:r>
          </a:p>
          <a:p>
            <a:r>
              <a:t>What does this cost and who owns it - from Finance and IT. Counter: Phase 1 API cost is approximately 15 dollars per month, nothing touches live systems, static file architecture minimises security surface, ROI case ready at month 3.</a:t>
            </a:r>
          </a:p>
          <a:p>
            <a:r>
              <a:t>Anticipated Q: What if Legal blocks it?</a:t>
            </a:r>
          </a:p>
          <a:p>
            <a:r>
              <a:t>I engage Legal early, before Phase 2, not as a last-minute ask. The argument is the same: every fact is verifiable and the tool never acts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Quick Wins and Enablement</a:t>
            </a:r>
          </a:p>
          <a:p>
            <a:r>
              <a:t>Quick wins in the first 30 days follow a weekly arc.</a:t>
            </a:r>
          </a:p>
          <a:p>
            <a:r>
              <a:t>Week 1: first real packet generated for an upcoming meeting. Manager reviews it live. One factual thing it got right that manual prep would have taken 30 minutes to find.</a:t>
            </a:r>
          </a:p>
          <a:p>
            <a:r>
              <a:t>Week 2: first open issue caught that was not on anyone's radar. The Galil Dairy price-cap violation is the template: a concrete catch establishes trust faster than any demo.</a:t>
            </a:r>
          </a:p>
          <a:p>
            <a:r>
              <a:t>Week 3: correction rate below 20%. Show the analyst the trend. That number going down is the proof the tool is learning from their feedback.</a:t>
            </a:r>
          </a:p>
          <a:p>
            <a:r>
              <a:t>Week 4: the manager walks into a meeting without having done any manual prep. That is the success signal.</a:t>
            </a:r>
          </a:p>
          <a:p>
            <a:r>
              <a:t>Training is not a deck or a webinar. Session 1 is 30 minutes in week 1: sit with the analyst, run the tool together on a real meeting, walk through every section, show the source expanders, show how to flag a correction. That is the entire training.</a:t>
            </a:r>
          </a:p>
          <a:p>
            <a:r>
              <a:t>Session 2 is 15 minutes in week 3: review the correction log together. Which fields did they flag? That is the prompt tuning input, framed as their feedback.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The ROI Case</a:t>
            </a:r>
          </a:p>
          <a:p>
            <a:r>
              <a:t>I anchor the ROI case on labor cost avoidance because it is conservative and auditable.</a:t>
            </a:r>
          </a:p>
          <a:p>
            <a:r>
              <a:t>The numbers: 135 minutes of prep per meeting reduced to 15 minutes (review packet plus flag corrections). 120 minutes saved per meeting. 7 meetings per month. 14 hours saved per analyst per month. At NIS 200 per hour fully-loaded cost: NIS 2,800 per analyst per month, NIS 8,400 across 3 analysts, roughly NIS 100,000 per year.</a:t>
            </a:r>
          </a:p>
          <a:p>
            <a:r>
              <a:t>The hourly rate is the key input to confirm with HR. The meeting count and prep time reduction are based on Phase 1 actuals - I replace the estimate with the real number at month 3.</a:t>
            </a:r>
          </a:p>
          <a:p>
            <a:r>
              <a:t>The Galil Dairy multiplier: tool caught a price discrepancy in the prep packet. Plus NIS 1.30/kg over contract cap, 22 tons per quarter, 88 tons per year unchallenged. That alone covers more than 3 years of tool cost.</a:t>
            </a:r>
          </a:p>
          <a:p>
            <a:r>
              <a:t>The market intelligence multiplier: cocoa spot fell 29% in 6 months. Ivoire Cacao was quoting above contract base. Manager armed with benchmark held the contract price for Q2. $400/ton x 35 tons = $14,000 avoided overpayment in one quarter, roughly NIS 52,000.</a:t>
            </a:r>
          </a:p>
          <a:p>
            <a:r>
              <a:t>How to present to CFO at month 3: lead with the NIS 100k labor number, add correction rate trend (trust improving), add open issues caught before meetings, then present the violations as the kicker - one example already found in pilot.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What's Next</a:t>
            </a:r>
          </a:p>
          <a:p>
            <a:r>
              <a:t>Four Phase 2 priorities, ordered by impact on core value.</a:t>
            </a:r>
          </a:p>
          <a:p>
            <a:r>
              <a:t>Priority 1: live email connector via Microsoft Graph API. This replaces synthetic data with real supplier threads. Scheduled pull, triggered before each meeting. Without this, the tool runs on synthetic data forever.</a:t>
            </a:r>
          </a:p>
          <a:p>
            <a:r>
              <a:t>Priority 2: SharePoint contract connector. Always the active version, not a stale copy. OCR pipeline for scanned PDFs. This closes the contract currency gap.</a:t>
            </a:r>
          </a:p>
          <a:p>
            <a:r>
              <a:t>Priority 3: persist the correction log into a prompt tuning cycle. The correction_log.csv already captures the data. Monthly review of which fields and which suppliers have high error rates, followed by extraction prompt update and accuracy benchmark re-run.</a:t>
            </a:r>
          </a:p>
          <a:p>
            <a:r>
              <a:t>Priority 4: supplier segmentation. Flag high-risk suppliers based on relationship health score. Auto-generate prep for every meeting, not just on-demand.</a:t>
            </a:r>
          </a:p>
          <a:p>
            <a:r>
              <a:t>The deliberately out-of-scope list is as important as the in-scope list. No negotiation strategy advice (human judgment stays human), no full contract lifecycle management (different problem, different tool), no live MCP connector in prototype (demo-day risk), no vector store in prototype (unjustified at 8 suppliers), no Teams integration (Phase 3, after trust is established).</a:t>
            </a:r>
          </a:p>
          <a:p>
            <a:r>
              <a:t>Anticipated Q: If you had 3 more weeks, what would you add?</a:t>
            </a:r>
          </a:p>
          <a:p>
            <a:r>
              <a:t>The live email connector. Real data with real messiness is where the extraction prompt will need the most tuning. Everything else depends on that being solid.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365760"/>
            <a:ext cx="4389120" cy="914400"/>
          </a:xfrm>
          <a:prstGeom prst="rect">
            <a:avLst/>
          </a:prstGeom>
          <a:noFill/>
        </p:spPr>
        <p:txBody>
          <a:bodyPr wrap="none">
            <a:spAutoFit/>
          </a:bodyPr>
          <a:lstStyle/>
          <a:p>
            <a:endParaRPr/>
          </a:p>
          <a:p>
            <a:pPr algn="l">
              <a:spcBef>
                <a:spcPts val="0"/>
              </a:spcBef>
              <a:spcAft>
                <a:spcPts val="0"/>
              </a:spcAft>
            </a:pPr>
            <a:r>
              <a:rPr sz="1800" b="1">
                <a:solidFill>
                  <a:srgbClr val="FFFFFF"/>
                </a:solidFill>
                <a:latin typeface="Calibri"/>
              </a:rPr>
              <a:t>STRAUSS GROUP</a:t>
            </a:r>
          </a:p>
        </p:txBody>
      </p:sp>
      <p:sp>
        <p:nvSpPr>
          <p:cNvPr id="4" name="TextBox 3"/>
          <p:cNvSpPr txBox="1"/>
          <p:nvPr/>
        </p:nvSpPr>
        <p:spPr>
          <a:xfrm>
            <a:off x="320040" y="1234440"/>
            <a:ext cx="4389120" cy="3200400"/>
          </a:xfrm>
          <a:prstGeom prst="rect">
            <a:avLst/>
          </a:prstGeom>
          <a:noFill/>
        </p:spPr>
        <p:txBody>
          <a:bodyPr wrap="square">
            <a:spAutoFit/>
          </a:bodyPr>
          <a:lstStyle/>
          <a:p>
            <a:endParaRPr/>
          </a:p>
          <a:p>
            <a:pPr algn="l">
              <a:spcBef>
                <a:spcPts val="0"/>
              </a:spcBef>
              <a:spcAft>
                <a:spcPts val="0"/>
              </a:spcAft>
            </a:pPr>
            <a:r>
              <a:rPr sz="3200" b="1">
                <a:solidFill>
                  <a:srgbClr val="FFFFFF"/>
                </a:solidFill>
                <a:latin typeface="Calibri"/>
              </a:rPr>
              <a:t>Negotiation Prep Intelligence</a:t>
            </a:r>
          </a:p>
          <a:p>
            <a:pPr>
              <a:spcBef>
                <a:spcPts val="1200"/>
              </a:spcBef>
            </a:pPr>
            <a:r>
              <a:rPr sz="1800">
                <a:solidFill>
                  <a:srgbClr val="F5C0C8"/>
                </a:solidFill>
                <a:latin typeface="Calibri"/>
              </a:rPr>
              <a:t>FDE Home Exercise</a:t>
            </a:r>
          </a:p>
        </p:txBody>
      </p:sp>
      <p:sp>
        <p:nvSpPr>
          <p:cNvPr id="5" name="TextBox 4"/>
          <p:cNvSpPr txBox="1"/>
          <p:nvPr/>
        </p:nvSpPr>
        <p:spPr>
          <a:xfrm>
            <a:off x="320040" y="5852160"/>
            <a:ext cx="4389120" cy="731520"/>
          </a:xfrm>
          <a:prstGeom prst="rect">
            <a:avLst/>
          </a:prstGeom>
          <a:noFill/>
        </p:spPr>
        <p:txBody>
          <a:bodyPr wrap="none">
            <a:spAutoFit/>
          </a:bodyPr>
          <a:lstStyle/>
          <a:p>
            <a:endParaRPr/>
          </a:p>
          <a:p>
            <a:pPr algn="l">
              <a:spcBef>
                <a:spcPts val="0"/>
              </a:spcBef>
              <a:spcAft>
                <a:spcPts val="0"/>
              </a:spcAft>
            </a:pPr>
            <a:r>
              <a:rPr sz="1300" b="0">
                <a:solidFill>
                  <a:srgbClr val="F5C0C8"/>
                </a:solidFill>
                <a:latin typeface="Calibri"/>
              </a:rPr>
              <a:t>Jannette · June 2026</a:t>
            </a:r>
          </a:p>
        </p:txBody>
      </p:sp>
      <p:sp>
        <p:nvSpPr>
          <p:cNvPr id="6" name="TextBox 5"/>
          <p:cNvSpPr txBox="1"/>
          <p:nvPr/>
        </p:nvSpPr>
        <p:spPr>
          <a:xfrm>
            <a:off x="5486400" y="2011680"/>
            <a:ext cx="6217920" cy="1569660"/>
          </a:xfrm>
          <a:prstGeom prst="rect">
            <a:avLst/>
          </a:prstGeom>
          <a:noFill/>
        </p:spPr>
        <p:txBody>
          <a:bodyPr wrap="square">
            <a:spAutoFit/>
          </a:bodyPr>
          <a:lstStyle/>
          <a:p>
            <a:endParaRPr dirty="0"/>
          </a:p>
          <a:p>
            <a:pPr algn="l">
              <a:spcBef>
                <a:spcPts val="0"/>
              </a:spcBef>
              <a:spcAft>
                <a:spcPts val="0"/>
              </a:spcAft>
            </a:pPr>
            <a:r>
              <a:rPr sz="2000" b="0" dirty="0">
                <a:solidFill>
                  <a:srgbClr val="555555"/>
                </a:solidFill>
                <a:latin typeface="Calibri"/>
              </a:rPr>
              <a:t>"I want my team spending their time on judgment
and relationships.
Not on logistics."</a:t>
            </a:r>
            <a:r>
              <a:rPr dirty="0"/>
              <a:t/>
            </a:r>
            <a:br>
              <a:rPr dirty="0"/>
            </a:br>
            <a:endParaRPr dirty="0"/>
          </a:p>
        </p:txBody>
      </p:sp>
      <p:sp>
        <p:nvSpPr>
          <p:cNvPr id="7" name="TextBox 6"/>
          <p:cNvSpPr txBox="1"/>
          <p:nvPr/>
        </p:nvSpPr>
        <p:spPr>
          <a:xfrm>
            <a:off x="5486400" y="4754880"/>
            <a:ext cx="2244525" cy="569387"/>
          </a:xfrm>
          <a:prstGeom prst="rect">
            <a:avLst/>
          </a:prstGeom>
          <a:noFill/>
        </p:spPr>
        <p:txBody>
          <a:bodyPr wrap="none">
            <a:spAutoFit/>
          </a:bodyPr>
          <a:lstStyle/>
          <a:p>
            <a:endParaRPr dirty="0"/>
          </a:p>
          <a:p>
            <a:pPr algn="l">
              <a:spcBef>
                <a:spcPts val="0"/>
              </a:spcBef>
              <a:spcAft>
                <a:spcPts val="0"/>
              </a:spcAft>
            </a:pPr>
            <a:r>
              <a:rPr sz="1300" b="0" dirty="0" smtClean="0">
                <a:solidFill>
                  <a:srgbClr val="555555"/>
                </a:solidFill>
                <a:latin typeface="Calibri"/>
              </a:rPr>
              <a:t>Strauss </a:t>
            </a:r>
            <a:r>
              <a:rPr sz="1300" b="0" dirty="0">
                <a:solidFill>
                  <a:srgbClr val="555555"/>
                </a:solidFill>
                <a:latin typeface="Calibri"/>
              </a:rPr>
              <a:t>Procurement Manager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Problem</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the procurement team is actually spending time on</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62600" y="1341120"/>
            <a:ext cx="1681038" cy="923330"/>
          </a:xfrm>
          <a:prstGeom prst="rect">
            <a:avLst/>
          </a:prstGeom>
          <a:noFill/>
        </p:spPr>
        <p:txBody>
          <a:bodyPr wrap="none">
            <a:spAutoFit/>
          </a:bodyPr>
          <a:lstStyle/>
          <a:p>
            <a:endParaRPr dirty="0"/>
          </a:p>
          <a:p>
            <a:pPr algn="ctr">
              <a:spcBef>
                <a:spcPts val="0"/>
              </a:spcBef>
              <a:spcAft>
                <a:spcPts val="0"/>
              </a:spcAft>
            </a:pPr>
            <a:r>
              <a:rPr lang="en-US" sz="3600" b="1" dirty="0">
                <a:solidFill>
                  <a:srgbClr val="C8102E"/>
                </a:solidFill>
                <a:latin typeface="Calibri"/>
              </a:rPr>
              <a:t>1.5–3 hrs</a:t>
            </a:r>
            <a:r>
              <a:rPr sz="3600" b="1" dirty="0" smtClean="0">
                <a:solidFill>
                  <a:srgbClr val="C8102E"/>
                </a:solidFill>
                <a:latin typeface="Calibri"/>
              </a:rPr>
              <a:t/>
            </a:r>
            <a:r>
              <a:rPr lang="en-US" sz="3600" b="1" dirty="0" smtClean="0">
                <a:solidFill>
                  <a:srgbClr val="C8102E"/>
                </a:solidFill>
                <a:latin typeface="Calibri"/>
              </a:rPr>
              <a:t/>
            </a:r>
            <a:r>
              <a:rPr lang="en-US" sz="3600" b="1" dirty="0" err="1" smtClean="0">
                <a:solidFill>
                  <a:srgbClr val="C8102E"/>
                </a:solidFill>
                <a:latin typeface="Calibri"/>
              </a:rPr>
              <a:t/>
            </a:r>
            <a:endParaRPr sz="3600" b="1" dirty="0">
              <a:solidFill>
                <a:srgbClr val="C8102E"/>
              </a:solidFill>
              <a:latin typeface="Calibri"/>
            </a:endParaRPr>
          </a:p>
        </p:txBody>
      </p:sp>
      <p:sp>
        <p:nvSpPr>
          <p:cNvPr id="9" name="TextBox 8"/>
          <p:cNvSpPr txBox="1"/>
          <p:nvPr/>
        </p:nvSpPr>
        <p:spPr>
          <a:xfrm>
            <a:off x="942930" y="1925360"/>
            <a:ext cx="2320379"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of manual prep
per meeting</a:t>
            </a:r>
            <a:r>
              <a:rPr dirty="0"/>
              <a:t/>
            </a:r>
            <a:br>
              <a:rPr dirty="0"/>
            </a:br>
            <a:endParaRPr dirty="0"/>
          </a:p>
        </p:txBody>
      </p:sp>
      <p:sp>
        <p:nvSpPr>
          <p:cNvPr id="10" name="Rectangle 9"/>
          <p:cNvSpPr/>
          <p:nvPr/>
        </p:nvSpPr>
        <p:spPr>
          <a:xfrm>
            <a:off x="4251959"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59411" y="1337310"/>
            <a:ext cx="1116011" cy="923330"/>
          </a:xfrm>
          <a:prstGeom prst="rect">
            <a:avLst/>
          </a:prstGeom>
          <a:noFill/>
        </p:spPr>
        <p:txBody>
          <a:bodyPr wrap="none">
            <a:spAutoFit/>
          </a:bodyPr>
          <a:lstStyle/>
          <a:p>
            <a:endParaRPr dirty="0"/>
          </a:p>
          <a:p>
            <a:pPr algn="ctr">
              <a:spcBef>
                <a:spcPts val="0"/>
              </a:spcBef>
              <a:spcAft>
                <a:spcPts val="0"/>
              </a:spcAft>
            </a:pPr>
            <a:r>
              <a:rPr lang="en-US" sz="3600" b="1" dirty="0" smtClean="0">
                <a:solidFill>
                  <a:srgbClr val="C8102E"/>
                </a:solidFill>
                <a:latin typeface="Calibri"/>
              </a:rPr>
              <a:t>~7</a:t>
            </a:r>
            <a:r>
              <a:rPr sz="3600" b="1" dirty="0" smtClean="0">
                <a:solidFill>
                  <a:srgbClr val="C8102E"/>
                </a:solidFill>
                <a:latin typeface="Calibri"/>
              </a:rPr>
              <a:t/>
            </a:r>
            <a:r>
              <a:rPr lang="en-US" sz="3600" b="1" dirty="0" smtClean="0">
                <a:solidFill>
                  <a:srgbClr val="C8102E"/>
                </a:solidFill>
                <a:latin typeface="Calibri"/>
              </a:rPr>
              <a:t/>
            </a:r>
            <a:endParaRPr sz="3600" b="1" dirty="0">
              <a:solidFill>
                <a:srgbClr val="C8102E"/>
              </a:solidFill>
              <a:latin typeface="Calibri"/>
            </a:endParaRPr>
          </a:p>
        </p:txBody>
      </p:sp>
      <p:sp>
        <p:nvSpPr>
          <p:cNvPr id="12" name="TextBox 11"/>
          <p:cNvSpPr txBox="1"/>
          <p:nvPr/>
        </p:nvSpPr>
        <p:spPr>
          <a:xfrm>
            <a:off x="4831664" y="1963420"/>
            <a:ext cx="2406749"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supplier meetings
per month</a:t>
            </a:r>
            <a:r>
              <a:rPr dirty="0"/>
              <a:t/>
            </a:r>
            <a:br>
              <a:rPr dirty="0"/>
            </a:br>
            <a:endParaRPr dirty="0"/>
          </a:p>
        </p:txBody>
      </p:sp>
      <p:sp>
        <p:nvSpPr>
          <p:cNvPr id="13" name="Rectangle 12"/>
          <p:cNvSpPr/>
          <p:nvPr/>
        </p:nvSpPr>
        <p:spPr>
          <a:xfrm>
            <a:off x="8183879" y="1280160"/>
            <a:ext cx="356616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3806" y="1341120"/>
            <a:ext cx="2342051" cy="923330"/>
          </a:xfrm>
          <a:prstGeom prst="rect">
            <a:avLst/>
          </a:prstGeom>
          <a:noFill/>
        </p:spPr>
        <p:txBody>
          <a:bodyPr wrap="none">
            <a:spAutoFit/>
          </a:bodyPr>
          <a:lstStyle/>
          <a:p>
            <a:endParaRPr dirty="0"/>
          </a:p>
          <a:p>
            <a:pPr algn="ctr">
              <a:spcBef>
                <a:spcPts val="0"/>
              </a:spcBef>
              <a:spcAft>
                <a:spcPts val="0"/>
              </a:spcAft>
            </a:pPr>
            <a:r>
              <a:rPr lang="en-US" sz="3600" b="1" dirty="0" smtClean="0">
                <a:solidFill>
                  <a:srgbClr val="C8102E"/>
                </a:solidFill>
                <a:latin typeface="Calibri"/>
              </a:rPr>
              <a:t>10–21 hrs</a:t>
            </a:r>
            <a:r>
              <a:rPr sz="3600" b="1" dirty="0" smtClean="0">
                <a:solidFill>
                  <a:srgbClr val="C8102E"/>
                </a:solidFill>
                <a:latin typeface="Calibri"/>
              </a:rPr>
              <a:t/>
            </a:r>
            <a:r>
              <a:rPr sz="3600" b="1" dirty="0" err="1">
                <a:solidFill>
                  <a:srgbClr val="C8102E"/>
                </a:solidFill>
                <a:latin typeface="Calibri"/>
              </a:rPr>
              <a:t/>
            </a:r>
            <a:endParaRPr sz="3600" b="1" dirty="0">
              <a:solidFill>
                <a:srgbClr val="C8102E"/>
              </a:solidFill>
              <a:latin typeface="Calibri"/>
            </a:endParaRPr>
          </a:p>
        </p:txBody>
      </p:sp>
      <p:sp>
        <p:nvSpPr>
          <p:cNvPr id="15" name="TextBox 14"/>
          <p:cNvSpPr txBox="1"/>
          <p:nvPr/>
        </p:nvSpPr>
        <p:spPr>
          <a:xfrm>
            <a:off x="8649969" y="1963420"/>
            <a:ext cx="2509726" cy="1046440"/>
          </a:xfrm>
          <a:prstGeom prst="rect">
            <a:avLst/>
          </a:prstGeom>
          <a:noFill/>
        </p:spPr>
        <p:txBody>
          <a:bodyPr wrap="none">
            <a:spAutoFit/>
          </a:bodyPr>
          <a:lstStyle/>
          <a:p>
            <a:endParaRPr dirty="0"/>
          </a:p>
          <a:p>
            <a:pPr algn="ctr">
              <a:spcBef>
                <a:spcPts val="0"/>
              </a:spcBef>
              <a:spcAft>
                <a:spcPts val="0"/>
              </a:spcAft>
            </a:pPr>
            <a:r>
              <a:rPr sz="1300" b="0" dirty="0">
                <a:solidFill>
                  <a:srgbClr val="555555"/>
                </a:solidFill>
                <a:latin typeface="Calibri"/>
              </a:rPr>
              <a:t>of information work
per month, per team</a:t>
            </a:r>
            <a:r>
              <a:rPr dirty="0"/>
              <a:t/>
            </a:r>
            <a:br>
              <a:rPr dirty="0"/>
            </a:br>
            <a:endParaRPr dirty="0"/>
          </a:p>
        </p:txBody>
      </p:sp>
      <p:sp>
        <p:nvSpPr>
          <p:cNvPr id="16" name="TextBox 15"/>
          <p:cNvSpPr txBox="1"/>
          <p:nvPr/>
        </p:nvSpPr>
        <p:spPr>
          <a:xfrm>
            <a:off x="320040" y="2971800"/>
            <a:ext cx="11521440" cy="548640"/>
          </a:xfrm>
          <a:prstGeom prst="rect">
            <a:avLst/>
          </a:prstGeom>
          <a:noFill/>
        </p:spPr>
        <p:txBody>
          <a:bodyPr wrap="none">
            <a:spAutoFit/>
          </a:bodyPr>
          <a:lstStyle/>
          <a:p>
            <a:endParaRPr dirty="0"/>
          </a:p>
          <a:p>
            <a:pPr algn="l">
              <a:spcBef>
                <a:spcPts val="0"/>
              </a:spcBef>
              <a:spcAft>
                <a:spcPts val="0"/>
              </a:spcAft>
            </a:pPr>
            <a:r>
              <a:rPr sz="1400" b="0" dirty="0">
                <a:solidFill>
                  <a:srgbClr val="1A1A1A"/>
                </a:solidFill>
                <a:latin typeface="Calibri"/>
              </a:rPr>
              <a:t>The Procurement Manager called it 'information logistics' — work that stands between the team and the judgment call they're paid to make.</a:t>
            </a:r>
          </a:p>
        </p:txBody>
      </p:sp>
      <p:sp>
        <p:nvSpPr>
          <p:cNvPr id="17" name="TextBox 16"/>
          <p:cNvSpPr txBox="1"/>
          <p:nvPr/>
        </p:nvSpPr>
        <p:spPr>
          <a:xfrm>
            <a:off x="320040" y="3611880"/>
            <a:ext cx="1152144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Four ways the manual process fails consistently:</a:t>
            </a:r>
          </a:p>
        </p:txBody>
      </p:sp>
      <p:sp>
        <p:nvSpPr>
          <p:cNvPr id="18" name="TextBox 17"/>
          <p:cNvSpPr txBox="1"/>
          <p:nvPr/>
        </p:nvSpPr>
        <p:spPr>
          <a:xfrm>
            <a:off x="320040" y="4194556"/>
            <a:ext cx="11521440" cy="2560320"/>
          </a:xfrm>
          <a:prstGeom prst="rect">
            <a:avLst/>
          </a:prstGeom>
          <a:noFill/>
        </p:spPr>
        <p:txBody>
          <a:bodyPr wrap="square">
            <a:spAutoFit/>
          </a:bodyPr>
          <a:lstStyle/>
          <a:p>
            <a:pPr algn="l">
              <a:spcBef>
                <a:spcPts val="600"/>
              </a:spcBef>
            </a:pPr>
            <a:r>
              <a:rPr sz="1300">
                <a:solidFill>
                  <a:srgbClr val="1A1A1A"/>
                </a:solidFill>
                <a:latin typeface="Calibri"/>
              </a:rPr>
              <a:t>❶  Wrong contract version pulled → missed penalty clause before negotiation</a:t>
            </a:r>
          </a:p>
          <a:p>
            <a:pPr algn="l">
              <a:spcBef>
                <a:spcPts val="600"/>
              </a:spcBef>
            </a:pPr>
            <a:r>
              <a:rPr sz="1300">
                <a:solidFill>
                  <a:srgbClr val="1A1A1A"/>
                </a:solidFill>
                <a:latin typeface="Calibri"/>
              </a:rPr>
              <a:t>❷  Open dispute threads go cold → unresolved delivery or quality issues forgotten by next meeting</a:t>
            </a:r>
          </a:p>
          <a:p>
            <a:pPr algn="l">
              <a:spcBef>
                <a:spcPts val="600"/>
              </a:spcBef>
            </a:pPr>
            <a:r>
              <a:rPr sz="1300">
                <a:solidFill>
                  <a:srgbClr val="1A1A1A"/>
                </a:solidFill>
                <a:latin typeface="Calibri"/>
              </a:rPr>
              <a:t>❸  Benchmark data stale → manager walks into cocoa or sugar negotiation without knowing where market moved</a:t>
            </a:r>
          </a:p>
          <a:p>
            <a:pPr algn="l">
              <a:spcBef>
                <a:spcPts val="600"/>
              </a:spcBef>
            </a:pPr>
            <a:r>
              <a:rPr sz="1300">
                <a:solidFill>
                  <a:srgbClr val="1A1A1A"/>
                </a:solidFill>
                <a:latin typeface="Calibri"/>
              </a:rPr>
              <a:t>❹  Expired contract not flagged → team operates on informal terms for months before anyone notices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Stakeholder Map</a:t>
            </a:r>
          </a:p>
        </p:txBody>
      </p:sp>
      <p:sp>
        <p:nvSpPr>
          <p:cNvPr id="4" name="TextBox 3"/>
          <p:cNvSpPr txBox="1"/>
          <p:nvPr/>
        </p:nvSpPr>
        <p:spPr>
          <a:xfrm>
            <a:off x="182880" y="685800"/>
            <a:ext cx="3847913" cy="569387"/>
          </a:xfrm>
          <a:prstGeom prst="rect">
            <a:avLst/>
          </a:prstGeom>
          <a:noFill/>
        </p:spPr>
        <p:txBody>
          <a:bodyPr wrap="none">
            <a:spAutoFit/>
          </a:bodyPr>
          <a:lstStyle/>
          <a:p>
            <a:endParaRPr dirty="0"/>
          </a:p>
          <a:p>
            <a:pPr algn="l">
              <a:spcBef>
                <a:spcPts val="0"/>
              </a:spcBef>
              <a:spcAft>
                <a:spcPts val="0"/>
              </a:spcAft>
            </a:pPr>
            <a:r>
              <a:rPr sz="1300" b="0" dirty="0">
                <a:solidFill>
                  <a:srgbClr val="555555"/>
                </a:solidFill>
                <a:latin typeface="Calibri"/>
              </a:rPr>
              <a:t>Who uses this, who might resist, and my read on </a:t>
            </a:r>
            <a:r>
              <a:rPr sz="1300" b="0" dirty="0" smtClean="0">
                <a:solidFill>
                  <a:srgbClr val="555555"/>
                </a:solidFill>
                <a:latin typeface="Calibri"/>
              </a:rPr>
              <a:t>each</a:t>
            </a:r>
            <a:endParaRPr lang="en-US" sz="1300" b="0" dirty="0" smtClean="0">
              <a:solidFill>
                <a:srgbClr val="555555"/>
              </a:solidFill>
              <a:latin typeface="Calibri"/>
            </a:endParaRP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146304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1721612"/>
            <a:ext cx="135331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Stakeholder</a:t>
            </a:r>
          </a:p>
        </p:txBody>
      </p:sp>
      <p:sp>
        <p:nvSpPr>
          <p:cNvPr id="9" name="Rectangle 8"/>
          <p:cNvSpPr/>
          <p:nvPr/>
        </p:nvSpPr>
        <p:spPr>
          <a:xfrm>
            <a:off x="1737360" y="1170432"/>
            <a:ext cx="182880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10512" y="1216152"/>
            <a:ext cx="171907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Role</a:t>
            </a:r>
          </a:p>
        </p:txBody>
      </p:sp>
      <p:sp>
        <p:nvSpPr>
          <p:cNvPr id="11" name="Rectangle 10"/>
          <p:cNvSpPr/>
          <p:nvPr/>
        </p:nvSpPr>
        <p:spPr>
          <a:xfrm>
            <a:off x="3657600" y="1170432"/>
            <a:ext cx="228600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30752" y="1216152"/>
            <a:ext cx="217627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What they need</a:t>
            </a:r>
          </a:p>
        </p:txBody>
      </p:sp>
      <p:sp>
        <p:nvSpPr>
          <p:cNvPr id="13" name="Rectangle 12"/>
          <p:cNvSpPr/>
          <p:nvPr/>
        </p:nvSpPr>
        <p:spPr>
          <a:xfrm>
            <a:off x="6035040" y="1170432"/>
            <a:ext cx="5577840" cy="41148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08192" y="1216152"/>
            <a:ext cx="5468112" cy="338328"/>
          </a:xfrm>
          <a:prstGeom prst="rect">
            <a:avLst/>
          </a:prstGeom>
          <a:noFill/>
        </p:spPr>
        <p:txBody>
          <a:bodyPr wrap="square">
            <a:spAutoFit/>
          </a:bodyPr>
          <a:lstStyle/>
          <a:p>
            <a:endParaRPr/>
          </a:p>
          <a:p>
            <a:pPr algn="l">
              <a:spcBef>
                <a:spcPts val="0"/>
              </a:spcBef>
              <a:spcAft>
                <a:spcPts val="0"/>
              </a:spcAft>
            </a:pPr>
            <a:r>
              <a:rPr sz="1000" b="1">
                <a:solidFill>
                  <a:srgbClr val="FFFFFF"/>
                </a:solidFill>
                <a:latin typeface="Calibri"/>
              </a:rPr>
              <a:t>My read</a:t>
            </a:r>
          </a:p>
        </p:txBody>
      </p:sp>
      <p:sp>
        <p:nvSpPr>
          <p:cNvPr id="15" name="Rectangle 14"/>
          <p:cNvSpPr/>
          <p:nvPr/>
        </p:nvSpPr>
        <p:spPr>
          <a:xfrm>
            <a:off x="182880" y="2249424"/>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7744" y="2020570"/>
            <a:ext cx="1353312" cy="914400"/>
          </a:xfrm>
          <a:prstGeom prst="rect">
            <a:avLst/>
          </a:prstGeom>
          <a:noFill/>
        </p:spPr>
        <p:txBody>
          <a:bodyPr wrap="square">
            <a:spAutoFit/>
          </a:bodyPr>
          <a:lstStyle/>
          <a:p>
            <a:endParaRPr dirty="0"/>
          </a:p>
          <a:p>
            <a:pPr algn="l">
              <a:spcBef>
                <a:spcPts val="0"/>
              </a:spcBef>
              <a:spcAft>
                <a:spcPts val="0"/>
              </a:spcAft>
            </a:pPr>
            <a:r>
              <a:rPr sz="1100" b="1" dirty="0">
                <a:solidFill>
                  <a:srgbClr val="C8102E"/>
                </a:solidFill>
                <a:latin typeface="Calibri"/>
              </a:rPr>
              <a:t>Procurement
Manager</a:t>
            </a:r>
            <a:r>
              <a:rPr dirty="0"/>
              <a:t/>
            </a:r>
            <a:br>
              <a:rPr dirty="0"/>
            </a:br>
            <a:r>
              <a:rPr dirty="0" err="1"/>
              <a:t>Manager</a:t>
            </a:r>
            <a:endParaRPr dirty="0"/>
          </a:p>
        </p:txBody>
      </p:sp>
      <p:sp>
        <p:nvSpPr>
          <p:cNvPr id="17" name="Rectangle 16"/>
          <p:cNvSpPr/>
          <p:nvPr/>
        </p:nvSpPr>
        <p:spPr>
          <a:xfrm>
            <a:off x="1737360" y="2249424"/>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10512" y="2041144"/>
            <a:ext cx="1719072" cy="914400"/>
          </a:xfrm>
          <a:prstGeom prst="rect">
            <a:avLst/>
          </a:prstGeom>
          <a:noFill/>
        </p:spPr>
        <p:txBody>
          <a:bodyPr wrap="square">
            <a:spAutoFit/>
          </a:bodyPr>
          <a:lstStyle/>
          <a:p>
            <a:endParaRPr dirty="0"/>
          </a:p>
          <a:p>
            <a:pPr algn="l">
              <a:spcBef>
                <a:spcPts val="0"/>
              </a:spcBef>
              <a:spcAft>
                <a:spcPts val="0"/>
              </a:spcAft>
            </a:pPr>
            <a:r>
              <a:rPr sz="1100" b="0" dirty="0">
                <a:solidFill>
                  <a:srgbClr val="1A1A1A"/>
                </a:solidFill>
                <a:latin typeface="Calibri"/>
              </a:rPr>
              <a:t>Primary user
Internal champion</a:t>
            </a:r>
            <a:r>
              <a:rPr dirty="0"/>
              <a:t/>
            </a:r>
            <a:br>
              <a:rPr dirty="0"/>
            </a:br>
            <a:r>
              <a:rPr dirty="0"/>
              <a:t>Internal champion</a:t>
            </a:r>
          </a:p>
        </p:txBody>
      </p:sp>
      <p:sp>
        <p:nvSpPr>
          <p:cNvPr id="19" name="Rectangle 18"/>
          <p:cNvSpPr/>
          <p:nvPr/>
        </p:nvSpPr>
        <p:spPr>
          <a:xfrm>
            <a:off x="3657600" y="2249424"/>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12464" y="2020570"/>
            <a:ext cx="2176272" cy="914400"/>
          </a:xfrm>
          <a:prstGeom prst="rect">
            <a:avLst/>
          </a:prstGeom>
          <a:noFill/>
        </p:spPr>
        <p:txBody>
          <a:bodyPr wrap="square">
            <a:spAutoFit/>
          </a:bodyPr>
          <a:lstStyle/>
          <a:p>
            <a:endParaRPr dirty="0"/>
          </a:p>
          <a:p>
            <a:pPr algn="l">
              <a:spcBef>
                <a:spcPts val="0"/>
              </a:spcBef>
              <a:spcAft>
                <a:spcPts val="0"/>
              </a:spcAft>
            </a:pPr>
            <a:r>
              <a:rPr sz="1100" b="0" dirty="0">
                <a:solidFill>
                  <a:srgbClr val="1A1A1A"/>
                </a:solidFill>
                <a:latin typeface="Calibri"/>
              </a:rPr>
              <a:t>Speed + accuracy
Visible conflict flags</a:t>
            </a:r>
            <a:r>
              <a:rPr dirty="0"/>
              <a:t/>
            </a:r>
            <a:br>
              <a:rPr dirty="0"/>
            </a:br>
            <a:r>
              <a:rPr dirty="0"/>
              <a:t>Visible conflict flags</a:t>
            </a:r>
          </a:p>
        </p:txBody>
      </p:sp>
      <p:sp>
        <p:nvSpPr>
          <p:cNvPr id="21" name="Rectangle 20"/>
          <p:cNvSpPr/>
          <p:nvPr/>
        </p:nvSpPr>
        <p:spPr>
          <a:xfrm>
            <a:off x="6035040" y="2249424"/>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89904" y="1957070"/>
            <a:ext cx="5468112" cy="914400"/>
          </a:xfrm>
          <a:prstGeom prst="rect">
            <a:avLst/>
          </a:prstGeom>
          <a:noFill/>
        </p:spPr>
        <p:txBody>
          <a:bodyPr wrap="square">
            <a:spAutoFit/>
          </a:bodyPr>
          <a:lstStyle/>
          <a:p>
            <a:endParaRPr dirty="0"/>
          </a:p>
          <a:p>
            <a:pPr algn="l">
              <a:spcBef>
                <a:spcPts val="0"/>
              </a:spcBef>
              <a:spcAft>
                <a:spcPts val="0"/>
              </a:spcAft>
            </a:pPr>
            <a:r>
              <a:rPr sz="1000" b="0" dirty="0">
                <a:solidFill>
                  <a:srgbClr val="1A1A1A"/>
                </a:solidFill>
                <a:latin typeface="Calibri"/>
              </a:rPr>
              <a:t>Strongest ally. Named the problem themselves.
Will adopt fast if first packet catches something real.
Risk: one factual error in demo = trust is hard to rebuild.</a:t>
            </a:r>
            <a:r>
              <a:rPr dirty="0"/>
              <a:t/>
            </a:r>
            <a:br>
              <a:rPr dirty="0"/>
            </a:br>
            <a:r>
              <a:rPr dirty="0"/>
              <a:t>Will adopt fast if first packet catches something real.</a:t>
            </a:r>
            <a:br>
              <a:rPr dirty="0"/>
            </a:br>
            <a:r>
              <a:rPr dirty="0"/>
              <a:t>Risk: one factual error in demo = trust is hard to rebuild.</a:t>
            </a:r>
          </a:p>
        </p:txBody>
      </p:sp>
      <p:sp>
        <p:nvSpPr>
          <p:cNvPr id="23" name="Rectangle 22"/>
          <p:cNvSpPr/>
          <p:nvPr/>
        </p:nvSpPr>
        <p:spPr>
          <a:xfrm>
            <a:off x="182880" y="3328415"/>
            <a:ext cx="14630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032" y="3374135"/>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Procurement
Analyst</a:t>
            </a:r>
            <a:r>
              <a:t/>
            </a:r>
            <a:br/>
            <a:r>
              <a:t>Analyst</a:t>
            </a:r>
          </a:p>
        </p:txBody>
      </p:sp>
      <p:sp>
        <p:nvSpPr>
          <p:cNvPr id="25" name="Rectangle 24"/>
          <p:cNvSpPr/>
          <p:nvPr/>
        </p:nvSpPr>
        <p:spPr>
          <a:xfrm>
            <a:off x="1737360" y="3328415"/>
            <a:ext cx="18288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10512" y="3374135"/>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Day-to-day user
QA reviewer</a:t>
            </a:r>
            <a:r>
              <a:t/>
            </a:r>
            <a:br/>
            <a:r>
              <a:t>QA reviewer</a:t>
            </a:r>
          </a:p>
        </p:txBody>
      </p:sp>
      <p:sp>
        <p:nvSpPr>
          <p:cNvPr id="27" name="Rectangle 26"/>
          <p:cNvSpPr/>
          <p:nvPr/>
        </p:nvSpPr>
        <p:spPr>
          <a:xfrm>
            <a:off x="3657600" y="3328415"/>
            <a:ext cx="2286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30752" y="3374135"/>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Reduction in manual work
Enough trust to stake prep on it</a:t>
            </a:r>
            <a:r>
              <a:t/>
            </a:r>
            <a:br/>
            <a:r>
              <a:t>Enough trust to stake prep on it</a:t>
            </a:r>
          </a:p>
        </p:txBody>
      </p:sp>
      <p:sp>
        <p:nvSpPr>
          <p:cNvPr id="29" name="Rectangle 28"/>
          <p:cNvSpPr/>
          <p:nvPr/>
        </p:nvSpPr>
        <p:spPr>
          <a:xfrm>
            <a:off x="6035040" y="3328415"/>
            <a:ext cx="55778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08192" y="3374135"/>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Highest adoption risk. Won't say they feel threatened.
Will say 'the output is wrong' or 'it adds a review step.'
Counter: involve them in Phase 1 QA. Make corrections visibly theirs.</a:t>
            </a:r>
            <a:r>
              <a:t/>
            </a:r>
            <a:br/>
            <a:r>
              <a:t>Will say 'the output is wrong' or 'it adds a review step.'</a:t>
            </a:r>
            <a:br/>
            <a:r>
              <a:t>Counter: involve them in Phase 1 QA. Make corrections visibly theirs.</a:t>
            </a:r>
          </a:p>
        </p:txBody>
      </p:sp>
      <p:sp>
        <p:nvSpPr>
          <p:cNvPr id="31" name="Rectangle 30"/>
          <p:cNvSpPr/>
          <p:nvPr/>
        </p:nvSpPr>
        <p:spPr>
          <a:xfrm>
            <a:off x="182880" y="4407408"/>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032" y="4453128"/>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IT / Systems</a:t>
            </a:r>
          </a:p>
        </p:txBody>
      </p:sp>
      <p:sp>
        <p:nvSpPr>
          <p:cNvPr id="33" name="Rectangle 32"/>
          <p:cNvSpPr/>
          <p:nvPr/>
        </p:nvSpPr>
        <p:spPr>
          <a:xfrm>
            <a:off x="1737360" y="4407408"/>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810512" y="4453128"/>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Enabler for
production path</a:t>
            </a:r>
            <a:r>
              <a:t/>
            </a:r>
            <a:br/>
            <a:r>
              <a:t>production path</a:t>
            </a:r>
          </a:p>
        </p:txBody>
      </p:sp>
      <p:sp>
        <p:nvSpPr>
          <p:cNvPr id="35" name="Rectangle 34"/>
          <p:cNvSpPr/>
          <p:nvPr/>
        </p:nvSpPr>
        <p:spPr>
          <a:xfrm>
            <a:off x="3657600" y="4407408"/>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30752" y="4453128"/>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Security review
Data governance
API key management</a:t>
            </a:r>
            <a:r>
              <a:t/>
            </a:r>
            <a:br/>
            <a:r>
              <a:t>Data governance</a:t>
            </a:r>
            <a:br/>
            <a:r>
              <a:t>API key management</a:t>
            </a:r>
          </a:p>
        </p:txBody>
      </p:sp>
      <p:sp>
        <p:nvSpPr>
          <p:cNvPr id="37" name="Rectangle 36"/>
          <p:cNvSpPr/>
          <p:nvPr/>
        </p:nvSpPr>
        <p:spPr>
          <a:xfrm>
            <a:off x="6035040" y="4407408"/>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08192" y="4453128"/>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Not a blocker for prototype (static files, nothing touches live systems).
Critical gating stakeholder for Phase 2.
Needs early visibility, not a last-minute ask.</a:t>
            </a:r>
            <a:r>
              <a:t/>
            </a:r>
            <a:br/>
            <a:r>
              <a:t>Critical gating stakeholder for Phase 2.</a:t>
            </a:r>
            <a:br/>
            <a:r>
              <a:t>Needs early visibility, not a last-minute ask.</a:t>
            </a:r>
          </a:p>
        </p:txBody>
      </p:sp>
      <p:sp>
        <p:nvSpPr>
          <p:cNvPr id="39" name="Rectangle 38"/>
          <p:cNvSpPr/>
          <p:nvPr/>
        </p:nvSpPr>
        <p:spPr>
          <a:xfrm>
            <a:off x="182880" y="5486400"/>
            <a:ext cx="14630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6032" y="5532120"/>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Legal /
Compliance</a:t>
            </a:r>
            <a:r>
              <a:t/>
            </a:r>
            <a:br/>
            <a:r>
              <a:t>Compliance</a:t>
            </a:r>
          </a:p>
        </p:txBody>
      </p:sp>
      <p:sp>
        <p:nvSpPr>
          <p:cNvPr id="41" name="Rectangle 40"/>
          <p:cNvSpPr/>
          <p:nvPr/>
        </p:nvSpPr>
        <p:spPr>
          <a:xfrm>
            <a:off x="1737360" y="5486400"/>
            <a:ext cx="18288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810512" y="5532120"/>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Risk owner</a:t>
            </a:r>
          </a:p>
        </p:txBody>
      </p:sp>
      <p:sp>
        <p:nvSpPr>
          <p:cNvPr id="43" name="Rectangle 42"/>
          <p:cNvSpPr/>
          <p:nvPr/>
        </p:nvSpPr>
        <p:spPr>
          <a:xfrm>
            <a:off x="3657600" y="5486400"/>
            <a:ext cx="2286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30752" y="5532120"/>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AI output not treated
as authoritative
without human review</a:t>
            </a:r>
            <a:r>
              <a:t/>
            </a:r>
            <a:br/>
            <a:r>
              <a:t>as authoritative</a:t>
            </a:r>
            <a:br/>
            <a:r>
              <a:t>without human review</a:t>
            </a:r>
          </a:p>
        </p:txBody>
      </p:sp>
      <p:sp>
        <p:nvSpPr>
          <p:cNvPr id="45" name="Rectangle 44"/>
          <p:cNvSpPr/>
          <p:nvPr/>
        </p:nvSpPr>
        <p:spPr>
          <a:xfrm>
            <a:off x="6035040" y="5486400"/>
            <a:ext cx="557784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08192" y="5532120"/>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Potentially cautious. Answer: every fact has a source citation.
Frame as 'surfaces for review' not 'interprets contracts.'
Correction mechanism is the direct answer to their concern.</a:t>
            </a:r>
            <a:r>
              <a:t/>
            </a:r>
            <a:br/>
            <a:r>
              <a:t>Frame as 'surfaces for review' not 'interprets contracts.'</a:t>
            </a:r>
            <a:br/>
            <a:r>
              <a:t>Correction mechanism is the direct answer to their concern.</a:t>
            </a:r>
          </a:p>
        </p:txBody>
      </p:sp>
      <p:sp>
        <p:nvSpPr>
          <p:cNvPr id="47" name="Rectangle 46"/>
          <p:cNvSpPr/>
          <p:nvPr/>
        </p:nvSpPr>
        <p:spPr>
          <a:xfrm>
            <a:off x="182880" y="6565392"/>
            <a:ext cx="14630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6032" y="6611112"/>
            <a:ext cx="1353312"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Finance / CFO</a:t>
            </a:r>
          </a:p>
        </p:txBody>
      </p:sp>
      <p:sp>
        <p:nvSpPr>
          <p:cNvPr id="49" name="Rectangle 48"/>
          <p:cNvSpPr/>
          <p:nvPr/>
        </p:nvSpPr>
        <p:spPr>
          <a:xfrm>
            <a:off x="1737360" y="6565392"/>
            <a:ext cx="18288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10512" y="6611112"/>
            <a:ext cx="17190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Cost approver</a:t>
            </a:r>
          </a:p>
        </p:txBody>
      </p:sp>
      <p:sp>
        <p:nvSpPr>
          <p:cNvPr id="51" name="Rectangle 50"/>
          <p:cNvSpPr/>
          <p:nvPr/>
        </p:nvSpPr>
        <p:spPr>
          <a:xfrm>
            <a:off x="3657600" y="6565392"/>
            <a:ext cx="2286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730752" y="6611112"/>
            <a:ext cx="2176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Measurable ROI
in 90 days</a:t>
            </a:r>
            <a:r>
              <a:t/>
            </a:r>
            <a:br/>
            <a:r>
              <a:t>in 90 days</a:t>
            </a:r>
          </a:p>
        </p:txBody>
      </p:sp>
      <p:sp>
        <p:nvSpPr>
          <p:cNvPr id="53" name="Rectangle 52"/>
          <p:cNvSpPr/>
          <p:nvPr/>
        </p:nvSpPr>
        <p:spPr>
          <a:xfrm>
            <a:off x="6035040" y="6565392"/>
            <a:ext cx="557784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08192" y="6611112"/>
            <a:ext cx="5468112" cy="914400"/>
          </a:xfrm>
          <a:prstGeom prst="rect">
            <a:avLst/>
          </a:prstGeom>
          <a:noFill/>
        </p:spPr>
        <p:txBody>
          <a:bodyPr wrap="square">
            <a:spAutoFit/>
          </a:bodyPr>
          <a:lstStyle/>
          <a:p>
            <a:endParaRPr/>
          </a:p>
          <a:p>
            <a:pPr algn="l">
              <a:spcBef>
                <a:spcPts val="0"/>
              </a:spcBef>
              <a:spcAft>
                <a:spcPts val="0"/>
              </a:spcAft>
            </a:pPr>
            <a:r>
              <a:rPr sz="1000" b="0">
                <a:solidFill>
                  <a:srgbClr val="1A1A1A"/>
                </a:solidFill>
                <a:latin typeface="Calibri"/>
              </a:rPr>
              <a:t>Not a day-one stakeholder. Bring the ROI case at month 3.
Lead with labor cost avoidance (conservative, auditable).
Not speculative negotiation savings.</a:t>
            </a:r>
            <a:r>
              <a:t/>
            </a:r>
            <a:br/>
            <a:r>
              <a:t>Lead with labor cost avoidance (conservative, auditable).</a:t>
            </a:r>
            <a:br/>
            <a:r>
              <a:t>Not speculative negotiation savings.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Week 1 Plan</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Five things before touching any technology</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24358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7043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1  Shadow a prep session in real time</a:t>
            </a:r>
          </a:p>
        </p:txBody>
      </p:sp>
      <p:sp>
        <p:nvSpPr>
          <p:cNvPr id="9" name="TextBox 8"/>
          <p:cNvSpPr txBox="1"/>
          <p:nvPr/>
        </p:nvSpPr>
        <p:spPr>
          <a:xfrm>
            <a:off x="365760" y="151790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Sit next to an analyst while they prepare for an actual upcoming meeting. Don't ask them to describe the process — watch them do it. Note which tabs are open, how long each step takes, where they get stuck, what they skip when short on time. The stated process and the actual process are almost always different.</a:t>
            </a:r>
          </a:p>
        </p:txBody>
      </p:sp>
      <p:sp>
        <p:nvSpPr>
          <p:cNvPr id="10" name="Rectangle 9"/>
          <p:cNvSpPr/>
          <p:nvPr/>
        </p:nvSpPr>
        <p:spPr>
          <a:xfrm>
            <a:off x="182880" y="234086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26771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2  Interview the Procurement Manager separately</a:t>
            </a:r>
          </a:p>
        </p:txBody>
      </p:sp>
      <p:sp>
        <p:nvSpPr>
          <p:cNvPr id="12" name="TextBox 11"/>
          <p:cNvSpPr txBox="1"/>
          <p:nvPr/>
        </p:nvSpPr>
        <p:spPr>
          <a:xfrm>
            <a:off x="365760" y="261518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Ask: what has gone wrong in a meeting because prep was incomplete? What did you wish you'd known walking in? What would you never trust a tool to get right? The second and third questions are as important as the first.</a:t>
            </a:r>
          </a:p>
        </p:txBody>
      </p:sp>
      <p:sp>
        <p:nvSpPr>
          <p:cNvPr id="13" name="Rectangle 12"/>
          <p:cNvSpPr/>
          <p:nvPr/>
        </p:nvSpPr>
        <p:spPr>
          <a:xfrm>
            <a:off x="182880" y="343814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3364991"/>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3  Audit the actual data sources — not descriptions of them</a:t>
            </a:r>
          </a:p>
        </p:txBody>
      </p:sp>
      <p:sp>
        <p:nvSpPr>
          <p:cNvPr id="15" name="TextBox 14"/>
          <p:cNvSpPr txBox="1"/>
          <p:nvPr/>
        </p:nvSpPr>
        <p:spPr>
          <a:xfrm>
            <a:off x="365760" y="3712463"/>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Request read-only access to: one supplier email thread in Outlook, one contract on SharePoint, the price benchmark spreadsheet. Look at real messiness: how many threads per supplier, what the file naming convention actually is, who owns the price spreadsheet. You cannot design a robust extraction layer without seeing the raw input.</a:t>
            </a:r>
          </a:p>
        </p:txBody>
      </p:sp>
      <p:sp>
        <p:nvSpPr>
          <p:cNvPr id="16" name="Rectangle 15"/>
          <p:cNvSpPr/>
          <p:nvPr/>
        </p:nvSpPr>
        <p:spPr>
          <a:xfrm>
            <a:off x="182880" y="453542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46227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4  Map what a good packet looks like by working backwards</a:t>
            </a:r>
          </a:p>
        </p:txBody>
      </p:sp>
      <p:sp>
        <p:nvSpPr>
          <p:cNvPr id="18" name="TextBox 17"/>
          <p:cNvSpPr txBox="1"/>
          <p:nvPr/>
        </p:nvSpPr>
        <p:spPr>
          <a:xfrm>
            <a:off x="365760" y="480974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Pick the three highest-stakes upcoming meetings. Ask the manager: if you had one page of perfect context for each, what would be on it? This surfaces the prioritisation the tool needs to make — what to include and, equally important, what to leave out.</a:t>
            </a:r>
          </a:p>
        </p:txBody>
      </p:sp>
      <p:sp>
        <p:nvSpPr>
          <p:cNvPr id="19" name="Rectangle 18"/>
          <p:cNvSpPr/>
          <p:nvPr/>
        </p:nvSpPr>
        <p:spPr>
          <a:xfrm>
            <a:off x="182880" y="5632704"/>
            <a:ext cx="54864" cy="8229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5559552"/>
            <a:ext cx="1143000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5  Identify the first real meeting to demo against</a:t>
            </a:r>
          </a:p>
        </p:txBody>
      </p:sp>
      <p:sp>
        <p:nvSpPr>
          <p:cNvPr id="21" name="TextBox 20"/>
          <p:cNvSpPr txBox="1"/>
          <p:nvPr/>
        </p:nvSpPr>
        <p:spPr>
          <a:xfrm>
            <a:off x="365760" y="5907024"/>
            <a:ext cx="11430000" cy="685800"/>
          </a:xfrm>
          <a:prstGeom prst="rect">
            <a:avLst/>
          </a:prstGeom>
          <a:noFill/>
        </p:spPr>
        <p:txBody>
          <a:bodyPr wrap="square">
            <a:spAutoFit/>
          </a:bodyPr>
          <a:lstStyle/>
          <a:p>
            <a:endParaRPr/>
          </a:p>
          <a:p>
            <a:pPr algn="l">
              <a:spcBef>
                <a:spcPts val="0"/>
              </a:spcBef>
              <a:spcAft>
                <a:spcPts val="0"/>
              </a:spcAft>
            </a:pPr>
            <a:r>
              <a:rPr sz="1200" b="0">
                <a:solidFill>
                  <a:srgbClr val="1A1A1A"/>
                </a:solidFill>
                <a:latin typeface="Calibri"/>
              </a:rPr>
              <a:t>Before building anything, agree on a specific upcoming meeting as the Phase 1 success test. Forces the stakeholder to commit to an evaluation moment. Means the first demo is not a toy example — it is something the manager actually cares about walking into.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 I Built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One tool. One job. One page per meeting.</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11521440" cy="137160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80160"/>
            <a:ext cx="11155680" cy="1188720"/>
          </a:xfrm>
          <a:prstGeom prst="rect">
            <a:avLst/>
          </a:prstGeom>
          <a:noFill/>
        </p:spPr>
        <p:txBody>
          <a:bodyPr wrap="square">
            <a:spAutoFit/>
          </a:bodyPr>
          <a:lstStyle/>
          <a:p>
            <a:endParaRPr/>
          </a:p>
          <a:p>
            <a:pPr algn="l">
              <a:spcBef>
                <a:spcPts val="0"/>
              </a:spcBef>
              <a:spcAft>
                <a:spcPts val="0"/>
              </a:spcAft>
            </a:pPr>
            <a:r>
              <a:rPr sz="1600" b="0">
                <a:solidFill>
                  <a:srgbClr val="1A1A1A"/>
                </a:solidFill>
                <a:latin typeface="Calibri"/>
              </a:rPr>
              <a:t>An AI-generated one-page briefing, produced automatically before every supplier meeting, that pulls together email history, contract terms, and the commodity price benchmark into a single view — with every claim traceable to its source.</a:t>
            </a:r>
          </a:p>
        </p:txBody>
      </p:sp>
      <p:sp>
        <p:nvSpPr>
          <p:cNvPr id="9" name="TextBox 8"/>
          <p:cNvSpPr txBox="1"/>
          <p:nvPr/>
        </p:nvSpPr>
        <p:spPr>
          <a:xfrm>
            <a:off x="320040" y="2743200"/>
            <a:ext cx="11521440" cy="411480"/>
          </a:xfrm>
          <a:prstGeom prst="rect">
            <a:avLst/>
          </a:prstGeom>
          <a:noFill/>
        </p:spPr>
        <p:txBody>
          <a:bodyPr wrap="none">
            <a:spAutoFit/>
          </a:bodyPr>
          <a:lstStyle/>
          <a:p>
            <a:endParaRPr/>
          </a:p>
          <a:p>
            <a:pPr algn="l">
              <a:spcBef>
                <a:spcPts val="0"/>
              </a:spcBef>
              <a:spcAft>
                <a:spcPts val="0"/>
              </a:spcAft>
            </a:pPr>
            <a:r>
              <a:rPr sz="1300" b="0">
                <a:solidFill>
                  <a:srgbClr val="C8102E"/>
                </a:solidFill>
                <a:latin typeface="Calibri"/>
              </a:rPr>
              <a:t>🔗  strauss-procurement.streamlit.app</a:t>
            </a:r>
          </a:p>
        </p:txBody>
      </p:sp>
      <p:sp>
        <p:nvSpPr>
          <p:cNvPr id="10" name="Rectangle 9"/>
          <p:cNvSpPr/>
          <p:nvPr/>
        </p:nvSpPr>
        <p:spPr>
          <a:xfrm>
            <a:off x="320040"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Emails</a:t>
            </a:r>
          </a:p>
        </p:txBody>
      </p:sp>
      <p:sp>
        <p:nvSpPr>
          <p:cNvPr id="12" name="TextBox 11"/>
          <p:cNvSpPr txBox="1"/>
          <p:nvPr/>
        </p:nvSpPr>
        <p:spPr>
          <a:xfrm>
            <a:off x="45720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Summarises 6 months of supplier thread. Flags open disputes, unanswered threads, and price quotes.</a:t>
            </a:r>
          </a:p>
        </p:txBody>
      </p:sp>
      <p:sp>
        <p:nvSpPr>
          <p:cNvPr id="13" name="Rectangle 12"/>
          <p:cNvSpPr/>
          <p:nvPr/>
        </p:nvSpPr>
        <p:spPr>
          <a:xfrm>
            <a:off x="4251959"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Contracts</a:t>
            </a:r>
          </a:p>
        </p:txBody>
      </p:sp>
      <p:sp>
        <p:nvSpPr>
          <p:cNvPr id="15" name="TextBox 14"/>
          <p:cNvSpPr txBox="1"/>
          <p:nvPr/>
        </p:nvSpPr>
        <p:spPr>
          <a:xfrm>
            <a:off x="438912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Extracts payment terms, volume commitments, penalty clauses, and renewal dates from the active contract version.</a:t>
            </a:r>
          </a:p>
        </p:txBody>
      </p:sp>
      <p:sp>
        <p:nvSpPr>
          <p:cNvPr id="16" name="Rectangle 15"/>
          <p:cNvSpPr/>
          <p:nvPr/>
        </p:nvSpPr>
        <p:spPr>
          <a:xfrm>
            <a:off x="8183879" y="3291840"/>
            <a:ext cx="3657600" cy="29260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3383280"/>
            <a:ext cx="3383280" cy="45720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Prices</a:t>
            </a:r>
          </a:p>
        </p:txBody>
      </p:sp>
      <p:sp>
        <p:nvSpPr>
          <p:cNvPr id="18" name="TextBox 17"/>
          <p:cNvSpPr txBox="1"/>
          <p:nvPr/>
        </p:nvSpPr>
        <p:spPr>
          <a:xfrm>
            <a:off x="8321040" y="3840480"/>
            <a:ext cx="3383280" cy="219456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Adds the live commodity benchmark (cocoa, sugar, dairy) so the manager knows where the market sits before walking 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 I Considered and Rejected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Every design decision has a tradeoff — these were mine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256032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 y="1216152"/>
            <a:ext cx="2450591"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What I considered</a:t>
            </a:r>
          </a:p>
        </p:txBody>
      </p:sp>
      <p:sp>
        <p:nvSpPr>
          <p:cNvPr id="9" name="Rectangle 8"/>
          <p:cNvSpPr/>
          <p:nvPr/>
        </p:nvSpPr>
        <p:spPr>
          <a:xfrm>
            <a:off x="2834640" y="1170432"/>
            <a:ext cx="457200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07792" y="1216152"/>
            <a:ext cx="4462272"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Rejected because</a:t>
            </a:r>
          </a:p>
        </p:txBody>
      </p:sp>
      <p:sp>
        <p:nvSpPr>
          <p:cNvPr id="11" name="Rectangle 10"/>
          <p:cNvSpPr/>
          <p:nvPr/>
        </p:nvSpPr>
        <p:spPr>
          <a:xfrm>
            <a:off x="7498079" y="1170432"/>
            <a:ext cx="4389120" cy="384048"/>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71231" y="1216152"/>
            <a:ext cx="4279392" cy="310896"/>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Tradeoff accepted</a:t>
            </a:r>
          </a:p>
        </p:txBody>
      </p:sp>
      <p:sp>
        <p:nvSpPr>
          <p:cNvPr id="13" name="Rectangle 12"/>
          <p:cNvSpPr/>
          <p:nvPr/>
        </p:nvSpPr>
        <p:spPr>
          <a:xfrm>
            <a:off x="182880" y="2249424"/>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2295144"/>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Commodity pricing
dashboard</a:t>
            </a:r>
            <a:r>
              <a:t/>
            </a:r>
            <a:br/>
            <a:r>
              <a:t>dashboard</a:t>
            </a:r>
          </a:p>
        </p:txBody>
      </p:sp>
      <p:sp>
        <p:nvSpPr>
          <p:cNvPr id="15" name="Rectangle 14"/>
          <p:cNvSpPr/>
          <p:nvPr/>
        </p:nvSpPr>
        <p:spPr>
          <a:xfrm>
            <a:off x="2834640" y="2249424"/>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07792" y="2295144"/>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Answers an adjacent problem, not the stated pain point.
Most obvious build — every candidate goes here.</a:t>
            </a:r>
            <a:r>
              <a:t/>
            </a:r>
            <a:br/>
            <a:r>
              <a:t>Most obvious build — every candidate goes here.</a:t>
            </a:r>
          </a:p>
        </p:txBody>
      </p:sp>
      <p:sp>
        <p:nvSpPr>
          <p:cNvPr id="17" name="Rectangle 16"/>
          <p:cNvSpPr/>
          <p:nvPr/>
        </p:nvSpPr>
        <p:spPr>
          <a:xfrm>
            <a:off x="7498079" y="2249424"/>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71231" y="2295144"/>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Pricing folded in as one input to the packet, not the centrepiece.</a:t>
            </a:r>
          </a:p>
        </p:txBody>
      </p:sp>
      <p:sp>
        <p:nvSpPr>
          <p:cNvPr id="19" name="Rectangle 18"/>
          <p:cNvSpPr/>
          <p:nvPr/>
        </p:nvSpPr>
        <p:spPr>
          <a:xfrm>
            <a:off x="182880" y="3328415"/>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3374135"/>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General 'what was agreed'
tracking layer</a:t>
            </a:r>
            <a:r>
              <a:t/>
            </a:r>
            <a:br/>
            <a:r>
              <a:t>tracking layer</a:t>
            </a:r>
          </a:p>
        </p:txBody>
      </p:sp>
      <p:sp>
        <p:nvSpPr>
          <p:cNvPr id="21" name="Rectangle 20"/>
          <p:cNvSpPr/>
          <p:nvPr/>
        </p:nvSpPr>
        <p:spPr>
          <a:xfrm>
            <a:off x="2834640" y="3328415"/>
            <a:ext cx="4572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07792" y="3374135"/>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A system-of-record problem, not an AI problem.
Better solved by a database than a model.</a:t>
            </a:r>
            <a:r>
              <a:t/>
            </a:r>
            <a:br/>
            <a:r>
              <a:t>Better solved by a database than a model.</a:t>
            </a:r>
          </a:p>
        </p:txBody>
      </p:sp>
      <p:sp>
        <p:nvSpPr>
          <p:cNvPr id="23" name="Rectangle 22"/>
          <p:cNvSpPr/>
          <p:nvPr/>
        </p:nvSpPr>
        <p:spPr>
          <a:xfrm>
            <a:off x="7498079" y="3328415"/>
            <a:ext cx="43891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71231" y="3374135"/>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Solved indirectly: packet pulls from accurate, current contract terms.</a:t>
            </a:r>
          </a:p>
        </p:txBody>
      </p:sp>
      <p:sp>
        <p:nvSpPr>
          <p:cNvPr id="25" name="Rectangle 24"/>
          <p:cNvSpPr/>
          <p:nvPr/>
        </p:nvSpPr>
        <p:spPr>
          <a:xfrm>
            <a:off x="182880" y="440740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6032" y="4453128"/>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Live MCP connector
for pricing in prototype</a:t>
            </a:r>
            <a:r>
              <a:t/>
            </a:r>
            <a:br/>
            <a:r>
              <a:t>for pricing in prototype</a:t>
            </a:r>
          </a:p>
        </p:txBody>
      </p:sp>
      <p:sp>
        <p:nvSpPr>
          <p:cNvPr id="27" name="Rectangle 26"/>
          <p:cNvSpPr/>
          <p:nvPr/>
        </p:nvSpPr>
        <p:spPr>
          <a:xfrm>
            <a:off x="2834640" y="4407408"/>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07792" y="4453128"/>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Live demo depending on third-party server responding correctly in the room.
Unnecessary risk for zero added insight value.</a:t>
            </a:r>
            <a:r>
              <a:t/>
            </a:r>
            <a:br/>
            <a:r>
              <a:t>Unnecessary risk for zero added insight value.</a:t>
            </a:r>
          </a:p>
        </p:txBody>
      </p:sp>
      <p:sp>
        <p:nvSpPr>
          <p:cNvPr id="29" name="Rectangle 28"/>
          <p:cNvSpPr/>
          <p:nvPr/>
        </p:nvSpPr>
        <p:spPr>
          <a:xfrm>
            <a:off x="7498079" y="4407408"/>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71231" y="4453128"/>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One-time static CSV pull. MCP documented as production path, not built into prototype.</a:t>
            </a:r>
          </a:p>
        </p:txBody>
      </p:sp>
      <p:sp>
        <p:nvSpPr>
          <p:cNvPr id="31" name="Rectangle 30"/>
          <p:cNvSpPr/>
          <p:nvPr/>
        </p:nvSpPr>
        <p:spPr>
          <a:xfrm>
            <a:off x="182880" y="5486400"/>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032" y="5532120"/>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Vector store +
live connectors</a:t>
            </a:r>
            <a:r>
              <a:t/>
            </a:r>
            <a:br/>
            <a:r>
              <a:t>live connectors</a:t>
            </a:r>
          </a:p>
        </p:txBody>
      </p:sp>
      <p:sp>
        <p:nvSpPr>
          <p:cNvPr id="33" name="Rectangle 32"/>
          <p:cNvSpPr/>
          <p:nvPr/>
        </p:nvSpPr>
        <p:spPr>
          <a:xfrm>
            <a:off x="2834640" y="5486400"/>
            <a:ext cx="45720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07792" y="5532120"/>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Premature at this data volume: 8 suppliers, ~111 emails.
Real value at hundreds of suppliers, thousands of emails.</a:t>
            </a:r>
            <a:r>
              <a:t/>
            </a:r>
            <a:br/>
            <a:r>
              <a:t>Real value at hundreds of suppliers, thousands of emails.</a:t>
            </a:r>
          </a:p>
        </p:txBody>
      </p:sp>
      <p:sp>
        <p:nvSpPr>
          <p:cNvPr id="35" name="Rectangle 34"/>
          <p:cNvSpPr/>
          <p:nvPr/>
        </p:nvSpPr>
        <p:spPr>
          <a:xfrm>
            <a:off x="7498079" y="5486400"/>
            <a:ext cx="43891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71231" y="5532120"/>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Local extraction pass against flat files. Vector store called out explicitly as production-scale answer.</a:t>
            </a:r>
          </a:p>
        </p:txBody>
      </p:sp>
      <p:sp>
        <p:nvSpPr>
          <p:cNvPr id="37" name="Rectangle 36"/>
          <p:cNvSpPr/>
          <p:nvPr/>
        </p:nvSpPr>
        <p:spPr>
          <a:xfrm>
            <a:off x="182880" y="6565392"/>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6032" y="6611112"/>
            <a:ext cx="2450591" cy="914400"/>
          </a:xfrm>
          <a:prstGeom prst="rect">
            <a:avLst/>
          </a:prstGeom>
          <a:noFill/>
        </p:spPr>
        <p:txBody>
          <a:bodyPr wrap="square">
            <a:spAutoFit/>
          </a:bodyPr>
          <a:lstStyle/>
          <a:p>
            <a:endParaRPr/>
          </a:p>
          <a:p>
            <a:pPr algn="l">
              <a:spcBef>
                <a:spcPts val="0"/>
              </a:spcBef>
              <a:spcAft>
                <a:spcPts val="0"/>
              </a:spcAft>
            </a:pPr>
            <a:r>
              <a:rPr sz="1100" b="1">
                <a:solidFill>
                  <a:srgbClr val="C8102E"/>
                </a:solidFill>
                <a:latin typeface="Calibri"/>
              </a:rPr>
              <a:t>Full contract lifecycle
management</a:t>
            </a:r>
            <a:r>
              <a:t/>
            </a:r>
            <a:br/>
            <a:r>
              <a:t>management</a:t>
            </a:r>
          </a:p>
        </p:txBody>
      </p:sp>
      <p:sp>
        <p:nvSpPr>
          <p:cNvPr id="39" name="Rectangle 38"/>
          <p:cNvSpPr/>
          <p:nvPr/>
        </p:nvSpPr>
        <p:spPr>
          <a:xfrm>
            <a:off x="2834640" y="6565392"/>
            <a:ext cx="45720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07792" y="6611112"/>
            <a:ext cx="446227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Too broad a problem for the time available.
Not the time-sink the brief describes.</a:t>
            </a:r>
            <a:r>
              <a:t/>
            </a:r>
            <a:br/>
            <a:r>
              <a:t>Not the time-sink the brief describes.</a:t>
            </a:r>
          </a:p>
        </p:txBody>
      </p:sp>
      <p:sp>
        <p:nvSpPr>
          <p:cNvPr id="41" name="Rectangle 40"/>
          <p:cNvSpPr/>
          <p:nvPr/>
        </p:nvSpPr>
        <p:spPr>
          <a:xfrm>
            <a:off x="7498079" y="6565392"/>
            <a:ext cx="43891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71231" y="6611112"/>
            <a:ext cx="4279392" cy="91440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Contract terms are read and surfaced, not managed end to 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How It Works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Prototype vs. production — a deliberate distinction</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5303520" cy="53035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34440"/>
            <a:ext cx="4937760" cy="411480"/>
          </a:xfrm>
          <a:prstGeom prst="rect">
            <a:avLst/>
          </a:prstGeom>
          <a:noFill/>
        </p:spPr>
        <p:txBody>
          <a:bodyPr wrap="none">
            <a:spAutoFit/>
          </a:bodyPr>
          <a:lstStyle/>
          <a:p>
            <a:endParaRPr/>
          </a:p>
          <a:p>
            <a:pPr algn="l">
              <a:spcBef>
                <a:spcPts val="0"/>
              </a:spcBef>
              <a:spcAft>
                <a:spcPts val="0"/>
              </a:spcAft>
            </a:pPr>
            <a:r>
              <a:rPr sz="1100" b="1">
                <a:solidFill>
                  <a:srgbClr val="555555"/>
                </a:solidFill>
                <a:latin typeface="Calibri"/>
              </a:rPr>
              <a:t>PROTOTYPE  (what you're seeing today)</a:t>
            </a:r>
          </a:p>
        </p:txBody>
      </p:sp>
      <p:sp>
        <p:nvSpPr>
          <p:cNvPr id="9" name="TextBox 8"/>
          <p:cNvSpPr txBox="1"/>
          <p:nvPr/>
        </p:nvSpPr>
        <p:spPr>
          <a:xfrm>
            <a:off x="502920" y="1691640"/>
            <a:ext cx="4937760" cy="4572000"/>
          </a:xfrm>
          <a:prstGeom prst="rect">
            <a:avLst/>
          </a:prstGeom>
          <a:noFill/>
        </p:spPr>
        <p:txBody>
          <a:bodyPr wrap="square">
            <a:spAutoFit/>
          </a:bodyPr>
          <a:lstStyle/>
          <a:p>
            <a:pPr algn="l">
              <a:spcBef>
                <a:spcPts val="600"/>
              </a:spcBef>
            </a:pPr>
            <a:r>
              <a:rPr sz="1200">
                <a:solidFill>
                  <a:srgbClr val="1A1A1A"/>
                </a:solidFill>
                <a:latin typeface="Calibri"/>
              </a:rPr>
              <a:t>Emails → JSON files (synthetic, ~111 emails)</a:t>
            </a:r>
          </a:p>
          <a:p>
            <a:pPr algn="l">
              <a:spcBef>
                <a:spcPts val="600"/>
              </a:spcBef>
            </a:pPr>
            <a:r>
              <a:rPr sz="1200">
                <a:solidFill>
                  <a:srgbClr val="1A1A1A"/>
                </a:solidFill>
                <a:latin typeface="Calibri"/>
              </a:rPr>
              <a:t>Contracts → Markdown files (10 contracts)</a:t>
            </a:r>
          </a:p>
          <a:p>
            <a:pPr algn="l">
              <a:spcBef>
                <a:spcPts val="600"/>
              </a:spcBef>
            </a:pPr>
            <a:r>
              <a:rPr sz="1200">
                <a:solidFill>
                  <a:srgbClr val="1A1A1A"/>
                </a:solidFill>
                <a:latin typeface="Calibri"/>
              </a:rPr>
              <a:t>Prices → Static CSV (yfinance, one-time pull)</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extraction.py</a:t>
            </a:r>
          </a:p>
          <a:p>
            <a:pPr algn="l">
              <a:spcBef>
                <a:spcPts val="600"/>
              </a:spcBef>
            </a:pPr>
            <a:r>
              <a:rPr sz="1200">
                <a:solidFill>
                  <a:srgbClr val="1A1A1A"/>
                </a:solidFill>
                <a:latin typeface="Calibri"/>
              </a:rPr>
              <a:t>One Claude API call per supplier</a:t>
            </a:r>
          </a:p>
          <a:p>
            <a:pPr algn="l">
              <a:spcBef>
                <a:spcPts val="600"/>
              </a:spcBef>
            </a:pPr>
            <a:r>
              <a:rPr sz="1200">
                <a:solidFill>
                  <a:srgbClr val="1A1A1A"/>
                </a:solidFill>
                <a:latin typeface="Calibri"/>
              </a:rPr>
              <a:t>Extracts: open issues · price quotes</a:t>
            </a:r>
          </a:p>
          <a:p>
            <a:pPr algn="l">
              <a:spcBef>
                <a:spcPts val="600"/>
              </a:spcBef>
            </a:pPr>
            <a:r>
              <a:rPr sz="1200">
                <a:solidFill>
                  <a:srgbClr val="1A1A1A"/>
                </a:solidFill>
                <a:latin typeface="Calibri"/>
              </a:rPr>
              <a:t>contract terms · commodity commentary</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packet_generator.py</a:t>
            </a:r>
          </a:p>
          <a:p>
            <a:pPr algn="l">
              <a:spcBef>
                <a:spcPts val="600"/>
              </a:spcBef>
            </a:pPr>
            <a:r>
              <a:rPr sz="1200">
                <a:solidFill>
                  <a:srgbClr val="1A1A1A"/>
                </a:solidFill>
                <a:latin typeface="Calibri"/>
              </a:rPr>
              <a:t>Assembles packet per meeting ID</a:t>
            </a:r>
          </a:p>
          <a:p>
            <a:pPr algn="l">
              <a:spcBef>
                <a:spcPts val="600"/>
              </a:spcBef>
            </a:pPr>
            <a:r>
              <a:rPr sz="1200">
                <a:solidFill>
                  <a:srgbClr val="1A1A1A"/>
                </a:solidFill>
                <a:latin typeface="Calibri"/>
              </a:rPr>
              <a:t>Computes KPIs locally (no API)</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Streamlit UI</a:t>
            </a:r>
          </a:p>
          <a:p>
            <a:pPr algn="l">
              <a:spcBef>
                <a:spcPts val="600"/>
              </a:spcBef>
            </a:pPr>
            <a:r>
              <a:rPr sz="1200">
                <a:solidFill>
                  <a:srgbClr val="1A1A1A"/>
                </a:solidFill>
                <a:latin typeface="Calibri"/>
              </a:rPr>
              <a:t>Home · Suppliers · Meeting Prep</a:t>
            </a:r>
          </a:p>
          <a:p>
            <a:r>
              <a:rPr sz="1200">
                <a:solidFill>
                  <a:srgbClr val="1A1A1A"/>
                </a:solidFill>
              </a:rPr>
              <a:t>↓  Extraction model</a:t>
            </a:r>
          </a:p>
          <a:p>
            <a:r>
              <a:rPr sz="1200">
                <a:solidFill>
                  <a:srgbClr val="1A1A1A"/>
                </a:solidFill>
              </a:rPr>
              <a:t>Single Claude call, fixed schema</a:t>
            </a:r>
          </a:p>
          <a:p>
            <a:r>
              <a:rPr sz="1200">
                <a:solidFill>
                  <a:srgbClr val="1A1A1A"/>
                </a:solidFill>
              </a:rPr>
              <a:t>Deterministic pipeline — not an agent</a:t>
            </a:r>
          </a:p>
        </p:txBody>
      </p:sp>
      <p:sp>
        <p:nvSpPr>
          <p:cNvPr id="10" name="TextBox 9"/>
          <p:cNvSpPr txBox="1"/>
          <p:nvPr/>
        </p:nvSpPr>
        <p:spPr>
          <a:xfrm>
            <a:off x="5715000" y="3474720"/>
            <a:ext cx="731520" cy="548640"/>
          </a:xfrm>
          <a:prstGeom prst="rect">
            <a:avLst/>
          </a:prstGeom>
          <a:noFill/>
        </p:spPr>
        <p:txBody>
          <a:bodyPr wrap="none">
            <a:spAutoFit/>
          </a:bodyPr>
          <a:lstStyle/>
          <a:p>
            <a:endParaRPr/>
          </a:p>
          <a:p>
            <a:pPr algn="ctr">
              <a:spcBef>
                <a:spcPts val="0"/>
              </a:spcBef>
              <a:spcAft>
                <a:spcPts val="0"/>
              </a:spcAft>
            </a:pPr>
            <a:r>
              <a:rPr sz="2800" b="1">
                <a:solidFill>
                  <a:srgbClr val="C8102E"/>
                </a:solidFill>
                <a:latin typeface="Calibri"/>
              </a:rPr>
              <a:t>→</a:t>
            </a:r>
          </a:p>
        </p:txBody>
      </p:sp>
      <p:sp>
        <p:nvSpPr>
          <p:cNvPr id="11" name="Rectangle 10"/>
          <p:cNvSpPr/>
          <p:nvPr/>
        </p:nvSpPr>
        <p:spPr>
          <a:xfrm>
            <a:off x="6492240" y="1188720"/>
            <a:ext cx="5349240" cy="53035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234440"/>
            <a:ext cx="5029200" cy="411480"/>
          </a:xfrm>
          <a:prstGeom prst="rect">
            <a:avLst/>
          </a:prstGeom>
          <a:noFill/>
        </p:spPr>
        <p:txBody>
          <a:bodyPr wrap="none">
            <a:spAutoFit/>
          </a:bodyPr>
          <a:lstStyle/>
          <a:p>
            <a:endParaRPr/>
          </a:p>
          <a:p>
            <a:pPr algn="l">
              <a:spcBef>
                <a:spcPts val="0"/>
              </a:spcBef>
              <a:spcAft>
                <a:spcPts val="0"/>
              </a:spcAft>
            </a:pPr>
            <a:r>
              <a:rPr sz="1100" b="1">
                <a:solidFill>
                  <a:srgbClr val="C8102E"/>
                </a:solidFill>
                <a:latin typeface="Calibri"/>
              </a:rPr>
              <a:t>PRODUCTION  (Phase 2 architecture)</a:t>
            </a:r>
          </a:p>
        </p:txBody>
      </p:sp>
      <p:sp>
        <p:nvSpPr>
          <p:cNvPr id="13" name="TextBox 12"/>
          <p:cNvSpPr txBox="1"/>
          <p:nvPr/>
        </p:nvSpPr>
        <p:spPr>
          <a:xfrm>
            <a:off x="6675120" y="1691640"/>
            <a:ext cx="5029200" cy="4572000"/>
          </a:xfrm>
          <a:prstGeom prst="rect">
            <a:avLst/>
          </a:prstGeom>
          <a:noFill/>
        </p:spPr>
        <p:txBody>
          <a:bodyPr wrap="square">
            <a:spAutoFit/>
          </a:bodyPr>
          <a:lstStyle/>
          <a:p>
            <a:pPr algn="l">
              <a:spcBef>
                <a:spcPts val="600"/>
              </a:spcBef>
            </a:pPr>
            <a:r>
              <a:rPr sz="1200">
                <a:solidFill>
                  <a:srgbClr val="1A1A1A"/>
                </a:solidFill>
                <a:latin typeface="Calibri"/>
              </a:rPr>
              <a:t>Emails → Microsoft Graph API (Outlook)</a:t>
            </a:r>
          </a:p>
          <a:p>
            <a:pPr algn="l">
              <a:spcBef>
                <a:spcPts val="600"/>
              </a:spcBef>
            </a:pPr>
            <a:r>
              <a:rPr sz="1200">
                <a:solidFill>
                  <a:srgbClr val="1A1A1A"/>
                </a:solidFill>
                <a:latin typeface="Calibri"/>
              </a:rPr>
              <a:t>Contracts → SharePoint + OCR pipeline</a:t>
            </a:r>
          </a:p>
          <a:p>
            <a:pPr algn="l">
              <a:spcBef>
                <a:spcPts val="600"/>
              </a:spcBef>
            </a:pPr>
            <a:r>
              <a:rPr sz="1200">
                <a:solidFill>
                  <a:srgbClr val="1A1A1A"/>
                </a:solidFill>
                <a:latin typeface="Calibri"/>
              </a:rPr>
              <a:t>Prices → Bloomberg / ICE live feed</a:t>
            </a:r>
          </a:p>
          <a:p>
            <a:pPr algn="l">
              <a:spcBef>
                <a:spcPts val="600"/>
              </a:spcBef>
            </a:pPr>
            <a:r>
              <a:rPr sz="1200">
                <a:solidFill>
                  <a:srgbClr val="1A1A1A"/>
                </a:solidFill>
                <a:latin typeface="Calibri"/>
              </a:rPr>
              <a:t>Connector layer: MCP per source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Storage split</a:t>
            </a:r>
          </a:p>
          <a:p>
            <a:pPr algn="l">
              <a:spcBef>
                <a:spcPts val="600"/>
              </a:spcBef>
            </a:pPr>
            <a:r>
              <a:rPr sz="1200">
                <a:solidFill>
                  <a:srgbClr val="1A1A1A"/>
                </a:solidFill>
                <a:latin typeface="Calibri"/>
              </a:rPr>
              <a:t>Structured store (BigQuery): exact facts</a:t>
            </a:r>
          </a:p>
          <a:p>
            <a:pPr algn="l">
              <a:spcBef>
                <a:spcPts val="600"/>
              </a:spcBef>
            </a:pPr>
            <a:r>
              <a:rPr sz="1200">
                <a:solidFill>
                  <a:srgbClr val="1A1A1A"/>
                </a:solidFill>
                <a:latin typeface="Calibri"/>
              </a:rPr>
              <a:t>Vector store: semantic email search</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Packet Generator</a:t>
            </a:r>
          </a:p>
          <a:p>
            <a:pPr algn="l">
              <a:spcBef>
                <a:spcPts val="600"/>
              </a:spcBef>
            </a:pPr>
            <a:r>
              <a:rPr sz="1200">
                <a:solidFill>
                  <a:srgbClr val="1A1A1A"/>
                </a:solidFill>
                <a:latin typeface="Calibri"/>
              </a:rPr>
              <a:t>Same logic, real-time data</a:t>
            </a:r>
          </a:p>
          <a:p>
            <a:pPr algn="l">
              <a:spcBef>
                <a:spcPts val="600"/>
              </a:spcBef>
            </a:pPr>
            <a:r>
              <a:rPr sz="1200">
                <a:solidFill>
                  <a:srgbClr val="1A1A1A"/>
                </a:solidFill>
                <a:latin typeface="Calibri"/>
              </a:rPr>
              <a:t>Triggered by calendar event</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Streamlit / Teams tab</a:t>
            </a:r>
          </a:p>
          <a:p>
            <a:pPr algn="l">
              <a:spcBef>
                <a:spcPts val="600"/>
              </a:spcBef>
            </a:pPr>
            <a:r>
              <a:rPr sz="1200">
                <a:solidFill>
                  <a:srgbClr val="1A1A1A"/>
                </a:solidFill>
                <a:latin typeface="Calibri"/>
              </a:rPr>
              <a:t>Auto-delivered before each meeting</a:t>
            </a:r>
          </a:p>
          <a:p>
            <a:r>
              <a:rPr sz="1200">
                <a:solidFill>
                  <a:srgbClr val="1A1A1A"/>
                </a:solidFill>
              </a:rPr>
              <a:t>↓  Extraction → agent loop</a:t>
            </a:r>
          </a:p>
          <a:p>
            <a:r>
              <a:rPr sz="1200">
                <a:solidFill>
                  <a:srgbClr val="1A1A1A"/>
                </a:solidFill>
              </a:rPr>
              <a:t>Claude holds MCP tools per source</a:t>
            </a:r>
          </a:p>
          <a:p>
            <a:r>
              <a:rPr sz="1200">
                <a:solidFill>
                  <a:srgbClr val="1A1A1A"/>
                </a:solidFill>
              </a:rPr>
              <a:t>Decides what to retrieve per supplier</a:t>
            </a:r>
          </a:p>
          <a:p>
            <a:r>
              <a:rPr sz="1200">
                <a:solidFill>
                  <a:srgbClr val="1A1A1A"/>
                </a:solidFill>
              </a:rPr>
              <a:t>Multi-turn: findings drive next query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Home Dashboard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Instant situational awareness — no API calls, loads in &lt;1s</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6858000" cy="2743200"/>
          </a:xfrm>
          <a:prstGeom prst="rect">
            <a:avLst/>
          </a:prstGeom>
          <a:noFill/>
        </p:spPr>
        <p:txBody>
          <a:bodyPr wrap="square">
            <a:spAutoFit/>
          </a:bodyPr>
          <a:lstStyle/>
          <a:p>
            <a:pPr algn="l">
              <a:spcBef>
                <a:spcPts val="600"/>
              </a:spcBef>
            </a:pPr>
            <a:r>
              <a:rPr sz="1500">
                <a:solidFill>
                  <a:srgbClr val="1A1A1A"/>
                </a:solidFill>
                <a:latin typeface="Calibri"/>
              </a:rPr>
              <a:t>📊  Stat tiles — upcoming meetings, meetings this week, suppliers at risk, contract issues</a:t>
            </a:r>
          </a:p>
          <a:p>
            <a:pPr algn="l">
              <a:spcBef>
                <a:spcPts val="600"/>
              </a:spcBef>
            </a:pPr>
            <a:r>
              <a:rPr sz="1500">
                <a:solidFill>
                  <a:srgbClr val="1A1A1A"/>
                </a:solidFill>
                <a:latin typeface="Calibri"/>
              </a:rPr>
              <a:t>📅  Full meeting calendar — supplier, date, agenda note, geography, urgency badge</a:t>
            </a:r>
          </a:p>
          <a:p>
            <a:pPr algn="l">
              <a:spcBef>
                <a:spcPts val="600"/>
              </a:spcBef>
            </a:pPr>
            <a:r>
              <a:rPr sz="1500">
                <a:solidFill>
                  <a:srgbClr val="1A1A1A"/>
                </a:solidFill>
                <a:latin typeface="Calibri"/>
              </a:rPr>
              <a:t>🏭  Supplier health grid — relationship status at a glance across all 8 suppliers</a:t>
            </a:r>
          </a:p>
          <a:p>
            <a:pPr algn="l">
              <a:spcBef>
                <a:spcPts val="600"/>
              </a:spcBef>
            </a:pPr>
            <a:r>
              <a:rPr sz="1500">
                <a:solidFill>
                  <a:srgbClr val="1A1A1A"/>
                </a:solidFill>
                <a:latin typeface="Calibri"/>
              </a:rPr>
              <a:t>📧  Latest discussions — most recent email per supplier with inline preview</a:t>
            </a:r>
          </a:p>
        </p:txBody>
      </p:sp>
      <p:sp>
        <p:nvSpPr>
          <p:cNvPr id="8" name="Rectangle 7"/>
          <p:cNvSpPr/>
          <p:nvPr/>
        </p:nvSpPr>
        <p:spPr>
          <a:xfrm>
            <a:off x="320040" y="4114800"/>
            <a:ext cx="6858000" cy="242316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4206240"/>
            <a:ext cx="6492240" cy="365760"/>
          </a:xfrm>
          <a:prstGeom prst="rect">
            <a:avLst/>
          </a:prstGeom>
          <a:noFill/>
        </p:spPr>
        <p:txBody>
          <a:bodyPr wrap="none">
            <a:spAutoFit/>
          </a:bodyPr>
          <a:lstStyle/>
          <a:p>
            <a:endParaRPr/>
          </a:p>
          <a:p>
            <a:pPr algn="l">
              <a:spcBef>
                <a:spcPts val="0"/>
              </a:spcBef>
              <a:spcAft>
                <a:spcPts val="0"/>
              </a:spcAft>
            </a:pPr>
            <a:r>
              <a:rPr sz="1200" b="1">
                <a:solidFill>
                  <a:srgbClr val="C8102E"/>
                </a:solidFill>
                <a:latin typeface="Calibri"/>
              </a:rPr>
              <a:t>Design decision</a:t>
            </a:r>
          </a:p>
        </p:txBody>
      </p:sp>
      <p:sp>
        <p:nvSpPr>
          <p:cNvPr id="10" name="TextBox 9"/>
          <p:cNvSpPr txBox="1"/>
          <p:nvPr/>
        </p:nvSpPr>
        <p:spPr>
          <a:xfrm>
            <a:off x="502920" y="4572000"/>
            <a:ext cx="6492240" cy="1828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The home page makes zero API calls. All analytics are computed locally from email and contract files. A Procurement Manager can load the dashboard at any time — including 5 minutes before a meeting — without cost or latency.</a:t>
            </a:r>
          </a:p>
        </p:txBody>
      </p:sp>
      <p:sp>
        <p:nvSpPr>
          <p:cNvPr id="11" name="Rectangle 10"/>
          <p:cNvSpPr/>
          <p:nvPr/>
        </p:nvSpPr>
        <p:spPr>
          <a:xfrm>
            <a:off x="7406640" y="1234440"/>
            <a:ext cx="4434840" cy="5303520"/>
          </a:xfrm>
          <a:prstGeom prst="rect">
            <a:avLst/>
          </a:prstGeom>
          <a:solidFill>
            <a:srgbClr val="E8E8E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0" y="3200400"/>
            <a:ext cx="4434840" cy="731520"/>
          </a:xfrm>
          <a:prstGeom prst="rect">
            <a:avLst/>
          </a:prstGeom>
          <a:noFill/>
        </p:spPr>
        <p:txBody>
          <a:bodyPr wrap="none">
            <a:spAutoFit/>
          </a:bodyPr>
          <a:lstStyle/>
          <a:p>
            <a:endParaRPr/>
          </a:p>
          <a:p>
            <a:pPr algn="ctr">
              <a:spcBef>
                <a:spcPts val="0"/>
              </a:spcBef>
              <a:spcAft>
                <a:spcPts val="0"/>
              </a:spcAft>
            </a:pPr>
            <a:r>
              <a:rPr sz="1600" b="0">
                <a:solidFill>
                  <a:srgbClr val="555555"/>
                </a:solidFill>
                <a:latin typeface="Calibri"/>
              </a:rPr>
              <a:t>[ Live demo ]</a:t>
            </a:r>
          </a:p>
        </p:txBody>
      </p:sp>
      <p:sp>
        <p:nvSpPr>
          <p:cNvPr id="13" name="TextBox 12"/>
          <p:cNvSpPr txBox="1"/>
          <p:nvPr/>
        </p:nvSpPr>
        <p:spPr>
          <a:xfrm>
            <a:off x="7406640" y="3749039"/>
            <a:ext cx="4434840" cy="457200"/>
          </a:xfrm>
          <a:prstGeom prst="rect">
            <a:avLst/>
          </a:prstGeom>
          <a:noFill/>
        </p:spPr>
        <p:txBody>
          <a:bodyPr wrap="none">
            <a:spAutoFit/>
          </a:bodyPr>
          <a:lstStyle/>
          <a:p>
            <a:endParaRPr/>
          </a:p>
          <a:p>
            <a:pPr algn="ctr">
              <a:spcBef>
                <a:spcPts val="0"/>
              </a:spcBef>
              <a:spcAft>
                <a:spcPts val="0"/>
              </a:spcAft>
            </a:pPr>
            <a:r>
              <a:rPr sz="1000" b="0">
                <a:solidFill>
                  <a:srgbClr val="555555"/>
                </a:solidFill>
                <a:latin typeface="Calibri"/>
              </a:rPr>
              <a:t>strauss-procurement.streamlit.app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Supplier Profile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Relationship health analytics — searchable directory, per-supplier depth</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7772400" cy="5029200"/>
          </a:xfrm>
          <a:prstGeom prst="rect">
            <a:avLst/>
          </a:prstGeom>
          <a:noFill/>
        </p:spPr>
        <p:txBody>
          <a:bodyPr wrap="square">
            <a:spAutoFit/>
          </a:bodyPr>
          <a:lstStyle/>
          <a:p>
            <a:pPr algn="l">
              <a:spcBef>
                <a:spcPts val="600"/>
              </a:spcBef>
            </a:pPr>
            <a:r>
              <a:rPr sz="1400">
                <a:solidFill>
                  <a:srgbClr val="1A1A1A"/>
                </a:solidFill>
                <a:latin typeface="Calibri"/>
              </a:rPr>
              <a:t>🔍  Searchable directory — autocomplete — type a supplier name to filter instantly</a:t>
            </a:r>
          </a:p>
          <a:p>
            <a:pPr algn="l">
              <a:spcBef>
                <a:spcPts val="600"/>
              </a:spcBef>
            </a:pPr>
            <a:r>
              <a:rPr sz="1400">
                <a:solidFill>
                  <a:srgbClr val="1A1A1A"/>
                </a:solidFill>
                <a:latin typeface="Calibri"/>
              </a:rPr>
              <a:t>🟢🟡🔴  Relationship health score — combined signal: response time trend + communication volume + contract status (active/expired/missing)</a:t>
            </a:r>
          </a:p>
          <a:p>
            <a:pPr algn="l">
              <a:spcBef>
                <a:spcPts val="600"/>
              </a:spcBef>
            </a:pPr>
            <a:r>
              <a:rPr sz="1400">
                <a:solidFill>
                  <a:srgbClr val="1A1A1A"/>
                </a:solidFill>
                <a:latin typeface="Calibri"/>
              </a:rPr>
              <a:t>📊  Email activity chart — emails per month, last 12 months</a:t>
            </a:r>
          </a:p>
          <a:p>
            <a:pPr algn="l">
              <a:spcBef>
                <a:spcPts val="600"/>
              </a:spcBef>
            </a:pPr>
            <a:r>
              <a:rPr sz="1400">
                <a:solidFill>
                  <a:srgbClr val="1A1A1A"/>
                </a:solidFill>
                <a:latin typeface="Calibri"/>
              </a:rPr>
              <a:t>📈  Responsiveness trend — early-half vs recent-half avg response time (getting slower = warning)</a:t>
            </a:r>
          </a:p>
          <a:p>
            <a:pPr algn="l">
              <a:spcBef>
                <a:spcPts val="600"/>
              </a:spcBef>
            </a:pPr>
            <a:r>
              <a:rPr sz="1400">
                <a:solidFill>
                  <a:srgbClr val="1A1A1A"/>
                </a:solidFill>
                <a:latin typeface="Calibri"/>
              </a:rPr>
              <a:t>📉  Retention signal — volume trend, days since last contact, interpretation in plain English</a:t>
            </a:r>
          </a:p>
          <a:p>
            <a:pPr algn="l">
              <a:spcBef>
                <a:spcPts val="600"/>
              </a:spcBef>
            </a:pPr>
            <a:r>
              <a:rPr sz="1400">
                <a:solidFill>
                  <a:srgbClr val="1A1A1A"/>
                </a:solidFill>
                <a:latin typeface="Calibri"/>
              </a:rPr>
              <a:t>📄  Latest discussion preview — most recent email thread with inline read</a:t>
            </a:r>
          </a:p>
          <a:p>
            <a:pPr algn="l">
              <a:spcBef>
                <a:spcPts val="600"/>
              </a:spcBef>
            </a:pPr>
            <a:r>
              <a:rPr sz="1400">
                <a:solidFill>
                  <a:srgbClr val="1A1A1A"/>
                </a:solidFill>
                <a:latin typeface="Calibri"/>
              </a:rPr>
              <a:t>🔗  One-click shortcut to generate the meeting prep packet for this supplier</a:t>
            </a:r>
          </a:p>
        </p:txBody>
      </p:sp>
      <p:sp>
        <p:nvSpPr>
          <p:cNvPr id="8" name="Rectangle 7"/>
          <p:cNvSpPr/>
          <p:nvPr/>
        </p:nvSpPr>
        <p:spPr>
          <a:xfrm>
            <a:off x="8321040" y="1234440"/>
            <a:ext cx="3520440" cy="5303520"/>
          </a:xfrm>
          <a:prstGeom prst="rect">
            <a:avLst/>
          </a:prstGeom>
          <a:solidFill>
            <a:srgbClr val="E8E8E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3200400"/>
            <a:ext cx="3520440" cy="731520"/>
          </a:xfrm>
          <a:prstGeom prst="rect">
            <a:avLst/>
          </a:prstGeom>
          <a:noFill/>
        </p:spPr>
        <p:txBody>
          <a:bodyPr wrap="none">
            <a:spAutoFit/>
          </a:bodyPr>
          <a:lstStyle/>
          <a:p>
            <a:endParaRPr/>
          </a:p>
          <a:p>
            <a:pPr algn="ctr">
              <a:spcBef>
                <a:spcPts val="0"/>
              </a:spcBef>
              <a:spcAft>
                <a:spcPts val="0"/>
              </a:spcAft>
            </a:pPr>
            <a:r>
              <a:rPr sz="1600" b="0">
                <a:solidFill>
                  <a:srgbClr val="555555"/>
                </a:solidFill>
                <a:latin typeface="Calibri"/>
              </a:rPr>
              <a:t>[ Live demo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Demo: Meeting Prep Packet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The core product — one click, one page, everything the manager needs</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5669280" cy="5303520"/>
          </a:xfrm>
          <a:prstGeom prst="rect">
            <a:avLst/>
          </a:prstGeom>
          <a:noFill/>
        </p:spPr>
        <p:txBody>
          <a:bodyPr wrap="square">
            <a:spAutoFit/>
          </a:bodyPr>
          <a:lstStyle/>
          <a:p>
            <a:pPr algn="l">
              <a:spcBef>
                <a:spcPts val="600"/>
              </a:spcBef>
            </a:pPr>
            <a:r>
              <a:rPr sz="1300">
                <a:solidFill>
                  <a:srgbClr val="1A1A1A"/>
                </a:solidFill>
                <a:latin typeface="Calibri"/>
              </a:rPr>
              <a:t>⚡  Select meeting → Generate Packet</a:t>
            </a:r>
          </a:p>
          <a:p>
            <a:pPr algn="l">
              <a:spcBef>
                <a:spcPts val="600"/>
              </a:spcBef>
            </a:pPr>
            <a:r>
              <a:rPr sz="1300">
                <a:solidFill>
                  <a:srgbClr val="1A1A1A"/>
                </a:solidFill>
                <a:latin typeface="Calibri"/>
              </a:rPr>
              <a:t>One Claude API call per supplier</a:t>
            </a:r>
          </a:p>
          <a:p>
            <a:pPr algn="l">
              <a:spcBef>
                <a:spcPts val="600"/>
              </a:spcBef>
            </a:pPr>
            <a:r>
              <a:rPr sz="1300">
                <a:solidFill>
                  <a:srgbClr val="1A1A1A"/>
                </a:solidFill>
                <a:latin typeface="Calibri"/>
              </a:rPr>
              <a:t>Returns in ~10–15 seconds</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Packet contains:</a:t>
            </a:r>
          </a:p>
          <a:p>
            <a:pPr algn="l">
              <a:spcBef>
                <a:spcPts val="600"/>
              </a:spcBef>
            </a:pPr>
            <a:r>
              <a:rPr sz="1300">
                <a:solidFill>
                  <a:srgbClr val="1A1A1A"/>
                </a:solidFill>
                <a:latin typeface="Calibri"/>
              </a:rPr>
              <a:t>  • Heads-up alert (most critical issue)</a:t>
            </a:r>
          </a:p>
          <a:p>
            <a:pPr algn="l">
              <a:spcBef>
                <a:spcPts val="600"/>
              </a:spcBef>
            </a:pPr>
            <a:r>
              <a:rPr sz="1300">
                <a:solidFill>
                  <a:srgbClr val="1A1A1A"/>
                </a:solidFill>
                <a:latin typeface="Calibri"/>
              </a:rPr>
              <a:t>  • 4 KPI tiles (response time, open issues,</a:t>
            </a:r>
          </a:p>
          <a:p>
            <a:pPr algn="l">
              <a:spcBef>
                <a:spcPts val="600"/>
              </a:spcBef>
            </a:pPr>
            <a:r>
              <a:rPr sz="1300">
                <a:solidFill>
                  <a:srgbClr val="1A1A1A"/>
                </a:solidFill>
                <a:latin typeface="Calibri"/>
              </a:rPr>
              <a:t>    price delta, days to renewal)</a:t>
            </a:r>
          </a:p>
          <a:p>
            <a:pPr algn="l">
              <a:spcBef>
                <a:spcPts val="600"/>
              </a:spcBef>
            </a:pPr>
            <a:r>
              <a:rPr sz="1300">
                <a:solidFill>
                  <a:srgbClr val="1A1A1A"/>
                </a:solidFill>
                <a:latin typeface="Calibri"/>
              </a:rPr>
              <a:t>  • Open issues list (colour-coded by severity)</a:t>
            </a:r>
          </a:p>
          <a:p>
            <a:pPr algn="l">
              <a:spcBef>
                <a:spcPts val="600"/>
              </a:spcBef>
            </a:pPr>
            <a:r>
              <a:rPr sz="1300">
                <a:solidFill>
                  <a:srgbClr val="1A1A1A"/>
                </a:solidFill>
                <a:latin typeface="Calibri"/>
              </a:rPr>
              <a:t>  • AI negotiation brief — one-paragraph synthesis of the supplier relationship, open risks, and what leverage Strauss holds walking into the meeting; generated automatically from emails + contract</a:t>
            </a:r>
          </a:p>
          <a:p>
            <a:pPr algn="l">
              <a:spcBef>
                <a:spcPts val="600"/>
              </a:spcBef>
            </a:pPr>
            <a:r>
              <a:rPr sz="1300">
                <a:solidFill>
                  <a:srgbClr val="1A1A1A"/>
                </a:solidFill>
                <a:latin typeface="Calibri"/>
              </a:rPr>
              <a:t>  • Email thread summary</a:t>
            </a:r>
          </a:p>
          <a:p>
            <a:pPr algn="l">
              <a:spcBef>
                <a:spcPts val="600"/>
              </a:spcBef>
            </a:pPr>
            <a:r>
              <a:rPr sz="1300">
                <a:solidFill>
                  <a:srgbClr val="1A1A1A"/>
                </a:solidFill>
                <a:latin typeface="Calibri"/>
              </a:rPr>
              <a:t>  • Contract at a glance</a:t>
            </a:r>
          </a:p>
          <a:p>
            <a:pPr algn="l">
              <a:spcBef>
                <a:spcPts val="600"/>
              </a:spcBef>
            </a:pPr>
            <a:r>
              <a:rPr sz="1300">
                <a:solidFill>
                  <a:srgbClr val="1A1A1A"/>
                </a:solidFill>
                <a:latin typeface="Calibri"/>
              </a:rPr>
              <a:t>  • Pricing section with delta calculation</a:t>
            </a:r>
          </a:p>
          <a:p>
            <a:pPr algn="l">
              <a:spcBef>
                <a:spcPts val="600"/>
              </a:spcBef>
            </a:pPr>
            <a:r>
              <a:rPr sz="1300">
                <a:solidFill>
                  <a:srgbClr val="1A1A1A"/>
                </a:solidFill>
                <a:latin typeface="Calibri"/>
              </a:rPr>
              <a:t>  • Early payment discount card — where contract offers a discount, shows implied APR vs. cost of capital with inline recommendation (e.g. Galil Dairy: 2% / 10 days / net 45 = 21.3% APR → ✅ Take the discount)</a:t>
            </a:r>
          </a:p>
          <a:p>
            <a:pPr algn="l">
              <a:spcBef>
                <a:spcPts val="600"/>
              </a:spcBef>
            </a:pPr>
            <a:r>
              <a:rPr sz="1300">
                <a:solidFill>
                  <a:srgbClr val="1A1A1A"/>
                </a:solidFill>
                <a:latin typeface="Calibri"/>
              </a:rPr>
              <a:t>  • Commodity benchmark (6-month change)</a:t>
            </a:r>
          </a:p>
        </p:txBody>
      </p:sp>
      <p:sp>
        <p:nvSpPr>
          <p:cNvPr id="8" name="Rectangle 7"/>
          <p:cNvSpPr/>
          <p:nvPr/>
        </p:nvSpPr>
        <p:spPr>
          <a:xfrm>
            <a:off x="6217920" y="1234440"/>
            <a:ext cx="5623560" cy="53035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325880"/>
            <a:ext cx="5303520" cy="41148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Demo case: Galil Dairy Suppliers</a:t>
            </a:r>
          </a:p>
        </p:txBody>
      </p:sp>
      <p:sp>
        <p:nvSpPr>
          <p:cNvPr id="10" name="TextBox 9"/>
          <p:cNvSpPr txBox="1"/>
          <p:nvPr/>
        </p:nvSpPr>
        <p:spPr>
          <a:xfrm>
            <a:off x="6400800" y="1783080"/>
            <a:ext cx="5303520" cy="4572000"/>
          </a:xfrm>
          <a:prstGeom prst="rect">
            <a:avLst/>
          </a:prstGeom>
          <a:noFill/>
        </p:spPr>
        <p:txBody>
          <a:bodyPr wrap="square">
            <a:spAutoFit/>
          </a:bodyPr>
          <a:lstStyle/>
          <a:p>
            <a:pPr algn="l">
              <a:spcBef>
                <a:spcPts val="600"/>
              </a:spcBef>
            </a:pPr>
            <a:r>
              <a:rPr sz="1200">
                <a:solidFill>
                  <a:srgbClr val="1A1A1A"/>
                </a:solidFill>
                <a:latin typeface="Calibri"/>
              </a:rPr>
              <a:t>🔴  Price discrepancy flagged</a:t>
            </a:r>
          </a:p>
          <a:p>
            <a:pPr algn="l">
              <a:spcBef>
                <a:spcPts val="600"/>
              </a:spcBef>
            </a:pPr>
            <a:r>
              <a:rPr sz="1200">
                <a:solidFill>
                  <a:srgbClr val="1A1A1A"/>
                </a:solidFill>
                <a:latin typeface="Calibri"/>
              </a:rPr>
              <a:t>     Supplier quoted ₪15.50/kg in email</a:t>
            </a:r>
          </a:p>
          <a:p>
            <a:pPr algn="l">
              <a:spcBef>
                <a:spcPts val="600"/>
              </a:spcBef>
            </a:pPr>
            <a:r>
              <a:rPr sz="1200">
                <a:solidFill>
                  <a:srgbClr val="1A1A1A"/>
                </a:solidFill>
                <a:latin typeface="Calibri"/>
              </a:rPr>
              <a:t>     Contract Section 4.2 caps at ₪14.20/kg</a:t>
            </a:r>
          </a:p>
          <a:p>
            <a:pPr algn="l">
              <a:spcBef>
                <a:spcPts val="600"/>
              </a:spcBef>
            </a:pPr>
            <a:r>
              <a:rPr sz="1200">
                <a:solidFill>
                  <a:srgbClr val="1A1A1A"/>
                </a:solidFill>
                <a:latin typeface="Calibri"/>
              </a:rPr>
              <a:t>     No written amendment exists</a:t>
            </a:r>
          </a:p>
          <a:p>
            <a:pPr algn="l">
              <a:spcBef>
                <a:spcPts val="600"/>
              </a:spcBef>
            </a:pPr>
            <a:r>
              <a:rPr sz="1200">
                <a:solidFill>
                  <a:srgbClr val="1A1A1A"/>
                </a:solidFill>
                <a:latin typeface="Calibri"/>
              </a:rPr>
              <a:t>     Delta: +₪1.30/kg (+9.2%)</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Unanswered thread flagged</a:t>
            </a:r>
          </a:p>
          <a:p>
            <a:pPr algn="l">
              <a:spcBef>
                <a:spcPts val="600"/>
              </a:spcBef>
            </a:pPr>
            <a:r>
              <a:rPr sz="1200">
                <a:solidFill>
                  <a:srgbClr val="1A1A1A"/>
                </a:solidFill>
                <a:latin typeface="Calibri"/>
              </a:rPr>
              <a:t>     Yael Shapira requested alignment</a:t>
            </a:r>
          </a:p>
          <a:p>
            <a:pPr algn="l">
              <a:spcBef>
                <a:spcPts val="600"/>
              </a:spcBef>
            </a:pPr>
            <a:r>
              <a:rPr sz="1200">
                <a:solidFill>
                  <a:srgbClr val="1A1A1A"/>
                </a:solidFill>
                <a:latin typeface="Calibri"/>
              </a:rPr>
              <a:t>     David Cohen proposed call — no</a:t>
            </a:r>
          </a:p>
          <a:p>
            <a:pPr algn="l">
              <a:spcBef>
                <a:spcPts val="600"/>
              </a:spcBef>
            </a:pPr>
            <a:r>
              <a:rPr sz="1200">
                <a:solidFill>
                  <a:srgbClr val="1A1A1A"/>
                </a:solidFill>
                <a:latin typeface="Calibri"/>
              </a:rPr>
              <a:t>     documented outcome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Every fact has a ‘Show source’ expander — clicking opens the exact email (pinned and highlighted) or contract section, not a generic document dump</a:t>
            </a:r>
          </a:p>
          <a:p>
            <a:pPr algn="l">
              <a:spcBef>
                <a:spcPts val="600"/>
              </a:spcBef>
            </a:pPr>
            <a:r>
              <a:rPr sz="1200">
                <a:solidFill>
                  <a:srgbClr val="1A1A1A"/>
                </a:solidFill>
                <a:latin typeface="Calibri"/>
              </a:rPr>
              <a:t/>
            </a:r>
          </a:p>
          <a:p>
            <a:pPr algn="l">
              <a:spcBef>
                <a:spcPts val="600"/>
              </a:spcBef>
            </a:pPr>
            <a:r>
              <a:rPr sz="1200">
                <a:solidFill>
                  <a:srgbClr val="1A1A1A"/>
                </a:solidFill>
                <a:latin typeface="Calibri"/>
              </a:rP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Human in the Loop</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stops this from being trusted blindly</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23444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0759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Source attribution on every field</a:t>
            </a:r>
          </a:p>
        </p:txBody>
      </p:sp>
      <p:sp>
        <p:nvSpPr>
          <p:cNvPr id="9" name="TextBox 8"/>
          <p:cNvSpPr txBox="1"/>
          <p:nvPr/>
        </p:nvSpPr>
        <p:spPr>
          <a:xfrm>
            <a:off x="502920" y="167335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Every number, date, and clause cites exactly where it came from (email date + sender, or contract section). One click to verify. Nothing is presented as settled ground truth.</a:t>
            </a:r>
          </a:p>
        </p:txBody>
      </p:sp>
      <p:sp>
        <p:nvSpPr>
          <p:cNvPr id="10" name="Rectangle 9"/>
          <p:cNvSpPr/>
          <p:nvPr/>
        </p:nvSpPr>
        <p:spPr>
          <a:xfrm>
            <a:off x="320040" y="256032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63347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Explicit conflict flagging</a:t>
            </a:r>
          </a:p>
        </p:txBody>
      </p:sp>
      <p:sp>
        <p:nvSpPr>
          <p:cNvPr id="12" name="TextBox 11"/>
          <p:cNvSpPr txBox="1"/>
          <p:nvPr/>
        </p:nvSpPr>
        <p:spPr>
          <a:xfrm>
            <a:off x="502920" y="299923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When email and contract disagree, the packet surfaces both and flags the conflict — it never silently picks one. Galil price discrepancy and Siam Sugar unit ambiguity are live examples in the demo.</a:t>
            </a:r>
          </a:p>
        </p:txBody>
      </p:sp>
      <p:sp>
        <p:nvSpPr>
          <p:cNvPr id="13" name="Rectangle 12"/>
          <p:cNvSpPr/>
          <p:nvPr/>
        </p:nvSpPr>
        <p:spPr>
          <a:xfrm>
            <a:off x="320040" y="3886200"/>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959352"/>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Correction tracking built in</a:t>
            </a:r>
          </a:p>
        </p:txBody>
      </p:sp>
      <p:sp>
        <p:nvSpPr>
          <p:cNvPr id="15" name="TextBox 14"/>
          <p:cNvSpPr txBox="1"/>
          <p:nvPr/>
        </p:nvSpPr>
        <p:spPr>
          <a:xfrm>
            <a:off x="502920" y="432511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The manager can flag any field as wrong directly in the packet view. Corrections are saved to a log (correction_log.csv) — this is the extraction quality feedback loop, per metrics.md §5.</a:t>
            </a:r>
          </a:p>
        </p:txBody>
      </p:sp>
      <p:sp>
        <p:nvSpPr>
          <p:cNvPr id="16" name="Rectangle 15"/>
          <p:cNvSpPr/>
          <p:nvPr/>
        </p:nvSpPr>
        <p:spPr>
          <a:xfrm>
            <a:off x="320040" y="5212079"/>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5285231"/>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Tool never acts</a:t>
            </a:r>
          </a:p>
        </p:txBody>
      </p:sp>
      <p:sp>
        <p:nvSpPr>
          <p:cNvPr id="18" name="TextBox 17"/>
          <p:cNvSpPr txBox="1"/>
          <p:nvPr/>
        </p:nvSpPr>
        <p:spPr>
          <a:xfrm>
            <a:off x="502920" y="5650992"/>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No emails sent, no contracts updated, no decisions taken. Every action stays with the human. The tool removes the assembly work in front of the judgment call — it does not replace the judgment call.</a:t>
            </a:r>
          </a:p>
        </p:txBody>
      </p:sp>
      <p:sp>
        <p:nvSpPr>
          <p:cNvPr id="16" name="Rectangle 15"/>
          <p:cNvSpPr/>
          <p:nvPr/>
        </p:nvSpPr>
        <p:spPr>
          <a:xfrm>
            <a:off x="320040" y="6473951"/>
            <a:ext cx="11521440" cy="11887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547103"/>
            <a:ext cx="1115568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  Privacy by design</a:t>
            </a:r>
          </a:p>
        </p:txBody>
      </p:sp>
      <p:sp>
        <p:nvSpPr>
          <p:cNvPr id="18" name="TextBox 17"/>
          <p:cNvSpPr txBox="1"/>
          <p:nvPr/>
        </p:nvSpPr>
        <p:spPr>
          <a:xfrm>
            <a:off x="502920" y="6912864"/>
            <a:ext cx="11155680" cy="685800"/>
          </a:xfrm>
          <a:prstGeom prst="rect">
            <a:avLst/>
          </a:prstGeom>
          <a:noFill/>
        </p:spPr>
        <p:txBody>
          <a:bodyPr wrap="square">
            <a:spAutoFit/>
          </a:bodyPr>
          <a:lstStyle/>
          <a:p>
            <a:endParaRPr/>
          </a:p>
          <a:p>
            <a:pPr algn="l">
              <a:spcBef>
                <a:spcPts val="0"/>
              </a:spcBef>
              <a:spcAft>
                <a:spcPts val="0"/>
              </a:spcAft>
            </a:pPr>
            <a:r>
              <a:rPr sz="1300" b="0">
                <a:solidFill>
                  <a:srgbClr val="1A1A1A"/>
                </a:solidFill>
                <a:latin typeface="Calibri"/>
              </a:rPr>
              <a:t>Email content processed in memory only, not retained beyond the session; disclaimer visible in sidebar on every page.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KPIs — Two Tiers, Both Tracked</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Adoption tells you if people use it. Extraction quality tells you if it's worth using.</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43000"/>
            <a:ext cx="411480" cy="3657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400">
                <a:solidFill>
                  <a:srgbClr val="FFFFFF"/>
                </a:solidFill>
              </a:rPr>
              <a:t>1</a:t>
            </a:r>
          </a:p>
        </p:txBody>
      </p:sp>
      <p:sp>
        <p:nvSpPr>
          <p:cNvPr id="8" name="TextBox 7"/>
          <p:cNvSpPr txBox="1"/>
          <p:nvPr/>
        </p:nvSpPr>
        <p:spPr>
          <a:xfrm>
            <a:off x="685800" y="1124712"/>
            <a:ext cx="11292840" cy="329184"/>
          </a:xfrm>
          <a:prstGeom prst="rect">
            <a:avLst/>
          </a:prstGeom>
          <a:noFill/>
        </p:spPr>
        <p:txBody>
          <a:bodyPr wrap="none">
            <a:spAutoFit/>
          </a:bodyPr>
          <a:lstStyle/>
          <a:p>
            <a:r>
              <a:rPr b="1" sz="1600">
                <a:solidFill>
                  <a:srgbClr val="1A1A1A"/>
                </a:solidFill>
              </a:rPr>
              <a:t>Prep Time Saved</a:t>
            </a:r>
          </a:p>
        </p:txBody>
      </p:sp>
      <p:sp>
        <p:nvSpPr>
          <p:cNvPr id="9" name="TextBox 8"/>
          <p:cNvSpPr txBox="1"/>
          <p:nvPr/>
        </p:nvSpPr>
        <p:spPr>
          <a:xfrm>
            <a:off x="685800" y="1508760"/>
            <a:ext cx="11292840" cy="777240"/>
          </a:xfrm>
          <a:prstGeom prst="rect">
            <a:avLst/>
          </a:prstGeom>
          <a:noFill/>
        </p:spPr>
        <p:txBody>
          <a:bodyPr wrap="square">
            <a:spAutoFit/>
          </a:bodyPr>
          <a:lstStyle/>
          <a:p>
            <a:r>
              <a:rPr b="0" sz="1300">
                <a:solidFill>
                  <a:srgbClr val="1A1A1A"/>
                </a:solidFill>
              </a:rPr>
              <a:t>Manual prep: 2.5 hrs per meeting  →  AI-assisted: 20 min</a:t>
            </a:r>
          </a:p>
          <a:p>
            <a:r>
              <a:rPr b="0" sz="1300">
                <a:solidFill>
                  <a:srgbClr val="1A1A1A"/>
                </a:solidFill>
              </a:rPr>
              <a:t>Time saved: 2h10m × 14 meetings/quarter = ~30 hrs/quarter per analyst</a:t>
            </a:r>
          </a:p>
        </p:txBody>
      </p:sp>
      <p:sp>
        <p:nvSpPr>
          <p:cNvPr id="10" name="TextBox 9"/>
          <p:cNvSpPr txBox="1"/>
          <p:nvPr/>
        </p:nvSpPr>
        <p:spPr>
          <a:xfrm>
            <a:off x="685800" y="2286000"/>
            <a:ext cx="11292840" cy="502920"/>
          </a:xfrm>
          <a:prstGeom prst="rect">
            <a:avLst/>
          </a:prstGeom>
          <a:noFill/>
        </p:spPr>
        <p:txBody>
          <a:bodyPr wrap="square">
            <a:spAutoFit/>
          </a:bodyPr>
          <a:lstStyle/>
          <a:p>
            <a:r>
              <a:rPr b="0" sz="1000">
                <a:solidFill>
                  <a:srgbClr val="555555"/>
                </a:solidFill>
              </a:rPr>
              <a:t>Tracked via packet generation timestamps vs. historical baseline survey.</a:t>
            </a:r>
          </a:p>
        </p:txBody>
      </p:sp>
      <p:sp>
        <p:nvSpPr>
          <p:cNvPr id="11" name="Rectangle 10"/>
          <p:cNvSpPr/>
          <p:nvPr/>
        </p:nvSpPr>
        <p:spPr>
          <a:xfrm>
            <a:off x="182880" y="2901696"/>
            <a:ext cx="11795760" cy="9144"/>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3011424"/>
            <a:ext cx="411480" cy="3657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400">
                <a:solidFill>
                  <a:srgbClr val="FFFFFF"/>
                </a:solidFill>
              </a:rPr>
              <a:t>2</a:t>
            </a:r>
          </a:p>
        </p:txBody>
      </p:sp>
      <p:sp>
        <p:nvSpPr>
          <p:cNvPr id="13" name="TextBox 12"/>
          <p:cNvSpPr txBox="1"/>
          <p:nvPr/>
        </p:nvSpPr>
        <p:spPr>
          <a:xfrm>
            <a:off x="685800" y="2993136"/>
            <a:ext cx="11292840" cy="329184"/>
          </a:xfrm>
          <a:prstGeom prst="rect">
            <a:avLst/>
          </a:prstGeom>
          <a:noFill/>
        </p:spPr>
        <p:txBody>
          <a:bodyPr wrap="none">
            <a:spAutoFit/>
          </a:bodyPr>
          <a:lstStyle/>
          <a:p>
            <a:r>
              <a:rPr b="1" sz="1600">
                <a:solidFill>
                  <a:srgbClr val="1A1A1A"/>
                </a:solidFill>
              </a:rPr>
              <a:t>Packet Adoption Rate</a:t>
            </a:r>
          </a:p>
        </p:txBody>
      </p:sp>
      <p:sp>
        <p:nvSpPr>
          <p:cNvPr id="14" name="TextBox 13"/>
          <p:cNvSpPr txBox="1"/>
          <p:nvPr/>
        </p:nvSpPr>
        <p:spPr>
          <a:xfrm>
            <a:off x="685800" y="3377184"/>
            <a:ext cx="11292840" cy="777240"/>
          </a:xfrm>
          <a:prstGeom prst="rect">
            <a:avLst/>
          </a:prstGeom>
          <a:noFill/>
        </p:spPr>
        <p:txBody>
          <a:bodyPr wrap="square">
            <a:spAutoFit/>
          </a:bodyPr>
          <a:lstStyle/>
          <a:p>
            <a:r>
              <a:rPr b="0" sz="1300">
                <a:solidFill>
                  <a:srgbClr val="1A1A1A"/>
                </a:solidFill>
              </a:rPr>
              <a:t>% of upcoming meetings where the manager opens and uses the prep packet.</a:t>
            </a:r>
          </a:p>
          <a:p>
            <a:r>
              <a:rPr b="0" sz="1300">
                <a:solidFill>
                  <a:srgbClr val="1A1A1A"/>
                </a:solidFill>
              </a:rPr>
              <a:t>Target: &gt;80% by Phase 2.</a:t>
            </a:r>
          </a:p>
        </p:txBody>
      </p:sp>
      <p:sp>
        <p:nvSpPr>
          <p:cNvPr id="15" name="TextBox 14"/>
          <p:cNvSpPr txBox="1"/>
          <p:nvPr/>
        </p:nvSpPr>
        <p:spPr>
          <a:xfrm>
            <a:off x="685800" y="4154424"/>
            <a:ext cx="11292840" cy="502920"/>
          </a:xfrm>
          <a:prstGeom prst="rect">
            <a:avLst/>
          </a:prstGeom>
          <a:noFill/>
        </p:spPr>
        <p:txBody>
          <a:bodyPr wrap="square">
            <a:spAutoFit/>
          </a:bodyPr>
          <a:lstStyle/>
          <a:p>
            <a:r>
              <a:rPr b="0" sz="1000">
                <a:solidFill>
                  <a:srgbClr val="555555"/>
                </a:solidFill>
              </a:rPr>
              <a:t>Tracked via session logs (page views per scheduled meeting in calendar feed).</a:t>
            </a:r>
          </a:p>
        </p:txBody>
      </p:sp>
      <p:sp>
        <p:nvSpPr>
          <p:cNvPr id="16" name="Rectangle 15"/>
          <p:cNvSpPr/>
          <p:nvPr/>
        </p:nvSpPr>
        <p:spPr>
          <a:xfrm>
            <a:off x="182880" y="4770120"/>
            <a:ext cx="11795760" cy="9144"/>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4879848"/>
            <a:ext cx="411480" cy="3657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400">
                <a:solidFill>
                  <a:srgbClr val="FFFFFF"/>
                </a:solidFill>
              </a:rPr>
              <a:t>3</a:t>
            </a:r>
          </a:p>
        </p:txBody>
      </p:sp>
      <p:sp>
        <p:nvSpPr>
          <p:cNvPr id="18" name="TextBox 17"/>
          <p:cNvSpPr txBox="1"/>
          <p:nvPr/>
        </p:nvSpPr>
        <p:spPr>
          <a:xfrm>
            <a:off x="685800" y="4861560"/>
            <a:ext cx="11292840" cy="329184"/>
          </a:xfrm>
          <a:prstGeom prst="rect">
            <a:avLst/>
          </a:prstGeom>
          <a:noFill/>
        </p:spPr>
        <p:txBody>
          <a:bodyPr wrap="none">
            <a:spAutoFit/>
          </a:bodyPr>
          <a:lstStyle/>
          <a:p>
            <a:r>
              <a:rPr b="1" sz="1600">
                <a:solidFill>
                  <a:srgbClr val="1A1A1A"/>
                </a:solidFill>
              </a:rPr>
              <a:t>Correction / Override Rate</a:t>
            </a:r>
          </a:p>
        </p:txBody>
      </p:sp>
      <p:sp>
        <p:nvSpPr>
          <p:cNvPr id="19" name="TextBox 18"/>
          <p:cNvSpPr txBox="1"/>
          <p:nvPr/>
        </p:nvSpPr>
        <p:spPr>
          <a:xfrm>
            <a:off x="685800" y="5245608"/>
            <a:ext cx="11292840" cy="777240"/>
          </a:xfrm>
          <a:prstGeom prst="rect">
            <a:avLst/>
          </a:prstGeom>
          <a:noFill/>
        </p:spPr>
        <p:txBody>
          <a:bodyPr wrap="square">
            <a:spAutoFit/>
          </a:bodyPr>
          <a:lstStyle/>
          <a:p>
            <a:r>
              <a:rPr b="0" sz="1300">
                <a:solidFill>
                  <a:srgbClr val="1A1A1A"/>
                </a:solidFill>
              </a:rPr>
              <a:t>% of AI-extracted fields the manager manually flags or corrects.</a:t>
            </a:r>
          </a:p>
          <a:p>
            <a:r>
              <a:rPr b="0" sz="1300">
                <a:solidFill>
                  <a:srgbClr val="1A1A1A"/>
                </a:solidFill>
              </a:rPr>
              <a:t>Target: &lt;15% by Phase 2,  &lt;10% by day 90.</a:t>
            </a:r>
          </a:p>
        </p:txBody>
      </p:sp>
      <p:sp>
        <p:nvSpPr>
          <p:cNvPr id="20" name="TextBox 19"/>
          <p:cNvSpPr txBox="1"/>
          <p:nvPr/>
        </p:nvSpPr>
        <p:spPr>
          <a:xfrm>
            <a:off x="685800" y="6022848"/>
            <a:ext cx="11292840" cy="502920"/>
          </a:xfrm>
          <a:prstGeom prst="rect">
            <a:avLst/>
          </a:prstGeom>
          <a:noFill/>
        </p:spPr>
        <p:txBody>
          <a:bodyPr wrap="square">
            <a:spAutoFit/>
          </a:bodyPr>
          <a:lstStyle/>
          <a:p>
            <a:r>
              <a:rPr b="0" sz="1000">
                <a:solidFill>
                  <a:srgbClr val="555555"/>
                </a:solidFill>
              </a:rPr>
              <a:t>Trust signal: a falling rate means extraction is improving. High rate on a specific supplier → retune prompt.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KPI Data Inputs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Exactly what data each metric reads, where it comes from, and who computes it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11887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1188720"/>
            <a:ext cx="109728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KPI</a:t>
            </a:r>
          </a:p>
        </p:txBody>
      </p:sp>
      <p:sp>
        <p:nvSpPr>
          <p:cNvPr id="9" name="Rectangle 8"/>
          <p:cNvSpPr/>
          <p:nvPr/>
        </p:nvSpPr>
        <p:spPr>
          <a:xfrm>
            <a:off x="1463040" y="1170432"/>
            <a:ext cx="25603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17904" y="1188720"/>
            <a:ext cx="2468879"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Input fields</a:t>
            </a:r>
          </a:p>
        </p:txBody>
      </p:sp>
      <p:sp>
        <p:nvSpPr>
          <p:cNvPr id="11" name="Rectangle 10"/>
          <p:cNvSpPr/>
          <p:nvPr/>
        </p:nvSpPr>
        <p:spPr>
          <a:xfrm>
            <a:off x="4114800" y="1170432"/>
            <a:ext cx="274320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9663" y="1188720"/>
            <a:ext cx="265176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Source system (prototype)</a:t>
            </a:r>
          </a:p>
        </p:txBody>
      </p:sp>
      <p:sp>
        <p:nvSpPr>
          <p:cNvPr id="13" name="Rectangle 12"/>
          <p:cNvSpPr/>
          <p:nvPr/>
        </p:nvSpPr>
        <p:spPr>
          <a:xfrm>
            <a:off x="6949440" y="1170432"/>
            <a:ext cx="256032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04303" y="1188720"/>
            <a:ext cx="2468879"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Who computes it</a:t>
            </a:r>
          </a:p>
        </p:txBody>
      </p:sp>
      <p:sp>
        <p:nvSpPr>
          <p:cNvPr id="15" name="Rectangle 14"/>
          <p:cNvSpPr/>
          <p:nvPr/>
        </p:nvSpPr>
        <p:spPr>
          <a:xfrm>
            <a:off x="9601200" y="1170432"/>
            <a:ext cx="2423160" cy="347472"/>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56064" y="1188720"/>
            <a:ext cx="2331720" cy="310896"/>
          </a:xfrm>
          <a:prstGeom prst="rect">
            <a:avLst/>
          </a:prstGeom>
          <a:noFill/>
        </p:spPr>
        <p:txBody>
          <a:bodyPr wrap="none">
            <a:spAutoFit/>
          </a:bodyPr>
          <a:lstStyle/>
          <a:p>
            <a:endParaRPr/>
          </a:p>
          <a:p>
            <a:pPr algn="l">
              <a:spcBef>
                <a:spcPts val="0"/>
              </a:spcBef>
              <a:spcAft>
                <a:spcPts val="0"/>
              </a:spcAft>
            </a:pPr>
            <a:r>
              <a:rPr sz="1000" b="1">
                <a:solidFill>
                  <a:srgbClr val="FFFFFF"/>
                </a:solidFill>
                <a:latin typeface="Calibri"/>
              </a:rPr>
              <a:t>SQLite column stored</a:t>
            </a:r>
          </a:p>
        </p:txBody>
      </p:sp>
      <p:sp>
        <p:nvSpPr>
          <p:cNvPr id="17" name="Rectangle 16"/>
          <p:cNvSpPr/>
          <p:nvPr/>
        </p:nvSpPr>
        <p:spPr>
          <a:xfrm>
            <a:off x="182880" y="1572768"/>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463040" y="157276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0" y="1572768"/>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949440" y="1572768"/>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601200" y="1572768"/>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7744" y="1627632"/>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§1
Response Time</a:t>
            </a:r>
            <a:r>
              <a:t/>
            </a:r>
            <a:br/>
            <a:r>
              <a:t>Response Time</a:t>
            </a:r>
          </a:p>
        </p:txBody>
      </p:sp>
      <p:sp>
        <p:nvSpPr>
          <p:cNvPr id="23" name="TextBox 22"/>
          <p:cNvSpPr txBox="1"/>
          <p:nvPr/>
        </p:nvSpPr>
        <p:spPr>
          <a:xfrm>
            <a:off x="1517904" y="1627632"/>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email.date
email.from
Subject (thread grouping)</a:t>
            </a:r>
            <a:r>
              <a:t/>
            </a:r>
            <a:br/>
            <a:r>
              <a:t>email.from</a:t>
            </a:r>
            <a:br/>
            <a:r>
              <a:t>Subject (thread grouping)</a:t>
            </a:r>
          </a:p>
        </p:txBody>
      </p:sp>
      <p:sp>
        <p:nvSpPr>
          <p:cNvPr id="24" name="TextBox 23"/>
          <p:cNvSpPr txBox="1"/>
          <p:nvPr/>
        </p:nvSpPr>
        <p:spPr>
          <a:xfrm>
            <a:off x="4169663" y="1627632"/>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data/emails/&lt;supplier&gt;.json
111 synthetic emails
6-month window</a:t>
            </a:r>
            <a:r>
              <a:t/>
            </a:r>
            <a:br/>
            <a:r>
              <a:t>111 synthetic emails</a:t>
            </a:r>
            <a:br/>
            <a:r>
              <a:t>6-month window</a:t>
            </a:r>
          </a:p>
        </p:txBody>
      </p:sp>
      <p:sp>
        <p:nvSpPr>
          <p:cNvPr id="25" name="TextBox 24"/>
          <p:cNvSpPr txBox="1"/>
          <p:nvPr/>
        </p:nvSpPr>
        <p:spPr>
          <a:xfrm>
            <a:off x="7004303" y="1627632"/>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Python (local)
No API call
supplier_analytics.py</a:t>
            </a:r>
            <a:r>
              <a:t/>
            </a:r>
            <a:br/>
            <a:r>
              <a:t>No API call</a:t>
            </a:r>
            <a:br/>
            <a:r>
              <a:t>supplier_analytics.py</a:t>
            </a:r>
          </a:p>
        </p:txBody>
      </p:sp>
      <p:sp>
        <p:nvSpPr>
          <p:cNvPr id="26" name="TextBox 25"/>
          <p:cNvSpPr txBox="1"/>
          <p:nvPr/>
        </p:nvSpPr>
        <p:spPr>
          <a:xfrm>
            <a:off x="9656064" y="1627632"/>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kpi_response_days
REAL — avg days</a:t>
            </a:r>
            <a:r>
              <a:t/>
            </a:r>
            <a:br/>
            <a:r>
              <a:t>REAL — avg days</a:t>
            </a:r>
          </a:p>
        </p:txBody>
      </p:sp>
      <p:sp>
        <p:nvSpPr>
          <p:cNvPr id="27" name="Rectangle 26"/>
          <p:cNvSpPr/>
          <p:nvPr/>
        </p:nvSpPr>
        <p:spPr>
          <a:xfrm>
            <a:off x="182880" y="2606039"/>
            <a:ext cx="11887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463040" y="2606039"/>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0" y="2606039"/>
            <a:ext cx="27432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949440" y="2606039"/>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601200" y="2606039"/>
            <a:ext cx="242316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7744" y="2660903"/>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§2
Open Issues</a:t>
            </a:r>
            <a:r>
              <a:t/>
            </a:r>
            <a:br/>
            <a:r>
              <a:t>Open Issues</a:t>
            </a:r>
          </a:p>
        </p:txBody>
      </p:sp>
      <p:sp>
        <p:nvSpPr>
          <p:cNvPr id="33" name="TextBox 32"/>
          <p:cNvSpPr txBox="1"/>
          <p:nvPr/>
        </p:nvSpPr>
        <p:spPr>
          <a:xfrm>
            <a:off x="1517904" y="2660903"/>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Full email body text
Contract clause text
Issue type / status</a:t>
            </a:r>
            <a:r>
              <a:t/>
            </a:r>
            <a:br/>
            <a:r>
              <a:t>Contract clause text</a:t>
            </a:r>
            <a:br/>
            <a:r>
              <a:t>Issue type / status</a:t>
            </a:r>
          </a:p>
        </p:txBody>
      </p:sp>
      <p:sp>
        <p:nvSpPr>
          <p:cNvPr id="34" name="TextBox 33"/>
          <p:cNvSpPr txBox="1"/>
          <p:nvPr/>
        </p:nvSpPr>
        <p:spPr>
          <a:xfrm>
            <a:off x="4169663" y="2660903"/>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Same email JSONs
+ data/contracts/*.md
Fed to Claude in one prompt</a:t>
            </a:r>
            <a:r>
              <a:t/>
            </a:r>
            <a:br/>
            <a:r>
              <a:t>+ data/contracts/*.md</a:t>
            </a:r>
            <a:br/>
            <a:r>
              <a:t>Fed to Claude in one prompt</a:t>
            </a:r>
          </a:p>
        </p:txBody>
      </p:sp>
      <p:sp>
        <p:nvSpPr>
          <p:cNvPr id="35" name="TextBox 34"/>
          <p:cNvSpPr txBox="1"/>
          <p:nvPr/>
        </p:nvSpPr>
        <p:spPr>
          <a:xfrm>
            <a:off x="7004303" y="2660903"/>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Claude API
extraction.py
Returns structured JSON</a:t>
            </a:r>
            <a:r>
              <a:t/>
            </a:r>
            <a:br/>
            <a:r>
              <a:t>extraction.py</a:t>
            </a:r>
            <a:br/>
            <a:r>
              <a:t>Returns structured JSON</a:t>
            </a:r>
          </a:p>
        </p:txBody>
      </p:sp>
      <p:sp>
        <p:nvSpPr>
          <p:cNvPr id="36" name="TextBox 35"/>
          <p:cNvSpPr txBox="1"/>
          <p:nvPr/>
        </p:nvSpPr>
        <p:spPr>
          <a:xfrm>
            <a:off x="9656064" y="2660903"/>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kpi_open_issues
INTEGER — count</a:t>
            </a:r>
            <a:r>
              <a:t/>
            </a:r>
            <a:br/>
            <a:r>
              <a:t>INTEGER — count</a:t>
            </a:r>
          </a:p>
        </p:txBody>
      </p:sp>
      <p:sp>
        <p:nvSpPr>
          <p:cNvPr id="37" name="Rectangle 36"/>
          <p:cNvSpPr/>
          <p:nvPr/>
        </p:nvSpPr>
        <p:spPr>
          <a:xfrm>
            <a:off x="182880" y="3639311"/>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463040" y="3639311"/>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14800" y="3639311"/>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949440" y="3639311"/>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601200" y="3639311"/>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37744" y="3694175"/>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§3
Price Delta</a:t>
            </a:r>
            <a:r>
              <a:t/>
            </a:r>
            <a:br/>
            <a:r>
              <a:t>Price Delta</a:t>
            </a:r>
          </a:p>
        </p:txBody>
      </p:sp>
      <p:sp>
        <p:nvSpPr>
          <p:cNvPr id="43" name="TextBox 42"/>
          <p:cNvSpPr txBox="1"/>
          <p:nvPr/>
        </p:nvSpPr>
        <p:spPr>
          <a:xfrm>
            <a:off x="1517904" y="3694175"/>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latest_price_quoted.value
latest_price_quoted.unit
contract_base_price_numeric</a:t>
            </a:r>
            <a:r>
              <a:t/>
            </a:r>
            <a:br/>
            <a:r>
              <a:t>latest_price_quoted.unit</a:t>
            </a:r>
            <a:br/>
            <a:r>
              <a:t>contract_base_price_numeric</a:t>
            </a:r>
          </a:p>
        </p:txBody>
      </p:sp>
      <p:sp>
        <p:nvSpPr>
          <p:cNvPr id="44" name="TextBox 43"/>
          <p:cNvSpPr txBox="1"/>
          <p:nvPr/>
        </p:nvSpPr>
        <p:spPr>
          <a:xfrm>
            <a:off x="4169663" y="3694175"/>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Price: Claude extraction
from email body
Base: contract Pricing section</a:t>
            </a:r>
            <a:r>
              <a:t/>
            </a:r>
            <a:br/>
            <a:r>
              <a:t>from email body</a:t>
            </a:r>
            <a:br/>
            <a:r>
              <a:t>Base: contract Pricing section</a:t>
            </a:r>
          </a:p>
        </p:txBody>
      </p:sp>
      <p:sp>
        <p:nvSpPr>
          <p:cNvPr id="45" name="TextBox 44"/>
          <p:cNvSpPr txBox="1"/>
          <p:nvPr/>
        </p:nvSpPr>
        <p:spPr>
          <a:xfrm>
            <a:off x="7004303" y="3694175"/>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Claude (price from email)
Python delta calc (local)
packet_generator.py</a:t>
            </a:r>
            <a:r>
              <a:t/>
            </a:r>
            <a:br/>
            <a:r>
              <a:t>Python delta calc (local)</a:t>
            </a:r>
            <a:br/>
            <a:r>
              <a:t>packet_generator.py</a:t>
            </a:r>
          </a:p>
        </p:txBody>
      </p:sp>
      <p:sp>
        <p:nvSpPr>
          <p:cNvPr id="46" name="TextBox 45"/>
          <p:cNvSpPr txBox="1"/>
          <p:nvPr/>
        </p:nvSpPr>
        <p:spPr>
          <a:xfrm>
            <a:off x="9656064" y="3694175"/>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kpi_price_delta_pct
REAL — % delta</a:t>
            </a:r>
            <a:r>
              <a:t/>
            </a:r>
            <a:br/>
            <a:r>
              <a:t>REAL — % delta</a:t>
            </a:r>
          </a:p>
        </p:txBody>
      </p:sp>
      <p:sp>
        <p:nvSpPr>
          <p:cNvPr id="47" name="Rectangle 46"/>
          <p:cNvSpPr/>
          <p:nvPr/>
        </p:nvSpPr>
        <p:spPr>
          <a:xfrm>
            <a:off x="182880" y="4672583"/>
            <a:ext cx="11887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463040" y="4672583"/>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114800" y="4672583"/>
            <a:ext cx="274320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949440" y="4672583"/>
            <a:ext cx="256032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601200" y="4672583"/>
            <a:ext cx="2423160" cy="987552"/>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37744" y="4727447"/>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§4
Days to Renewal</a:t>
            </a:r>
            <a:r>
              <a:t/>
            </a:r>
            <a:br/>
            <a:r>
              <a:t>Days to Renewal</a:t>
            </a:r>
          </a:p>
        </p:txBody>
      </p:sp>
      <p:sp>
        <p:nvSpPr>
          <p:cNvPr id="53" name="TextBox 52"/>
          <p:cNvSpPr txBox="1"/>
          <p:nvPr/>
        </p:nvSpPr>
        <p:spPr>
          <a:xfrm>
            <a:off x="1517904" y="4727447"/>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contract.renewal_date
system date (today)
contract.status</a:t>
            </a:r>
            <a:r>
              <a:t/>
            </a:r>
            <a:br/>
            <a:r>
              <a:t>system date (today)</a:t>
            </a:r>
            <a:br/>
            <a:r>
              <a:t>contract.status</a:t>
            </a:r>
          </a:p>
        </p:txBody>
      </p:sp>
      <p:sp>
        <p:nvSpPr>
          <p:cNvPr id="54" name="TextBox 53"/>
          <p:cNvSpPr txBox="1"/>
          <p:nvPr/>
        </p:nvSpPr>
        <p:spPr>
          <a:xfrm>
            <a:off x="4169663" y="4727447"/>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data/contracts/*.md
Renewal Date field
Status: active/expired/draft</a:t>
            </a:r>
            <a:r>
              <a:t/>
            </a:r>
            <a:br/>
            <a:r>
              <a:t>Renewal Date field</a:t>
            </a:r>
            <a:br/>
            <a:r>
              <a:t>Status: active/expired/draft</a:t>
            </a:r>
          </a:p>
        </p:txBody>
      </p:sp>
      <p:sp>
        <p:nvSpPr>
          <p:cNvPr id="55" name="TextBox 54"/>
          <p:cNvSpPr txBox="1"/>
          <p:nvPr/>
        </p:nvSpPr>
        <p:spPr>
          <a:xfrm>
            <a:off x="7004303" y="4727447"/>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Python (local)
date arithmetic only
No API call</a:t>
            </a:r>
            <a:r>
              <a:t/>
            </a:r>
            <a:br/>
            <a:r>
              <a:t>date arithmetic only</a:t>
            </a:r>
            <a:br/>
            <a:r>
              <a:t>No API call</a:t>
            </a:r>
          </a:p>
        </p:txBody>
      </p:sp>
      <p:sp>
        <p:nvSpPr>
          <p:cNvPr id="56" name="TextBox 55"/>
          <p:cNvSpPr txBox="1"/>
          <p:nvPr/>
        </p:nvSpPr>
        <p:spPr>
          <a:xfrm>
            <a:off x="9656064" y="4727447"/>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kpi_days_to_renewal
INTEGER — days</a:t>
            </a:r>
            <a:r>
              <a:t/>
            </a:r>
            <a:br/>
            <a:r>
              <a:t>INTEGER — days</a:t>
            </a:r>
          </a:p>
        </p:txBody>
      </p:sp>
      <p:sp>
        <p:nvSpPr>
          <p:cNvPr id="57" name="Rectangle 56"/>
          <p:cNvSpPr/>
          <p:nvPr/>
        </p:nvSpPr>
        <p:spPr>
          <a:xfrm>
            <a:off x="182880" y="5705855"/>
            <a:ext cx="11887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463040" y="5705855"/>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114800" y="5705855"/>
            <a:ext cx="274320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949440" y="5705855"/>
            <a:ext cx="256032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601200" y="5705855"/>
            <a:ext cx="2423160" cy="987552"/>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37744" y="5760719"/>
            <a:ext cx="1097280" cy="868680"/>
          </a:xfrm>
          <a:prstGeom prst="rect">
            <a:avLst/>
          </a:prstGeom>
          <a:noFill/>
        </p:spPr>
        <p:txBody>
          <a:bodyPr wrap="square">
            <a:spAutoFit/>
          </a:bodyPr>
          <a:lstStyle/>
          <a:p>
            <a:endParaRPr/>
          </a:p>
          <a:p>
            <a:pPr algn="l">
              <a:spcBef>
                <a:spcPts val="0"/>
              </a:spcBef>
              <a:spcAft>
                <a:spcPts val="0"/>
              </a:spcAft>
            </a:pPr>
            <a:r>
              <a:rPr sz="900" b="1">
                <a:solidFill>
                  <a:srgbClr val="C8102E"/>
                </a:solidFill>
                <a:latin typeface="Calibri"/>
              </a:rPr>
              <a:t>§5
Correction Rate</a:t>
            </a:r>
            <a:r>
              <a:t/>
            </a:r>
            <a:br/>
            <a:r>
              <a:t>Correction Rate</a:t>
            </a:r>
          </a:p>
        </p:txBody>
      </p:sp>
      <p:sp>
        <p:nvSpPr>
          <p:cNvPr id="63" name="TextBox 62"/>
          <p:cNvSpPr txBox="1"/>
          <p:nvPr/>
        </p:nvSpPr>
        <p:spPr>
          <a:xfrm>
            <a:off x="1517904" y="5760719"/>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Checkbox state per field
8 trackable fields per packet
Manager flags in UI</a:t>
            </a:r>
            <a:r>
              <a:t/>
            </a:r>
            <a:br/>
            <a:r>
              <a:t>8 trackable fields per packet</a:t>
            </a:r>
            <a:br/>
            <a:r>
              <a:t>Manager flags in UI</a:t>
            </a:r>
          </a:p>
        </p:txBody>
      </p:sp>
      <p:sp>
        <p:nvSpPr>
          <p:cNvPr id="64" name="TextBox 63"/>
          <p:cNvSpPr txBox="1"/>
          <p:nvPr/>
        </p:nvSpPr>
        <p:spPr>
          <a:xfrm>
            <a:off x="4169663" y="5760719"/>
            <a:ext cx="265176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Streamlit session state
correction_log.csv (on Save)
Joined to SQLite on save</a:t>
            </a:r>
            <a:r>
              <a:t/>
            </a:r>
            <a:br/>
            <a:r>
              <a:t>correction_log.csv (on Save)</a:t>
            </a:r>
            <a:br/>
            <a:r>
              <a:t>Joined to SQLite on save</a:t>
            </a:r>
          </a:p>
        </p:txBody>
      </p:sp>
      <p:sp>
        <p:nvSpPr>
          <p:cNvPr id="65" name="TextBox 64"/>
          <p:cNvSpPr txBox="1"/>
          <p:nvPr/>
        </p:nvSpPr>
        <p:spPr>
          <a:xfrm>
            <a:off x="7004303" y="5760719"/>
            <a:ext cx="2468879"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UI interaction only
Python writes log
No model involved</a:t>
            </a:r>
            <a:r>
              <a:t/>
            </a:r>
            <a:br/>
            <a:r>
              <a:t>Python writes log</a:t>
            </a:r>
            <a:br/>
            <a:r>
              <a:t>No model involved</a:t>
            </a:r>
          </a:p>
        </p:txBody>
      </p:sp>
      <p:sp>
        <p:nvSpPr>
          <p:cNvPr id="66" name="TextBox 65"/>
          <p:cNvSpPr txBox="1"/>
          <p:nvPr/>
        </p:nvSpPr>
        <p:spPr>
          <a:xfrm>
            <a:off x="9656064" y="5760719"/>
            <a:ext cx="2331720" cy="868680"/>
          </a:xfrm>
          <a:prstGeom prst="rect">
            <a:avLst/>
          </a:prstGeom>
          <a:noFill/>
        </p:spPr>
        <p:txBody>
          <a:bodyPr wrap="square">
            <a:spAutoFit/>
          </a:bodyPr>
          <a:lstStyle/>
          <a:p>
            <a:endParaRPr/>
          </a:p>
          <a:p>
            <a:pPr algn="l">
              <a:spcBef>
                <a:spcPts val="0"/>
              </a:spcBef>
              <a:spcAft>
                <a:spcPts val="0"/>
              </a:spcAft>
            </a:pPr>
            <a:r>
              <a:rPr sz="900" b="0">
                <a:solidFill>
                  <a:srgbClr val="1A1A1A"/>
                </a:solidFill>
                <a:latin typeface="Calibri"/>
              </a:rPr>
              <a:t>kpi_correction_rate_pct
REAL — % flagged</a:t>
            </a:r>
            <a:r>
              <a:t/>
            </a:r>
            <a:br/>
            <a:r>
              <a:t>REAL — % flagged</a:t>
            </a:r>
          </a:p>
        </p:txBody>
      </p:sp>
      <p:sp>
        <p:nvSpPr>
          <p:cNvPr id="67" name="TextBox 66"/>
          <p:cNvSpPr txBox="1"/>
          <p:nvPr/>
        </p:nvSpPr>
        <p:spPr>
          <a:xfrm>
            <a:off x="182880" y="6510528"/>
            <a:ext cx="11795760" cy="256032"/>
          </a:xfrm>
          <a:prstGeom prst="rect">
            <a:avLst/>
          </a:prstGeom>
          <a:noFill/>
        </p:spPr>
        <p:txBody>
          <a:bodyPr wrap="none">
            <a:spAutoFit/>
          </a:bodyPr>
          <a:lstStyle/>
          <a:p>
            <a:endParaRPr/>
          </a:p>
          <a:p>
            <a:pPr algn="l">
              <a:spcBef>
                <a:spcPts val="0"/>
              </a:spcBef>
              <a:spcAft>
                <a:spcPts val="0"/>
              </a:spcAft>
            </a:pPr>
            <a:r>
              <a:rPr sz="1000" b="0">
                <a:solidFill>
                  <a:srgbClr val="555555"/>
                </a:solidFill>
                <a:latin typeface="Calibri"/>
              </a:rPr>
              <a:t>§1, §3, §4 are pure Python (no API cost). §2 is the only metric that requires a Claude call. §5 is populated only when the manager actively saves corrections.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Production Architecture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How the prototype becomes a production system — and what each layer would look like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3840480" cy="34747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DATA SOURCES</a:t>
            </a:r>
          </a:p>
        </p:txBody>
      </p:sp>
      <p:sp>
        <p:nvSpPr>
          <p:cNvPr id="9" name="Rectangle 8"/>
          <p:cNvSpPr/>
          <p:nvPr/>
        </p:nvSpPr>
        <p:spPr>
          <a:xfrm>
            <a:off x="182880"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Emails</a:t>
            </a:r>
          </a:p>
          <a:p>
            <a:pPr algn="l">
              <a:spcBef>
                <a:spcPts val="600"/>
              </a:spcBef>
            </a:pPr>
            <a:r>
              <a:rPr sz="1100">
                <a:solidFill>
                  <a:srgbClr val="1A1A1A"/>
                </a:solidFill>
                <a:latin typeface="Calibri"/>
              </a:rPr>
              <a:t>Microsoft Graph API</a:t>
            </a:r>
          </a:p>
          <a:p>
            <a:pPr algn="l">
              <a:spcBef>
                <a:spcPts val="600"/>
              </a:spcBef>
            </a:pPr>
            <a:r>
              <a:rPr sz="1100">
                <a:solidFill>
                  <a:srgbClr val="1A1A1A"/>
                </a:solidFill>
                <a:latin typeface="Calibri"/>
              </a:rPr>
              <a:t>Outlook / Exchange</a:t>
            </a:r>
          </a:p>
          <a:p>
            <a:pPr algn="l">
              <a:spcBef>
                <a:spcPts val="600"/>
              </a:spcBef>
            </a:pPr>
            <a:r>
              <a:rPr sz="1100">
                <a:solidFill>
                  <a:srgbClr val="1A1A1A"/>
                </a:solidFill>
                <a:latin typeface="Calibri"/>
              </a:rPr>
              <a:t>Shared procurement mailbox</a:t>
            </a:r>
          </a:p>
          <a:p>
            <a:pPr algn="l">
              <a:spcBef>
                <a:spcPts val="600"/>
              </a:spcBef>
            </a:pPr>
            <a:r>
              <a:rPr sz="1100">
                <a:solidFill>
                  <a:srgbClr val="1A1A1A"/>
                </a:solidFill>
                <a:latin typeface="Calibri"/>
              </a:rPr>
              <a:t>Push subscription on new mail</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Contracts</a:t>
            </a:r>
          </a:p>
          <a:p>
            <a:pPr algn="l">
              <a:spcBef>
                <a:spcPts val="600"/>
              </a:spcBef>
            </a:pPr>
            <a:r>
              <a:rPr sz="1100">
                <a:solidFill>
                  <a:srgbClr val="1A1A1A"/>
                </a:solidFill>
                <a:latin typeface="Calibri"/>
              </a:rPr>
              <a:t>SharePoint connector</a:t>
            </a:r>
          </a:p>
          <a:p>
            <a:pPr algn="l">
              <a:spcBef>
                <a:spcPts val="600"/>
              </a:spcBef>
            </a:pPr>
            <a:r>
              <a:rPr sz="1100">
                <a:solidFill>
                  <a:srgbClr val="1A1A1A"/>
                </a:solidFill>
                <a:latin typeface="Calibri"/>
              </a:rPr>
              <a:t>PDF extraction + OCR pipeline</a:t>
            </a:r>
          </a:p>
          <a:p>
            <a:pPr algn="l">
              <a:spcBef>
                <a:spcPts val="600"/>
              </a:spcBef>
            </a:pPr>
            <a:r>
              <a:rPr sz="1100">
                <a:solidFill>
                  <a:srgbClr val="1A1A1A"/>
                </a:solidFill>
                <a:latin typeface="Calibri"/>
              </a:rPr>
              <a:t>Version detection (active vs draft)</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Prices</a:t>
            </a:r>
          </a:p>
          <a:p>
            <a:pPr algn="l">
              <a:spcBef>
                <a:spcPts val="600"/>
              </a:spcBef>
            </a:pPr>
            <a:r>
              <a:rPr sz="1100">
                <a:solidFill>
                  <a:srgbClr val="1A1A1A"/>
                </a:solidFill>
                <a:latin typeface="Calibri"/>
              </a:rPr>
              <a:t>Bloomberg / ICE / Refinitiv</a:t>
            </a:r>
          </a:p>
          <a:p>
            <a:pPr algn="l">
              <a:spcBef>
                <a:spcPts val="600"/>
              </a:spcBef>
            </a:pPr>
            <a:r>
              <a:rPr sz="1100">
                <a:solidFill>
                  <a:srgbClr val="1A1A1A"/>
                </a:solidFill>
                <a:latin typeface="Calibri"/>
              </a:rPr>
              <a:t>Structured time-series feed</a:t>
            </a:r>
          </a:p>
          <a:p>
            <a:pPr algn="l">
              <a:spcBef>
                <a:spcPts val="600"/>
              </a:spcBef>
            </a:pPr>
            <a:r>
              <a:rPr sz="1100">
                <a:solidFill>
                  <a:srgbClr val="1A1A1A"/>
                </a:solidFill>
                <a:latin typeface="Calibri"/>
              </a:rPr>
              <a:t>Normalized to common schema</a:t>
            </a:r>
          </a:p>
        </p:txBody>
      </p:sp>
      <p:sp>
        <p:nvSpPr>
          <p:cNvPr id="11" name="Rectangle 10"/>
          <p:cNvSpPr/>
          <p:nvPr/>
        </p:nvSpPr>
        <p:spPr>
          <a:xfrm>
            <a:off x="4178808" y="1170432"/>
            <a:ext cx="3840480" cy="34747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0248"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PROCESSING LAYER</a:t>
            </a:r>
          </a:p>
        </p:txBody>
      </p:sp>
      <p:sp>
        <p:nvSpPr>
          <p:cNvPr id="13" name="Rectangle 12"/>
          <p:cNvSpPr/>
          <p:nvPr/>
        </p:nvSpPr>
        <p:spPr>
          <a:xfrm>
            <a:off x="4178808"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15968"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MCP connector layer</a:t>
            </a:r>
          </a:p>
          <a:p>
            <a:pPr algn="l">
              <a:spcBef>
                <a:spcPts val="600"/>
              </a:spcBef>
            </a:pPr>
            <a:r>
              <a:rPr sz="1100">
                <a:solidFill>
                  <a:srgbClr val="1A1A1A"/>
                </a:solidFill>
                <a:latin typeface="Calibri"/>
              </a:rPr>
              <a:t>Standardised tool interface</a:t>
            </a:r>
          </a:p>
          <a:p>
            <a:pPr algn="l">
              <a:spcBef>
                <a:spcPts val="600"/>
              </a:spcBef>
            </a:pPr>
            <a:r>
              <a:rPr sz="1100">
                <a:solidFill>
                  <a:srgbClr val="1A1A1A"/>
                </a:solidFill>
                <a:latin typeface="Calibri"/>
              </a:rPr>
              <a:t>Swappable backend per source</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Storage split</a:t>
            </a:r>
          </a:p>
          <a:p>
            <a:pPr algn="l">
              <a:spcBef>
                <a:spcPts val="600"/>
              </a:spcBef>
            </a:pPr>
            <a:r>
              <a:rPr sz="1100">
                <a:solidFill>
                  <a:srgbClr val="1A1A1A"/>
                </a:solidFill>
                <a:latin typeface="Calibri"/>
              </a:rPr>
              <a:t>Structured store (BigQuery):</a:t>
            </a:r>
          </a:p>
          <a:p>
            <a:pPr algn="l">
              <a:spcBef>
                <a:spcPts val="600"/>
              </a:spcBef>
            </a:pPr>
            <a:r>
              <a:rPr sz="1100">
                <a:solidFill>
                  <a:srgbClr val="1A1A1A"/>
                </a:solidFill>
                <a:latin typeface="Calibri"/>
              </a:rPr>
              <a:t>  exact facts — contract terms,</a:t>
            </a:r>
          </a:p>
          <a:p>
            <a:pPr algn="l">
              <a:spcBef>
                <a:spcPts val="600"/>
              </a:spcBef>
            </a:pPr>
            <a:r>
              <a:rPr sz="1100">
                <a:solidFill>
                  <a:srgbClr val="1A1A1A"/>
                </a:solidFill>
                <a:latin typeface="Calibri"/>
              </a:rPr>
              <a:t>  KPI values, price points</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Vector store (Vertex AI / Pinecone):</a:t>
            </a:r>
          </a:p>
          <a:p>
            <a:pPr algn="l">
              <a:spcBef>
                <a:spcPts val="600"/>
              </a:spcBef>
            </a:pPr>
            <a:r>
              <a:rPr sz="1100">
                <a:solidFill>
                  <a:srgbClr val="1A1A1A"/>
                </a:solidFill>
                <a:latin typeface="Calibri"/>
              </a:rPr>
              <a:t>  chunked email bodies,</a:t>
            </a:r>
          </a:p>
          <a:p>
            <a:pPr algn="l">
              <a:spcBef>
                <a:spcPts val="600"/>
              </a:spcBef>
            </a:pPr>
            <a:r>
              <a:rPr sz="1100">
                <a:solidFill>
                  <a:srgbClr val="1A1A1A"/>
                </a:solidFill>
                <a:latin typeface="Calibri"/>
              </a:rPr>
              <a:t>  contract clause language,</a:t>
            </a:r>
          </a:p>
          <a:p>
            <a:pPr algn="l">
              <a:spcBef>
                <a:spcPts val="600"/>
              </a:spcBef>
            </a:pPr>
            <a:r>
              <a:rPr sz="1100">
                <a:solidFill>
                  <a:srgbClr val="1A1A1A"/>
                </a:solidFill>
                <a:latin typeface="Calibri"/>
              </a:rPr>
              <a:t>  semantic search at scale</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Packet Generator</a:t>
            </a:r>
          </a:p>
          <a:p>
            <a:pPr algn="l">
              <a:spcBef>
                <a:spcPts val="600"/>
              </a:spcBef>
            </a:pPr>
            <a:r>
              <a:rPr sz="1100">
                <a:solidFill>
                  <a:srgbClr val="1A1A1A"/>
                </a:solidFill>
                <a:latin typeface="Calibri"/>
              </a:rPr>
              <a:t>Same logic as prototype</a:t>
            </a:r>
          </a:p>
          <a:p>
            <a:pPr algn="l">
              <a:spcBef>
                <a:spcPts val="600"/>
              </a:spcBef>
            </a:pPr>
            <a:r>
              <a:rPr sz="1100">
                <a:solidFill>
                  <a:srgbClr val="1A1A1A"/>
                </a:solidFill>
                <a:latin typeface="Calibri"/>
              </a:rPr>
              <a:t>Triggered by calendar event 24h</a:t>
            </a:r>
          </a:p>
          <a:p>
            <a:pPr algn="l">
              <a:spcBef>
                <a:spcPts val="600"/>
              </a:spcBef>
            </a:pPr>
            <a:r>
              <a:rPr sz="1100">
                <a:solidFill>
                  <a:srgbClr val="1A1A1A"/>
                </a:solidFill>
                <a:latin typeface="Calibri"/>
              </a:rPr>
              <a:t>before each meeting</a:t>
            </a:r>
          </a:p>
        </p:txBody>
      </p:sp>
      <p:sp>
        <p:nvSpPr>
          <p:cNvPr id="15" name="Rectangle 14"/>
          <p:cNvSpPr/>
          <p:nvPr/>
        </p:nvSpPr>
        <p:spPr>
          <a:xfrm>
            <a:off x="8174736" y="1170432"/>
            <a:ext cx="3840480" cy="3474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66175" y="1188720"/>
            <a:ext cx="3657600" cy="310896"/>
          </a:xfrm>
          <a:prstGeom prst="rect">
            <a:avLst/>
          </a:prstGeom>
          <a:noFill/>
        </p:spPr>
        <p:txBody>
          <a:bodyPr wrap="none">
            <a:spAutoFit/>
          </a:bodyPr>
          <a:lstStyle/>
          <a:p>
            <a:endParaRPr/>
          </a:p>
          <a:p>
            <a:pPr algn="l">
              <a:spcBef>
                <a:spcPts val="0"/>
              </a:spcBef>
              <a:spcAft>
                <a:spcPts val="0"/>
              </a:spcAft>
            </a:pPr>
            <a:r>
              <a:rPr sz="1100" b="1">
                <a:solidFill>
                  <a:srgbClr val="FFFFFF"/>
                </a:solidFill>
                <a:latin typeface="Calibri"/>
              </a:rPr>
              <a:t>OUTPUTS + MONITORING</a:t>
            </a:r>
          </a:p>
        </p:txBody>
      </p:sp>
      <p:sp>
        <p:nvSpPr>
          <p:cNvPr id="17" name="Rectangle 16"/>
          <p:cNvSpPr/>
          <p:nvPr/>
        </p:nvSpPr>
        <p:spPr>
          <a:xfrm>
            <a:off x="8174736" y="1536192"/>
            <a:ext cx="3840480" cy="50749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11896" y="1600200"/>
            <a:ext cx="3566160" cy="4937760"/>
          </a:xfrm>
          <a:prstGeom prst="rect">
            <a:avLst/>
          </a:prstGeom>
          <a:noFill/>
        </p:spPr>
        <p:txBody>
          <a:bodyPr wrap="square">
            <a:spAutoFit/>
          </a:bodyPr>
          <a:lstStyle/>
          <a:p>
            <a:pPr algn="l">
              <a:spcBef>
                <a:spcPts val="600"/>
              </a:spcBef>
            </a:pPr>
            <a:r>
              <a:rPr sz="1100">
                <a:solidFill>
                  <a:srgbClr val="1A1A1A"/>
                </a:solidFill>
                <a:latin typeface="Calibri"/>
              </a:rPr>
              <a:t>Procurement Manager UI</a:t>
            </a:r>
          </a:p>
          <a:p>
            <a:pPr algn="l">
              <a:spcBef>
                <a:spcPts val="600"/>
              </a:spcBef>
            </a:pPr>
            <a:r>
              <a:rPr sz="1100">
                <a:solidFill>
                  <a:srgbClr val="1A1A1A"/>
                </a:solidFill>
                <a:latin typeface="Calibri"/>
              </a:rPr>
              <a:t>Streamlit or Teams tab</a:t>
            </a:r>
          </a:p>
          <a:p>
            <a:pPr algn="l">
              <a:spcBef>
                <a:spcPts val="600"/>
              </a:spcBef>
            </a:pPr>
            <a:r>
              <a:rPr sz="1100">
                <a:solidFill>
                  <a:srgbClr val="1A1A1A"/>
                </a:solidFill>
                <a:latin typeface="Calibri"/>
              </a:rPr>
              <a:t>Packet auto-delivered before meeting</a:t>
            </a:r>
          </a:p>
          <a:p>
            <a:pPr algn="l">
              <a:spcBef>
                <a:spcPts val="600"/>
              </a:spcBef>
            </a:pPr>
            <a:r>
              <a:rPr sz="1100">
                <a:solidFill>
                  <a:srgbClr val="1A1A1A"/>
                </a:solidFill>
                <a:latin typeface="Calibri"/>
              </a:rPr>
              <a:t>Source attribution + conflict flags</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FDE Metrics Pipeline</a:t>
            </a:r>
          </a:p>
          <a:p>
            <a:pPr algn="l">
              <a:spcBef>
                <a:spcPts val="600"/>
              </a:spcBef>
            </a:pPr>
            <a:r>
              <a:rPr sz="1100">
                <a:solidFill>
                  <a:srgbClr val="1A1A1A"/>
                </a:solidFill>
                <a:latin typeface="Calibri"/>
              </a:rPr>
              <a:t>Generation events: Pub/Sub</a:t>
            </a:r>
          </a:p>
          <a:p>
            <a:pPr algn="l">
              <a:spcBef>
                <a:spcPts val="600"/>
              </a:spcBef>
            </a:pPr>
            <a:r>
              <a:rPr sz="1100">
                <a:solidFill>
                  <a:srgbClr val="1A1A1A"/>
                </a:solidFill>
                <a:latin typeface="Calibri"/>
              </a:rPr>
              <a:t>  → BigQuery events table</a:t>
            </a:r>
          </a:p>
          <a:p>
            <a:pPr algn="l">
              <a:spcBef>
                <a:spcPts val="600"/>
              </a:spcBef>
            </a:pPr>
            <a:r>
              <a:rPr sz="1100">
                <a:solidFill>
                  <a:srgbClr val="1A1A1A"/>
                </a:solidFill>
                <a:latin typeface="Calibri"/>
              </a:rPr>
              <a:t>KPI values per packet stored</a:t>
            </a:r>
          </a:p>
          <a:p>
            <a:pPr algn="l">
              <a:spcBef>
                <a:spcPts val="600"/>
              </a:spcBef>
            </a:pPr>
            <a:r>
              <a:rPr sz="1100">
                <a:solidFill>
                  <a:srgbClr val="1A1A1A"/>
                </a:solidFill>
                <a:latin typeface="Calibri"/>
              </a:rPr>
              <a:t>Correction log aggregated</a:t>
            </a:r>
          </a:p>
          <a:p>
            <a:pPr algn="l">
              <a:spcBef>
                <a:spcPts val="600"/>
              </a:spcBef>
            </a:pPr>
            <a:r>
              <a:rPr sz="1100">
                <a:solidFill>
                  <a:srgbClr val="1A1A1A"/>
                </a:solidFill>
                <a:latin typeface="Calibri"/>
              </a:rPr>
              <a:t>Looker / Data Studio dashboard</a:t>
            </a:r>
          </a:p>
          <a:p>
            <a:pPr algn="l">
              <a:spcBef>
                <a:spcPts val="600"/>
              </a:spcBef>
            </a:pPr>
            <a:r>
              <a:rPr sz="1100">
                <a:solidFill>
                  <a:srgbClr val="1A1A1A"/>
                </a:solidFill>
                <a:latin typeface="Calibri"/>
              </a:rPr>
              <a:t>for ongoing monitoring</a:t>
            </a:r>
          </a:p>
          <a:p>
            <a:pPr algn="l">
              <a:spcBef>
                <a:spcPts val="600"/>
              </a:spcBef>
            </a:pPr>
            <a:endParaRPr sz="1100">
              <a:solidFill>
                <a:srgbClr val="1A1A1A"/>
              </a:solidFill>
              <a:latin typeface="Calibri"/>
            </a:endParaRPr>
          </a:p>
          <a:p>
            <a:pPr algn="l">
              <a:spcBef>
                <a:spcPts val="600"/>
              </a:spcBef>
            </a:pPr>
            <a:r>
              <a:rPr sz="1100">
                <a:solidFill>
                  <a:srgbClr val="1A1A1A"/>
                </a:solidFill>
                <a:latin typeface="Calibri"/>
              </a:rPr>
              <a:t>Prompt tuning cycle</a:t>
            </a:r>
          </a:p>
          <a:p>
            <a:pPr algn="l">
              <a:spcBef>
                <a:spcPts val="600"/>
              </a:spcBef>
            </a:pPr>
            <a:r>
              <a:rPr sz="1100">
                <a:solidFill>
                  <a:srgbClr val="1A1A1A"/>
                </a:solidFill>
                <a:latin typeface="Calibri"/>
              </a:rPr>
              <a:t>Monthly: correction_log patterns</a:t>
            </a:r>
          </a:p>
          <a:p>
            <a:pPr algn="l">
              <a:spcBef>
                <a:spcPts val="600"/>
              </a:spcBef>
            </a:pPr>
            <a:r>
              <a:rPr sz="1100">
                <a:solidFill>
                  <a:srgbClr val="1A1A1A"/>
                </a:solidFill>
                <a:latin typeface="Calibri"/>
              </a:rPr>
              <a:t>  → extraction prompt update</a:t>
            </a:r>
          </a:p>
          <a:p>
            <a:pPr algn="l">
              <a:spcBef>
                <a:spcPts val="600"/>
              </a:spcBef>
            </a:pPr>
            <a:r>
              <a:rPr sz="1100">
                <a:solidFill>
                  <a:srgbClr val="1A1A1A"/>
                </a:solidFill>
                <a:latin typeface="Calibri"/>
              </a:rPr>
              <a:t>  → re-run accuracy benchmark</a:t>
            </a:r>
          </a:p>
        </p:txBody>
      </p:sp>
      <p:sp>
        <p:nvSpPr>
          <p:cNvPr id="19" name="TextBox 18"/>
          <p:cNvSpPr txBox="1"/>
          <p:nvPr/>
        </p:nvSpPr>
        <p:spPr>
          <a:xfrm>
            <a:off x="182880" y="6492240"/>
            <a:ext cx="11795760" cy="274320"/>
          </a:xfrm>
          <a:prstGeom prst="rect">
            <a:avLst/>
          </a:prstGeom>
          <a:noFill/>
        </p:spPr>
        <p:txBody>
          <a:bodyPr wrap="none">
            <a:spAutoFit/>
          </a:bodyPr>
          <a:lstStyle/>
          <a:p>
            <a:endParaRPr/>
          </a:p>
          <a:p>
            <a:pPr algn="l">
              <a:spcBef>
                <a:spcPts val="0"/>
              </a:spcBef>
              <a:spcAft>
                <a:spcPts val="0"/>
              </a:spcAft>
            </a:pPr>
            <a:r>
              <a:rPr sz="1000" b="0">
                <a:solidFill>
                  <a:srgbClr val="555555"/>
                </a:solidFill>
                <a:latin typeface="Calibri"/>
              </a:rPr>
              <a:t>Prototype delta: flat JSON files instead of connectors; local extraction instead of vector store; SQLite instead of BigQuery. Every simplification is documented and justified.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Rollout Plan</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Three phases — trust first, scale second</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188720"/>
            <a:ext cx="3749039" cy="4114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1  ·  Weeks 1–4</a:t>
            </a:r>
          </a:p>
        </p:txBody>
      </p:sp>
      <p:sp>
        <p:nvSpPr>
          <p:cNvPr id="10" name="TextBox 9"/>
          <p:cNvSpPr txBox="1"/>
          <p:nvPr/>
        </p:nvSpPr>
        <p:spPr>
          <a:xfrm>
            <a:off x="457200"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Controlled pilot</a:t>
            </a:r>
          </a:p>
        </p:txBody>
      </p:sp>
      <p:sp>
        <p:nvSpPr>
          <p:cNvPr id="11" name="TextBox 10"/>
          <p:cNvSpPr txBox="1"/>
          <p:nvPr/>
        </p:nvSpPr>
        <p:spPr>
          <a:xfrm>
            <a:off x="457200"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2–3 upcoming meetings with one analyst as primary user</a:t>
            </a:r>
          </a:p>
          <a:p>
            <a:pPr algn="l">
              <a:spcBef>
                <a:spcPts val="600"/>
              </a:spcBef>
            </a:pPr>
            <a:r>
              <a:rPr sz="1100">
                <a:solidFill>
                  <a:srgbClr val="1A1A1A"/>
                </a:solidFill>
                <a:latin typeface="Calibri"/>
              </a:rPr>
              <a:t>Analyst runs the tool, reviews output, flags corrections</a:t>
            </a:r>
          </a:p>
          <a:p>
            <a:pPr algn="l">
              <a:spcBef>
                <a:spcPts val="600"/>
              </a:spcBef>
            </a:pPr>
            <a:r>
              <a:rPr sz="1100">
                <a:solidFill>
                  <a:srgbClr val="1A1A1A"/>
                </a:solidFill>
                <a:latin typeface="Calibri"/>
              </a:rPr>
              <a:t>Track correction rate weekly — target &lt;20% by week 4</a:t>
            </a:r>
          </a:p>
          <a:p>
            <a:pPr algn="l">
              <a:spcBef>
                <a:spcPts val="600"/>
              </a:spcBef>
            </a:pPr>
            <a:r>
              <a:rPr sz="1100">
                <a:solidFill>
                  <a:srgbClr val="1A1A1A"/>
                </a:solidFill>
                <a:latin typeface="Calibri"/>
              </a:rPr>
              <a:t>One structured debrief after each meeting: what did the packet get right?</a:t>
            </a:r>
          </a:p>
          <a:p>
            <a:pPr algn="l">
              <a:spcBef>
                <a:spcPts val="600"/>
              </a:spcBef>
            </a:pPr>
            <a:r>
              <a:rPr sz="1100">
                <a:solidFill>
                  <a:srgbClr val="1A1A1A"/>
                </a:solidFill>
                <a:latin typeface="Calibri"/>
              </a:rPr>
              <a:t>Success gate: packet catches one real issue the analyst would have missed</a:t>
            </a:r>
          </a:p>
        </p:txBody>
      </p:sp>
      <p:sp>
        <p:nvSpPr>
          <p:cNvPr id="12" name="Rectangle 11"/>
          <p:cNvSpPr/>
          <p:nvPr/>
        </p:nvSpPr>
        <p:spPr>
          <a:xfrm>
            <a:off x="4270248"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0248" y="1188720"/>
            <a:ext cx="3749039" cy="411480"/>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8"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2  ·  Weeks 5–8</a:t>
            </a:r>
          </a:p>
        </p:txBody>
      </p:sp>
      <p:sp>
        <p:nvSpPr>
          <p:cNvPr id="15" name="TextBox 14"/>
          <p:cNvSpPr txBox="1"/>
          <p:nvPr/>
        </p:nvSpPr>
        <p:spPr>
          <a:xfrm>
            <a:off x="4407408"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960C22"/>
                </a:solidFill>
                <a:latin typeface="Calibri"/>
              </a:rPr>
              <a:t>Expanded pilot</a:t>
            </a:r>
          </a:p>
        </p:txBody>
      </p:sp>
      <p:sp>
        <p:nvSpPr>
          <p:cNvPr id="16" name="TextBox 15"/>
          <p:cNvSpPr txBox="1"/>
          <p:nvPr/>
        </p:nvSpPr>
        <p:spPr>
          <a:xfrm>
            <a:off x="4407408"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All 8 suppliers in scope; full procurement team using it</a:t>
            </a:r>
          </a:p>
          <a:p>
            <a:pPr algn="l">
              <a:spcBef>
                <a:spcPts val="600"/>
              </a:spcBef>
            </a:pPr>
            <a:r>
              <a:rPr sz="1100">
                <a:solidFill>
                  <a:srgbClr val="1A1A1A"/>
                </a:solidFill>
                <a:latin typeface="Calibri"/>
              </a:rPr>
              <a:t>IT review: security, data access, API key governance</a:t>
            </a:r>
          </a:p>
          <a:p>
            <a:pPr algn="l">
              <a:spcBef>
                <a:spcPts val="600"/>
              </a:spcBef>
            </a:pPr>
            <a:r>
              <a:rPr sz="1100">
                <a:solidFill>
                  <a:srgbClr val="1A1A1A"/>
                </a:solidFill>
                <a:latin typeface="Calibri"/>
              </a:rPr>
              <a:t>Integrate with calendar to auto-trigger packet generation 24h before each meeting</a:t>
            </a:r>
          </a:p>
          <a:p>
            <a:pPr algn="l">
              <a:spcBef>
                <a:spcPts val="600"/>
              </a:spcBef>
            </a:pPr>
            <a:r>
              <a:rPr sz="1100">
                <a:solidFill>
                  <a:srgbClr val="1A1A1A"/>
                </a:solidFill>
                <a:latin typeface="Calibri"/>
              </a:rPr>
              <a:t>Add live data sources: Graph API for emails, SharePoint for contracts</a:t>
            </a:r>
          </a:p>
          <a:p>
            <a:pPr algn="l">
              <a:spcBef>
                <a:spcPts val="600"/>
              </a:spcBef>
            </a:pPr>
            <a:r>
              <a:rPr sz="1100">
                <a:solidFill>
                  <a:srgbClr val="1A1A1A"/>
                </a:solidFill>
                <a:latin typeface="Calibri"/>
              </a:rPr>
              <a:t>Success gate: team uses packet without being reminded; correction rate &lt;10%</a:t>
            </a:r>
          </a:p>
        </p:txBody>
      </p:sp>
      <p:sp>
        <p:nvSpPr>
          <p:cNvPr id="17" name="Rectangle 16"/>
          <p:cNvSpPr/>
          <p:nvPr/>
        </p:nvSpPr>
        <p:spPr>
          <a:xfrm>
            <a:off x="8220456" y="1188720"/>
            <a:ext cx="3749039"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0456" y="1188720"/>
            <a:ext cx="3749039" cy="4114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57616" y="1207008"/>
            <a:ext cx="3474720" cy="347472"/>
          </a:xfrm>
          <a:prstGeom prst="rect">
            <a:avLst/>
          </a:prstGeom>
          <a:noFill/>
        </p:spPr>
        <p:txBody>
          <a:bodyPr wrap="none">
            <a:spAutoFit/>
          </a:bodyPr>
          <a:lstStyle/>
          <a:p>
            <a:endParaRPr/>
          </a:p>
          <a:p>
            <a:pPr algn="l">
              <a:spcBef>
                <a:spcPts val="0"/>
              </a:spcBef>
              <a:spcAft>
                <a:spcPts val="0"/>
              </a:spcAft>
            </a:pPr>
            <a:r>
              <a:rPr sz="1200" b="1">
                <a:solidFill>
                  <a:srgbClr val="FFFFFF"/>
                </a:solidFill>
                <a:latin typeface="Calibri"/>
              </a:rPr>
              <a:t>Phase 3  ·  Weeks 9–12</a:t>
            </a:r>
          </a:p>
        </p:txBody>
      </p:sp>
      <p:sp>
        <p:nvSpPr>
          <p:cNvPr id="20" name="TextBox 19"/>
          <p:cNvSpPr txBox="1"/>
          <p:nvPr/>
        </p:nvSpPr>
        <p:spPr>
          <a:xfrm>
            <a:off x="8357616" y="1664208"/>
            <a:ext cx="3474720" cy="347472"/>
          </a:xfrm>
          <a:prstGeom prst="rect">
            <a:avLst/>
          </a:prstGeom>
          <a:noFill/>
        </p:spPr>
        <p:txBody>
          <a:bodyPr wrap="none">
            <a:spAutoFit/>
          </a:bodyPr>
          <a:lstStyle/>
          <a:p>
            <a:endParaRPr/>
          </a:p>
          <a:p>
            <a:pPr algn="l">
              <a:spcBef>
                <a:spcPts val="0"/>
              </a:spcBef>
              <a:spcAft>
                <a:spcPts val="0"/>
              </a:spcAft>
            </a:pPr>
            <a:r>
              <a:rPr sz="1300" b="1">
                <a:solidFill>
                  <a:srgbClr val="555555"/>
                </a:solidFill>
                <a:latin typeface="Calibri"/>
              </a:rPr>
              <a:t>Handover</a:t>
            </a:r>
          </a:p>
        </p:txBody>
      </p:sp>
      <p:sp>
        <p:nvSpPr>
          <p:cNvPr id="21" name="TextBox 20"/>
          <p:cNvSpPr txBox="1"/>
          <p:nvPr/>
        </p:nvSpPr>
        <p:spPr>
          <a:xfrm>
            <a:off x="8357616" y="2057400"/>
            <a:ext cx="3474720" cy="4343400"/>
          </a:xfrm>
          <a:prstGeom prst="rect">
            <a:avLst/>
          </a:prstGeom>
          <a:noFill/>
        </p:spPr>
        <p:txBody>
          <a:bodyPr wrap="square">
            <a:spAutoFit/>
          </a:bodyPr>
          <a:lstStyle/>
          <a:p>
            <a:pPr algn="l">
              <a:spcBef>
                <a:spcPts val="600"/>
              </a:spcBef>
            </a:pPr>
            <a:r>
              <a:rPr sz="1100">
                <a:solidFill>
                  <a:srgbClr val="1A1A1A"/>
                </a:solidFill>
                <a:latin typeface="Calibri"/>
              </a:rPr>
              <a:t>Ownership transferred to internal champion (Procurement Manager)</a:t>
            </a:r>
          </a:p>
          <a:p>
            <a:pPr algn="l">
              <a:spcBef>
                <a:spcPts val="600"/>
              </a:spcBef>
            </a:pPr>
            <a:r>
              <a:rPr sz="1100">
                <a:solidFill>
                  <a:srgbClr val="1A1A1A"/>
                </a:solidFill>
                <a:latin typeface="Calibri"/>
              </a:rPr>
              <a:t>ROI case presented to Finance/CFO with 90-day actuals</a:t>
            </a:r>
          </a:p>
          <a:p>
            <a:pPr algn="l">
              <a:spcBef>
                <a:spcPts val="600"/>
              </a:spcBef>
            </a:pPr>
            <a:r>
              <a:rPr sz="1100">
                <a:solidFill>
                  <a:srgbClr val="1A1A1A"/>
                </a:solidFill>
                <a:latin typeface="Calibri"/>
              </a:rPr>
              <a:t>Prompt tuning backlog based on correction_log.csv patterns</a:t>
            </a:r>
          </a:p>
          <a:p>
            <a:pPr algn="l">
              <a:spcBef>
                <a:spcPts val="600"/>
              </a:spcBef>
            </a:pPr>
            <a:r>
              <a:rPr sz="1100">
                <a:solidFill>
                  <a:srgbClr val="1A1A1A"/>
                </a:solidFill>
                <a:latin typeface="Calibri"/>
              </a:rPr>
              <a:t>Roadmap: supplier segmentation, auto-renewal alerts, negotiation history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Risks and Challenges</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Technical and organisational — what could go wrong and how I would handle it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243584"/>
            <a:ext cx="1371600" cy="25603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12435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TECHNICAL</a:t>
            </a:r>
          </a:p>
        </p:txBody>
      </p:sp>
      <p:sp>
        <p:nvSpPr>
          <p:cNvPr id="9" name="TextBox 8"/>
          <p:cNvSpPr txBox="1"/>
          <p:nvPr/>
        </p:nvSpPr>
        <p:spPr>
          <a:xfrm>
            <a:off x="1691640" y="11704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Extraction accuracy drift</a:t>
            </a:r>
          </a:p>
        </p:txBody>
      </p:sp>
      <p:sp>
        <p:nvSpPr>
          <p:cNvPr id="10" name="TextBox 9"/>
          <p:cNvSpPr txBox="1"/>
          <p:nvPr/>
        </p:nvSpPr>
        <p:spPr>
          <a:xfrm>
            <a:off x="182880" y="15544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Claude extraction returns wrong contract terms or misses a dispute. Manager walks in with bad data.</a:t>
            </a:r>
          </a:p>
        </p:txBody>
      </p:sp>
      <p:sp>
        <p:nvSpPr>
          <p:cNvPr id="11" name="TextBox 10"/>
          <p:cNvSpPr txBox="1"/>
          <p:nvPr/>
        </p:nvSpPr>
        <p:spPr>
          <a:xfrm>
            <a:off x="5760720" y="15544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Source attribution on every field makes errors visible. Correction log tracks error rate by field and supplier. Monthly prompt tuning cycle against correction_log.csv. Phase 1 KPI: correction rate &lt;10% by week 4.</a:t>
            </a:r>
          </a:p>
        </p:txBody>
      </p:sp>
      <p:sp>
        <p:nvSpPr>
          <p:cNvPr id="12" name="Rectangle 11"/>
          <p:cNvSpPr/>
          <p:nvPr/>
        </p:nvSpPr>
        <p:spPr>
          <a:xfrm>
            <a:off x="182880" y="26151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 y="26151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14" name="TextBox 13"/>
          <p:cNvSpPr txBox="1"/>
          <p:nvPr/>
        </p:nvSpPr>
        <p:spPr>
          <a:xfrm>
            <a:off x="1691640" y="25420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Losing the internal champion</a:t>
            </a:r>
          </a:p>
        </p:txBody>
      </p:sp>
      <p:sp>
        <p:nvSpPr>
          <p:cNvPr id="15" name="TextBox 14"/>
          <p:cNvSpPr txBox="1"/>
          <p:nvPr/>
        </p:nvSpPr>
        <p:spPr>
          <a:xfrm>
            <a:off x="182880" y="29260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Procurement Manager moves roles or loses interest. Tool loses its sponsor before Phase 2.</a:t>
            </a:r>
          </a:p>
        </p:txBody>
      </p:sp>
      <p:sp>
        <p:nvSpPr>
          <p:cNvPr id="16" name="TextBox 15"/>
          <p:cNvSpPr txBox="1"/>
          <p:nvPr/>
        </p:nvSpPr>
        <p:spPr>
          <a:xfrm>
            <a:off x="5760720" y="29260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Involve the analyst as a co-owner from day one — they become the backup champion. Tie the tool to a calendar event (prep packet auto-sent) so it becomes habit, not a choice.</a:t>
            </a:r>
          </a:p>
        </p:txBody>
      </p:sp>
      <p:sp>
        <p:nvSpPr>
          <p:cNvPr id="17" name="Rectangle 16"/>
          <p:cNvSpPr/>
          <p:nvPr/>
        </p:nvSpPr>
        <p:spPr>
          <a:xfrm>
            <a:off x="182880" y="39867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39867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19" name="TextBox 18"/>
          <p:cNvSpPr txBox="1"/>
          <p:nvPr/>
        </p:nvSpPr>
        <p:spPr>
          <a:xfrm>
            <a:off x="1691640" y="39136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Low adoption from analysts</a:t>
            </a:r>
          </a:p>
        </p:txBody>
      </p:sp>
      <p:sp>
        <p:nvSpPr>
          <p:cNvPr id="20" name="TextBox 19"/>
          <p:cNvSpPr txBox="1"/>
          <p:nvPr/>
        </p:nvSpPr>
        <p:spPr>
          <a:xfrm>
            <a:off x="182880" y="42976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Analyst uses the tool but doesn't trust it. Redoes the prep manually anyway. Tool adds a step instead of removing one.</a:t>
            </a:r>
          </a:p>
        </p:txBody>
      </p:sp>
      <p:sp>
        <p:nvSpPr>
          <p:cNvPr id="21" name="TextBox 20"/>
          <p:cNvSpPr txBox="1"/>
          <p:nvPr/>
        </p:nvSpPr>
        <p:spPr>
          <a:xfrm>
            <a:off x="5760720" y="42976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Frame their role as reviewer, not recipient. Make corrections visibly theirs. Track adoption, not just deployment. If correction rate is low = they trust it. If they're still doing manual prep = investigate why.</a:t>
            </a:r>
          </a:p>
        </p:txBody>
      </p:sp>
      <p:sp>
        <p:nvSpPr>
          <p:cNvPr id="22" name="Rectangle 21"/>
          <p:cNvSpPr/>
          <p:nvPr/>
        </p:nvSpPr>
        <p:spPr>
          <a:xfrm>
            <a:off x="182880" y="5358384"/>
            <a:ext cx="1371600" cy="256032"/>
          </a:xfrm>
          <a:prstGeom prst="rect">
            <a:avLst/>
          </a:prstGeom>
          <a:solidFill>
            <a:srgbClr val="960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1168" y="5358384"/>
            <a:ext cx="1325880" cy="256032"/>
          </a:xfrm>
          <a:prstGeom prst="rect">
            <a:avLst/>
          </a:prstGeom>
          <a:noFill/>
        </p:spPr>
        <p:txBody>
          <a:bodyPr wrap="none">
            <a:spAutoFit/>
          </a:bodyPr>
          <a:lstStyle/>
          <a:p>
            <a:endParaRPr/>
          </a:p>
          <a:p>
            <a:pPr algn="ctr">
              <a:spcBef>
                <a:spcPts val="0"/>
              </a:spcBef>
              <a:spcAft>
                <a:spcPts val="0"/>
              </a:spcAft>
            </a:pPr>
            <a:r>
              <a:rPr sz="900" b="1">
                <a:solidFill>
                  <a:srgbClr val="FFFFFF"/>
                </a:solidFill>
                <a:latin typeface="Calibri"/>
              </a:rPr>
              <a:t>ORGANISATIONAL</a:t>
            </a:r>
          </a:p>
        </p:txBody>
      </p:sp>
      <p:sp>
        <p:nvSpPr>
          <p:cNvPr id="24" name="TextBox 23"/>
          <p:cNvSpPr txBox="1"/>
          <p:nvPr/>
        </p:nvSpPr>
        <p:spPr>
          <a:xfrm>
            <a:off x="1691640" y="5285232"/>
            <a:ext cx="9875520" cy="347472"/>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Scope creep pressure</a:t>
            </a:r>
          </a:p>
        </p:txBody>
      </p:sp>
      <p:sp>
        <p:nvSpPr>
          <p:cNvPr id="25" name="TextBox 24"/>
          <p:cNvSpPr txBox="1"/>
          <p:nvPr/>
        </p:nvSpPr>
        <p:spPr>
          <a:xfrm>
            <a:off x="182880" y="5669280"/>
            <a:ext cx="5394960" cy="868680"/>
          </a:xfrm>
          <a:prstGeom prst="rect">
            <a:avLst/>
          </a:prstGeom>
          <a:noFill/>
        </p:spPr>
        <p:txBody>
          <a:bodyPr wrap="square">
            <a:spAutoFit/>
          </a:bodyPr>
          <a:lstStyle/>
          <a:p>
            <a:endParaRPr/>
          </a:p>
          <a:p>
            <a:pPr algn="l">
              <a:spcBef>
                <a:spcPts val="0"/>
              </a:spcBef>
              <a:spcAft>
                <a:spcPts val="0"/>
              </a:spcAft>
            </a:pPr>
            <a:r>
              <a:rPr sz="1100" b="0">
                <a:solidFill>
                  <a:srgbClr val="555555"/>
                </a:solidFill>
                <a:latin typeface="Calibri"/>
              </a:rPr>
              <a:t>Risk: 'Can it also do X?' requests accumulate before Phase 1 is proven. Build gets bloated, trust case gets muddied.</a:t>
            </a:r>
          </a:p>
        </p:txBody>
      </p:sp>
      <p:sp>
        <p:nvSpPr>
          <p:cNvPr id="26" name="TextBox 25"/>
          <p:cNvSpPr txBox="1"/>
          <p:nvPr/>
        </p:nvSpPr>
        <p:spPr>
          <a:xfrm>
            <a:off x="5760720" y="5669280"/>
            <a:ext cx="6217920" cy="868680"/>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Mitigation: Phase-gate firmly. Every new request goes into a backlog for Phase 2. The answer in Phase 1 is always: let's prove this works first, then expand.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Change Management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Building it is 20% of the job — getting people to use it is the other 80%</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274320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261872"/>
            <a:ext cx="2606040"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Objection</a:t>
            </a:r>
          </a:p>
        </p:txBody>
      </p:sp>
      <p:sp>
        <p:nvSpPr>
          <p:cNvPr id="9" name="Rectangle 8"/>
          <p:cNvSpPr/>
          <p:nvPr/>
        </p:nvSpPr>
        <p:spPr>
          <a:xfrm>
            <a:off x="3154680" y="1188720"/>
            <a:ext cx="292608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6120" y="1261872"/>
            <a:ext cx="2788920"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Who says it</a:t>
            </a:r>
          </a:p>
        </p:txBody>
      </p:sp>
      <p:sp>
        <p:nvSpPr>
          <p:cNvPr id="11" name="Rectangle 10"/>
          <p:cNvSpPr/>
          <p:nvPr/>
        </p:nvSpPr>
        <p:spPr>
          <a:xfrm>
            <a:off x="6172200" y="1188720"/>
            <a:ext cx="5577840" cy="502920"/>
          </a:xfrm>
          <a:prstGeom prst="rect">
            <a:avLst/>
          </a:prstGeom>
          <a:solidFill>
            <a:srgbClr val="C8102E"/>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261872"/>
            <a:ext cx="5440679" cy="393192"/>
          </a:xfrm>
          <a:prstGeom prst="rect">
            <a:avLst/>
          </a:prstGeom>
          <a:noFill/>
        </p:spPr>
        <p:txBody>
          <a:bodyPr wrap="square">
            <a:spAutoFit/>
          </a:bodyPr>
          <a:lstStyle/>
          <a:p>
            <a:endParaRPr/>
          </a:p>
          <a:p>
            <a:pPr algn="l">
              <a:spcBef>
                <a:spcPts val="0"/>
              </a:spcBef>
              <a:spcAft>
                <a:spcPts val="0"/>
              </a:spcAft>
            </a:pPr>
            <a:r>
              <a:rPr sz="1100" b="1">
                <a:solidFill>
                  <a:srgbClr val="FFFFFF"/>
                </a:solidFill>
                <a:latin typeface="Calibri"/>
              </a:rPr>
              <a:t>How to handle it</a:t>
            </a:r>
          </a:p>
        </p:txBody>
      </p:sp>
      <p:sp>
        <p:nvSpPr>
          <p:cNvPr id="13" name="Rectangle 12"/>
          <p:cNvSpPr/>
          <p:nvPr/>
        </p:nvSpPr>
        <p:spPr>
          <a:xfrm>
            <a:off x="320040" y="2743200"/>
            <a:ext cx="274320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281635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"The output is wrong."</a:t>
            </a:r>
          </a:p>
        </p:txBody>
      </p:sp>
      <p:sp>
        <p:nvSpPr>
          <p:cNvPr id="15" name="Rectangle 14"/>
          <p:cNvSpPr/>
          <p:nvPr/>
        </p:nvSpPr>
        <p:spPr>
          <a:xfrm>
            <a:off x="3154680" y="2743200"/>
            <a:ext cx="292608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46120" y="281635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Procurement Analyst
(highest adoption risk — feels threatened but won't say so)</a:t>
            </a:r>
            <a:r>
              <a:t/>
            </a:r>
            <a:br/>
            <a:r>
              <a:t>(highest adoption risk — feels threatened but won't say so)</a:t>
            </a:r>
          </a:p>
        </p:txBody>
      </p:sp>
      <p:sp>
        <p:nvSpPr>
          <p:cNvPr id="17" name="Rectangle 16"/>
          <p:cNvSpPr/>
          <p:nvPr/>
        </p:nvSpPr>
        <p:spPr>
          <a:xfrm>
            <a:off x="6172200" y="2743200"/>
            <a:ext cx="557784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81635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Involve them in Phase 1 QA from day one. Make the correction feature visibly theirs. Frame their role as reviewer, not recipient. The tool makes them look more prepared, not redundant.</a:t>
            </a:r>
          </a:p>
        </p:txBody>
      </p:sp>
      <p:sp>
        <p:nvSpPr>
          <p:cNvPr id="19" name="Rectangle 18"/>
          <p:cNvSpPr/>
          <p:nvPr/>
        </p:nvSpPr>
        <p:spPr>
          <a:xfrm>
            <a:off x="320040" y="4297680"/>
            <a:ext cx="274320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437083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"I don't trust AI to read
a contract."</a:t>
            </a:r>
            <a:r>
              <a:t/>
            </a:r>
            <a:br/>
            <a:r>
              <a:t>a contract."</a:t>
            </a:r>
          </a:p>
        </p:txBody>
      </p:sp>
      <p:sp>
        <p:nvSpPr>
          <p:cNvPr id="21" name="Rectangle 20"/>
          <p:cNvSpPr/>
          <p:nvPr/>
        </p:nvSpPr>
        <p:spPr>
          <a:xfrm>
            <a:off x="3154680" y="4297680"/>
            <a:ext cx="292608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46120" y="437083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Legal / Compliance</a:t>
            </a:r>
          </a:p>
        </p:txBody>
      </p:sp>
      <p:sp>
        <p:nvSpPr>
          <p:cNvPr id="23" name="Rectangle 22"/>
          <p:cNvSpPr/>
          <p:nvPr/>
        </p:nvSpPr>
        <p:spPr>
          <a:xfrm>
            <a:off x="6172200" y="4297680"/>
            <a:ext cx="5577840" cy="146304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437083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Every fact has a source citation. The design is 'surfaces for human review,' not 'interprets and acts.' Show them the correction log — the system has a visible trust mechanism.</a:t>
            </a:r>
          </a:p>
        </p:txBody>
      </p:sp>
      <p:sp>
        <p:nvSpPr>
          <p:cNvPr id="25" name="Rectangle 24"/>
          <p:cNvSpPr/>
          <p:nvPr/>
        </p:nvSpPr>
        <p:spPr>
          <a:xfrm>
            <a:off x="320040" y="5852159"/>
            <a:ext cx="274320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79" y="5925312"/>
            <a:ext cx="2606040" cy="1353312"/>
          </a:xfrm>
          <a:prstGeom prst="rect">
            <a:avLst/>
          </a:prstGeom>
          <a:noFill/>
        </p:spPr>
        <p:txBody>
          <a:bodyPr wrap="square">
            <a:spAutoFit/>
          </a:bodyPr>
          <a:lstStyle/>
          <a:p>
            <a:endParaRPr/>
          </a:p>
          <a:p>
            <a:pPr algn="l">
              <a:spcBef>
                <a:spcPts val="0"/>
              </a:spcBef>
              <a:spcAft>
                <a:spcPts val="0"/>
              </a:spcAft>
            </a:pPr>
            <a:r>
              <a:rPr sz="1200" b="1">
                <a:solidFill>
                  <a:srgbClr val="C8102E"/>
                </a:solidFill>
                <a:latin typeface="Calibri"/>
              </a:rPr>
              <a:t>"What does this cost
and who owns it?"</a:t>
            </a:r>
            <a:r>
              <a:t/>
            </a:r>
            <a:br/>
            <a:r>
              <a:t>and who owns it?"</a:t>
            </a:r>
          </a:p>
        </p:txBody>
      </p:sp>
      <p:sp>
        <p:nvSpPr>
          <p:cNvPr id="27" name="Rectangle 26"/>
          <p:cNvSpPr/>
          <p:nvPr/>
        </p:nvSpPr>
        <p:spPr>
          <a:xfrm>
            <a:off x="3154680" y="5852159"/>
            <a:ext cx="292608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46120" y="5925312"/>
            <a:ext cx="2788920"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Finance / IT</a:t>
            </a:r>
          </a:p>
        </p:txBody>
      </p:sp>
      <p:sp>
        <p:nvSpPr>
          <p:cNvPr id="29" name="Rectangle 28"/>
          <p:cNvSpPr/>
          <p:nvPr/>
        </p:nvSpPr>
        <p:spPr>
          <a:xfrm>
            <a:off x="6172200" y="5852159"/>
            <a:ext cx="5577840" cy="14630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5925312"/>
            <a:ext cx="5440679" cy="1353312"/>
          </a:xfrm>
          <a:prstGeom prst="rect">
            <a:avLst/>
          </a:prstGeom>
          <a:noFill/>
        </p:spPr>
        <p:txBody>
          <a:bodyPr wrap="square">
            <a:spAutoFit/>
          </a:bodyPr>
          <a:lstStyle/>
          <a:p>
            <a:endParaRPr/>
          </a:p>
          <a:p>
            <a:pPr algn="l">
              <a:spcBef>
                <a:spcPts val="0"/>
              </a:spcBef>
              <a:spcAft>
                <a:spcPts val="0"/>
              </a:spcAft>
            </a:pPr>
            <a:r>
              <a:rPr sz="1100" b="0">
                <a:solidFill>
                  <a:srgbClr val="1A1A1A"/>
                </a:solidFill>
                <a:latin typeface="Calibri"/>
              </a:rPr>
              <a:t>Phase 1 cost is API calls only (~$15/month). Nothing touches live systems. Static file architecture minimises security surface. ROI case ready for month 3 (next slide).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Quick Wins + Enablement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First 30 days and what training actually looks like</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182880" y="1170432"/>
            <a:ext cx="5760720" cy="539496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39496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Quick wins — first 30 days</a:t>
            </a:r>
          </a:p>
        </p:txBody>
      </p:sp>
      <p:sp>
        <p:nvSpPr>
          <p:cNvPr id="9" name="TextBox 8"/>
          <p:cNvSpPr txBox="1"/>
          <p:nvPr/>
        </p:nvSpPr>
        <p:spPr>
          <a:xfrm>
            <a:off x="365760" y="1691640"/>
            <a:ext cx="5394960" cy="4572000"/>
          </a:xfrm>
          <a:prstGeom prst="rect">
            <a:avLst/>
          </a:prstGeom>
          <a:noFill/>
        </p:spPr>
        <p:txBody>
          <a:bodyPr wrap="square">
            <a:spAutoFit/>
          </a:bodyPr>
          <a:lstStyle/>
          <a:p>
            <a:pPr algn="l">
              <a:spcBef>
                <a:spcPts val="600"/>
              </a:spcBef>
            </a:pPr>
            <a:r>
              <a:rPr sz="1200">
                <a:solidFill>
                  <a:srgbClr val="1A1A1A"/>
                </a:solidFill>
                <a:latin typeface="Calibri"/>
              </a:rPr>
              <a:t>Week 1: First real packet generated for an upcoming meeting.</a:t>
            </a:r>
          </a:p>
          <a:p>
            <a:pPr algn="l">
              <a:spcBef>
                <a:spcPts val="600"/>
              </a:spcBef>
            </a:pPr>
            <a:r>
              <a:rPr sz="1200">
                <a:solidFill>
                  <a:srgbClr val="1A1A1A"/>
                </a:solidFill>
                <a:latin typeface="Calibri"/>
              </a:rPr>
              <a:t>         Manager reviews it live. One factual thing it got right</a:t>
            </a:r>
          </a:p>
          <a:p>
            <a:pPr algn="l">
              <a:spcBef>
                <a:spcPts val="600"/>
              </a:spcBef>
            </a:pPr>
            <a:r>
              <a:rPr sz="1200">
                <a:solidFill>
                  <a:srgbClr val="1A1A1A"/>
                </a:solidFill>
                <a:latin typeface="Calibri"/>
              </a:rPr>
              <a:t>         that manual prep would have taken 30 minutes to find.</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2: First open issue caught that wasn't on anyone's radar.</a:t>
            </a:r>
          </a:p>
          <a:p>
            <a:pPr algn="l">
              <a:spcBef>
                <a:spcPts val="600"/>
              </a:spcBef>
            </a:pPr>
            <a:r>
              <a:rPr sz="1200">
                <a:solidFill>
                  <a:srgbClr val="1A1A1A"/>
                </a:solidFill>
                <a:latin typeface="Calibri"/>
              </a:rPr>
              <a:t>         The Galil Dairy price-cap violation is the template:</a:t>
            </a:r>
          </a:p>
          <a:p>
            <a:pPr algn="l">
              <a:spcBef>
                <a:spcPts val="600"/>
              </a:spcBef>
            </a:pPr>
            <a:r>
              <a:rPr sz="1200">
                <a:solidFill>
                  <a:srgbClr val="1A1A1A"/>
                </a:solidFill>
                <a:latin typeface="Calibri"/>
              </a:rPr>
              <a:t>         a supplier quote in email that violates contract Section 4.2.</a:t>
            </a:r>
          </a:p>
          <a:p>
            <a:pPr algn="l">
              <a:spcBef>
                <a:spcPts val="600"/>
              </a:spcBef>
            </a:pPr>
            <a:r>
              <a:rPr sz="1200">
                <a:solidFill>
                  <a:srgbClr val="1A1A1A"/>
                </a:solidFill>
                <a:latin typeface="Calibri"/>
              </a:rPr>
              <a:t>         One concrete catch = trust established faster than any demo.</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3: Correction rate below 20%. Analyst marks fewer fields wrong.</a:t>
            </a:r>
          </a:p>
          <a:p>
            <a:pPr algn="l">
              <a:spcBef>
                <a:spcPts val="600"/>
              </a:spcBef>
            </a:pPr>
            <a:r>
              <a:rPr sz="1200">
                <a:solidFill>
                  <a:srgbClr val="1A1A1A"/>
                </a:solidFill>
                <a:latin typeface="Calibri"/>
              </a:rPr>
              <a:t>         Show them the trend. That number going down is the proof.</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Week 4: Manager walks into a meeting and says they didn't need</a:t>
            </a:r>
          </a:p>
          <a:p>
            <a:pPr algn="l">
              <a:spcBef>
                <a:spcPts val="600"/>
              </a:spcBef>
            </a:pPr>
            <a:r>
              <a:rPr sz="1200">
                <a:solidFill>
                  <a:srgbClr val="1A1A1A"/>
                </a:solidFill>
                <a:latin typeface="Calibri"/>
              </a:rPr>
              <a:t>         to do any manual prep. That is the success signal.</a:t>
            </a:r>
          </a:p>
        </p:txBody>
      </p:sp>
      <p:sp>
        <p:nvSpPr>
          <p:cNvPr id="10" name="Rectangle 9"/>
          <p:cNvSpPr/>
          <p:nvPr/>
        </p:nvSpPr>
        <p:spPr>
          <a:xfrm>
            <a:off x="6172200" y="1170432"/>
            <a:ext cx="5760720" cy="539496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234440"/>
            <a:ext cx="5394960" cy="365760"/>
          </a:xfrm>
          <a:prstGeom prst="rect">
            <a:avLst/>
          </a:prstGeom>
          <a:noFill/>
        </p:spPr>
        <p:txBody>
          <a:bodyPr wrap="none">
            <a:spAutoFit/>
          </a:bodyPr>
          <a:lstStyle/>
          <a:p>
            <a:endParaRPr/>
          </a:p>
          <a:p>
            <a:pPr algn="l">
              <a:spcBef>
                <a:spcPts val="0"/>
              </a:spcBef>
              <a:spcAft>
                <a:spcPts val="0"/>
              </a:spcAft>
            </a:pPr>
            <a:r>
              <a:rPr sz="1400" b="1">
                <a:solidFill>
                  <a:srgbClr val="C8102E"/>
                </a:solidFill>
                <a:latin typeface="Calibri"/>
              </a:rPr>
              <a:t>Enablement — what training actually looks like</a:t>
            </a:r>
          </a:p>
        </p:txBody>
      </p:sp>
      <p:sp>
        <p:nvSpPr>
          <p:cNvPr id="12" name="TextBox 11"/>
          <p:cNvSpPr txBox="1"/>
          <p:nvPr/>
        </p:nvSpPr>
        <p:spPr>
          <a:xfrm>
            <a:off x="6355080" y="1691640"/>
            <a:ext cx="5394960" cy="4572000"/>
          </a:xfrm>
          <a:prstGeom prst="rect">
            <a:avLst/>
          </a:prstGeom>
          <a:noFill/>
        </p:spPr>
        <p:txBody>
          <a:bodyPr wrap="square">
            <a:spAutoFit/>
          </a:bodyPr>
          <a:lstStyle/>
          <a:p>
            <a:pPr algn="l">
              <a:spcBef>
                <a:spcPts val="600"/>
              </a:spcBef>
            </a:pPr>
            <a:r>
              <a:rPr sz="1200">
                <a:solidFill>
                  <a:srgbClr val="1A1A1A"/>
                </a:solidFill>
                <a:latin typeface="Calibri"/>
              </a:rPr>
              <a:t>Not a training deck. Not a webinar.</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Session 1 (30 min, Week 1):</a:t>
            </a:r>
          </a:p>
          <a:p>
            <a:pPr algn="l">
              <a:spcBef>
                <a:spcPts val="600"/>
              </a:spcBef>
            </a:pPr>
            <a:r>
              <a:rPr sz="1200">
                <a:solidFill>
                  <a:srgbClr val="1A1A1A"/>
                </a:solidFill>
                <a:latin typeface="Calibri"/>
              </a:rPr>
              <a:t>  Sit with the analyst. Run the tool together on a real</a:t>
            </a:r>
          </a:p>
          <a:p>
            <a:pPr algn="l">
              <a:spcBef>
                <a:spcPts val="600"/>
              </a:spcBef>
            </a:pPr>
            <a:r>
              <a:rPr sz="1200">
                <a:solidFill>
                  <a:srgbClr val="1A1A1A"/>
                </a:solidFill>
                <a:latin typeface="Calibri"/>
              </a:rPr>
              <a:t>  upcoming meeting. Walk through every section of the packet.</a:t>
            </a:r>
          </a:p>
          <a:p>
            <a:pPr algn="l">
              <a:spcBef>
                <a:spcPts val="600"/>
              </a:spcBef>
            </a:pPr>
            <a:r>
              <a:rPr sz="1200">
                <a:solidFill>
                  <a:srgbClr val="1A1A1A"/>
                </a:solidFill>
                <a:latin typeface="Calibri"/>
              </a:rPr>
              <a:t>  Show them the 'Show source' expanders.</a:t>
            </a:r>
          </a:p>
          <a:p>
            <a:pPr algn="l">
              <a:spcBef>
                <a:spcPts val="600"/>
              </a:spcBef>
            </a:pPr>
            <a:r>
              <a:rPr sz="1200">
                <a:solidFill>
                  <a:srgbClr val="1A1A1A"/>
                </a:solidFill>
                <a:latin typeface="Calibri"/>
              </a:rPr>
              <a:t>  Show them how to flag a correction.</a:t>
            </a:r>
          </a:p>
          <a:p>
            <a:pPr algn="l">
              <a:spcBef>
                <a:spcPts val="600"/>
              </a:spcBef>
            </a:pPr>
            <a:r>
              <a:rPr sz="1200">
                <a:solidFill>
                  <a:srgbClr val="1A1A1A"/>
                </a:solidFill>
                <a:latin typeface="Calibri"/>
              </a:rPr>
              <a:t>  That is the entire training.</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Session 2 (15 min, Week 3):</a:t>
            </a:r>
          </a:p>
          <a:p>
            <a:pPr algn="l">
              <a:spcBef>
                <a:spcPts val="600"/>
              </a:spcBef>
            </a:pPr>
            <a:r>
              <a:rPr sz="1200">
                <a:solidFill>
                  <a:srgbClr val="1A1A1A"/>
                </a:solidFill>
                <a:latin typeface="Calibri"/>
              </a:rPr>
              <a:t>  Review the correction log together.</a:t>
            </a:r>
          </a:p>
          <a:p>
            <a:pPr algn="l">
              <a:spcBef>
                <a:spcPts val="600"/>
              </a:spcBef>
            </a:pPr>
            <a:r>
              <a:rPr sz="1200">
                <a:solidFill>
                  <a:srgbClr val="1A1A1A"/>
                </a:solidFill>
                <a:latin typeface="Calibri"/>
              </a:rPr>
              <a:t>  Which fields did they flag? Any pattern?</a:t>
            </a:r>
          </a:p>
          <a:p>
            <a:pPr algn="l">
              <a:spcBef>
                <a:spcPts val="600"/>
              </a:spcBef>
            </a:pPr>
            <a:r>
              <a:rPr sz="1200">
                <a:solidFill>
                  <a:srgbClr val="1A1A1A"/>
                </a:solidFill>
                <a:latin typeface="Calibri"/>
              </a:rPr>
              <a:t>  This is the prompt tuning input, framed as their feedback.</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Ongoing:</a:t>
            </a:r>
          </a:p>
          <a:p>
            <a:pPr algn="l">
              <a:spcBef>
                <a:spcPts val="600"/>
              </a:spcBef>
            </a:pPr>
            <a:r>
              <a:rPr sz="1200">
                <a:solidFill>
                  <a:srgbClr val="1A1A1A"/>
                </a:solidFill>
                <a:latin typeface="Calibri"/>
              </a:rPr>
              <a:t>  One-page reference card: what each section means,</a:t>
            </a:r>
          </a:p>
          <a:p>
            <a:pPr algn="l">
              <a:spcBef>
                <a:spcPts val="600"/>
              </a:spcBef>
            </a:pPr>
            <a:r>
              <a:rPr sz="1200">
                <a:solidFill>
                  <a:srgbClr val="1A1A1A"/>
                </a:solidFill>
                <a:latin typeface="Calibri"/>
              </a:rPr>
              <a:t>  when to override, who to contact if something looks wrong.</a:t>
            </a:r>
          </a:p>
          <a:p>
            <a:pPr algn="l">
              <a:spcBef>
                <a:spcPts val="600"/>
              </a:spcBef>
            </a:pPr>
            <a:r>
              <a:rPr sz="1200">
                <a:solidFill>
                  <a:srgbClr val="1A1A1A"/>
                </a:solidFill>
                <a:latin typeface="Calibri"/>
              </a:rPr>
              <a:t>  Non-technical. No jargon.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The ROI Case</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Conservative anchor — lead with what's measurable, then the multiplier</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Rectangle 6"/>
          <p:cNvSpPr/>
          <p:nvPr/>
        </p:nvSpPr>
        <p:spPr>
          <a:xfrm>
            <a:off x="320040" y="1188720"/>
            <a:ext cx="6400800" cy="534924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61872"/>
            <a:ext cx="603504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Labor cost avoidance — the conservative number</a:t>
            </a:r>
          </a:p>
        </p:txBody>
      </p:sp>
      <p:sp>
        <p:nvSpPr>
          <p:cNvPr id="9" name="TextBox 8"/>
          <p:cNvSpPr txBox="1"/>
          <p:nvPr/>
        </p:nvSpPr>
        <p:spPr>
          <a:xfrm>
            <a:off x="502920" y="1691640"/>
            <a:ext cx="6035040" cy="4663440"/>
          </a:xfrm>
          <a:prstGeom prst="rect">
            <a:avLst/>
          </a:prstGeom>
          <a:noFill/>
        </p:spPr>
        <p:txBody>
          <a:bodyPr wrap="square">
            <a:spAutoFit/>
          </a:bodyPr>
          <a:lstStyle/>
          <a:p>
            <a:pPr algn="l">
              <a:spcBef>
                <a:spcPts val="600"/>
              </a:spcBef>
            </a:pPr>
            <a:r>
              <a:rPr sz="1200">
                <a:solidFill>
                  <a:srgbClr val="1A1A1A"/>
                </a:solidFill>
                <a:latin typeface="Calibri"/>
              </a:rPr>
              <a:t>Assumption 1:  7 meetings/month (14 meetings over the 60-day calendar)</a:t>
            </a:r>
          </a:p>
          <a:p>
            <a:pPr algn="l">
              <a:spcBef>
                <a:spcPts val="600"/>
              </a:spcBef>
            </a:pPr>
            <a:r>
              <a:rPr sz="1200">
                <a:solidFill>
                  <a:srgbClr val="1A1A1A"/>
                </a:solidFill>
                <a:latin typeface="Calibri"/>
              </a:rPr>
              <a:t>Assumption 2:  Prep time reduced from 135 min → 15 min per meeting</a:t>
            </a:r>
          </a:p>
          <a:p>
            <a:pPr algn="l">
              <a:spcBef>
                <a:spcPts val="600"/>
              </a:spcBef>
            </a:pPr>
            <a:r>
              <a:rPr sz="1200">
                <a:solidFill>
                  <a:srgbClr val="1A1A1A"/>
                </a:solidFill>
                <a:latin typeface="Calibri"/>
              </a:rPr>
              <a:t>                      (review packet + flag corrections)</a:t>
            </a:r>
          </a:p>
          <a:p>
            <a:pPr algn="l">
              <a:spcBef>
                <a:spcPts val="600"/>
              </a:spcBef>
            </a:pPr>
            <a:r>
              <a:rPr sz="1200">
                <a:solidFill>
                  <a:srgbClr val="1A1A1A"/>
                </a:solidFill>
                <a:latin typeface="Calibri"/>
              </a:rPr>
              <a:t>Time saved:      120 min × 7 meetings = 14 hrs/month per analyst</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Assumption 3:  Analyst fully-loaded cost: ₪200/hr</a:t>
            </a:r>
          </a:p>
          <a:p>
            <a:pPr algn="l">
              <a:spcBef>
                <a:spcPts val="600"/>
              </a:spcBef>
            </a:pPr>
            <a:r>
              <a:rPr sz="1200">
                <a:solidFill>
                  <a:srgbClr val="1A1A1A"/>
                </a:solidFill>
                <a:latin typeface="Calibri"/>
              </a:rPr>
              <a:t>                      [confirm with HR — this is the key input]</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Monthly saving:   14 hrs × ₪200 = ₪2,800/month per analyst (₪8,400 across 3)</a:t>
            </a:r>
          </a:p>
          <a:p>
            <a:pPr algn="l">
              <a:spcBef>
                <a:spcPts val="600"/>
              </a:spcBef>
            </a:pPr>
            <a:r>
              <a:rPr sz="1200">
                <a:solidFill>
                  <a:srgbClr val="1A1A1A"/>
                </a:solidFill>
                <a:latin typeface="Calibri"/>
              </a:rPr>
              <a:t>Annual saving:    ₪2,800 × 12 × 3 analysts = ~₪100,000/year</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API cost:           ~7 meetings × ~$1/call = ~$7/month</a:t>
            </a:r>
          </a:p>
          <a:p>
            <a:pPr algn="l">
              <a:spcBef>
                <a:spcPts val="600"/>
              </a:spcBef>
            </a:pPr>
            <a:r>
              <a:rPr sz="1200">
                <a:solidFill>
                  <a:srgbClr val="1A1A1A"/>
                </a:solidFill>
                <a:latin typeface="Calibri"/>
              </a:rPr>
              <a:t>                      Negligible. Rounds to zero.</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Conservative 12-month ROI:   ~₪100,000/year (3 analysts × 14 hrs/month × ₪200/hr)</a:t>
            </a:r>
          </a:p>
        </p:txBody>
      </p:sp>
      <p:sp>
        <p:nvSpPr>
          <p:cNvPr id="10" name="Rectangle 9"/>
          <p:cNvSpPr/>
          <p:nvPr/>
        </p:nvSpPr>
        <p:spPr>
          <a:xfrm>
            <a:off x="6903720" y="1188720"/>
            <a:ext cx="4937760" cy="2560320"/>
          </a:xfrm>
          <a:prstGeom prst="rect">
            <a:avLst/>
          </a:prstGeom>
          <a:solidFill>
            <a:srgbClr val="FBEBE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86600" y="1261872"/>
            <a:ext cx="457200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The multiplier: one caught violation</a:t>
            </a:r>
          </a:p>
        </p:txBody>
      </p:sp>
      <p:sp>
        <p:nvSpPr>
          <p:cNvPr id="12" name="TextBox 11"/>
          <p:cNvSpPr txBox="1"/>
          <p:nvPr/>
        </p:nvSpPr>
        <p:spPr>
          <a:xfrm>
            <a:off x="7086600" y="1691640"/>
            <a:ext cx="4572000" cy="1920240"/>
          </a:xfrm>
          <a:prstGeom prst="rect">
            <a:avLst/>
          </a:prstGeom>
          <a:noFill/>
        </p:spPr>
        <p:txBody>
          <a:bodyPr wrap="square">
            <a:spAutoFit/>
          </a:bodyPr>
          <a:lstStyle/>
          <a:p>
            <a:pPr algn="l">
              <a:spcBef>
                <a:spcPts val="600"/>
              </a:spcBef>
            </a:pPr>
            <a:r>
              <a:rPr sz="1200">
                <a:solidFill>
                  <a:srgbClr val="1A1A1A"/>
                </a:solidFill>
                <a:latin typeface="Calibri"/>
              </a:rPr>
              <a:t>Galil Dairy (live in the demo):</a:t>
            </a:r>
          </a:p>
          <a:p>
            <a:pPr algn="l">
              <a:spcBef>
                <a:spcPts val="600"/>
              </a:spcBef>
            </a:pPr>
            <a:r>
              <a:rPr sz="1200">
                <a:solidFill>
                  <a:srgbClr val="1A1A1A"/>
                </a:solidFill>
                <a:latin typeface="Calibri"/>
              </a:rPr>
              <a:t>+₪1.30/kg quoted over contract cap</a:t>
            </a:r>
          </a:p>
          <a:p>
            <a:pPr algn="l">
              <a:spcBef>
                <a:spcPts val="600"/>
              </a:spcBef>
            </a:pPr>
            <a:r>
              <a:rPr sz="1200">
                <a:solidFill>
                  <a:srgbClr val="1A1A1A"/>
                </a:solidFill>
                <a:latin typeface="Calibri"/>
              </a:rPr>
              <a:t>22 tons/quarter × 4 quarters = 88 tons/year</a:t>
            </a:r>
          </a:p>
          <a:p>
            <a:pPr algn="l">
              <a:spcBef>
                <a:spcPts val="600"/>
              </a:spcBef>
            </a:pPr>
            <a:r>
              <a:rPr sz="1200">
                <a:solidFill>
                  <a:srgbClr val="1A1A1A"/>
                </a:solidFill>
                <a:latin typeface="Calibri"/>
              </a:rPr>
              <a:t>Unchallenged cost: ₪1.30 × 88,000 kg = ₪114,400</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The tool caught this in the prep packet.</a:t>
            </a:r>
          </a:p>
          <a:p>
            <a:pPr algn="l">
              <a:spcBef>
                <a:spcPts val="600"/>
              </a:spcBef>
            </a:pPr>
            <a:r>
              <a:rPr sz="1200">
                <a:solidFill>
                  <a:srgbClr val="1A1A1A"/>
                </a:solidFill>
                <a:latin typeface="Calibri"/>
              </a:rPr>
              <a:t>One meeting. One flagged clause.</a:t>
            </a:r>
          </a:p>
          <a:p>
            <a:pPr algn="l">
              <a:spcBef>
                <a:spcPts val="600"/>
              </a:spcBef>
            </a:pPr>
            <a:r>
              <a:rPr sz="1200">
                <a:solidFill>
                  <a:srgbClr val="1A1A1A"/>
                </a:solidFill>
                <a:latin typeface="Calibri"/>
              </a:rPr>
              <a:t>That alone covers 3+ years of the tool's cost.</a:t>
            </a:r>
          </a:p>
          <a:p>
            <a:pPr algn="l">
              <a:spcBef>
                <a:spcPts val="600"/>
              </a:spcBef>
            </a:pPr>
            <a:r>
              <a:rPr sz="1200">
                <a:solidFill>
                  <a:srgbClr val="1A1A1A"/>
                </a:solidFill>
                <a:latin typeface="Calibri"/>
              </a:rPr>
              <a:t>Early payment discount catch (Galil Dairy): 2% discount / 10 days / net 45 — implied APR 21.3% vs ~5% cost of capital. Taking the discount on a ₪500k quarterly invoice saves ~₪10,000/quarter — invisible without the tool.</a:t>
            </a:r>
          </a:p>
        </p:txBody>
      </p:sp>
      <p:sp>
        <p:nvSpPr>
          <p:cNvPr id="13" name="Rectangle 12"/>
          <p:cNvSpPr/>
          <p:nvPr/>
        </p:nvSpPr>
        <p:spPr>
          <a:xfrm>
            <a:off x="6903720" y="3931920"/>
            <a:ext cx="4937760" cy="155448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86600" y="4005072"/>
            <a:ext cx="4572000" cy="365760"/>
          </a:xfrm>
          <a:prstGeom prst="rect">
            <a:avLst/>
          </a:prstGeom>
          <a:noFill/>
        </p:spPr>
        <p:txBody>
          <a:bodyPr wrap="none">
            <a:spAutoFit/>
          </a:bodyPr>
          <a:lstStyle/>
          <a:p>
            <a:endParaRPr/>
          </a:p>
          <a:p>
            <a:pPr algn="l">
              <a:spcBef>
                <a:spcPts val="0"/>
              </a:spcBef>
              <a:spcAft>
                <a:spcPts val="0"/>
              </a:spcAft>
            </a:pPr>
            <a:r>
              <a:rPr sz="1300" b="1">
                <a:solidFill>
                  <a:srgbClr val="1A1A1A"/>
                </a:solidFill>
                <a:latin typeface="Calibri"/>
              </a:rPr>
              <a:t>What to tell the CFO at month 3</a:t>
            </a:r>
          </a:p>
        </p:txBody>
      </p:sp>
      <p:sp>
        <p:nvSpPr>
          <p:cNvPr id="15" name="TextBox 14"/>
          <p:cNvSpPr txBox="1"/>
          <p:nvPr/>
        </p:nvSpPr>
        <p:spPr>
          <a:xfrm>
            <a:off x="7086600" y="4434840"/>
            <a:ext cx="4572000" cy="1051560"/>
          </a:xfrm>
          <a:prstGeom prst="rect">
            <a:avLst/>
          </a:prstGeom>
          <a:noFill/>
        </p:spPr>
        <p:txBody>
          <a:bodyPr wrap="square">
            <a:spAutoFit/>
          </a:bodyPr>
          <a:lstStyle/>
          <a:p>
            <a:pPr algn="l">
              <a:spcBef>
                <a:spcPts val="600"/>
              </a:spcBef>
            </a:pPr>
            <a:r>
              <a:rPr sz="1200">
                <a:solidFill>
                  <a:srgbClr val="1A1A1A"/>
                </a:solidFill>
                <a:latin typeface="Calibri"/>
              </a:rPr>
              <a:t>Lead with: ~₪100k/year in analyst time reclaimed (3 analysts).</a:t>
            </a:r>
          </a:p>
          <a:p>
            <a:pPr algn="l">
              <a:spcBef>
                <a:spcPts val="600"/>
              </a:spcBef>
            </a:pPr>
            <a:r>
              <a:rPr sz="1200">
                <a:solidFill>
                  <a:srgbClr val="1A1A1A"/>
                </a:solidFill>
                <a:latin typeface="Calibri"/>
              </a:rPr>
              <a:t>Don't lead with: speculative negotiation savings.</a:t>
            </a:r>
          </a:p>
          <a:p>
            <a:pPr algn="l">
              <a:spcBef>
                <a:spcPts val="600"/>
              </a:spcBef>
            </a:pPr>
            <a:r>
              <a:rPr sz="1200">
                <a:solidFill>
                  <a:srgbClr val="1A1A1A"/>
                </a:solidFill>
                <a:latin typeface="Calibri"/>
              </a:rPr>
              <a:t>Add: correction rate trending down (trust improving).</a:t>
            </a:r>
          </a:p>
          <a:p>
            <a:pPr algn="l">
              <a:spcBef>
                <a:spcPts val="600"/>
              </a:spcBef>
            </a:pPr>
            <a:r>
              <a:rPr sz="1200">
                <a:solidFill>
                  <a:srgbClr val="1A1A1A"/>
                </a:solidFill>
                <a:latin typeface="Calibri"/>
              </a:rPr>
              <a:t>Add: open issues caught before meetings (count them).</a:t>
            </a:r>
          </a:p>
          <a:p>
            <a:pPr algn="l">
              <a:spcBef>
                <a:spcPts val="600"/>
              </a:spcBef>
            </a:pPr>
            <a:r>
              <a:rPr sz="1200">
                <a:solidFill>
                  <a:srgbClr val="1A1A1A"/>
                </a:solidFill>
                <a:latin typeface="Calibri"/>
              </a:rPr>
              <a:t>The ₪114k violation multiplier is the kicker —</a:t>
            </a:r>
          </a:p>
          <a:p>
            <a:pPr algn="l">
              <a:spcBef>
                <a:spcPts val="600"/>
              </a:spcBef>
            </a:pPr>
            <a:r>
              <a:rPr sz="1200">
                <a:solidFill>
                  <a:srgbClr val="1A1A1A"/>
                </a:solidFill>
                <a:latin typeface="Calibri"/>
              </a:rPr>
              <a:t>present it as 'one example already found in pilot.'</a:t>
            </a:r>
          </a:p>
        </p:txBody>
      </p:sp>
      <p:sp>
        <p:nvSpPr>
          <p:cNvPr id="101" name="Rectangle Market Intel"/>
          <p:cNvSpPr/>
          <p:nvPr/>
        </p:nvSpPr>
        <p:spPr>
          <a:xfrm>
            <a:off x="6903720" y="5550408"/>
            <a:ext cx="4937760" cy="1024128"/>
          </a:xfrm>
          <a:prstGeom prst="rect">
            <a:avLst/>
          </a:prstGeom>
          <a:solidFill>
            <a:srgbClr val="E8F4E8"/>
          </a:solidFill>
          <a:ln>
            <a:solidFill>
              <a:srgbClr val="2E7D32"/>
            </a:solid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2" name="TextBox Market Intel Title"/>
          <p:cNvSpPr txBox="1"/>
          <p:nvPr/>
        </p:nvSpPr>
        <p:spPr>
          <a:xfrm>
            <a:off x="7086600" y="5577840"/>
            <a:ext cx="4572000" cy="292608"/>
          </a:xfrm>
          <a:prstGeom prst="rect">
            <a:avLst/>
          </a:prstGeom>
          <a:noFill/>
        </p:spPr>
        <p:txBody>
          <a:bodyPr wrap="none">
            <a:spAutoFit/>
          </a:bodyPr>
          <a:lstStyle/>
          <a:p>
            <a:r>
              <a:rPr lang="en-US" sz="1000" b="1" dirty="0">
                <a:solidFill>
                  <a:srgbClr val="1A1A1A"/>
                </a:solidFill>
              </a:rPr>
              <a:t>The multiplier: market intelligence</a:t>
            </a:r>
          </a:p>
        </p:txBody>
      </p:sp>
      <p:sp>
        <p:nvSpPr>
          <p:cNvPr id="103" name="TextBox Market Intel Body"/>
          <p:cNvSpPr txBox="1"/>
          <p:nvPr/>
        </p:nvSpPr>
        <p:spPr>
          <a:xfrm>
            <a:off x="7086600" y="5897880"/>
            <a:ext cx="4572000" cy="658368"/>
          </a:xfrm>
          <a:prstGeom prst="rect">
            <a:avLst/>
          </a:prstGeom>
          <a:noFill/>
        </p:spPr>
        <p:txBody>
          <a:bodyPr wrap="square">
            <a:spAutoFit/>
          </a:bodyPr>
          <a:lstStyle/>
          <a:p>
            <a:r>
              <a:rPr lang="en-US" sz="800" dirty="0">
                <a:solidFill>
                  <a:srgbClr val="1A1A1A"/>
                </a:solidFill>
              </a:rPr>
              <a:t>Cocoa spot fell 29% in 6 months ($5,845 → $4,143/MT)</a:t>
            </a:r>
          </a:p>
          <a:p>
            <a:r>
              <a:rPr lang="en-US" sz="800" dirty="0">
                <a:solidFill>
                  <a:srgbClr val="1A1A1A"/>
                </a:solidFill>
              </a:rPr>
              <a:t>Ivoire Cacao quoting $3,050/ton vs contract base $2,650/ton</a:t>
            </a:r>
          </a:p>
          <a:p>
            <a:r>
              <a:rPr lang="en-US" sz="800" dirty="0">
                <a:solidFill>
                  <a:srgbClr val="1A1A1A"/>
                </a:solidFill>
              </a:rPr>
              <a:t>Manager armed with benchmark: held contract price for Q2</a:t>
            </a:r>
          </a:p>
          <a:p>
            <a:r>
              <a:rPr lang="en-US" sz="800" dirty="0">
                <a:solidFill>
                  <a:srgbClr val="1A1A1A"/>
                </a:solidFill>
              </a:rPr>
              <a:t>$400/ton × 35 tons = $14,000 avoided overpayment → ~₪52,000</a:t>
            </a:r>
          </a:p>
          <a:p>
            <a:r>
              <a:rPr lang="en-US" sz="800" dirty="0">
                <a:solidFill>
                  <a:srgbClr val="1A1A1A"/>
                </a:solidFill>
              </a:rPr>
              <a:t>One quarter. One data point the tool surfaced.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91440"/>
            <a:ext cx="11795760" cy="685800"/>
          </a:xfrm>
          <a:prstGeom prst="rect">
            <a:avLst/>
          </a:prstGeom>
          <a:noFill/>
        </p:spPr>
        <p:txBody>
          <a:bodyPr wrap="none">
            <a:spAutoFit/>
          </a:bodyPr>
          <a:lstStyle/>
          <a:p>
            <a:endParaRPr/>
          </a:p>
          <a:p>
            <a:pPr algn="l">
              <a:spcBef>
                <a:spcPts val="0"/>
              </a:spcBef>
              <a:spcAft>
                <a:spcPts val="0"/>
              </a:spcAft>
            </a:pPr>
            <a:r>
              <a:rPr sz="2800" b="1">
                <a:solidFill>
                  <a:srgbClr val="1A1A1A"/>
                </a:solidFill>
                <a:latin typeface="Calibri"/>
              </a:rPr>
              <a:t>What's Next</a:t>
            </a:r>
          </a:p>
        </p:txBody>
      </p:sp>
      <p:sp>
        <p:nvSpPr>
          <p:cNvPr id="4" name="TextBox 3"/>
          <p:cNvSpPr txBox="1"/>
          <p:nvPr/>
        </p:nvSpPr>
        <p:spPr>
          <a:xfrm>
            <a:off x="182880" y="685800"/>
            <a:ext cx="11795760" cy="365760"/>
          </a:xfrm>
          <a:prstGeom prst="rect">
            <a:avLst/>
          </a:prstGeom>
          <a:noFill/>
        </p:spPr>
        <p:txBody>
          <a:bodyPr wrap="none">
            <a:spAutoFit/>
          </a:bodyPr>
          <a:lstStyle/>
          <a:p>
            <a:endParaRPr/>
          </a:p>
          <a:p>
            <a:pPr algn="l">
              <a:spcBef>
                <a:spcPts val="0"/>
              </a:spcBef>
              <a:spcAft>
                <a:spcPts val="0"/>
              </a:spcAft>
            </a:pPr>
            <a:r>
              <a:rPr sz="1300" b="0">
                <a:solidFill>
                  <a:srgbClr val="555555"/>
                </a:solidFill>
                <a:latin typeface="Calibri"/>
              </a:rPr>
              <a:t>What I'd prioritise in Phase 2 — and what I deliberately left out</a:t>
            </a:r>
          </a:p>
        </p:txBody>
      </p:sp>
      <p:sp>
        <p:nvSpPr>
          <p:cNvPr id="5" name="Rectangle 4"/>
          <p:cNvSpPr/>
          <p:nvPr/>
        </p:nvSpPr>
        <p:spPr>
          <a:xfrm>
            <a:off x="0" y="6656832"/>
            <a:ext cx="12188952"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56832"/>
            <a:ext cx="11795760" cy="201168"/>
          </a:xfrm>
          <a:prstGeom prst="rect">
            <a:avLst/>
          </a:prstGeom>
          <a:noFill/>
        </p:spPr>
        <p:txBody>
          <a:bodyPr wrap="none">
            <a:spAutoFit/>
          </a:bodyPr>
          <a:lstStyle/>
          <a:p>
            <a:endParaRPr/>
          </a:p>
          <a:p>
            <a:pPr algn="l">
              <a:spcBef>
                <a:spcPts val="0"/>
              </a:spcBef>
              <a:spcAft>
                <a:spcPts val="0"/>
              </a:spcAft>
            </a:pPr>
            <a:r>
              <a:rPr sz="900" b="0">
                <a:solidFill>
                  <a:srgbClr val="FFFFFF"/>
                </a:solidFill>
                <a:latin typeface="Calibri"/>
              </a:rPr>
              <a:t>Strauss Procurement · FDE Exercise · Confidential</a:t>
            </a:r>
          </a:p>
        </p:txBody>
      </p:sp>
      <p:sp>
        <p:nvSpPr>
          <p:cNvPr id="7" name="TextBox 6"/>
          <p:cNvSpPr txBox="1"/>
          <p:nvPr/>
        </p:nvSpPr>
        <p:spPr>
          <a:xfrm>
            <a:off x="320040" y="1234440"/>
            <a:ext cx="6858000" cy="5303520"/>
          </a:xfrm>
          <a:prstGeom prst="rect">
            <a:avLst/>
          </a:prstGeom>
          <a:noFill/>
        </p:spPr>
        <p:txBody>
          <a:bodyPr wrap="square">
            <a:spAutoFit/>
          </a:bodyPr>
          <a:lstStyle/>
          <a:p>
            <a:pPr algn="l">
              <a:spcBef>
                <a:spcPts val="600"/>
              </a:spcBef>
            </a:pPr>
            <a:r>
              <a:rPr sz="1300">
                <a:solidFill>
                  <a:srgbClr val="1A1A1A"/>
                </a:solidFill>
                <a:latin typeface="Calibri"/>
              </a:rPr>
              <a:t>Priority 1: Live email connector (Microsoft Graph API)</a:t>
            </a:r>
          </a:p>
          <a:p>
            <a:pPr algn="l">
              <a:spcBef>
                <a:spcPts val="600"/>
              </a:spcBef>
            </a:pPr>
            <a:r>
              <a:rPr sz="1300">
                <a:solidFill>
                  <a:srgbClr val="1A1A1A"/>
                </a:solidFill>
                <a:latin typeface="Calibri"/>
              </a:rPr>
              <a:t>    → Real supplier threads, no synthetic data</a:t>
            </a:r>
          </a:p>
          <a:p>
            <a:pPr algn="l">
              <a:spcBef>
                <a:spcPts val="600"/>
              </a:spcBef>
            </a:pPr>
            <a:r>
              <a:rPr sz="1300">
                <a:solidFill>
                  <a:srgbClr val="1A1A1A"/>
                </a:solidFill>
                <a:latin typeface="Calibri"/>
              </a:rPr>
              <a:t>    → Scheduled pull, triggered before each meeting</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2: SharePoint contract connector</a:t>
            </a:r>
          </a:p>
          <a:p>
            <a:pPr algn="l">
              <a:spcBef>
                <a:spcPts val="600"/>
              </a:spcBef>
            </a:pPr>
            <a:r>
              <a:rPr sz="1300">
                <a:solidFill>
                  <a:srgbClr val="1A1A1A"/>
                </a:solidFill>
                <a:latin typeface="Calibri"/>
              </a:rPr>
              <a:t>    → Always the active version, not a stale copy</a:t>
            </a:r>
          </a:p>
          <a:p>
            <a:pPr algn="l">
              <a:spcBef>
                <a:spcPts val="600"/>
              </a:spcBef>
            </a:pPr>
            <a:r>
              <a:rPr sz="1300">
                <a:solidFill>
                  <a:srgbClr val="1A1A1A"/>
                </a:solidFill>
                <a:latin typeface="Calibri"/>
              </a:rPr>
              <a:t>    → OCR pipeline for scanned PDFs</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3: Persist correction log → prompt tuning cycle</a:t>
            </a:r>
          </a:p>
          <a:p>
            <a:pPr algn="l">
              <a:spcBef>
                <a:spcPts val="600"/>
              </a:spcBef>
            </a:pPr>
            <a:r>
              <a:rPr sz="1300">
                <a:solidFill>
                  <a:srgbClr val="1A1A1A"/>
                </a:solidFill>
                <a:latin typeface="Calibri"/>
              </a:rPr>
              <a:t>    → correction_log.csv already captures this</a:t>
            </a:r>
          </a:p>
          <a:p>
            <a:pPr algn="l">
              <a:spcBef>
                <a:spcPts val="600"/>
              </a:spcBef>
            </a:pPr>
            <a:r>
              <a:rPr sz="1300">
                <a:solidFill>
                  <a:srgbClr val="1A1A1A"/>
                </a:solidFill>
                <a:latin typeface="Calibri"/>
              </a:rPr>
              <a:t>    → Monthly review: which fields/suppliers have high error rate?</a:t>
            </a:r>
          </a:p>
          <a:p>
            <a:pPr algn="l">
              <a:spcBef>
                <a:spcPts val="600"/>
              </a:spcBef>
            </a:pPr>
            <a:r>
              <a:rPr sz="1300">
                <a:solidFill>
                  <a:srgbClr val="1A1A1A"/>
                </a:solidFill>
                <a:latin typeface="Calibri"/>
              </a:rPr>
              <a:t>    → Update extraction prompt accordingly</a:t>
            </a:r>
          </a:p>
          <a:p>
            <a:pPr algn="l">
              <a:spcBef>
                <a:spcPts val="600"/>
              </a:spcBef>
            </a:pPr>
            <a:endParaRPr sz="1300">
              <a:solidFill>
                <a:srgbClr val="1A1A1A"/>
              </a:solidFill>
              <a:latin typeface="Calibri"/>
            </a:endParaRPr>
          </a:p>
          <a:p>
            <a:pPr algn="l">
              <a:spcBef>
                <a:spcPts val="600"/>
              </a:spcBef>
            </a:pPr>
            <a:r>
              <a:rPr sz="1300">
                <a:solidFill>
                  <a:srgbClr val="1A1A1A"/>
                </a:solidFill>
                <a:latin typeface="Calibri"/>
              </a:rPr>
              <a:t>Priority 4: Supplier segmentation</a:t>
            </a:r>
          </a:p>
          <a:p>
            <a:pPr algn="l">
              <a:spcBef>
                <a:spcPts val="600"/>
              </a:spcBef>
            </a:pPr>
            <a:r>
              <a:rPr sz="1300">
                <a:solidFill>
                  <a:srgbClr val="1A1A1A"/>
                </a:solidFill>
                <a:latin typeface="Calibri"/>
              </a:rPr>
              <a:t>    → Flag high-risk suppliers based on relationship health score</a:t>
            </a:r>
          </a:p>
          <a:p>
            <a:pPr algn="l">
              <a:spcBef>
                <a:spcPts val="600"/>
              </a:spcBef>
            </a:pPr>
            <a:r>
              <a:rPr sz="1300">
                <a:solidFill>
                  <a:srgbClr val="1A1A1A"/>
                </a:solidFill>
                <a:latin typeface="Calibri"/>
              </a:rPr>
              <a:t>    → Auto-generate prep for every meeting, not just on-demand</a:t>
            </a:r>
          </a:p>
        </p:txBody>
      </p:sp>
      <p:sp>
        <p:nvSpPr>
          <p:cNvPr id="8" name="Rectangle 7"/>
          <p:cNvSpPr/>
          <p:nvPr/>
        </p:nvSpPr>
        <p:spPr>
          <a:xfrm>
            <a:off x="7406640" y="1234440"/>
            <a:ext cx="4434840" cy="5303520"/>
          </a:xfrm>
          <a:prstGeom prst="rect">
            <a:avLst/>
          </a:prstGeom>
          <a:solidFill>
            <a:srgbClr val="F0F0F0"/>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0" y="1307592"/>
            <a:ext cx="4114800" cy="365760"/>
          </a:xfrm>
          <a:prstGeom prst="rect">
            <a:avLst/>
          </a:prstGeom>
          <a:noFill/>
        </p:spPr>
        <p:txBody>
          <a:bodyPr wrap="none">
            <a:spAutoFit/>
          </a:bodyPr>
          <a:lstStyle/>
          <a:p>
            <a:endParaRPr/>
          </a:p>
          <a:p>
            <a:pPr algn="l">
              <a:spcBef>
                <a:spcPts val="0"/>
              </a:spcBef>
              <a:spcAft>
                <a:spcPts val="0"/>
              </a:spcAft>
            </a:pPr>
            <a:r>
              <a:rPr sz="1300" b="1">
                <a:solidFill>
                  <a:srgbClr val="C8102E"/>
                </a:solidFill>
                <a:latin typeface="Calibri"/>
              </a:rPr>
              <a:t>Deliberately out of scope</a:t>
            </a:r>
          </a:p>
        </p:txBody>
      </p:sp>
      <p:sp>
        <p:nvSpPr>
          <p:cNvPr id="10" name="TextBox 9"/>
          <p:cNvSpPr txBox="1"/>
          <p:nvPr/>
        </p:nvSpPr>
        <p:spPr>
          <a:xfrm>
            <a:off x="7589520" y="1737360"/>
            <a:ext cx="4114800" cy="4663440"/>
          </a:xfrm>
          <a:prstGeom prst="rect">
            <a:avLst/>
          </a:prstGeom>
          <a:noFill/>
        </p:spPr>
        <p:txBody>
          <a:bodyPr wrap="square">
            <a:spAutoFit/>
          </a:bodyPr>
          <a:lstStyle/>
          <a:p>
            <a:pPr algn="l">
              <a:spcBef>
                <a:spcPts val="600"/>
              </a:spcBef>
            </a:pPr>
            <a:r>
              <a:rPr sz="1200">
                <a:solidFill>
                  <a:srgbClr val="1A1A1A"/>
                </a:solidFill>
                <a:latin typeface="Calibri"/>
              </a:rPr>
              <a:t>❌  Negotiation strategy advice</a:t>
            </a:r>
          </a:p>
          <a:p>
            <a:pPr algn="l">
              <a:spcBef>
                <a:spcPts val="600"/>
              </a:spcBef>
            </a:pPr>
            <a:r>
              <a:rPr sz="1200">
                <a:solidFill>
                  <a:srgbClr val="1A1A1A"/>
                </a:solidFill>
                <a:latin typeface="Calibri"/>
              </a:rPr>
              <a:t>     Human judgment stays human</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Full contract lifecycle mgmt</a:t>
            </a:r>
          </a:p>
          <a:p>
            <a:pPr algn="l">
              <a:spcBef>
                <a:spcPts val="600"/>
              </a:spcBef>
            </a:pPr>
            <a:r>
              <a:rPr sz="1200">
                <a:solidFill>
                  <a:srgbClr val="1A1A1A"/>
                </a:solidFill>
                <a:latin typeface="Calibri"/>
              </a:rPr>
              <a:t>     Different problem, different tool</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Live MCP connector in prototype</a:t>
            </a:r>
          </a:p>
          <a:p>
            <a:pPr algn="l">
              <a:spcBef>
                <a:spcPts val="600"/>
              </a:spcBef>
            </a:pPr>
            <a:r>
              <a:rPr sz="1200">
                <a:solidFill>
                  <a:srgbClr val="1A1A1A"/>
                </a:solidFill>
                <a:latin typeface="Calibri"/>
              </a:rPr>
              <a:t>     Demo-day network risk not worth it</a:t>
            </a:r>
          </a:p>
          <a:p>
            <a:pPr algn="l">
              <a:spcBef>
                <a:spcPts val="600"/>
              </a:spcBef>
            </a:pPr>
            <a:r>
              <a:rPr sz="1200">
                <a:solidFill>
                  <a:srgbClr val="1A1A1A"/>
                </a:solidFill>
                <a:latin typeface="Calibri"/>
              </a:rPr>
              <a:t>     — documented as production path</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Vector store in prototype</a:t>
            </a:r>
          </a:p>
          <a:p>
            <a:pPr algn="l">
              <a:spcBef>
                <a:spcPts val="600"/>
              </a:spcBef>
            </a:pPr>
            <a:r>
              <a:rPr sz="1200">
                <a:solidFill>
                  <a:srgbClr val="1A1A1A"/>
                </a:solidFill>
                <a:latin typeface="Calibri"/>
              </a:rPr>
              <a:t>     Unjustified at 8 suppliers / 111 emails</a:t>
            </a:r>
          </a:p>
          <a:p>
            <a:pPr algn="l">
              <a:spcBef>
                <a:spcPts val="600"/>
              </a:spcBef>
            </a:pPr>
            <a:r>
              <a:rPr sz="1200">
                <a:solidFill>
                  <a:srgbClr val="1A1A1A"/>
                </a:solidFill>
                <a:latin typeface="Calibri"/>
              </a:rPr>
              <a:t>     — right call at real scale</a:t>
            </a:r>
          </a:p>
          <a:p>
            <a:pPr algn="l">
              <a:spcBef>
                <a:spcPts val="600"/>
              </a:spcBef>
            </a:pPr>
            <a:endParaRPr sz="1200">
              <a:solidFill>
                <a:srgbClr val="1A1A1A"/>
              </a:solidFill>
              <a:latin typeface="Calibri"/>
            </a:endParaRPr>
          </a:p>
          <a:p>
            <a:pPr algn="l">
              <a:spcBef>
                <a:spcPts val="600"/>
              </a:spcBef>
            </a:pPr>
            <a:r>
              <a:rPr sz="1200">
                <a:solidFill>
                  <a:srgbClr val="1A1A1A"/>
                </a:solidFill>
                <a:latin typeface="Calibri"/>
              </a:rPr>
              <a:t>❌  Teams / Slack integration</a:t>
            </a:r>
          </a:p>
          <a:p>
            <a:pPr algn="l">
              <a:spcBef>
                <a:spcPts val="600"/>
              </a:spcBef>
            </a:pPr>
            <a:r>
              <a:rPr sz="1200">
                <a:solidFill>
                  <a:srgbClr val="1A1A1A"/>
                </a:solidFill>
                <a:latin typeface="Calibri"/>
              </a:rPr>
              <a:t>     Phase 3, after trust is established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3793</Words>
  <Application>Microsoft Office PowerPoint</Application>
  <PresentationFormat>Custom</PresentationFormat>
  <Paragraphs>760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Windows User</cp:lastModifiedBy>
  <cp:revision>4</cp:revision>
  <dcterms:created xsi:type="dcterms:W3CDTF">2013-01-27T09:14:16Z</dcterms:created>
  <dcterms:modified xsi:type="dcterms:W3CDTF">2026-06-26T11:14:39Z</dcterms:modified>
  <cp:category/>
</cp:coreProperties>
</file>