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עברית · תרגיל הבית ל-FDE של שטראוס. אני מציגה אב-טיפוס שבניתי בשלושה ימים. הבריף היה: הרכש מבזבז יותר מדי זמן על הכנה ידנית לפגישות. בניתי כלי אחד שפותר בדיוק את הבעיה הזו. הכותרת 'Negotiation Prep Intelligence' מכוונת, מדובר באינטליגנציית הכנה, לא ביועץ משא ומתן. הציטוט של המנהל בשקופית הפתיחה לקוח מילה במילה מהבריף, אני פותרת את הבעיה שהם הגדירו, לא בעיה שהמצאתי.
English · Strauss FDE home exercise, I am presenting a prototype I built in three days. The brief was: procurement spends too much time on manual meeting prep. I built one tool that solves exactly that problem. The title 'Negotiation Prep Intelligence' is deliberate, it is prep intelligence, not a negotiation advisor. The manager quote on the cover is verbatim from the brief, I am solving the problem they named, not one I invented.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עברית · סדר יום. ארבעה שלבים בסדר שבו הם מופיעים במצגת. שלב 1, מסגור הבעיה: הבעיה, מפת בעלי העניין, ותוכנית שבוע 1. שלב 2, הפתרון: מה בניתי, מה דחיתי, ואיך זה עובד. שלב 3, אב-טיפוס ואמון: הדגמה חיה של תצוגת הסקירה, פרופיל הספק ותדריך הפגישה, ואז האדם בלולאה ומדדי ההצלחה. שלב 4, הטמעה וניהול שינוי: שלבי יישום, סיכונים והתנגדות, ניהול שינוי, נצחונות מהירים, ותיק ה-ROI. שני החלקים מהבריף, מדדי ה-KPI והאדם בלולאה, מוצגים אחרי ההדגמה כי היא הופכת אותם למוחשיים.
English · Agenda, in the order the talk actually runs. Phase 1, problem framing: the problem, the stakeholder map, the Week 1 plan. Phase 2, the solution: what I built, what I rejected, how it works. Phase 3, prototype and trust: a live demo of the procurement overview, supplier profile and meeting-prep packet, then the human in the loop and the success KPIs. Phase 4, rollout and change management: implementation phases, risks and resistance, change management, quick wins, and the ROI case. The two brief items that sit here, the KPIs and the human in the loop, come after the demo because it makes them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עברית · הצוות מקיים כ-7 פגישות ספקים בחודש, 14 לאורך חלון התרגיל בן 60 הימים, כל אחת דורשת בין שעה וחצי לשלוש שעות של הכנה ידנית. זה עד 21 שעות בחודש של לוגיסטיקת מידע טהורה. אני פותחת במסגור של המנהל עצמו, 'לוגיסטיקת מידע', ולא בשלי. ארבעת מצבי הכשל ספציפיים ומוחשיים: גרסת חוזה שגויה, שרשורי מחלוקת שהתקררו, בנצ'מרק מיושן, וחוזה שפג תוקפו. אם שואלים 'איך את יודעת שאלה נקודות הכאב האמיתיות?', הן הגיעו מצפייה בתהליך, לא מתיאור שלו.
English · The team runs approximately 7 supplier meetings per month, 14 over the 60-day exercise window, each needing 1.5 to 3 hours of manual prep. That is up to 21 hours per month of pure information logistics. I open with the manager's own framing, 'information logistics', not my framing. The four failure modes are specific and concrete: wrong contract version, cold dispute threads, stale benchmark, expired contract. If asked 'how do you know these are the real pain points?', they came from watching the process, not describing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עברית · מי משתמש בזה, מי עלול להתנגד, והקריאה שלי על כל אחד. המנהל הוא בעל הברית החזק ביותר, הם הגדירו את הבעיה. האנליסט הוא סיכון האימוץ הגבוה ביותר: הם לא יגידו שהם מרגישים מאוימים, הם יגידו שהפלט שגוי. אני מתמודדת עם זה בשיתופם כבודקי QA מהיום הראשון, התיקונים שלהם הם לולאת המשוב. IT אינו חסם לאב-טיפוס אך הוא בעל עניין מכריע לשלב 2. החשש של המשפטית נענה בייחוס מקור לכל עובדה. הכספים נכנסים רק בחודש השלישי עם נתונים בפועל.
English · Who uses this, who might resist, and my read on each. The manager is the strongest ally, they named the problem. The analyst is the highest adoption risk: they will not say they feel threatened, they will say the output is wrong. I counter by involving them as QA reviewer from day one, their corrections are the feedback loop. IT is not a blocker for the prototype but is a gating stakeholder for Phase 2. Legal's concern is addressed by source attribution on every fact. Finance does not come in until month 3 with actuals.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עברית · חמישה דברים לפני שנוגעים בטכנולוגיה כלשהי. הנושא: לצפות בתהליך האמיתי, לא בזה שמתואר. צעד ראשון הוא ליווי של מפגש הכנה אמיתי, התהליך המוצהר והתהליך בפועל כמעט תמיד שונים. צעד שלישי הוא ביקורת על מקורות הנתונים האמיתיים, לא על תיאורים שלהם, אי אפשר לתכנן שכבת חילוץ חסינה בלי לראות את הבלגן הגולמי. צעד חמישי הוא להסכים על פגישה ספציפית להדגים מולה לפני שבונים משהו, כך שההדגמה הראשונה היא משהו שלמנהל באמת אכפת ממנו בכניסה לפגישה.
English · Five things before touching any technology. The theme: watch the real process, not the described one. Step one is shadowing a real prep session, the stated process and the actual process are almost always different. Step three is auditing real data sources, not descriptions of them, you cannot design a robust extraction layer without seeing the raw mess. Step five is agreeing a specific meeting to demo against before building anything, so the first demo is something the manager actually cares about walking into.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עברית · כלי אחד, תפקיד אחד, עמוד אחד לכל פגישה. תדריך מבוסס AI שמושך היסטוריית מיילים, תנאי חוזה ובנצ'מרק סחורות לתצוגה אחת. החלטת התכנון החשובה ביותר היא במשפט האחרון: כל טענה ניתנת למעקב אל מקורה. אם שואלים למה בניתי את זה ולא דאשבורד תמחור, זו הייתה הבחירה המתבקשת ופותרת בעיה סמוכה. הכאב המוצהר של המנהל הוא לוגיסטיקת מידע, לא דיוק תמחור. הכלי חי על Streamlit.
English · One tool, one job, one page per meeting. An AI-generated briefing pulling email history, contract terms and the commodity benchmark into a single view. The most important design decision is the last phrase: every claim traceable to its source. If asked why I built this instead of a pricing dashboard, that was the obvious build and solves an adjacent problem. The manager's stated pain is information logistics, not pricing accuracy. The tool is live on Streamlit.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עברית · לכל החלטת תכנון יש תמורה, אלה היו שלי. החוט המשותף: כל ויתור מתחקה בחזרה אל נקודת הכאב הספציפית בבריף, אל אילוץ הזמן של שלושה ימים, או אל אמינות ההדגמה החיה, ולא אל פער של 'לא חשבתי על זה'. אם שואלים על דאשבורד הסחורות: הוא פותר בעיה סמוכה, לא את המוצהרת. אם שואלים למה אין vector store: לא מוצדק ב-8 ספקים ו-111 מיילים, התשובה הנכונה במאות ספקים. אם שואלים למה אין live MCP connector באב-טיפוס: הדגמה חיה שתלויה בשרת צד שלישי בחדר היא סיכון מיותר עבור אפס תובנה נוספת.
English · Every design decision has a tradeoff, these were mine. The common thread: every cut traces back to either the specific pain point in the brief, the three-day time constraint, or live-demo reliability, not a general 'didn't think of it' gap. If asked about the commodity dashboard: it solves an adjacent problem, not the stated one. If asked why no vector store: unjustified at 8 suppliers and 111 emails, right answer at hundreds of suppliers. If asked why no live MCP connector in the prototype: a live demo depending on a third-party server in the room is unnecessary risk for zero added insight.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עברית · שלוש עמודות: נתונים נכנסים, מה קורה באמצע, נתונים יוצאים. הקלט והפלט זהים באב-טיפוס ובפרודקשן, רק הצנרת באמצע משתנה. נתונים נכנסים: שישה חודשים של מיילי ספקים, החוזה הפעיל, ובנצ'מרק מחירי הסחורות. נתונים יוצאים: עמוד תדריך אחד עם התראת פתיחה, תנאי חוזה, פער מחיר, סוגיות פתוחות, וייחוס מקור לכל עובדה. מה שקורה באמצע הוא המקום שבו אב-טיפוס ופרודקשן נבדלים. אב-טיפוס: קבצים שטוחים שמוזנים לקריאת Claude אחת לכל ספק, KPI מחושבים מקומית ב-Python. פרודקשן: מחברים חיים דרך Microsoft Graph, SharePoint ו-Bloomberg, MCP כממשק התקני, פיצול אחסון בין BigQuery לעובדות מדויקות ל-vector store לחיפוש סמנטי במיילים, והתדריך מופעל אוטומטית על ידי היומן 24 שעות לפני כל פגישה. לוגיקת התדריך זהה בשניהם, רק צנרת הנתונים משתנה.
English · Three columns: data in, what happens in between, data out. The inputs and outputs are identical in prototype and production, only the plumbing in the middle changes. Data in: six months of supplier emails, the active contract, and the commodity price benchmark. Data out: a one-page packet with heads-up alert, contract terms, price delta, open issues, and a source citation on every fact. What happens in between is where prototype and production differ. Prototype: flat files fed into one Claude API call per supplier, KPIs computed locally in Python. Production: live connectors via Microsoft Graph, SharePoint and Bloomberg, MCP as the standard interface, a storage split between BigQuery for exact facts and a vector store for semantic email search, and the packet triggered automatically by the calendar 24 hours before each meeting. The packet logic is identical in both, only the data plumbing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עברית · תצוגת תיק מנהלים. עמוד הסקירה מבצע אפס קריאות API, כל האנליטיקה מחושבת מקומית מקבצי מיילים וחוזים, כך שהוא נטען בפחות משנייה ובטוח לטעינה חמש דקות לפני פגישה. התראות התיק מרכזות את הסוגיות הפתוחות מכל תדריכי הספקים, מדורגות לפי חומרה: חוזים שפגו, פערי מחיר, מחלוקות אספקה, ושרשורים ללא מענה. עוקב חידושי החוזים מציג את כל 8 הספקים לפי דחיפות בקוד צבע. הפגישות הקרובות, בריאות הספקים, וארבעת אריחי ה-KPI משלימים את התמונה. אם שואלים על עלות: לעמוד הזה אפס עלות API, רק שלב יצירת התדריך קורא ל-Claude.
English · Executive portfolio view. The overview page makes zero API calls, all analytics computed locally from email and contract files, so it loads in under a second and is safe to open five minutes before a meeting. Portfolio Alerts aggregate the top open issues across all supplier packets, ranked by severity: expired contracts, price discrepancies, delivery disputes, unanswered threads. The Contract Renewals tracker lists all 8 suppliers by urgency with colour coding. Upcoming Meetings, Supplier Health, and the four KPI tiles complete the picture. If asked about cost: this page has zero API cost, only packet generation calls Claude.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עברית · בריאות מערכת יחסים לכל ספק, תצוגת צלילה לעומק. ציון הבריאות הוא הרכב של שני אותות: מגמת זמן תגובה ונפח תקשורת. מגמת ההיענות משווה בין המחצית המוקדמת למחצית האחרונה של חלון המיילים, ספק שנעשה איטי יותר הוא אות אזהרה לפני שהוא משתתק. אות השימור מפרש את מספר הימים מאז הקשר האחרון בשפה פשוטה. קיצור הדרך בלחיצה אחת ליצירת תדריך פגישה סוגר את הלולאה בין הקשר הספק להכנה לפגישה. אם שואלים על ציון הבריאות: הוא מייעץ, לא אות סיכון חוזי, נתוני החוזה נמצאים בתדריך.
English · Per-supplier relationship health, drill-down view. The health score is a composite of two signals: response-time trend and communication volume. The responsiveness trend compares early-half versus recent-half of the email window, a supplier getting slower is a warning signal before they go silent. The retention signal interprets days since last contact in plain English. The one-click shortcut to generate a prep packet closes the loop between supplier context and meeting prep. If asked about the health score: it is advisory, not a contract risk signal, the packet has the contract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עברית · המוצר המרכזי, לחיצה אחת, קריאת Claude API אחת, חוזר תוך 10 עד 15 שניות. מקרה מחלבות גליל הוא הקלף המנצח בהדגמה: הספק ציטט 15.50 שקל לקילו במייל, סעיף 4.2 בחוזה מגביל ל-14.20, ואין תוספת כתובה בתיק. התדריך הציף את הפער הזה עם ייחוס מקור, תאריך המייל המדויק וסעיף החוזה. לכל שדה בתדריך יש הרחבת 'הצג מקור'. מטמון 24 השעות אומר שהטעינה השנייה מיידית, ללא עלות API חוזרת. אם שואלים על דיוק: ייחוס המקור הוא התשובה, כל טענה במרחק לחיצה אחת מהראיה שלה.
English · The core product, one click, one Claude API call, returns in 10 to 15 seconds. The Galil Dairy case is the money shot for the demo: supplier quoted 15.50 shekel per kilo in email, contract section 4.2 caps at 14.20, and there is no written amendment on file. The packet surfaced this discrepancy with source attribution, the exact email date and contract section. Every field in the packet has a 'Show source' expander. The 24-hour cache means the second load is instant, no repeated API cost. If asked about accuracy: source attribution is the answer, every claim is one click from its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עברית · מה מונע מזה להיות נסמך בעיניים עצומות, ארבעה מנגנונים מוחשיים, לא הסתייגות כללית. ייחוס מקור פירושו ששום דבר לא מוצג כאמת מוחלטת. סימון קונפליקטים פירושו שכאשר מייל וחוזה סותרים זה את זה, שניהם מוצגים, הכלי לעולם לא בוחר אחד בשקט. פער המחיר של גליל ועמימות היחידות של Siam Sugar הם דוגמאות חיות בהדגמה. מנגנון התיקון בנוי לתוך הממשק כתכונה ממדרגה ראשונה, לא כמחשבה שלאחר מעשה, התיקונים מזינים את אות האמון. הכלי לעולם לא פועל: לא נשלחים מיילים, לא מעודכנים חוזים, כל החלטה נשארת אצל האדם.
English · What stops this from being trusted blindly, four concrete mechanisms, not a general disclaimer. Source attribution means nothing is presented as settled ground truth. Conflict flagging means when email and contract disagree, both surfaces, the tool never silently picks one. The Galil price discrepancy and Siam Sugar unit ambiguity are live examples in the demo. The correction mechanism is built into the UI as a first-class feature, not an afterthought, corrections feed the trust signal. The tool never acts: no emails sent, no contracts updated, every decision stays with the human.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עברית · שלושה KPI, מה הם וכיצד כל אחד נמדד. ערך, חיסכון זמן ההכנה: כ-135 דקות לפגישה יורדות לכ-15 דקות, כ-14 שעות שנחסכות בחודש לכל אנליסט, נמדד מ-prep_time_log.csv. אימוץ, שיעור אימוץ התדריך: אחוז הפגישות שבהן המנהל פותח ומשתמש בתדריך, יעד מעל 80 אחוז עד שלב 2, מחושב מול calendar.csv. איכות, שיעור התיקון: אחוז השדות שהמנהל מסמן או מתקן, יעד מתחת ל-15 אחוז עד שלב 2 ומתחת ל-10 אחוז עד יום 90, נמדד מ-correction_log.csv. כל השלושה חיים באב-טיפוס.
English · Three KPIs, what they are and how each is measured. Value, prep time saved: ~135 min per meeting drops to ~15 min, about 14 hrs saved per month per analyst, measured from prep_time_log.csv. Adoption, packet adoption rate: percentage of meetings where the manager opens and uses the packet, target above 80% by Phase 2, computed against calendar.csv. Quality, correction / override rate: percentage of fields the manager flags or corrects, target below 15% by Phase 2 and below 10% by day 90, measured from correction_log.csv. All three are live in the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עברית · שלושה שלבים, אמון תחילה, קנה מידה אחר כך. שלב 1 הוא פיילוט מבוקר עם אנליסט אחד ושניים-שלושה ספקים. שער ההצלחה אינו שיעור אימוץ, אלא האם התדריך תופס סוגיה אמיתית אחת שהאנליסט היה מפספס. תפיסה מוחשית אחת בונה אמון מהר יותר מכל הדגמה. שלב 2 מתרחב לכל הצוות עם הפעלה אוטומטית מהיומן ומחברי נתונים חיים. שלב 3 מעביר בעלות לאלוף הפנימי עם תיק ה-ROI של 90 הימים עבור ה-CFO. אם שואלים למה לא להשיק לכולם בבת אחת: שיעור שגיאה גבוה על פני 14 פגישות בו-זמנית הורס אמון לפני שהוא נבנה.
English · Three phases, trust first, scale second. Phase 1 is a controlled pilot with one analyst and two or three suppliers. The success gate is not adoption rate, it is whether the packet catches one real issue the analyst would have missed. One concrete catch builds trust faster than any demo. Phase 2 expands to the full team with auto-triggering from the calendar and live data connectors. Phase 3 hands ownership to the internal champion with the 90-day ROI case for the CFO. If asked why not roll out to everyone at once: a high error rate across 14 meetings simultaneously destroys trust before it is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עברית · טכני וארגוני, הקריאה הכנה. הסיכון הטכני הוא סחף בדיוק החילוץ: Claude מחזיר תנאי חוזה שגויים והמנהל נכנס עם נתונים שגויים. ייחוס המקור ולוג התיקונים הם ההפחתות הישירות, השגיאות גלויות, לא שקטות. אבל רוב הסיכון האמיתי הוא ארגוני: אובדן האלוף הפנימי, אימוץ נמוך של האנליסט, וזחילת היקף. התנגדות האנליסט היא זו שמכריעה את האימוץ, הם לא יגידו שהם מרגישים מאוימים, הם יגידו שהפלט שגוי. שתפו אותם ב-QA מהיום הראשון.
English · Technical and organisational, the honest read. The technical risk is extraction accuracy drift: Claude returns wrong contract terms and the manager walks in with bad data. The source attribution and correction log are the direct mitigations, errors are visible, not silent. But most of the real risk is organisational: losing the internal champion, low analyst adoption, and scope creep. The analyst objection is the one that decides adoption, they will not say they feel threatened, they will say the output is wrong. Involve them in QA from day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עברית · הבנייה היא 20 אחוז מהעבודה. האימוץ הוא 80 הנותרים. שלוש התנגדויות שאני צופה, מי מעלה כל אחת, ובדיוק איך אני עונה. התנגדות האנליסט, 'הפלט שגוי', היא זו שמכריעה אם הכלי ייכנס לשימוש. אני מתמודדת עם זה בהפיכתם לבודקים, לא לנמענים, מהיום הראשון. התיקונים שלהם גלויים כשלהם. החשש של המשפטית נענה בייחוס מקור: הכלי מציף לבדיקה, הוא לא מפרש ופועל. השאלה של הכספים היא על עלות, עלות ה-API בשלב 1 היא כ-7 דולר בחודש, שום דבר לא נוגע במערכות חיות.
English · Building it is 20 percent of the job. Adoption is the other 80. Three objections I expect, who raises each, and exactly how I answer. The analyst objection, 'the output is wrong', is the one that decides whether the tool gets used. I counter by making them the reviewer, not the recipient, from day one. Their corrections are visibly theirs. Legal's concern is addressed by source attribution: the tool surfaces for review, it does not interpret and act. Finance's question is about cost, Phase 1 API cost is approximately $7 per month, nothing touches live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עברית · 30 הימים הראשונים ואיך נראית ההדרכה בפועל. ההטמעה היא בכוונה לא מצגת ולא וובינר, אלא שני מפגשים קצרים בישיבה לצד האנליסט על פגישה אמיתית. מפגש 1 הוא 30 דקות בשבוע 1: מריצים את הכלי יחד על פגישה קרובה אמיתית, עוברים על כל מקטע, מראים את הרחבות המקור ואיך לסמן תיקון. זו כל ההדרכה. תפיסת גליל בשבוע 2 היא בונה האמון, תפיסה מוחשית אחת מבססת אמון מהר יותר מכל הדגמה. אות ההצלחה בשבוע 4: המנהל אומר שהוא לא עשה שום הכנה ידנית.
English · First 30 days and what training actually looks like. The enablement is deliberately not a deck or a webinar, it is two short sessions sitting next to the analyst on a real meeting. Session 1 is 30 minutes in week 1: run the tool together on a real upcoming meeting, walk through every section, show the source expanders and how to flag a correction. That is the entire training. The Galil catch in week 2 is the trust-builder, one concrete catch establishes trust faster than any demo. Week 4 success signal: manager says they did not do any manual prep.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עברית · עוגן שמרני תחילה, ואז המכפילים. פתחו עם כ-100,000 שקל בשנה בזמן אנליסט שהוחזר על פני שלושה אנליסטים, מדיד, ניתן לביקורת, בר-הגנה. ואז דוגמאות מוחשיות מהפיילוט: הפרת תקרת המחיר של מחלבות גליל ב-114,400 שקל, תפיסת בנצ'מרק הקקאו ב-52,000 שקל ברבעון, והנחת תשלום מוקדם של מחלבות גליל בכ-10,000 שקל לרבעון. הציגו את כולן כדוגמאות שכבר נמצאו, לא כתחזיות.
English · Conservative anchor first, then the multipliers. Lead with ~100,000 shekels a year in reclaimed analyst time across three analysts, measurable, auditable, defensible. Then concrete examples from the pilot: the Galil Dairy price-cap violation at 114,400 shekels, the cocoa benchmark catch at 52,000 shekels in a quarter, and the Galil early-payment discount at ~10,000 shekels a quarter. Present them all as examples already found, not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עברית · מה הייתי מתעדפת בשלב 2, ומה השארתי בכוונה בחוץ. מחברים חיים תחילה: Microsoft Graph למיילים אמיתיים, SharePoint לחוזה-הפעיל-תמיד. אחר כך לולאת התיקון-לכוונון-הפרומפט: סקירה חודשית של אילו שדות וספקים בעלי שיעור שגיאה גבוה, ועדכון פרומפט החילוץ. אחר כך פילוח ספקים: יצירת הכנה אוטומטית לכל פגישה, לא רק לפי דרישה. עמודת מחוץ-להיקף חשובה לא פחות מהעדיפויות, היא מראה שיקול דעת לגבי מה לא לבנות. אינטגרציית Teams היא שלב 3, אחרי שהאמון מבוסס. ייעוץ אסטרטגיית משא ומתן נשאר אנושי.
English · What I would prioritise in Phase 2, and what I deliberately left out. Live connectors first: Microsoft Graph for real emails, SharePoint for always-the-active-contract. Then the correction-to-prompt-tuning loop: monthly review of which fields and suppliers have high error rate, update the extraction prompt. Then supplier segmentation: auto-generate prep for every meeting, not just on demand. The out-of-scope column matters as much as the priorities, it shows judgment about what not to build. Teams integration is Phase 3, after trust is established. Negotiation strategy advice stays human.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1A14"/>
        </a:solidFill>
      </p:bgPr>
    </p:bg>
    <p:spTree>
      <p:nvGrpSpPr>
        <p:cNvPr id="1" name=""/>
        <p:cNvGrpSpPr/>
        <p:nvPr/>
      </p:nvGrpSpPr>
      <p:grpSpPr>
        <a:xfrm>
          <a:off x="0" y="0"/>
          <a:ext cx="0" cy="0"/>
          <a:chOff x="0" y="0"/>
          <a:chExt cx="0" cy="0"/>
        </a:xfrm>
      </p:grpSpPr>
      <p:sp>
        <p:nvSpPr>
          <p:cNvPr id="2" name="Text 0"/>
          <p:cNvSpPr/>
          <p:nvPr/>
        </p:nvSpPr>
        <p:spPr>
          <a:xfrm>
            <a:off x="1143000" y="914400"/>
            <a:ext cx="2574322" cy="297180"/>
          </a:xfrm>
          <a:prstGeom prst="rect">
            <a:avLst/>
          </a:prstGeom>
          <a:noFill/>
          <a:ln/>
        </p:spPr>
        <p:txBody>
          <a:bodyPr wrap="square" lIns="25400" tIns="25400" rIns="25400" bIns="25400" rtlCol="0" anchor="t">
            <a:normAutofit/>
          </a:bodyPr>
          <a:lstStyle/>
          <a:p>
            <a:pPr algn="l" indent="0" marL="0">
              <a:buNone/>
            </a:pPr>
            <a:r>
              <a:rPr lang="en-US" sz="1575" spc="472" kern="0" dirty="0">
                <a:solidFill>
                  <a:srgbClr val="C99A82"/>
                </a:solidFill>
                <a:latin typeface="Courier New" pitchFamily="34" charset="0"/>
                <a:ea typeface="Courier New" pitchFamily="34" charset="-122"/>
                <a:cs typeface="Courier New" pitchFamily="34" charset="-120"/>
              </a:rPr>
              <a:t>STRAUSS GROUP</a:t>
            </a:r>
            <a:endParaRPr lang="en-US" sz="1575" dirty="0"/>
          </a:p>
        </p:txBody>
      </p:sp>
      <p:sp>
        <p:nvSpPr>
          <p:cNvPr id="3" name="Text 1"/>
          <p:cNvSpPr/>
          <p:nvPr/>
        </p:nvSpPr>
        <p:spPr>
          <a:xfrm>
            <a:off x="14996160" y="914400"/>
            <a:ext cx="2148840" cy="586740"/>
          </a:xfrm>
          <a:prstGeom prst="rect">
            <a:avLst/>
          </a:prstGeom>
          <a:noFill/>
          <a:ln/>
        </p:spPr>
        <p:txBody>
          <a:bodyPr wrap="square" lIns="25400" tIns="25400" rIns="25400" bIns="25400" rtlCol="0" anchor="t">
            <a:normAutofit/>
          </a:bodyPr>
          <a:lstStyle/>
          <a:p>
            <a:pPr algn="r" indent="0" marL="0">
              <a:lnSpc>
                <a:spcPct val="180000"/>
              </a:lnSpc>
              <a:buNone/>
            </a:pPr>
            <a:r>
              <a:rPr lang="en-US" sz="1200" spc="240" kern="0" dirty="0">
                <a:solidFill>
                  <a:srgbClr val="8A8072"/>
                </a:solidFill>
                <a:latin typeface="Courier New" pitchFamily="34" charset="0"/>
                <a:ea typeface="Courier New" pitchFamily="34" charset="-122"/>
                <a:cs typeface="Courier New" pitchFamily="34" charset="-120"/>
              </a:rPr>
              <a:t>FDE HOME EXERCISE JUNE 2026</a:t>
            </a:r>
            <a:endParaRPr lang="en-US" sz="1200" dirty="0"/>
          </a:p>
        </p:txBody>
      </p:sp>
      <p:sp>
        <p:nvSpPr>
          <p:cNvPr id="4" name="Text 2"/>
          <p:cNvSpPr/>
          <p:nvPr/>
        </p:nvSpPr>
        <p:spPr>
          <a:xfrm>
            <a:off x="1143000" y="3006805"/>
            <a:ext cx="17602200" cy="274320"/>
          </a:xfrm>
          <a:prstGeom prst="rect">
            <a:avLst/>
          </a:prstGeom>
          <a:noFill/>
          <a:ln/>
        </p:spPr>
        <p:txBody>
          <a:bodyPr wrap="square" lIns="25400" tIns="25400" rIns="25400" bIns="25400" rtlCol="0" anchor="t">
            <a:normAutofit/>
          </a:bodyPr>
          <a:lstStyle/>
          <a:p>
            <a:pPr algn="l" indent="0" marL="0">
              <a:buNone/>
            </a:pPr>
            <a:r>
              <a:rPr lang="en-US" sz="1425" spc="342" kern="0" dirty="0">
                <a:solidFill>
                  <a:srgbClr val="CB5238"/>
                </a:solidFill>
                <a:latin typeface="Courier New" pitchFamily="34" charset="0"/>
                <a:ea typeface="Courier New" pitchFamily="34" charset="-122"/>
                <a:cs typeface="Courier New" pitchFamily="34" charset="-120"/>
              </a:rPr>
              <a:t>PROCUREMENT · FORWARD-DEPLOYED ENGINEERING</a:t>
            </a:r>
            <a:endParaRPr lang="en-US" sz="1425" dirty="0"/>
          </a:p>
        </p:txBody>
      </p:sp>
      <p:sp>
        <p:nvSpPr>
          <p:cNvPr id="5" name="Text 3"/>
          <p:cNvSpPr/>
          <p:nvPr/>
        </p:nvSpPr>
        <p:spPr>
          <a:xfrm>
            <a:off x="1143000" y="3528774"/>
            <a:ext cx="16482060" cy="2033587"/>
          </a:xfrm>
          <a:prstGeom prst="rect">
            <a:avLst/>
          </a:prstGeom>
          <a:noFill/>
          <a:ln/>
        </p:spPr>
        <p:txBody>
          <a:bodyPr wrap="square" lIns="25400" tIns="25400" rIns="25400" bIns="25400" rtlCol="0" anchor="t">
            <a:normAutofit/>
          </a:bodyPr>
          <a:lstStyle/>
          <a:p>
            <a:pPr algn="l" indent="0" marL="0">
              <a:lnSpc>
                <a:spcPct val="97000"/>
              </a:lnSpc>
              <a:buNone/>
            </a:pPr>
            <a:r>
              <a:rPr lang="en-US" sz="8100" spc="-162" kern="0" dirty="0">
                <a:solidFill>
                  <a:srgbClr val="F7F2E9"/>
                </a:solidFill>
                <a:latin typeface="Georgia" pitchFamily="34" charset="0"/>
                <a:ea typeface="Georgia" pitchFamily="34" charset="-122"/>
                <a:cs typeface="Georgia" pitchFamily="34" charset="-120"/>
              </a:rPr>
              <a:t>Negotiation Prep Intelligence</a:t>
            </a:r>
            <a:endParaRPr lang="en-US" sz="8100" dirty="0"/>
          </a:p>
        </p:txBody>
      </p:sp>
      <p:sp>
        <p:nvSpPr>
          <p:cNvPr id="6" name="Text 4"/>
          <p:cNvSpPr/>
          <p:nvPr/>
        </p:nvSpPr>
        <p:spPr>
          <a:xfrm>
            <a:off x="1143000" y="5867162"/>
            <a:ext cx="8829675" cy="752475"/>
          </a:xfrm>
          <a:prstGeom prst="rect">
            <a:avLst/>
          </a:prstGeom>
          <a:noFill/>
          <a:ln/>
        </p:spPr>
        <p:txBody>
          <a:bodyPr wrap="square" lIns="25400" tIns="25400" rIns="25400" bIns="25400" rtlCol="0" anchor="t">
            <a:normAutofit/>
          </a:bodyPr>
          <a:lstStyle/>
          <a:p>
            <a:pPr algn="l" indent="0" marL="0">
              <a:lnSpc>
                <a:spcPct val="150000"/>
              </a:lnSpc>
              <a:buNone/>
            </a:pPr>
            <a:r>
              <a:rPr lang="en-US" sz="1875" dirty="0">
                <a:solidFill>
                  <a:srgbClr val="B6AC9C"/>
                </a:solidFill>
                <a:latin typeface="Arial" pitchFamily="34" charset="0"/>
                <a:ea typeface="Arial" pitchFamily="34" charset="-122"/>
                <a:cs typeface="Arial" pitchFamily="34" charset="-120"/>
              </a:rPr>
              <a:t>An AI briefing tool that turns hours of manual meeting prep into a one-page packet, every fact traceable to its source.</a:t>
            </a:r>
            <a:endParaRPr lang="en-US" sz="1875" dirty="0"/>
          </a:p>
        </p:txBody>
      </p:sp>
      <p:sp>
        <p:nvSpPr>
          <p:cNvPr id="7" name="Shape 5"/>
          <p:cNvSpPr/>
          <p:nvPr/>
        </p:nvSpPr>
        <p:spPr>
          <a:xfrm>
            <a:off x="1143000" y="8125301"/>
            <a:ext cx="28575" cy="1247299"/>
          </a:xfrm>
          <a:prstGeom prst="roundRect">
            <a:avLst>
              <a:gd name="adj" fmla="val 50000"/>
            </a:avLst>
          </a:prstGeom>
          <a:solidFill>
            <a:srgbClr val="CB5238"/>
          </a:solidFill>
          <a:ln/>
        </p:spPr>
      </p:sp>
      <p:sp>
        <p:nvSpPr>
          <p:cNvPr id="8" name="Text 6"/>
          <p:cNvSpPr/>
          <p:nvPr/>
        </p:nvSpPr>
        <p:spPr>
          <a:xfrm>
            <a:off x="1419225" y="8125301"/>
            <a:ext cx="11292173" cy="892969"/>
          </a:xfrm>
          <a:prstGeom prst="rect">
            <a:avLst/>
          </a:prstGeom>
          <a:noFill/>
          <a:ln/>
        </p:spPr>
        <p:txBody>
          <a:bodyPr wrap="square" lIns="25400" tIns="25400" rIns="25400" bIns="25400" rtlCol="0" anchor="t">
            <a:normAutofit/>
          </a:bodyPr>
          <a:lstStyle/>
          <a:p>
            <a:pPr algn="l" indent="0" marL="0">
              <a:lnSpc>
                <a:spcPct val="136000"/>
              </a:lnSpc>
              <a:buNone/>
            </a:pPr>
            <a:r>
              <a:rPr lang="en-US" sz="2475" i="1" dirty="0">
                <a:solidFill>
                  <a:srgbClr val="E8E1D3"/>
                </a:solidFill>
                <a:latin typeface="Georgia" pitchFamily="34" charset="0"/>
                <a:ea typeface="Georgia" pitchFamily="34" charset="-122"/>
                <a:cs typeface="Georgia" pitchFamily="34" charset="-120"/>
              </a:rPr>
              <a:t>“I want my team spending their time on judgment and relationships. Not on logistics.”</a:t>
            </a:r>
            <a:endParaRPr lang="en-US" sz="2475" dirty="0"/>
          </a:p>
        </p:txBody>
      </p:sp>
      <p:sp>
        <p:nvSpPr>
          <p:cNvPr id="9" name="Text 7"/>
          <p:cNvSpPr/>
          <p:nvPr/>
        </p:nvSpPr>
        <p:spPr>
          <a:xfrm>
            <a:off x="1419225" y="9151620"/>
            <a:ext cx="12059603" cy="259080"/>
          </a:xfrm>
          <a:prstGeom prst="rect">
            <a:avLst/>
          </a:prstGeom>
          <a:noFill/>
          <a:ln/>
        </p:spPr>
        <p:txBody>
          <a:bodyPr wrap="square" lIns="25400" tIns="25400" rIns="25400" bIns="25400" rtlCol="0" anchor="t">
            <a:normAutofit/>
          </a:bodyPr>
          <a:lstStyle/>
          <a:p>
            <a:pPr algn="l" indent="0" marL="0">
              <a:buNone/>
            </a:pPr>
            <a:r>
              <a:rPr lang="en-US" sz="1350" spc="216" kern="0" dirty="0">
                <a:solidFill>
                  <a:srgbClr val="988E7F"/>
                </a:solidFill>
                <a:latin typeface="Courier New" pitchFamily="34" charset="0"/>
                <a:ea typeface="Courier New" pitchFamily="34" charset="-122"/>
                <a:cs typeface="Courier New" pitchFamily="34" charset="-120"/>
              </a:rPr>
              <a:t>STRAUSS PROCUREMENT MANAGER</a:t>
            </a:r>
            <a:endParaRPr lang="en-US" sz="1350" dirty="0"/>
          </a:p>
        </p:txBody>
      </p:sp>
      <p:sp>
        <p:nvSpPr>
          <p:cNvPr id="10" name="Text 8"/>
          <p:cNvSpPr/>
          <p:nvPr/>
        </p:nvSpPr>
        <p:spPr>
          <a:xfrm>
            <a:off x="15971520" y="9151620"/>
            <a:ext cx="1173480" cy="259080"/>
          </a:xfrm>
          <a:prstGeom prst="rect">
            <a:avLst/>
          </a:prstGeom>
          <a:noFill/>
          <a:ln/>
        </p:spPr>
        <p:txBody>
          <a:bodyPr wrap="none" lIns="25400" tIns="25400" rIns="25400" bIns="25400" rtlCol="0" anchor="t">
            <a:normAutofit/>
          </a:bodyPr>
          <a:lstStyle/>
          <a:p>
            <a:pPr algn="r" indent="0" marL="0">
              <a:buNone/>
            </a:pPr>
            <a:r>
              <a:rPr lang="en-US" sz="1350" spc="270" kern="0" dirty="0">
                <a:solidFill>
                  <a:srgbClr val="8A8072"/>
                </a:solidFill>
                <a:latin typeface="Courier New" pitchFamily="34" charset="0"/>
                <a:ea typeface="Courier New" pitchFamily="34" charset="-122"/>
                <a:cs typeface="Courier New" pitchFamily="34" charset="-120"/>
              </a:rPr>
              <a:t>JANNETTE</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EFE7"/>
        </a:solidFill>
      </p:bgPr>
    </p:bg>
    <p:spTree>
      <p:nvGrpSpPr>
        <p:cNvPr id="1" name=""/>
        <p:cNvGrpSpPr/>
        <p:nvPr/>
      </p:nvGrpSpPr>
      <p:grpSpPr>
        <a:xfrm>
          <a:off x="0" y="0"/>
          <a:ext cx="0" cy="0"/>
          <a:chOff x="0" y="0"/>
          <a:chExt cx="0" cy="0"/>
        </a:xfrm>
      </p:grpSpPr>
      <p:sp>
        <p:nvSpPr>
          <p:cNvPr id="2" name="Shape 0"/>
          <p:cNvSpPr/>
          <p:nvPr/>
        </p:nvSpPr>
        <p:spPr>
          <a:xfrm>
            <a:off x="914400" y="1749742"/>
            <a:ext cx="16459200" cy="9525"/>
          </a:xfrm>
          <a:prstGeom prst="rect">
            <a:avLst/>
          </a:prstGeom>
          <a:solidFill>
            <a:srgbClr val="D7CDBE"/>
          </a:solidFill>
          <a:ln/>
        </p:spPr>
      </p:sp>
      <p:sp>
        <p:nvSpPr>
          <p:cNvPr id="3" name="Text 1"/>
          <p:cNvSpPr/>
          <p:nvPr/>
        </p:nvSpPr>
        <p:spPr>
          <a:xfrm>
            <a:off x="914400" y="704850"/>
            <a:ext cx="5950041" cy="259080"/>
          </a:xfrm>
          <a:prstGeom prst="rect">
            <a:avLst/>
          </a:prstGeom>
          <a:noFill/>
          <a:ln/>
        </p:spPr>
        <p:txBody>
          <a:bodyPr wrap="square" lIns="25400" tIns="25400" rIns="25400" bIns="25400" rtlCol="0" anchor="t">
            <a:normAutofit/>
          </a:bodyPr>
          <a:lstStyle/>
          <a:p>
            <a:pPr algn="l" indent="0" marL="0">
              <a:buNone/>
            </a:pPr>
            <a:r>
              <a:rPr lang="en-US" sz="1350" spc="324" kern="0" dirty="0">
                <a:solidFill>
                  <a:srgbClr val="B23B26"/>
                </a:solidFill>
                <a:latin typeface="Courier New" pitchFamily="34" charset="0"/>
                <a:ea typeface="Courier New" pitchFamily="34" charset="-122"/>
                <a:cs typeface="Courier New" pitchFamily="34" charset="-120"/>
              </a:rPr>
              <a:t>01 · AGENDA</a:t>
            </a:r>
            <a:endParaRPr lang="en-US" sz="1350" dirty="0"/>
          </a:p>
        </p:txBody>
      </p:sp>
      <p:sp>
        <p:nvSpPr>
          <p:cNvPr id="4" name="Text 2"/>
          <p:cNvSpPr/>
          <p:nvPr/>
        </p:nvSpPr>
        <p:spPr>
          <a:xfrm>
            <a:off x="914400" y="1049655"/>
            <a:ext cx="5950041" cy="528638"/>
          </a:xfrm>
          <a:prstGeom prst="rect">
            <a:avLst/>
          </a:prstGeom>
          <a:noFill/>
          <a:ln/>
        </p:spPr>
        <p:txBody>
          <a:bodyPr wrap="square" lIns="25400" tIns="25400" rIns="25400" bIns="25400" rtlCol="0" anchor="t">
            <a:normAutofit/>
          </a:bodyPr>
          <a:lstStyle/>
          <a:p>
            <a:pPr algn="l" indent="0" marL="0">
              <a:lnSpc>
                <a:spcPct val="103000"/>
              </a:lnSpc>
              <a:buNone/>
            </a:pPr>
            <a:r>
              <a:rPr lang="en-US" sz="3750" spc="-56" kern="0" dirty="0">
                <a:solidFill>
                  <a:srgbClr val="221D17"/>
                </a:solidFill>
                <a:latin typeface="Georgia" pitchFamily="34" charset="0"/>
                <a:ea typeface="Georgia" pitchFamily="34" charset="-122"/>
                <a:cs typeface="Georgia" pitchFamily="34" charset="-120"/>
              </a:rPr>
              <a:t>What I’ll walk you through</a:t>
            </a:r>
            <a:endParaRPr lang="en-US" sz="3750" dirty="0"/>
          </a:p>
        </p:txBody>
      </p:sp>
      <p:sp>
        <p:nvSpPr>
          <p:cNvPr id="5" name="Text 3"/>
          <p:cNvSpPr/>
          <p:nvPr/>
        </p:nvSpPr>
        <p:spPr>
          <a:xfrm>
            <a:off x="14273213" y="1300163"/>
            <a:ext cx="3193399" cy="220980"/>
          </a:xfrm>
          <a:prstGeom prst="rect">
            <a:avLst/>
          </a:prstGeom>
          <a:noFill/>
          <a:ln/>
        </p:spPr>
        <p:txBody>
          <a:bodyPr wrap="none" lIns="25400" tIns="25400" rIns="25400" bIns="25400" rtlCol="0" anchor="t">
            <a:normAutofit/>
          </a:bodyPr>
          <a:lstStyle/>
          <a:p>
            <a:pPr algn="l" indent="0" marL="0">
              <a:buNone/>
            </a:pPr>
            <a:r>
              <a:rPr lang="en-US" sz="1125" spc="113" kern="0" dirty="0">
                <a:solidFill>
                  <a:srgbClr val="5E7350"/>
                </a:solidFill>
                <a:latin typeface="Courier New" pitchFamily="34" charset="0"/>
                <a:ea typeface="Courier New" pitchFamily="34" charset="-122"/>
                <a:cs typeface="Courier New" pitchFamily="34" charset="-120"/>
              </a:rPr>
              <a:t>25 min walkthrough · 15 min Q&amp;A</a:t>
            </a:r>
            <a:endParaRPr lang="en-US" sz="1125" dirty="0"/>
          </a:p>
        </p:txBody>
      </p:sp>
      <p:sp>
        <p:nvSpPr>
          <p:cNvPr id="6" name="Shape 4"/>
          <p:cNvSpPr/>
          <p:nvPr/>
        </p:nvSpPr>
        <p:spPr>
          <a:xfrm>
            <a:off x="914400" y="4522946"/>
            <a:ext cx="16459200" cy="9525"/>
          </a:xfrm>
          <a:prstGeom prst="rect">
            <a:avLst/>
          </a:prstGeom>
          <a:solidFill>
            <a:srgbClr val="E2DACE"/>
          </a:solidFill>
          <a:ln/>
        </p:spPr>
      </p:sp>
      <p:sp>
        <p:nvSpPr>
          <p:cNvPr id="7" name="Text 5"/>
          <p:cNvSpPr/>
          <p:nvPr/>
        </p:nvSpPr>
        <p:spPr>
          <a:xfrm>
            <a:off x="914400" y="3669506"/>
            <a:ext cx="990600" cy="590550"/>
          </a:xfrm>
          <a:prstGeom prst="rect">
            <a:avLst/>
          </a:prstGeom>
          <a:noFill/>
          <a:ln/>
        </p:spPr>
        <p:txBody>
          <a:bodyPr wrap="square" lIns="25400" tIns="25400" rIns="25400" bIns="25400" rtlCol="0" anchor="t">
            <a:normAutofit/>
          </a:bodyPr>
          <a:lstStyle/>
          <a:p>
            <a:pPr algn="l" indent="0" marL="0">
              <a:lnSpc>
                <a:spcPct val="100000"/>
              </a:lnSpc>
              <a:buNone/>
            </a:pPr>
            <a:r>
              <a:rPr lang="en-US" sz="4350" dirty="0">
                <a:solidFill>
                  <a:srgbClr val="B23B26"/>
                </a:solidFill>
                <a:latin typeface="Georgia" pitchFamily="34" charset="0"/>
                <a:ea typeface="Georgia" pitchFamily="34" charset="-122"/>
                <a:cs typeface="Georgia" pitchFamily="34" charset="-120"/>
              </a:rPr>
              <a:t>01</a:t>
            </a:r>
            <a:endParaRPr lang="en-US" sz="4350" dirty="0"/>
          </a:p>
        </p:txBody>
      </p:sp>
      <p:sp>
        <p:nvSpPr>
          <p:cNvPr id="8" name="Text 6"/>
          <p:cNvSpPr/>
          <p:nvPr/>
        </p:nvSpPr>
        <p:spPr>
          <a:xfrm>
            <a:off x="2209800" y="3578066"/>
            <a:ext cx="16680180" cy="434340"/>
          </a:xfrm>
          <a:prstGeom prst="rect">
            <a:avLst/>
          </a:prstGeom>
          <a:noFill/>
          <a:ln/>
        </p:spPr>
        <p:txBody>
          <a:bodyPr wrap="square" lIns="25400" tIns="25400" rIns="25400" bIns="25400" rtlCol="0" anchor="t">
            <a:normAutofit/>
          </a:bodyPr>
          <a:lstStyle/>
          <a:p>
            <a:pPr algn="l" indent="0" marL="0">
              <a:lnSpc>
                <a:spcPct val="104000"/>
              </a:lnSpc>
              <a:buNone/>
            </a:pPr>
            <a:r>
              <a:rPr lang="en-US" sz="3000" spc="-45" kern="0" dirty="0">
                <a:solidFill>
                  <a:srgbClr val="221D17"/>
                </a:solidFill>
                <a:latin typeface="Georgia" pitchFamily="34" charset="0"/>
                <a:ea typeface="Georgia" pitchFamily="34" charset="-122"/>
                <a:cs typeface="Georgia" pitchFamily="34" charset="-120"/>
              </a:rPr>
              <a:t>Problem Framing</a:t>
            </a:r>
            <a:endParaRPr lang="en-US" sz="3000" dirty="0"/>
          </a:p>
        </p:txBody>
      </p:sp>
      <p:sp>
        <p:nvSpPr>
          <p:cNvPr id="9" name="Text 7"/>
          <p:cNvSpPr/>
          <p:nvPr/>
        </p:nvSpPr>
        <p:spPr>
          <a:xfrm>
            <a:off x="2209800" y="4060031"/>
            <a:ext cx="16680180" cy="291465"/>
          </a:xfrm>
          <a:prstGeom prst="rect">
            <a:avLst/>
          </a:prstGeom>
          <a:noFill/>
          <a:ln/>
        </p:spPr>
        <p:txBody>
          <a:bodyPr wrap="square" lIns="25400" tIns="25400" rIns="25400" bIns="25400" rtlCol="0" anchor="t">
            <a:normAutofit/>
          </a:bodyPr>
          <a:lstStyle/>
          <a:p>
            <a:pPr algn="l" indent="0" marL="0">
              <a:lnSpc>
                <a:spcPct val="140000"/>
              </a:lnSpc>
              <a:buNone/>
            </a:pPr>
            <a:r>
              <a:rPr lang="en-US" sz="1425" dirty="0">
                <a:solidFill>
                  <a:srgbClr val="8A8073"/>
                </a:solidFill>
                <a:latin typeface="Arial" pitchFamily="34" charset="0"/>
                <a:ea typeface="Arial" pitchFamily="34" charset="-122"/>
                <a:cs typeface="Arial" pitchFamily="34" charset="-120"/>
              </a:rPr>
              <a:t>The problem · Stakeholder map · Week 1 plan</a:t>
            </a:r>
            <a:endParaRPr lang="en-US" sz="1425" dirty="0"/>
          </a:p>
        </p:txBody>
      </p:sp>
      <p:sp>
        <p:nvSpPr>
          <p:cNvPr id="10" name="Shape 8"/>
          <p:cNvSpPr/>
          <p:nvPr/>
        </p:nvSpPr>
        <p:spPr>
          <a:xfrm>
            <a:off x="914400" y="5684996"/>
            <a:ext cx="16459200" cy="9525"/>
          </a:xfrm>
          <a:prstGeom prst="rect">
            <a:avLst/>
          </a:prstGeom>
          <a:solidFill>
            <a:srgbClr val="E2DACE"/>
          </a:solidFill>
          <a:ln/>
        </p:spPr>
      </p:sp>
      <p:sp>
        <p:nvSpPr>
          <p:cNvPr id="11" name="Text 9"/>
          <p:cNvSpPr/>
          <p:nvPr/>
        </p:nvSpPr>
        <p:spPr>
          <a:xfrm>
            <a:off x="914400" y="4831556"/>
            <a:ext cx="990600" cy="590550"/>
          </a:xfrm>
          <a:prstGeom prst="rect">
            <a:avLst/>
          </a:prstGeom>
          <a:noFill/>
          <a:ln/>
        </p:spPr>
        <p:txBody>
          <a:bodyPr wrap="square" lIns="25400" tIns="25400" rIns="25400" bIns="25400" rtlCol="0" anchor="t">
            <a:normAutofit/>
          </a:bodyPr>
          <a:lstStyle/>
          <a:p>
            <a:pPr algn="l" indent="0" marL="0">
              <a:lnSpc>
                <a:spcPct val="100000"/>
              </a:lnSpc>
              <a:buNone/>
            </a:pPr>
            <a:r>
              <a:rPr lang="en-US" sz="4350" dirty="0">
                <a:solidFill>
                  <a:srgbClr val="B23B26"/>
                </a:solidFill>
                <a:latin typeface="Georgia" pitchFamily="34" charset="0"/>
                <a:ea typeface="Georgia" pitchFamily="34" charset="-122"/>
                <a:cs typeface="Georgia" pitchFamily="34" charset="-120"/>
              </a:rPr>
              <a:t>02</a:t>
            </a:r>
            <a:endParaRPr lang="en-US" sz="4350" dirty="0"/>
          </a:p>
        </p:txBody>
      </p:sp>
      <p:sp>
        <p:nvSpPr>
          <p:cNvPr id="12" name="Text 10"/>
          <p:cNvSpPr/>
          <p:nvPr/>
        </p:nvSpPr>
        <p:spPr>
          <a:xfrm>
            <a:off x="2209800" y="4740116"/>
            <a:ext cx="16680180" cy="434340"/>
          </a:xfrm>
          <a:prstGeom prst="rect">
            <a:avLst/>
          </a:prstGeom>
          <a:noFill/>
          <a:ln/>
        </p:spPr>
        <p:txBody>
          <a:bodyPr wrap="square" lIns="25400" tIns="25400" rIns="25400" bIns="25400" rtlCol="0" anchor="t">
            <a:normAutofit/>
          </a:bodyPr>
          <a:lstStyle/>
          <a:p>
            <a:pPr algn="l" indent="0" marL="0">
              <a:lnSpc>
                <a:spcPct val="104000"/>
              </a:lnSpc>
              <a:buNone/>
            </a:pPr>
            <a:r>
              <a:rPr lang="en-US" sz="3000" spc="-45" kern="0" dirty="0">
                <a:solidFill>
                  <a:srgbClr val="221D17"/>
                </a:solidFill>
                <a:latin typeface="Georgia" pitchFamily="34" charset="0"/>
                <a:ea typeface="Georgia" pitchFamily="34" charset="-122"/>
                <a:cs typeface="Georgia" pitchFamily="34" charset="-120"/>
              </a:rPr>
              <a:t>The Solution</a:t>
            </a:r>
            <a:endParaRPr lang="en-US" sz="3000" dirty="0"/>
          </a:p>
        </p:txBody>
      </p:sp>
      <p:sp>
        <p:nvSpPr>
          <p:cNvPr id="13" name="Text 11"/>
          <p:cNvSpPr/>
          <p:nvPr/>
        </p:nvSpPr>
        <p:spPr>
          <a:xfrm>
            <a:off x="2209800" y="5222081"/>
            <a:ext cx="16680180" cy="291465"/>
          </a:xfrm>
          <a:prstGeom prst="rect">
            <a:avLst/>
          </a:prstGeom>
          <a:noFill/>
          <a:ln/>
        </p:spPr>
        <p:txBody>
          <a:bodyPr wrap="square" lIns="25400" tIns="25400" rIns="25400" bIns="25400" rtlCol="0" anchor="t">
            <a:normAutofit/>
          </a:bodyPr>
          <a:lstStyle/>
          <a:p>
            <a:pPr algn="l" indent="0" marL="0">
              <a:lnSpc>
                <a:spcPct val="140000"/>
              </a:lnSpc>
              <a:buNone/>
            </a:pPr>
            <a:r>
              <a:rPr lang="en-US" sz="1425" dirty="0">
                <a:solidFill>
                  <a:srgbClr val="8A8073"/>
                </a:solidFill>
                <a:latin typeface="Arial" pitchFamily="34" charset="0"/>
                <a:ea typeface="Arial" pitchFamily="34" charset="-122"/>
                <a:cs typeface="Arial" pitchFamily="34" charset="-120"/>
              </a:rPr>
              <a:t>What I built · Considered &amp; rejected · How it works</a:t>
            </a:r>
            <a:endParaRPr lang="en-US" sz="1425" dirty="0"/>
          </a:p>
        </p:txBody>
      </p:sp>
      <p:sp>
        <p:nvSpPr>
          <p:cNvPr id="14" name="Shape 12"/>
          <p:cNvSpPr/>
          <p:nvPr/>
        </p:nvSpPr>
        <p:spPr>
          <a:xfrm>
            <a:off x="914400" y="6847046"/>
            <a:ext cx="16459200" cy="9525"/>
          </a:xfrm>
          <a:prstGeom prst="rect">
            <a:avLst/>
          </a:prstGeom>
          <a:solidFill>
            <a:srgbClr val="E2DACE"/>
          </a:solidFill>
          <a:ln/>
        </p:spPr>
      </p:sp>
      <p:sp>
        <p:nvSpPr>
          <p:cNvPr id="15" name="Text 13"/>
          <p:cNvSpPr/>
          <p:nvPr/>
        </p:nvSpPr>
        <p:spPr>
          <a:xfrm>
            <a:off x="914400" y="5993606"/>
            <a:ext cx="990600" cy="590550"/>
          </a:xfrm>
          <a:prstGeom prst="rect">
            <a:avLst/>
          </a:prstGeom>
          <a:noFill/>
          <a:ln/>
        </p:spPr>
        <p:txBody>
          <a:bodyPr wrap="square" lIns="25400" tIns="25400" rIns="25400" bIns="25400" rtlCol="0" anchor="t">
            <a:normAutofit/>
          </a:bodyPr>
          <a:lstStyle/>
          <a:p>
            <a:pPr algn="l" indent="0" marL="0">
              <a:lnSpc>
                <a:spcPct val="100000"/>
              </a:lnSpc>
              <a:buNone/>
            </a:pPr>
            <a:r>
              <a:rPr lang="en-US" sz="4350" dirty="0">
                <a:solidFill>
                  <a:srgbClr val="B23B26"/>
                </a:solidFill>
                <a:latin typeface="Georgia" pitchFamily="34" charset="0"/>
                <a:ea typeface="Georgia" pitchFamily="34" charset="-122"/>
                <a:cs typeface="Georgia" pitchFamily="34" charset="-120"/>
              </a:rPr>
              <a:t>03</a:t>
            </a:r>
            <a:endParaRPr lang="en-US" sz="4350" dirty="0"/>
          </a:p>
        </p:txBody>
      </p:sp>
      <p:sp>
        <p:nvSpPr>
          <p:cNvPr id="16" name="Text 14"/>
          <p:cNvSpPr/>
          <p:nvPr/>
        </p:nvSpPr>
        <p:spPr>
          <a:xfrm>
            <a:off x="2209800" y="5902166"/>
            <a:ext cx="15077909" cy="434340"/>
          </a:xfrm>
          <a:prstGeom prst="rect">
            <a:avLst/>
          </a:prstGeom>
          <a:noFill/>
          <a:ln/>
        </p:spPr>
        <p:txBody>
          <a:bodyPr wrap="square" lIns="25400" tIns="25400" rIns="25400" bIns="25400" rtlCol="0" anchor="t">
            <a:normAutofit/>
          </a:bodyPr>
          <a:lstStyle/>
          <a:p>
            <a:pPr algn="l" indent="0" marL="0">
              <a:lnSpc>
                <a:spcPct val="104000"/>
              </a:lnSpc>
              <a:buNone/>
            </a:pPr>
            <a:r>
              <a:rPr lang="en-US" sz="3000" spc="-45" kern="0" dirty="0">
                <a:solidFill>
                  <a:srgbClr val="221D17"/>
                </a:solidFill>
                <a:latin typeface="Georgia" pitchFamily="34" charset="0"/>
                <a:ea typeface="Georgia" pitchFamily="34" charset="-122"/>
                <a:cs typeface="Georgia" pitchFamily="34" charset="-120"/>
              </a:rPr>
              <a:t>Prototype &amp; Trust</a:t>
            </a:r>
            <a:endParaRPr lang="en-US" sz="3000" dirty="0"/>
          </a:p>
        </p:txBody>
      </p:sp>
      <p:sp>
        <p:nvSpPr>
          <p:cNvPr id="17" name="Text 15"/>
          <p:cNvSpPr/>
          <p:nvPr/>
        </p:nvSpPr>
        <p:spPr>
          <a:xfrm>
            <a:off x="2209800" y="6384131"/>
            <a:ext cx="15077909" cy="291465"/>
          </a:xfrm>
          <a:prstGeom prst="rect">
            <a:avLst/>
          </a:prstGeom>
          <a:noFill/>
          <a:ln/>
        </p:spPr>
        <p:txBody>
          <a:bodyPr wrap="square" lIns="25400" tIns="25400" rIns="25400" bIns="25400" rtlCol="0" anchor="t">
            <a:normAutofit/>
          </a:bodyPr>
          <a:lstStyle/>
          <a:p>
            <a:pPr algn="l" indent="0" marL="0">
              <a:lnSpc>
                <a:spcPct val="140000"/>
              </a:lnSpc>
              <a:buNone/>
            </a:pPr>
            <a:r>
              <a:rPr lang="en-US" sz="1425" dirty="0">
                <a:solidFill>
                  <a:srgbClr val="8A8073"/>
                </a:solidFill>
                <a:latin typeface="Arial" pitchFamily="34" charset="0"/>
                <a:ea typeface="Arial" pitchFamily="34" charset="-122"/>
                <a:cs typeface="Arial" pitchFamily="34" charset="-120"/>
              </a:rPr>
              <a:t>Procurement overview · Supplier profile · Meeting-prep packet · The human in the loop · Success KPIs</a:t>
            </a:r>
            <a:endParaRPr lang="en-US" sz="1425" dirty="0"/>
          </a:p>
        </p:txBody>
      </p:sp>
      <p:sp>
        <p:nvSpPr>
          <p:cNvPr id="18" name="Shape 16"/>
          <p:cNvSpPr/>
          <p:nvPr/>
        </p:nvSpPr>
        <p:spPr>
          <a:xfrm>
            <a:off x="16297990" y="6142197"/>
            <a:ext cx="1075611" cy="255270"/>
          </a:xfrm>
          <a:prstGeom prst="roundRect">
            <a:avLst>
              <a:gd name="adj" fmla="val 7463"/>
            </a:avLst>
          </a:prstGeom>
          <a:solidFill>
            <a:srgbClr val="5E7350"/>
          </a:solidFill>
          <a:ln/>
        </p:spPr>
      </p:sp>
      <p:sp>
        <p:nvSpPr>
          <p:cNvPr id="19" name="Text 17"/>
          <p:cNvSpPr/>
          <p:nvPr/>
        </p:nvSpPr>
        <p:spPr>
          <a:xfrm>
            <a:off x="16412290" y="6189822"/>
            <a:ext cx="923211" cy="198120"/>
          </a:xfrm>
          <a:prstGeom prst="rect">
            <a:avLst/>
          </a:prstGeom>
          <a:noFill/>
          <a:ln/>
        </p:spPr>
        <p:txBody>
          <a:bodyPr wrap="square" lIns="25400" tIns="25400" rIns="25400" bIns="25400" rtlCol="0" anchor="t">
            <a:normAutofit/>
          </a:bodyPr>
          <a:lstStyle/>
          <a:p>
            <a:pPr algn="l" indent="0" marL="0">
              <a:buNone/>
            </a:pPr>
            <a:r>
              <a:rPr lang="en-US" sz="975" spc="156" kern="0" dirty="0">
                <a:solidFill>
                  <a:srgbClr val="FFFFFF"/>
                </a:solidFill>
                <a:latin typeface="Courier New" pitchFamily="34" charset="0"/>
                <a:ea typeface="Courier New" pitchFamily="34" charset="-122"/>
                <a:cs typeface="Courier New" pitchFamily="34" charset="-120"/>
              </a:rPr>
              <a:t>LIVE DEMO</a:t>
            </a:r>
            <a:endParaRPr lang="en-US" sz="975" dirty="0"/>
          </a:p>
        </p:txBody>
      </p:sp>
      <p:sp>
        <p:nvSpPr>
          <p:cNvPr id="20" name="Text 18"/>
          <p:cNvSpPr/>
          <p:nvPr/>
        </p:nvSpPr>
        <p:spPr>
          <a:xfrm>
            <a:off x="914400" y="7155656"/>
            <a:ext cx="990600" cy="590550"/>
          </a:xfrm>
          <a:prstGeom prst="rect">
            <a:avLst/>
          </a:prstGeom>
          <a:noFill/>
          <a:ln/>
        </p:spPr>
        <p:txBody>
          <a:bodyPr wrap="square" lIns="25400" tIns="25400" rIns="25400" bIns="25400" rtlCol="0" anchor="t">
            <a:normAutofit/>
          </a:bodyPr>
          <a:lstStyle/>
          <a:p>
            <a:pPr algn="l" indent="0" marL="0">
              <a:lnSpc>
                <a:spcPct val="100000"/>
              </a:lnSpc>
              <a:buNone/>
            </a:pPr>
            <a:r>
              <a:rPr lang="en-US" sz="4350" dirty="0">
                <a:solidFill>
                  <a:srgbClr val="B23B26"/>
                </a:solidFill>
                <a:latin typeface="Georgia" pitchFamily="34" charset="0"/>
                <a:ea typeface="Georgia" pitchFamily="34" charset="-122"/>
                <a:cs typeface="Georgia" pitchFamily="34" charset="-120"/>
              </a:rPr>
              <a:t>04</a:t>
            </a:r>
            <a:endParaRPr lang="en-US" sz="4350" dirty="0"/>
          </a:p>
        </p:txBody>
      </p:sp>
      <p:sp>
        <p:nvSpPr>
          <p:cNvPr id="21" name="Text 19"/>
          <p:cNvSpPr/>
          <p:nvPr/>
        </p:nvSpPr>
        <p:spPr>
          <a:xfrm>
            <a:off x="2209800" y="7064216"/>
            <a:ext cx="16680180" cy="434340"/>
          </a:xfrm>
          <a:prstGeom prst="rect">
            <a:avLst/>
          </a:prstGeom>
          <a:noFill/>
          <a:ln/>
        </p:spPr>
        <p:txBody>
          <a:bodyPr wrap="square" lIns="25400" tIns="25400" rIns="25400" bIns="25400" rtlCol="0" anchor="t">
            <a:normAutofit/>
          </a:bodyPr>
          <a:lstStyle/>
          <a:p>
            <a:pPr algn="l" indent="0" marL="0">
              <a:lnSpc>
                <a:spcPct val="104000"/>
              </a:lnSpc>
              <a:buNone/>
            </a:pPr>
            <a:r>
              <a:rPr lang="en-US" sz="3000" spc="-45" kern="0" dirty="0">
                <a:solidFill>
                  <a:srgbClr val="221D17"/>
                </a:solidFill>
                <a:latin typeface="Georgia" pitchFamily="34" charset="0"/>
                <a:ea typeface="Georgia" pitchFamily="34" charset="-122"/>
                <a:cs typeface="Georgia" pitchFamily="34" charset="-120"/>
              </a:rPr>
              <a:t>Rollout &amp; Change</a:t>
            </a:r>
            <a:endParaRPr lang="en-US" sz="3000" dirty="0"/>
          </a:p>
        </p:txBody>
      </p:sp>
      <p:sp>
        <p:nvSpPr>
          <p:cNvPr id="22" name="Text 20"/>
          <p:cNvSpPr/>
          <p:nvPr/>
        </p:nvSpPr>
        <p:spPr>
          <a:xfrm>
            <a:off x="2209800" y="7546181"/>
            <a:ext cx="16680180" cy="291465"/>
          </a:xfrm>
          <a:prstGeom prst="rect">
            <a:avLst/>
          </a:prstGeom>
          <a:noFill/>
          <a:ln/>
        </p:spPr>
        <p:txBody>
          <a:bodyPr wrap="square" lIns="25400" tIns="25400" rIns="25400" bIns="25400" rtlCol="0" anchor="t">
            <a:normAutofit/>
          </a:bodyPr>
          <a:lstStyle/>
          <a:p>
            <a:pPr algn="l" indent="0" marL="0">
              <a:lnSpc>
                <a:spcPct val="140000"/>
              </a:lnSpc>
              <a:buNone/>
            </a:pPr>
            <a:r>
              <a:rPr lang="en-US" sz="1425" dirty="0">
                <a:solidFill>
                  <a:srgbClr val="8A8073"/>
                </a:solidFill>
                <a:latin typeface="Arial" pitchFamily="34" charset="0"/>
                <a:ea typeface="Arial" pitchFamily="34" charset="-122"/>
                <a:cs typeface="Arial" pitchFamily="34" charset="-120"/>
              </a:rPr>
              <a:t>Implementation phases · Risks &amp; resistance · Change management · Quick wins &amp; enablement · The ROI case</a:t>
            </a:r>
            <a:endParaRPr lang="en-US" sz="1425" dirty="0"/>
          </a:p>
        </p:txBody>
      </p:sp>
      <p:sp>
        <p:nvSpPr>
          <p:cNvPr id="23" name="Shape 21"/>
          <p:cNvSpPr/>
          <p:nvPr/>
        </p:nvSpPr>
        <p:spPr>
          <a:xfrm>
            <a:off x="914400" y="9637395"/>
            <a:ext cx="16459200" cy="9525"/>
          </a:xfrm>
          <a:prstGeom prst="rect">
            <a:avLst/>
          </a:prstGeom>
          <a:solidFill>
            <a:srgbClr val="E2DACE"/>
          </a:solidFill>
          <a:ln/>
        </p:spPr>
      </p:sp>
      <p:sp>
        <p:nvSpPr>
          <p:cNvPr id="24" name="Text 22"/>
          <p:cNvSpPr/>
          <p:nvPr/>
        </p:nvSpPr>
        <p:spPr>
          <a:xfrm>
            <a:off x="914400" y="9768840"/>
            <a:ext cx="5462575" cy="21336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A89D8E"/>
                </a:solidFill>
                <a:latin typeface="Courier New" pitchFamily="34" charset="0"/>
                <a:ea typeface="Courier New" pitchFamily="34" charset="-122"/>
                <a:cs typeface="Courier New" pitchFamily="34" charset="-120"/>
              </a:rPr>
              <a:t>STRAUSS PROCUREMENT · FDE EXERCISE · CONFIDENTIAL</a:t>
            </a:r>
            <a:endParaRPr lang="en-US" sz="1050" dirty="0"/>
          </a:p>
        </p:txBody>
      </p:sp>
      <p:sp>
        <p:nvSpPr>
          <p:cNvPr id="25" name="Text 23"/>
          <p:cNvSpPr/>
          <p:nvPr/>
        </p:nvSpPr>
        <p:spPr>
          <a:xfrm>
            <a:off x="16664107" y="9768840"/>
            <a:ext cx="785693" cy="21336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A89D8E"/>
                </a:solidFill>
                <a:latin typeface="Courier New" pitchFamily="34" charset="0"/>
                <a:ea typeface="Courier New" pitchFamily="34" charset="-122"/>
                <a:cs typeface="Courier New" pitchFamily="34" charset="-120"/>
              </a:rPr>
              <a:t>01 / 19</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EFE7"/>
        </a:solidFill>
      </p:bgPr>
    </p:bg>
    <p:spTree>
      <p:nvGrpSpPr>
        <p:cNvPr id="1" name=""/>
        <p:cNvGrpSpPr/>
        <p:nvPr/>
      </p:nvGrpSpPr>
      <p:grpSpPr>
        <a:xfrm>
          <a:off x="0" y="0"/>
          <a:ext cx="0" cy="0"/>
          <a:chOff x="0" y="0"/>
          <a:chExt cx="0" cy="0"/>
        </a:xfrm>
      </p:grpSpPr>
      <p:sp>
        <p:nvSpPr>
          <p:cNvPr id="2" name="Shape 0"/>
          <p:cNvSpPr/>
          <p:nvPr/>
        </p:nvSpPr>
        <p:spPr>
          <a:xfrm>
            <a:off x="914400" y="1749742"/>
            <a:ext cx="16459200" cy="9525"/>
          </a:xfrm>
          <a:prstGeom prst="rect">
            <a:avLst/>
          </a:prstGeom>
          <a:solidFill>
            <a:srgbClr val="D7CDBE"/>
          </a:solidFill>
          <a:ln/>
        </p:spPr>
      </p:sp>
      <p:sp>
        <p:nvSpPr>
          <p:cNvPr id="3" name="Text 1"/>
          <p:cNvSpPr/>
          <p:nvPr/>
        </p:nvSpPr>
        <p:spPr>
          <a:xfrm>
            <a:off x="914400" y="704850"/>
            <a:ext cx="18105120" cy="259080"/>
          </a:xfrm>
          <a:prstGeom prst="rect">
            <a:avLst/>
          </a:prstGeom>
          <a:noFill/>
          <a:ln/>
        </p:spPr>
        <p:txBody>
          <a:bodyPr wrap="square" lIns="25400" tIns="25400" rIns="25400" bIns="25400" rtlCol="0" anchor="t">
            <a:normAutofit/>
          </a:bodyPr>
          <a:lstStyle/>
          <a:p>
            <a:pPr algn="l" indent="0" marL="0">
              <a:buNone/>
            </a:pPr>
            <a:r>
              <a:rPr lang="en-US" sz="1350" spc="324" kern="0" dirty="0">
                <a:solidFill>
                  <a:srgbClr val="B23B26"/>
                </a:solidFill>
                <a:latin typeface="Courier New" pitchFamily="34" charset="0"/>
                <a:ea typeface="Courier New" pitchFamily="34" charset="-122"/>
                <a:cs typeface="Courier New" pitchFamily="34" charset="-120"/>
              </a:rPr>
              <a:t>02 · THE PROBLEM</a:t>
            </a:r>
            <a:endParaRPr lang="en-US" sz="1350" dirty="0"/>
          </a:p>
        </p:txBody>
      </p:sp>
      <p:sp>
        <p:nvSpPr>
          <p:cNvPr id="4" name="Text 2"/>
          <p:cNvSpPr/>
          <p:nvPr/>
        </p:nvSpPr>
        <p:spPr>
          <a:xfrm>
            <a:off x="914400" y="1049655"/>
            <a:ext cx="18105120" cy="528638"/>
          </a:xfrm>
          <a:prstGeom prst="rect">
            <a:avLst/>
          </a:prstGeom>
          <a:noFill/>
          <a:ln/>
        </p:spPr>
        <p:txBody>
          <a:bodyPr wrap="square" lIns="25400" tIns="25400" rIns="25400" bIns="25400" rtlCol="0" anchor="t">
            <a:normAutofit/>
          </a:bodyPr>
          <a:lstStyle/>
          <a:p>
            <a:pPr algn="l" indent="0" marL="0">
              <a:lnSpc>
                <a:spcPct val="103000"/>
              </a:lnSpc>
              <a:buNone/>
            </a:pPr>
            <a:r>
              <a:rPr lang="en-US" sz="3750" spc="-56" kern="0" dirty="0">
                <a:solidFill>
                  <a:srgbClr val="221D17"/>
                </a:solidFill>
                <a:latin typeface="Georgia" pitchFamily="34" charset="0"/>
                <a:ea typeface="Georgia" pitchFamily="34" charset="-122"/>
                <a:cs typeface="Georgia" pitchFamily="34" charset="-120"/>
              </a:rPr>
              <a:t>What the procurement team is actually spending time on</a:t>
            </a:r>
            <a:endParaRPr lang="en-US" sz="3750" dirty="0"/>
          </a:p>
        </p:txBody>
      </p:sp>
      <p:sp>
        <p:nvSpPr>
          <p:cNvPr id="5" name="Shape 3"/>
          <p:cNvSpPr/>
          <p:nvPr/>
        </p:nvSpPr>
        <p:spPr>
          <a:xfrm>
            <a:off x="914400" y="2043113"/>
            <a:ext cx="5346621" cy="1451610"/>
          </a:xfrm>
          <a:prstGeom prst="roundRect">
            <a:avLst>
              <a:gd name="adj" fmla="val 1969"/>
            </a:avLst>
          </a:prstGeom>
          <a:solidFill>
            <a:srgbClr val="FBF8F2"/>
          </a:solidFill>
          <a:ln w="7620">
            <a:solidFill>
              <a:srgbClr val="DDD4C6"/>
            </a:solidFill>
            <a:prstDash val="solid"/>
          </a:ln>
        </p:spPr>
      </p:sp>
      <p:sp>
        <p:nvSpPr>
          <p:cNvPr id="6" name="Text 4"/>
          <p:cNvSpPr/>
          <p:nvPr/>
        </p:nvSpPr>
        <p:spPr>
          <a:xfrm>
            <a:off x="1207770" y="2298383"/>
            <a:ext cx="5235869" cy="590550"/>
          </a:xfrm>
          <a:prstGeom prst="rect">
            <a:avLst/>
          </a:prstGeom>
          <a:noFill/>
          <a:ln/>
        </p:spPr>
        <p:txBody>
          <a:bodyPr wrap="square" lIns="25400" tIns="25400" rIns="25400" bIns="25400" rtlCol="0" anchor="t">
            <a:normAutofit/>
          </a:bodyPr>
          <a:lstStyle/>
          <a:p>
            <a:pPr algn="l" indent="0" marL="0">
              <a:lnSpc>
                <a:spcPct val="100000"/>
              </a:lnSpc>
              <a:buNone/>
            </a:pPr>
            <a:r>
              <a:rPr lang="en-US" sz="4350" dirty="0">
                <a:solidFill>
                  <a:srgbClr val="B23B26"/>
                </a:solidFill>
                <a:latin typeface="Georgia" pitchFamily="34" charset="0"/>
                <a:ea typeface="Georgia" pitchFamily="34" charset="-122"/>
                <a:cs typeface="Georgia" pitchFamily="34" charset="-120"/>
              </a:rPr>
              <a:t>1.5-3 hrs</a:t>
            </a:r>
            <a:endParaRPr lang="en-US" sz="4350" dirty="0"/>
          </a:p>
        </p:txBody>
      </p:sp>
      <p:sp>
        <p:nvSpPr>
          <p:cNvPr id="7" name="Text 5"/>
          <p:cNvSpPr/>
          <p:nvPr/>
        </p:nvSpPr>
        <p:spPr>
          <a:xfrm>
            <a:off x="1207770" y="2946083"/>
            <a:ext cx="5235869" cy="33147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5C5349"/>
                </a:solidFill>
                <a:latin typeface="Arial" pitchFamily="34" charset="0"/>
                <a:ea typeface="Arial" pitchFamily="34" charset="-122"/>
                <a:cs typeface="Arial" pitchFamily="34" charset="-120"/>
              </a:rPr>
              <a:t>of manual prep per meeting</a:t>
            </a:r>
            <a:endParaRPr lang="en-US" sz="1650" dirty="0"/>
          </a:p>
        </p:txBody>
      </p:sp>
      <p:sp>
        <p:nvSpPr>
          <p:cNvPr id="8" name="Shape 6"/>
          <p:cNvSpPr/>
          <p:nvPr/>
        </p:nvSpPr>
        <p:spPr>
          <a:xfrm>
            <a:off x="6470571" y="2043113"/>
            <a:ext cx="5346740" cy="1451610"/>
          </a:xfrm>
          <a:prstGeom prst="roundRect">
            <a:avLst>
              <a:gd name="adj" fmla="val 1969"/>
            </a:avLst>
          </a:prstGeom>
          <a:solidFill>
            <a:srgbClr val="FBF8F2"/>
          </a:solidFill>
          <a:ln w="7620">
            <a:solidFill>
              <a:srgbClr val="DDD4C6"/>
            </a:solidFill>
            <a:prstDash val="solid"/>
          </a:ln>
        </p:spPr>
      </p:sp>
      <p:sp>
        <p:nvSpPr>
          <p:cNvPr id="9" name="Text 7"/>
          <p:cNvSpPr/>
          <p:nvPr/>
        </p:nvSpPr>
        <p:spPr>
          <a:xfrm>
            <a:off x="6763941" y="2298383"/>
            <a:ext cx="5236000" cy="590550"/>
          </a:xfrm>
          <a:prstGeom prst="rect">
            <a:avLst/>
          </a:prstGeom>
          <a:noFill/>
          <a:ln/>
        </p:spPr>
        <p:txBody>
          <a:bodyPr wrap="square" lIns="25400" tIns="25400" rIns="25400" bIns="25400" rtlCol="0" anchor="t">
            <a:normAutofit/>
          </a:bodyPr>
          <a:lstStyle/>
          <a:p>
            <a:pPr algn="l" indent="0" marL="0">
              <a:lnSpc>
                <a:spcPct val="100000"/>
              </a:lnSpc>
              <a:buNone/>
            </a:pPr>
            <a:r>
              <a:rPr lang="en-US" sz="4350" dirty="0">
                <a:solidFill>
                  <a:srgbClr val="B23B26"/>
                </a:solidFill>
                <a:latin typeface="Georgia" pitchFamily="34" charset="0"/>
                <a:ea typeface="Georgia" pitchFamily="34" charset="-122"/>
                <a:cs typeface="Georgia" pitchFamily="34" charset="-120"/>
              </a:rPr>
              <a:t>~7</a:t>
            </a:r>
            <a:endParaRPr lang="en-US" sz="4350" dirty="0"/>
          </a:p>
        </p:txBody>
      </p:sp>
      <p:sp>
        <p:nvSpPr>
          <p:cNvPr id="10" name="Text 8"/>
          <p:cNvSpPr/>
          <p:nvPr/>
        </p:nvSpPr>
        <p:spPr>
          <a:xfrm>
            <a:off x="6763941" y="2946083"/>
            <a:ext cx="5236000" cy="33147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5C5349"/>
                </a:solidFill>
                <a:latin typeface="Arial" pitchFamily="34" charset="0"/>
                <a:ea typeface="Arial" pitchFamily="34" charset="-122"/>
                <a:cs typeface="Arial" pitchFamily="34" charset="-120"/>
              </a:rPr>
              <a:t>supplier meetings per month</a:t>
            </a:r>
            <a:endParaRPr lang="en-US" sz="1650" dirty="0"/>
          </a:p>
        </p:txBody>
      </p:sp>
      <p:sp>
        <p:nvSpPr>
          <p:cNvPr id="11" name="Shape 9"/>
          <p:cNvSpPr/>
          <p:nvPr/>
        </p:nvSpPr>
        <p:spPr>
          <a:xfrm>
            <a:off x="12026860" y="2043113"/>
            <a:ext cx="5346740" cy="1451610"/>
          </a:xfrm>
          <a:prstGeom prst="roundRect">
            <a:avLst>
              <a:gd name="adj" fmla="val 1969"/>
            </a:avLst>
          </a:prstGeom>
          <a:solidFill>
            <a:srgbClr val="FBF8F2"/>
          </a:solidFill>
          <a:ln w="7620">
            <a:solidFill>
              <a:srgbClr val="DDD4C6"/>
            </a:solidFill>
            <a:prstDash val="solid"/>
          </a:ln>
        </p:spPr>
      </p:sp>
      <p:sp>
        <p:nvSpPr>
          <p:cNvPr id="12" name="Text 10"/>
          <p:cNvSpPr/>
          <p:nvPr/>
        </p:nvSpPr>
        <p:spPr>
          <a:xfrm>
            <a:off x="12320231" y="2298383"/>
            <a:ext cx="5236000" cy="590550"/>
          </a:xfrm>
          <a:prstGeom prst="rect">
            <a:avLst/>
          </a:prstGeom>
          <a:noFill/>
          <a:ln/>
        </p:spPr>
        <p:txBody>
          <a:bodyPr wrap="square" lIns="25400" tIns="25400" rIns="25400" bIns="25400" rtlCol="0" anchor="t">
            <a:normAutofit/>
          </a:bodyPr>
          <a:lstStyle/>
          <a:p>
            <a:pPr algn="l" indent="0" marL="0">
              <a:lnSpc>
                <a:spcPct val="100000"/>
              </a:lnSpc>
              <a:buNone/>
            </a:pPr>
            <a:r>
              <a:rPr lang="en-US" sz="4350" dirty="0">
                <a:solidFill>
                  <a:srgbClr val="B23B26"/>
                </a:solidFill>
                <a:latin typeface="Georgia" pitchFamily="34" charset="0"/>
                <a:ea typeface="Georgia" pitchFamily="34" charset="-122"/>
                <a:cs typeface="Georgia" pitchFamily="34" charset="-120"/>
              </a:rPr>
              <a:t>10-21 hrs</a:t>
            </a:r>
            <a:endParaRPr lang="en-US" sz="4350" dirty="0"/>
          </a:p>
        </p:txBody>
      </p:sp>
      <p:sp>
        <p:nvSpPr>
          <p:cNvPr id="13" name="Text 11"/>
          <p:cNvSpPr/>
          <p:nvPr/>
        </p:nvSpPr>
        <p:spPr>
          <a:xfrm>
            <a:off x="12320231" y="2946083"/>
            <a:ext cx="5236000" cy="33147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5C5349"/>
                </a:solidFill>
                <a:latin typeface="Arial" pitchFamily="34" charset="0"/>
                <a:ea typeface="Arial" pitchFamily="34" charset="-122"/>
                <a:cs typeface="Arial" pitchFamily="34" charset="-120"/>
              </a:rPr>
              <a:t>of information work per month, per team</a:t>
            </a:r>
            <a:endParaRPr lang="en-US" sz="1650" dirty="0"/>
          </a:p>
        </p:txBody>
      </p:sp>
      <p:sp>
        <p:nvSpPr>
          <p:cNvPr id="14" name="Text 12"/>
          <p:cNvSpPr/>
          <p:nvPr/>
        </p:nvSpPr>
        <p:spPr>
          <a:xfrm>
            <a:off x="914400" y="3780472"/>
            <a:ext cx="16344900" cy="369570"/>
          </a:xfrm>
          <a:prstGeom prst="rect">
            <a:avLst/>
          </a:prstGeom>
          <a:noFill/>
          <a:ln/>
        </p:spPr>
        <p:txBody>
          <a:bodyPr wrap="square" lIns="25400" tIns="25400" rIns="25400" bIns="25400" rtlCol="0" anchor="t">
            <a:normAutofit/>
          </a:bodyPr>
          <a:lstStyle/>
          <a:p>
            <a:pPr algn="l" indent="0" marL="0">
              <a:lnSpc>
                <a:spcPct val="145000"/>
              </a:lnSpc>
              <a:buNone/>
            </a:pPr>
            <a:r>
              <a:rPr lang="en-US" sz="1800" i="1" dirty="0">
                <a:solidFill>
                  <a:srgbClr val="3D372F"/>
                </a:solidFill>
                <a:latin typeface="Georgia" pitchFamily="34" charset="0"/>
                <a:ea typeface="Georgia" pitchFamily="34" charset="-122"/>
                <a:cs typeface="Georgia" pitchFamily="34" charset="-120"/>
              </a:rPr>
              <a:t>The Procurement Manager called it “information logistics”, work that stands between the team and the judgment call they’re paid to make.</a:t>
            </a:r>
            <a:endParaRPr lang="en-US" sz="1800" dirty="0"/>
          </a:p>
        </p:txBody>
      </p:sp>
      <p:sp>
        <p:nvSpPr>
          <p:cNvPr id="15" name="Text 13"/>
          <p:cNvSpPr/>
          <p:nvPr/>
        </p:nvSpPr>
        <p:spPr>
          <a:xfrm>
            <a:off x="914400" y="4397693"/>
            <a:ext cx="18105120" cy="243840"/>
          </a:xfrm>
          <a:prstGeom prst="rect">
            <a:avLst/>
          </a:prstGeom>
          <a:noFill/>
          <a:ln/>
        </p:spPr>
        <p:txBody>
          <a:bodyPr wrap="square" lIns="25400" tIns="25400" rIns="25400" bIns="25400" rtlCol="0" anchor="t">
            <a:normAutofit/>
          </a:bodyPr>
          <a:lstStyle/>
          <a:p>
            <a:pPr algn="l" indent="0" marL="0">
              <a:buNone/>
            </a:pPr>
            <a:r>
              <a:rPr lang="en-US" sz="1200" spc="216" kern="0" dirty="0">
                <a:solidFill>
                  <a:srgbClr val="94897A"/>
                </a:solidFill>
                <a:latin typeface="Courier New" pitchFamily="34" charset="0"/>
                <a:ea typeface="Courier New" pitchFamily="34" charset="-122"/>
                <a:cs typeface="Courier New" pitchFamily="34" charset="-120"/>
              </a:rPr>
              <a:t>FOUR WAYS THE MANUAL PROCESS FAILS CONSISTENTLY</a:t>
            </a:r>
            <a:endParaRPr lang="en-US" sz="1200" dirty="0"/>
          </a:p>
        </p:txBody>
      </p:sp>
      <p:sp>
        <p:nvSpPr>
          <p:cNvPr id="16" name="Text 14"/>
          <p:cNvSpPr/>
          <p:nvPr/>
        </p:nvSpPr>
        <p:spPr>
          <a:xfrm>
            <a:off x="914400" y="4774883"/>
            <a:ext cx="419100" cy="610076"/>
          </a:xfrm>
          <a:prstGeom prst="rect">
            <a:avLst/>
          </a:prstGeom>
          <a:noFill/>
          <a:ln/>
        </p:spPr>
        <p:txBody>
          <a:bodyPr wrap="square" lIns="25400" tIns="25400" rIns="25400" bIns="25400" rtlCol="0" anchor="t">
            <a:normAutofit/>
          </a:bodyPr>
          <a:lstStyle/>
          <a:p>
            <a:pPr algn="l" indent="0" marL="0">
              <a:lnSpc>
                <a:spcPct val="100000"/>
              </a:lnSpc>
              <a:buNone/>
            </a:pPr>
            <a:r>
              <a:rPr lang="en-US" sz="2250" dirty="0">
                <a:solidFill>
                  <a:srgbClr val="B23B26"/>
                </a:solidFill>
                <a:latin typeface="Georgia" pitchFamily="34" charset="0"/>
                <a:ea typeface="Georgia" pitchFamily="34" charset="-122"/>
                <a:cs typeface="Georgia" pitchFamily="34" charset="-120"/>
              </a:rPr>
              <a:t>01</a:t>
            </a:r>
            <a:endParaRPr lang="en-US" sz="2250" dirty="0"/>
          </a:p>
        </p:txBody>
      </p:sp>
      <p:sp>
        <p:nvSpPr>
          <p:cNvPr id="17" name="Text 15"/>
          <p:cNvSpPr/>
          <p:nvPr/>
        </p:nvSpPr>
        <p:spPr>
          <a:xfrm>
            <a:off x="1428750" y="4774883"/>
            <a:ext cx="5817108" cy="281940"/>
          </a:xfrm>
          <a:prstGeom prst="rect">
            <a:avLst/>
          </a:prstGeom>
          <a:noFill/>
          <a:ln/>
        </p:spPr>
        <p:txBody>
          <a:bodyPr wrap="square" lIns="25400" tIns="25400" rIns="25400" bIns="25400" rtlCol="0" anchor="t">
            <a:normAutofit/>
          </a:bodyPr>
          <a:lstStyle/>
          <a:p>
            <a:pPr algn="l" indent="0" marL="0">
              <a:buNone/>
            </a:pPr>
            <a:r>
              <a:rPr lang="en-US" sz="1650" b="1" dirty="0">
                <a:solidFill>
                  <a:srgbClr val="221D17"/>
                </a:solidFill>
                <a:latin typeface="Arial" pitchFamily="34" charset="0"/>
                <a:ea typeface="Arial" pitchFamily="34" charset="-122"/>
                <a:cs typeface="Arial" pitchFamily="34" charset="-120"/>
              </a:rPr>
              <a:t>Wrong contract version pulled</a:t>
            </a:r>
            <a:endParaRPr lang="en-US" sz="1650" dirty="0"/>
          </a:p>
        </p:txBody>
      </p:sp>
      <p:sp>
        <p:nvSpPr>
          <p:cNvPr id="18" name="Text 16"/>
          <p:cNvSpPr/>
          <p:nvPr/>
        </p:nvSpPr>
        <p:spPr>
          <a:xfrm>
            <a:off x="1428750" y="5056823"/>
            <a:ext cx="5817108" cy="328136"/>
          </a:xfrm>
          <a:prstGeom prst="rect">
            <a:avLst/>
          </a:prstGeom>
          <a:noFill/>
          <a:ln/>
        </p:spPr>
        <p:txBody>
          <a:bodyPr wrap="square" lIns="25400" tIns="25400" rIns="25400" bIns="25400" rtlCol="0" anchor="t">
            <a:normAutofit/>
          </a:bodyPr>
          <a:lstStyle/>
          <a:p>
            <a:pPr algn="l" indent="0" marL="0">
              <a:lnSpc>
                <a:spcPct val="145000"/>
              </a:lnSpc>
              <a:buNone/>
            </a:pPr>
            <a:r>
              <a:rPr lang="en-US" sz="1575" dirty="0">
                <a:solidFill>
                  <a:srgbClr val="5C5349"/>
                </a:solidFill>
                <a:latin typeface="Arial" pitchFamily="34" charset="0"/>
                <a:ea typeface="Arial" pitchFamily="34" charset="-122"/>
                <a:cs typeface="Arial" pitchFamily="34" charset="-120"/>
              </a:rPr>
              <a:t>Missed penalty clause before the negotiation even starts.</a:t>
            </a:r>
            <a:endParaRPr lang="en-US" sz="1575" dirty="0"/>
          </a:p>
        </p:txBody>
      </p:sp>
      <p:sp>
        <p:nvSpPr>
          <p:cNvPr id="19" name="Text 17"/>
          <p:cNvSpPr/>
          <p:nvPr/>
        </p:nvSpPr>
        <p:spPr>
          <a:xfrm>
            <a:off x="9410700" y="4774883"/>
            <a:ext cx="419100" cy="610076"/>
          </a:xfrm>
          <a:prstGeom prst="rect">
            <a:avLst/>
          </a:prstGeom>
          <a:noFill/>
          <a:ln/>
        </p:spPr>
        <p:txBody>
          <a:bodyPr wrap="square" lIns="25400" tIns="25400" rIns="25400" bIns="25400" rtlCol="0" anchor="t">
            <a:normAutofit/>
          </a:bodyPr>
          <a:lstStyle/>
          <a:p>
            <a:pPr algn="l" indent="0" marL="0">
              <a:lnSpc>
                <a:spcPct val="100000"/>
              </a:lnSpc>
              <a:buNone/>
            </a:pPr>
            <a:r>
              <a:rPr lang="en-US" sz="2250" dirty="0">
                <a:solidFill>
                  <a:srgbClr val="B23B26"/>
                </a:solidFill>
                <a:latin typeface="Georgia" pitchFamily="34" charset="0"/>
                <a:ea typeface="Georgia" pitchFamily="34" charset="-122"/>
                <a:cs typeface="Georgia" pitchFamily="34" charset="-120"/>
              </a:rPr>
              <a:t>02</a:t>
            </a:r>
            <a:endParaRPr lang="en-US" sz="2250" dirty="0"/>
          </a:p>
        </p:txBody>
      </p:sp>
      <p:sp>
        <p:nvSpPr>
          <p:cNvPr id="20" name="Text 18"/>
          <p:cNvSpPr/>
          <p:nvPr/>
        </p:nvSpPr>
        <p:spPr>
          <a:xfrm>
            <a:off x="9925050" y="4774883"/>
            <a:ext cx="6855167" cy="281940"/>
          </a:xfrm>
          <a:prstGeom prst="rect">
            <a:avLst/>
          </a:prstGeom>
          <a:noFill/>
          <a:ln/>
        </p:spPr>
        <p:txBody>
          <a:bodyPr wrap="square" lIns="25400" tIns="25400" rIns="25400" bIns="25400" rtlCol="0" anchor="t">
            <a:normAutofit/>
          </a:bodyPr>
          <a:lstStyle/>
          <a:p>
            <a:pPr algn="l" indent="0" marL="0">
              <a:buNone/>
            </a:pPr>
            <a:r>
              <a:rPr lang="en-US" sz="1650" b="1" dirty="0">
                <a:solidFill>
                  <a:srgbClr val="221D17"/>
                </a:solidFill>
                <a:latin typeface="Arial" pitchFamily="34" charset="0"/>
                <a:ea typeface="Arial" pitchFamily="34" charset="-122"/>
                <a:cs typeface="Arial" pitchFamily="34" charset="-120"/>
              </a:rPr>
              <a:t>Open dispute threads go cold</a:t>
            </a:r>
            <a:endParaRPr lang="en-US" sz="1650" dirty="0"/>
          </a:p>
        </p:txBody>
      </p:sp>
      <p:sp>
        <p:nvSpPr>
          <p:cNvPr id="21" name="Text 19"/>
          <p:cNvSpPr/>
          <p:nvPr/>
        </p:nvSpPr>
        <p:spPr>
          <a:xfrm>
            <a:off x="9925050" y="5056823"/>
            <a:ext cx="6855167" cy="328136"/>
          </a:xfrm>
          <a:prstGeom prst="rect">
            <a:avLst/>
          </a:prstGeom>
          <a:noFill/>
          <a:ln/>
        </p:spPr>
        <p:txBody>
          <a:bodyPr wrap="square" lIns="25400" tIns="25400" rIns="25400" bIns="25400" rtlCol="0" anchor="t">
            <a:normAutofit/>
          </a:bodyPr>
          <a:lstStyle/>
          <a:p>
            <a:pPr algn="l" indent="0" marL="0">
              <a:lnSpc>
                <a:spcPct val="145000"/>
              </a:lnSpc>
              <a:buNone/>
            </a:pPr>
            <a:r>
              <a:rPr lang="en-US" sz="1575" dirty="0">
                <a:solidFill>
                  <a:srgbClr val="5C5349"/>
                </a:solidFill>
                <a:latin typeface="Arial" pitchFamily="34" charset="0"/>
                <a:ea typeface="Arial" pitchFamily="34" charset="-122"/>
                <a:cs typeface="Arial" pitchFamily="34" charset="-120"/>
              </a:rPr>
              <a:t>Unresolved delivery or quality issues forgotten by the next meeting.</a:t>
            </a:r>
            <a:endParaRPr lang="en-US" sz="1575" dirty="0"/>
          </a:p>
        </p:txBody>
      </p:sp>
      <p:sp>
        <p:nvSpPr>
          <p:cNvPr id="22" name="Text 20"/>
          <p:cNvSpPr/>
          <p:nvPr/>
        </p:nvSpPr>
        <p:spPr>
          <a:xfrm>
            <a:off x="914400" y="5537359"/>
            <a:ext cx="419100" cy="900113"/>
          </a:xfrm>
          <a:prstGeom prst="rect">
            <a:avLst/>
          </a:prstGeom>
          <a:noFill/>
          <a:ln/>
        </p:spPr>
        <p:txBody>
          <a:bodyPr wrap="square" lIns="25400" tIns="25400" rIns="25400" bIns="25400" rtlCol="0" anchor="t">
            <a:normAutofit/>
          </a:bodyPr>
          <a:lstStyle/>
          <a:p>
            <a:pPr algn="l" indent="0" marL="0">
              <a:lnSpc>
                <a:spcPct val="100000"/>
              </a:lnSpc>
              <a:buNone/>
            </a:pPr>
            <a:r>
              <a:rPr lang="en-US" sz="2250" dirty="0">
                <a:solidFill>
                  <a:srgbClr val="B23B26"/>
                </a:solidFill>
                <a:latin typeface="Georgia" pitchFamily="34" charset="0"/>
                <a:ea typeface="Georgia" pitchFamily="34" charset="-122"/>
                <a:cs typeface="Georgia" pitchFamily="34" charset="-120"/>
              </a:rPr>
              <a:t>03</a:t>
            </a:r>
            <a:endParaRPr lang="en-US" sz="2250" dirty="0"/>
          </a:p>
        </p:txBody>
      </p:sp>
      <p:sp>
        <p:nvSpPr>
          <p:cNvPr id="23" name="Text 21"/>
          <p:cNvSpPr/>
          <p:nvPr/>
        </p:nvSpPr>
        <p:spPr>
          <a:xfrm>
            <a:off x="1428750" y="5537359"/>
            <a:ext cx="8193405" cy="281940"/>
          </a:xfrm>
          <a:prstGeom prst="rect">
            <a:avLst/>
          </a:prstGeom>
          <a:noFill/>
          <a:ln/>
        </p:spPr>
        <p:txBody>
          <a:bodyPr wrap="square" lIns="25400" tIns="25400" rIns="25400" bIns="25400" rtlCol="0" anchor="t">
            <a:normAutofit/>
          </a:bodyPr>
          <a:lstStyle/>
          <a:p>
            <a:pPr algn="l" indent="0" marL="0">
              <a:buNone/>
            </a:pPr>
            <a:r>
              <a:rPr lang="en-US" sz="1650" b="1" dirty="0">
                <a:solidFill>
                  <a:srgbClr val="221D17"/>
                </a:solidFill>
                <a:latin typeface="Arial" pitchFamily="34" charset="0"/>
                <a:ea typeface="Arial" pitchFamily="34" charset="-122"/>
                <a:cs typeface="Arial" pitchFamily="34" charset="-120"/>
              </a:rPr>
              <a:t>Benchmark data goes stale</a:t>
            </a:r>
            <a:endParaRPr lang="en-US" sz="1650" dirty="0"/>
          </a:p>
        </p:txBody>
      </p:sp>
      <p:sp>
        <p:nvSpPr>
          <p:cNvPr id="24" name="Text 22"/>
          <p:cNvSpPr/>
          <p:nvPr/>
        </p:nvSpPr>
        <p:spPr>
          <a:xfrm>
            <a:off x="1428750" y="5819299"/>
            <a:ext cx="7672007" cy="618173"/>
          </a:xfrm>
          <a:prstGeom prst="rect">
            <a:avLst/>
          </a:prstGeom>
          <a:noFill/>
          <a:ln/>
        </p:spPr>
        <p:txBody>
          <a:bodyPr wrap="square" lIns="25400" tIns="25400" rIns="25400" bIns="25400" rtlCol="0" anchor="t">
            <a:normAutofit/>
          </a:bodyPr>
          <a:lstStyle/>
          <a:p>
            <a:pPr algn="l" indent="0" marL="0">
              <a:lnSpc>
                <a:spcPct val="145000"/>
              </a:lnSpc>
              <a:buNone/>
            </a:pPr>
            <a:r>
              <a:rPr lang="en-US" sz="1575" dirty="0">
                <a:solidFill>
                  <a:srgbClr val="5C5349"/>
                </a:solidFill>
                <a:latin typeface="Arial" pitchFamily="34" charset="0"/>
                <a:ea typeface="Arial" pitchFamily="34" charset="-122"/>
                <a:cs typeface="Arial" pitchFamily="34" charset="-120"/>
              </a:rPr>
              <a:t>Manager walks into a cocoa or sugar negotiation blind to where the market moved.</a:t>
            </a:r>
            <a:endParaRPr lang="en-US" sz="1575" dirty="0"/>
          </a:p>
        </p:txBody>
      </p:sp>
      <p:sp>
        <p:nvSpPr>
          <p:cNvPr id="25" name="Text 23"/>
          <p:cNvSpPr/>
          <p:nvPr/>
        </p:nvSpPr>
        <p:spPr>
          <a:xfrm>
            <a:off x="9410700" y="5537359"/>
            <a:ext cx="419100" cy="900113"/>
          </a:xfrm>
          <a:prstGeom prst="rect">
            <a:avLst/>
          </a:prstGeom>
          <a:noFill/>
          <a:ln/>
        </p:spPr>
        <p:txBody>
          <a:bodyPr wrap="square" lIns="25400" tIns="25400" rIns="25400" bIns="25400" rtlCol="0" anchor="t">
            <a:normAutofit/>
          </a:bodyPr>
          <a:lstStyle/>
          <a:p>
            <a:pPr algn="l" indent="0" marL="0">
              <a:lnSpc>
                <a:spcPct val="100000"/>
              </a:lnSpc>
              <a:buNone/>
            </a:pPr>
            <a:r>
              <a:rPr lang="en-US" sz="2250" dirty="0">
                <a:solidFill>
                  <a:srgbClr val="B23B26"/>
                </a:solidFill>
                <a:latin typeface="Georgia" pitchFamily="34" charset="0"/>
                <a:ea typeface="Georgia" pitchFamily="34" charset="-122"/>
                <a:cs typeface="Georgia" pitchFamily="34" charset="-120"/>
              </a:rPr>
              <a:t>04</a:t>
            </a:r>
            <a:endParaRPr lang="en-US" sz="2250" dirty="0"/>
          </a:p>
        </p:txBody>
      </p:sp>
      <p:sp>
        <p:nvSpPr>
          <p:cNvPr id="26" name="Text 24"/>
          <p:cNvSpPr/>
          <p:nvPr/>
        </p:nvSpPr>
        <p:spPr>
          <a:xfrm>
            <a:off x="9925050" y="5537359"/>
            <a:ext cx="6923663" cy="281940"/>
          </a:xfrm>
          <a:prstGeom prst="rect">
            <a:avLst/>
          </a:prstGeom>
          <a:noFill/>
          <a:ln/>
        </p:spPr>
        <p:txBody>
          <a:bodyPr wrap="square" lIns="25400" tIns="25400" rIns="25400" bIns="25400" rtlCol="0" anchor="t">
            <a:normAutofit/>
          </a:bodyPr>
          <a:lstStyle/>
          <a:p>
            <a:pPr algn="l" indent="0" marL="0">
              <a:buNone/>
            </a:pPr>
            <a:r>
              <a:rPr lang="en-US" sz="1650" b="1" dirty="0">
                <a:solidFill>
                  <a:srgbClr val="221D17"/>
                </a:solidFill>
                <a:latin typeface="Arial" pitchFamily="34" charset="0"/>
                <a:ea typeface="Arial" pitchFamily="34" charset="-122"/>
                <a:cs typeface="Arial" pitchFamily="34" charset="-120"/>
              </a:rPr>
              <a:t>Expired contract not flagged</a:t>
            </a:r>
            <a:endParaRPr lang="en-US" sz="1650" dirty="0"/>
          </a:p>
        </p:txBody>
      </p:sp>
      <p:sp>
        <p:nvSpPr>
          <p:cNvPr id="27" name="Text 25"/>
          <p:cNvSpPr/>
          <p:nvPr/>
        </p:nvSpPr>
        <p:spPr>
          <a:xfrm>
            <a:off x="9925050" y="5819299"/>
            <a:ext cx="6923663" cy="328136"/>
          </a:xfrm>
          <a:prstGeom prst="rect">
            <a:avLst/>
          </a:prstGeom>
          <a:noFill/>
          <a:ln/>
        </p:spPr>
        <p:txBody>
          <a:bodyPr wrap="square" lIns="25400" tIns="25400" rIns="25400" bIns="25400" rtlCol="0" anchor="t">
            <a:normAutofit/>
          </a:bodyPr>
          <a:lstStyle/>
          <a:p>
            <a:pPr algn="l" indent="0" marL="0">
              <a:lnSpc>
                <a:spcPct val="145000"/>
              </a:lnSpc>
              <a:buNone/>
            </a:pPr>
            <a:r>
              <a:rPr lang="en-US" sz="1575" dirty="0">
                <a:solidFill>
                  <a:srgbClr val="5C5349"/>
                </a:solidFill>
                <a:latin typeface="Arial" pitchFamily="34" charset="0"/>
                <a:ea typeface="Arial" pitchFamily="34" charset="-122"/>
                <a:cs typeface="Arial" pitchFamily="34" charset="-120"/>
              </a:rPr>
              <a:t>Team operates on informal terms for months before anyone notices.</a:t>
            </a:r>
            <a:endParaRPr lang="en-US" sz="1575" dirty="0"/>
          </a:p>
        </p:txBody>
      </p:sp>
      <p:sp>
        <p:nvSpPr>
          <p:cNvPr id="28" name="Shape 26"/>
          <p:cNvSpPr/>
          <p:nvPr/>
        </p:nvSpPr>
        <p:spPr>
          <a:xfrm>
            <a:off x="914400" y="9637395"/>
            <a:ext cx="16459200" cy="9525"/>
          </a:xfrm>
          <a:prstGeom prst="rect">
            <a:avLst/>
          </a:prstGeom>
          <a:solidFill>
            <a:srgbClr val="E2DACE"/>
          </a:solidFill>
          <a:ln/>
        </p:spPr>
      </p:sp>
      <p:sp>
        <p:nvSpPr>
          <p:cNvPr id="29" name="Text 27"/>
          <p:cNvSpPr/>
          <p:nvPr/>
        </p:nvSpPr>
        <p:spPr>
          <a:xfrm>
            <a:off x="914400" y="9768840"/>
            <a:ext cx="5462575" cy="21336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A89D8E"/>
                </a:solidFill>
                <a:latin typeface="Courier New" pitchFamily="34" charset="0"/>
                <a:ea typeface="Courier New" pitchFamily="34" charset="-122"/>
                <a:cs typeface="Courier New" pitchFamily="34" charset="-120"/>
              </a:rPr>
              <a:t>STRAUSS PROCUREMENT · FDE EXERCISE · CONFIDENTIAL</a:t>
            </a:r>
            <a:endParaRPr lang="en-US" sz="1050" dirty="0"/>
          </a:p>
        </p:txBody>
      </p:sp>
      <p:sp>
        <p:nvSpPr>
          <p:cNvPr id="30" name="Text 28"/>
          <p:cNvSpPr/>
          <p:nvPr/>
        </p:nvSpPr>
        <p:spPr>
          <a:xfrm>
            <a:off x="16664107" y="9768840"/>
            <a:ext cx="785693" cy="21336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A89D8E"/>
                </a:solidFill>
                <a:latin typeface="Courier New" pitchFamily="34" charset="0"/>
                <a:ea typeface="Courier New" pitchFamily="34" charset="-122"/>
                <a:cs typeface="Courier New" pitchFamily="34" charset="-120"/>
              </a:rPr>
              <a:t>02 / 19</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EFE7"/>
        </a:solidFill>
      </p:bgPr>
    </p:bg>
    <p:spTree>
      <p:nvGrpSpPr>
        <p:cNvPr id="1" name=""/>
        <p:cNvGrpSpPr/>
        <p:nvPr/>
      </p:nvGrpSpPr>
      <p:grpSpPr>
        <a:xfrm>
          <a:off x="0" y="0"/>
          <a:ext cx="0" cy="0"/>
          <a:chOff x="0" y="0"/>
          <a:chExt cx="0" cy="0"/>
        </a:xfrm>
      </p:grpSpPr>
      <p:sp>
        <p:nvSpPr>
          <p:cNvPr id="2" name="Shape 0"/>
          <p:cNvSpPr/>
          <p:nvPr/>
        </p:nvSpPr>
        <p:spPr>
          <a:xfrm>
            <a:off x="914400" y="1749742"/>
            <a:ext cx="16459200" cy="9525"/>
          </a:xfrm>
          <a:prstGeom prst="rect">
            <a:avLst/>
          </a:prstGeom>
          <a:solidFill>
            <a:srgbClr val="D7CDBE"/>
          </a:solidFill>
          <a:ln/>
        </p:spPr>
      </p:sp>
      <p:sp>
        <p:nvSpPr>
          <p:cNvPr id="3" name="Text 1"/>
          <p:cNvSpPr/>
          <p:nvPr/>
        </p:nvSpPr>
        <p:spPr>
          <a:xfrm>
            <a:off x="914400" y="704850"/>
            <a:ext cx="18105120" cy="259080"/>
          </a:xfrm>
          <a:prstGeom prst="rect">
            <a:avLst/>
          </a:prstGeom>
          <a:noFill/>
          <a:ln/>
        </p:spPr>
        <p:txBody>
          <a:bodyPr wrap="square" lIns="25400" tIns="25400" rIns="25400" bIns="25400" rtlCol="0" anchor="t">
            <a:normAutofit/>
          </a:bodyPr>
          <a:lstStyle/>
          <a:p>
            <a:pPr algn="l" indent="0" marL="0">
              <a:buNone/>
            </a:pPr>
            <a:r>
              <a:rPr lang="en-US" sz="1350" spc="324" kern="0" dirty="0">
                <a:solidFill>
                  <a:srgbClr val="B23B26"/>
                </a:solidFill>
                <a:latin typeface="Courier New" pitchFamily="34" charset="0"/>
                <a:ea typeface="Courier New" pitchFamily="34" charset="-122"/>
                <a:cs typeface="Courier New" pitchFamily="34" charset="-120"/>
              </a:rPr>
              <a:t>03 · STAKEHOLDER MAP</a:t>
            </a:r>
            <a:endParaRPr lang="en-US" sz="1350" dirty="0"/>
          </a:p>
        </p:txBody>
      </p:sp>
      <p:sp>
        <p:nvSpPr>
          <p:cNvPr id="4" name="Text 2"/>
          <p:cNvSpPr/>
          <p:nvPr/>
        </p:nvSpPr>
        <p:spPr>
          <a:xfrm>
            <a:off x="914400" y="1049655"/>
            <a:ext cx="18105120" cy="528638"/>
          </a:xfrm>
          <a:prstGeom prst="rect">
            <a:avLst/>
          </a:prstGeom>
          <a:noFill/>
          <a:ln/>
        </p:spPr>
        <p:txBody>
          <a:bodyPr wrap="square" lIns="25400" tIns="25400" rIns="25400" bIns="25400" rtlCol="0" anchor="t">
            <a:normAutofit/>
          </a:bodyPr>
          <a:lstStyle/>
          <a:p>
            <a:pPr algn="l" indent="0" marL="0">
              <a:lnSpc>
                <a:spcPct val="103000"/>
              </a:lnSpc>
              <a:buNone/>
            </a:pPr>
            <a:r>
              <a:rPr lang="en-US" sz="3750" spc="-56" kern="0" dirty="0">
                <a:solidFill>
                  <a:srgbClr val="221D17"/>
                </a:solidFill>
                <a:latin typeface="Georgia" pitchFamily="34" charset="0"/>
                <a:ea typeface="Georgia" pitchFamily="34" charset="-122"/>
                <a:cs typeface="Georgia" pitchFamily="34" charset="-120"/>
              </a:rPr>
              <a:t>Who uses this, who might resist, and my read on each</a:t>
            </a:r>
            <a:endParaRPr lang="en-US" sz="3750" dirty="0"/>
          </a:p>
        </p:txBody>
      </p:sp>
      <p:sp>
        <p:nvSpPr>
          <p:cNvPr id="5" name="Shape 3"/>
          <p:cNvSpPr/>
          <p:nvPr/>
        </p:nvSpPr>
        <p:spPr>
          <a:xfrm>
            <a:off x="914400" y="2304098"/>
            <a:ext cx="16459200" cy="15240"/>
          </a:xfrm>
          <a:prstGeom prst="rect">
            <a:avLst/>
          </a:prstGeom>
          <a:solidFill>
            <a:srgbClr val="221D17"/>
          </a:solidFill>
          <a:ln/>
        </p:spPr>
      </p:sp>
      <p:sp>
        <p:nvSpPr>
          <p:cNvPr id="6" name="Text 4"/>
          <p:cNvSpPr/>
          <p:nvPr/>
        </p:nvSpPr>
        <p:spPr>
          <a:xfrm>
            <a:off x="914400" y="2005013"/>
            <a:ext cx="4032659" cy="21336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94897A"/>
                </a:solidFill>
                <a:latin typeface="Courier New" pitchFamily="34" charset="0"/>
                <a:ea typeface="Courier New" pitchFamily="34" charset="-122"/>
                <a:cs typeface="Courier New" pitchFamily="34" charset="-120"/>
              </a:rPr>
              <a:t>STAKEHOLDER</a:t>
            </a:r>
            <a:endParaRPr lang="en-US" sz="1050" dirty="0"/>
          </a:p>
        </p:txBody>
      </p:sp>
      <p:sp>
        <p:nvSpPr>
          <p:cNvPr id="7" name="Text 5"/>
          <p:cNvSpPr/>
          <p:nvPr/>
        </p:nvSpPr>
        <p:spPr>
          <a:xfrm>
            <a:off x="4999554" y="2005013"/>
            <a:ext cx="4383524" cy="21336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94897A"/>
                </a:solidFill>
                <a:latin typeface="Courier New" pitchFamily="34" charset="0"/>
                <a:ea typeface="Courier New" pitchFamily="34" charset="-122"/>
                <a:cs typeface="Courier New" pitchFamily="34" charset="-120"/>
              </a:rPr>
              <a:t>WHAT THEY NEED</a:t>
            </a:r>
            <a:endParaRPr lang="en-US" sz="1050" dirty="0"/>
          </a:p>
        </p:txBody>
      </p:sp>
      <p:sp>
        <p:nvSpPr>
          <p:cNvPr id="8" name="Text 6"/>
          <p:cNvSpPr/>
          <p:nvPr/>
        </p:nvSpPr>
        <p:spPr>
          <a:xfrm>
            <a:off x="9403675" y="2005013"/>
            <a:ext cx="8766917" cy="21336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94897A"/>
                </a:solidFill>
                <a:latin typeface="Courier New" pitchFamily="34" charset="0"/>
                <a:ea typeface="Courier New" pitchFamily="34" charset="-122"/>
                <a:cs typeface="Courier New" pitchFamily="34" charset="-120"/>
              </a:rPr>
              <a:t>MY READ</a:t>
            </a:r>
            <a:endParaRPr lang="en-US" sz="1050" dirty="0"/>
          </a:p>
        </p:txBody>
      </p:sp>
      <p:sp>
        <p:nvSpPr>
          <p:cNvPr id="9" name="Shape 7"/>
          <p:cNvSpPr/>
          <p:nvPr/>
        </p:nvSpPr>
        <p:spPr>
          <a:xfrm>
            <a:off x="914400" y="3252788"/>
            <a:ext cx="16459200" cy="9525"/>
          </a:xfrm>
          <a:prstGeom prst="rect">
            <a:avLst/>
          </a:prstGeom>
          <a:solidFill>
            <a:srgbClr val="DBD2C4"/>
          </a:solidFill>
          <a:ln/>
        </p:spPr>
      </p:sp>
      <p:sp>
        <p:nvSpPr>
          <p:cNvPr id="10" name="Text 8"/>
          <p:cNvSpPr/>
          <p:nvPr/>
        </p:nvSpPr>
        <p:spPr>
          <a:xfrm>
            <a:off x="914400" y="2500313"/>
            <a:ext cx="4032659" cy="294084"/>
          </a:xfrm>
          <a:prstGeom prst="rect">
            <a:avLst/>
          </a:prstGeom>
          <a:noFill/>
          <a:ln/>
        </p:spPr>
        <p:txBody>
          <a:bodyPr wrap="square" lIns="25400" tIns="25400" rIns="25400" bIns="25400" rtlCol="0" anchor="t">
            <a:normAutofit/>
          </a:bodyPr>
          <a:lstStyle/>
          <a:p>
            <a:pPr algn="l" indent="0" marL="0">
              <a:lnSpc>
                <a:spcPct val="112000"/>
              </a:lnSpc>
              <a:buNone/>
            </a:pPr>
            <a:r>
              <a:rPr lang="en-US" sz="1800" dirty="0">
                <a:solidFill>
                  <a:srgbClr val="221D17"/>
                </a:solidFill>
                <a:latin typeface="Georgia" pitchFamily="34" charset="0"/>
                <a:ea typeface="Georgia" pitchFamily="34" charset="-122"/>
                <a:cs typeface="Georgia" pitchFamily="34" charset="-120"/>
              </a:rPr>
              <a:t>Procurement Manager</a:t>
            </a:r>
            <a:endParaRPr lang="en-US" sz="1800" dirty="0"/>
          </a:p>
        </p:txBody>
      </p:sp>
      <p:sp>
        <p:nvSpPr>
          <p:cNvPr id="11" name="Text 9"/>
          <p:cNvSpPr/>
          <p:nvPr/>
        </p:nvSpPr>
        <p:spPr>
          <a:xfrm>
            <a:off x="914400" y="2813447"/>
            <a:ext cx="4032659" cy="238125"/>
          </a:xfrm>
          <a:prstGeom prst="rect">
            <a:avLst/>
          </a:prstGeom>
          <a:noFill/>
          <a:ln/>
        </p:spPr>
        <p:txBody>
          <a:bodyPr wrap="square" lIns="25400" tIns="25400" rIns="25400" bIns="25400" rtlCol="0" anchor="t">
            <a:normAutofit/>
          </a:bodyPr>
          <a:lstStyle/>
          <a:p>
            <a:pPr algn="l" indent="0" marL="0">
              <a:lnSpc>
                <a:spcPct val="150000"/>
              </a:lnSpc>
              <a:buNone/>
            </a:pPr>
            <a:r>
              <a:rPr lang="en-US" sz="1050" spc="42" kern="0" dirty="0">
                <a:solidFill>
                  <a:srgbClr val="A0957F"/>
                </a:solidFill>
                <a:latin typeface="Courier New" pitchFamily="34" charset="0"/>
                <a:ea typeface="Courier New" pitchFamily="34" charset="-122"/>
                <a:cs typeface="Courier New" pitchFamily="34" charset="-120"/>
              </a:rPr>
              <a:t>Primary user · Internal champion</a:t>
            </a:r>
            <a:endParaRPr lang="en-US" sz="1050" dirty="0"/>
          </a:p>
        </p:txBody>
      </p:sp>
      <p:sp>
        <p:nvSpPr>
          <p:cNvPr id="12" name="Text 10"/>
          <p:cNvSpPr/>
          <p:nvPr/>
        </p:nvSpPr>
        <p:spPr>
          <a:xfrm>
            <a:off x="4999554" y="2500313"/>
            <a:ext cx="4383524"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4A443B"/>
                </a:solidFill>
                <a:latin typeface="Arial" pitchFamily="34" charset="0"/>
                <a:ea typeface="Arial" pitchFamily="34" charset="-122"/>
                <a:cs typeface="Arial" pitchFamily="34" charset="-120"/>
              </a:rPr>
              <a:t>Speed + accuracy · visible conflict flags</a:t>
            </a:r>
            <a:endParaRPr lang="en-US" sz="1500" dirty="0"/>
          </a:p>
        </p:txBody>
      </p:sp>
      <p:sp>
        <p:nvSpPr>
          <p:cNvPr id="13" name="Shape 11"/>
          <p:cNvSpPr/>
          <p:nvPr/>
        </p:nvSpPr>
        <p:spPr>
          <a:xfrm>
            <a:off x="9403675" y="2566988"/>
            <a:ext cx="85725" cy="85725"/>
          </a:xfrm>
          <a:prstGeom prst="ellipse">
            <a:avLst/>
          </a:prstGeom>
          <a:solidFill>
            <a:srgbClr val="5E7350"/>
          </a:solidFill>
          <a:ln/>
        </p:spPr>
      </p:sp>
      <p:sp>
        <p:nvSpPr>
          <p:cNvPr id="14" name="Text 12"/>
          <p:cNvSpPr/>
          <p:nvPr/>
        </p:nvSpPr>
        <p:spPr>
          <a:xfrm>
            <a:off x="9613225" y="2500313"/>
            <a:ext cx="7993186" cy="60960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4A443B"/>
                </a:solidFill>
                <a:latin typeface="Arial" pitchFamily="34" charset="0"/>
                <a:ea typeface="Arial" pitchFamily="34" charset="-122"/>
                <a:cs typeface="Arial" pitchFamily="34" charset="-120"/>
              </a:rPr>
              <a:t>Strongest ally, named the problem themselves. Will adopt fast if the first packet catches something real. Risk: one factual error in the demo and trust is hard to rebuild.</a:t>
            </a:r>
            <a:endParaRPr lang="en-US" sz="1500" dirty="0"/>
          </a:p>
        </p:txBody>
      </p:sp>
      <p:sp>
        <p:nvSpPr>
          <p:cNvPr id="15" name="Shape 13"/>
          <p:cNvSpPr/>
          <p:nvPr/>
        </p:nvSpPr>
        <p:spPr>
          <a:xfrm>
            <a:off x="914400" y="4479608"/>
            <a:ext cx="16459200" cy="9525"/>
          </a:xfrm>
          <a:prstGeom prst="rect">
            <a:avLst/>
          </a:prstGeom>
          <a:solidFill>
            <a:srgbClr val="DBD2C4"/>
          </a:solidFill>
          <a:ln/>
        </p:spPr>
      </p:sp>
      <p:sp>
        <p:nvSpPr>
          <p:cNvPr id="16" name="Text 14"/>
          <p:cNvSpPr/>
          <p:nvPr/>
        </p:nvSpPr>
        <p:spPr>
          <a:xfrm>
            <a:off x="914400" y="3441383"/>
            <a:ext cx="4032659" cy="294084"/>
          </a:xfrm>
          <a:prstGeom prst="rect">
            <a:avLst/>
          </a:prstGeom>
          <a:noFill/>
          <a:ln/>
        </p:spPr>
        <p:txBody>
          <a:bodyPr wrap="square" lIns="25400" tIns="25400" rIns="25400" bIns="25400" rtlCol="0" anchor="t">
            <a:normAutofit/>
          </a:bodyPr>
          <a:lstStyle/>
          <a:p>
            <a:pPr algn="l" indent="0" marL="0">
              <a:lnSpc>
                <a:spcPct val="112000"/>
              </a:lnSpc>
              <a:buNone/>
            </a:pPr>
            <a:r>
              <a:rPr lang="en-US" sz="1800" dirty="0">
                <a:solidFill>
                  <a:srgbClr val="221D17"/>
                </a:solidFill>
                <a:latin typeface="Georgia" pitchFamily="34" charset="0"/>
                <a:ea typeface="Georgia" pitchFamily="34" charset="-122"/>
                <a:cs typeface="Georgia" pitchFamily="34" charset="-120"/>
              </a:rPr>
              <a:t>Procurement Analyst</a:t>
            </a:r>
            <a:endParaRPr lang="en-US" sz="1800" dirty="0"/>
          </a:p>
        </p:txBody>
      </p:sp>
      <p:sp>
        <p:nvSpPr>
          <p:cNvPr id="17" name="Text 15"/>
          <p:cNvSpPr/>
          <p:nvPr/>
        </p:nvSpPr>
        <p:spPr>
          <a:xfrm>
            <a:off x="914400" y="3754517"/>
            <a:ext cx="4032659" cy="238125"/>
          </a:xfrm>
          <a:prstGeom prst="rect">
            <a:avLst/>
          </a:prstGeom>
          <a:noFill/>
          <a:ln/>
        </p:spPr>
        <p:txBody>
          <a:bodyPr wrap="square" lIns="25400" tIns="25400" rIns="25400" bIns="25400" rtlCol="0" anchor="t">
            <a:normAutofit/>
          </a:bodyPr>
          <a:lstStyle/>
          <a:p>
            <a:pPr algn="l" indent="0" marL="0">
              <a:lnSpc>
                <a:spcPct val="150000"/>
              </a:lnSpc>
              <a:buNone/>
            </a:pPr>
            <a:r>
              <a:rPr lang="en-US" sz="1050" spc="42" kern="0" dirty="0">
                <a:solidFill>
                  <a:srgbClr val="A0957F"/>
                </a:solidFill>
                <a:latin typeface="Courier New" pitchFamily="34" charset="0"/>
                <a:ea typeface="Courier New" pitchFamily="34" charset="-122"/>
                <a:cs typeface="Courier New" pitchFamily="34" charset="-120"/>
              </a:rPr>
              <a:t>Day-to-day user · QA reviewer</a:t>
            </a:r>
            <a:endParaRPr lang="en-US" sz="1050" dirty="0"/>
          </a:p>
        </p:txBody>
      </p:sp>
      <p:sp>
        <p:nvSpPr>
          <p:cNvPr id="18" name="Text 16"/>
          <p:cNvSpPr/>
          <p:nvPr/>
        </p:nvSpPr>
        <p:spPr>
          <a:xfrm>
            <a:off x="4999554" y="3441383"/>
            <a:ext cx="4104573" cy="60960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4A443B"/>
                </a:solidFill>
                <a:latin typeface="Arial" pitchFamily="34" charset="0"/>
                <a:ea typeface="Arial" pitchFamily="34" charset="-122"/>
                <a:cs typeface="Arial" pitchFamily="34" charset="-120"/>
              </a:rPr>
              <a:t>Less manual work · enough trust to stake prep on it</a:t>
            </a:r>
            <a:endParaRPr lang="en-US" sz="1500" dirty="0"/>
          </a:p>
        </p:txBody>
      </p:sp>
      <p:sp>
        <p:nvSpPr>
          <p:cNvPr id="19" name="Shape 17"/>
          <p:cNvSpPr/>
          <p:nvPr/>
        </p:nvSpPr>
        <p:spPr>
          <a:xfrm>
            <a:off x="9403675" y="3508058"/>
            <a:ext cx="85725" cy="85725"/>
          </a:xfrm>
          <a:prstGeom prst="ellipse">
            <a:avLst/>
          </a:prstGeom>
          <a:solidFill>
            <a:srgbClr val="B23B26"/>
          </a:solidFill>
          <a:ln/>
        </p:spPr>
      </p:sp>
      <p:sp>
        <p:nvSpPr>
          <p:cNvPr id="20" name="Text 18"/>
          <p:cNvSpPr/>
          <p:nvPr/>
        </p:nvSpPr>
        <p:spPr>
          <a:xfrm>
            <a:off x="9613225" y="3441383"/>
            <a:ext cx="7993186" cy="89535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4A443B"/>
                </a:solidFill>
                <a:latin typeface="Arial" pitchFamily="34" charset="0"/>
                <a:ea typeface="Arial" pitchFamily="34" charset="-122"/>
                <a:cs typeface="Arial" pitchFamily="34" charset="-120"/>
              </a:rPr>
              <a:t>Highest adoption risk. Won’t say they feel threatened, they’ll say “the output is wrong” or “it adds a review step.” Counter: involve them in Phase 1 QA; make corrections visibly theirs.</a:t>
            </a:r>
            <a:endParaRPr lang="en-US" sz="1500" dirty="0"/>
          </a:p>
        </p:txBody>
      </p:sp>
      <p:sp>
        <p:nvSpPr>
          <p:cNvPr id="21" name="Shape 19"/>
          <p:cNvSpPr/>
          <p:nvPr/>
        </p:nvSpPr>
        <p:spPr>
          <a:xfrm>
            <a:off x="914400" y="5420678"/>
            <a:ext cx="16459200" cy="9525"/>
          </a:xfrm>
          <a:prstGeom prst="rect">
            <a:avLst/>
          </a:prstGeom>
          <a:solidFill>
            <a:srgbClr val="DBD2C4"/>
          </a:solidFill>
          <a:ln/>
        </p:spPr>
      </p:sp>
      <p:sp>
        <p:nvSpPr>
          <p:cNvPr id="22" name="Text 20"/>
          <p:cNvSpPr/>
          <p:nvPr/>
        </p:nvSpPr>
        <p:spPr>
          <a:xfrm>
            <a:off x="914400" y="4668203"/>
            <a:ext cx="4032659" cy="294084"/>
          </a:xfrm>
          <a:prstGeom prst="rect">
            <a:avLst/>
          </a:prstGeom>
          <a:noFill/>
          <a:ln/>
        </p:spPr>
        <p:txBody>
          <a:bodyPr wrap="square" lIns="25400" tIns="25400" rIns="25400" bIns="25400" rtlCol="0" anchor="t">
            <a:normAutofit/>
          </a:bodyPr>
          <a:lstStyle/>
          <a:p>
            <a:pPr algn="l" indent="0" marL="0">
              <a:lnSpc>
                <a:spcPct val="112000"/>
              </a:lnSpc>
              <a:buNone/>
            </a:pPr>
            <a:r>
              <a:rPr lang="en-US" sz="1800" dirty="0">
                <a:solidFill>
                  <a:srgbClr val="221D17"/>
                </a:solidFill>
                <a:latin typeface="Georgia" pitchFamily="34" charset="0"/>
                <a:ea typeface="Georgia" pitchFamily="34" charset="-122"/>
                <a:cs typeface="Georgia" pitchFamily="34" charset="-120"/>
              </a:rPr>
              <a:t>IT / Systems</a:t>
            </a:r>
            <a:endParaRPr lang="en-US" sz="1800" dirty="0"/>
          </a:p>
        </p:txBody>
      </p:sp>
      <p:sp>
        <p:nvSpPr>
          <p:cNvPr id="23" name="Text 21"/>
          <p:cNvSpPr/>
          <p:nvPr/>
        </p:nvSpPr>
        <p:spPr>
          <a:xfrm>
            <a:off x="914400" y="4981337"/>
            <a:ext cx="4032659" cy="238125"/>
          </a:xfrm>
          <a:prstGeom prst="rect">
            <a:avLst/>
          </a:prstGeom>
          <a:noFill/>
          <a:ln/>
        </p:spPr>
        <p:txBody>
          <a:bodyPr wrap="square" lIns="25400" tIns="25400" rIns="25400" bIns="25400" rtlCol="0" anchor="t">
            <a:normAutofit/>
          </a:bodyPr>
          <a:lstStyle/>
          <a:p>
            <a:pPr algn="l" indent="0" marL="0">
              <a:lnSpc>
                <a:spcPct val="150000"/>
              </a:lnSpc>
              <a:buNone/>
            </a:pPr>
            <a:r>
              <a:rPr lang="en-US" sz="1050" spc="42" kern="0" dirty="0">
                <a:solidFill>
                  <a:srgbClr val="A0957F"/>
                </a:solidFill>
                <a:latin typeface="Courier New" pitchFamily="34" charset="0"/>
                <a:ea typeface="Courier New" pitchFamily="34" charset="-122"/>
                <a:cs typeface="Courier New" pitchFamily="34" charset="-120"/>
              </a:rPr>
              <a:t>Enabler for production path</a:t>
            </a:r>
            <a:endParaRPr lang="en-US" sz="1050" dirty="0"/>
          </a:p>
        </p:txBody>
      </p:sp>
      <p:sp>
        <p:nvSpPr>
          <p:cNvPr id="24" name="Text 22"/>
          <p:cNvSpPr/>
          <p:nvPr/>
        </p:nvSpPr>
        <p:spPr>
          <a:xfrm>
            <a:off x="4999554" y="4668203"/>
            <a:ext cx="4104573" cy="60960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4A443B"/>
                </a:solidFill>
                <a:latin typeface="Arial" pitchFamily="34" charset="0"/>
                <a:ea typeface="Arial" pitchFamily="34" charset="-122"/>
                <a:cs typeface="Arial" pitchFamily="34" charset="-120"/>
              </a:rPr>
              <a:t>Security review · data governance · API key management</a:t>
            </a:r>
            <a:endParaRPr lang="en-US" sz="1500" dirty="0"/>
          </a:p>
        </p:txBody>
      </p:sp>
      <p:sp>
        <p:nvSpPr>
          <p:cNvPr id="25" name="Shape 23"/>
          <p:cNvSpPr/>
          <p:nvPr/>
        </p:nvSpPr>
        <p:spPr>
          <a:xfrm>
            <a:off x="9403675" y="4734878"/>
            <a:ext cx="85725" cy="85725"/>
          </a:xfrm>
          <a:prstGeom prst="ellipse">
            <a:avLst/>
          </a:prstGeom>
          <a:solidFill>
            <a:srgbClr val="C49A4A"/>
          </a:solidFill>
          <a:ln/>
        </p:spPr>
      </p:sp>
      <p:sp>
        <p:nvSpPr>
          <p:cNvPr id="26" name="Text 24"/>
          <p:cNvSpPr/>
          <p:nvPr/>
        </p:nvSpPr>
        <p:spPr>
          <a:xfrm>
            <a:off x="9613225" y="4668203"/>
            <a:ext cx="7993186" cy="60960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4A443B"/>
                </a:solidFill>
                <a:latin typeface="Arial" pitchFamily="34" charset="0"/>
                <a:ea typeface="Arial" pitchFamily="34" charset="-122"/>
                <a:cs typeface="Arial" pitchFamily="34" charset="-120"/>
              </a:rPr>
              <a:t>Not a blocker for the prototype (static files, nothing touches live systems). Critical gating stakeholder for Phase 2, needs early visibility, not a last-minute ask.</a:t>
            </a:r>
            <a:endParaRPr lang="en-US" sz="1500" dirty="0"/>
          </a:p>
        </p:txBody>
      </p:sp>
      <p:sp>
        <p:nvSpPr>
          <p:cNvPr id="27" name="Shape 25"/>
          <p:cNvSpPr/>
          <p:nvPr/>
        </p:nvSpPr>
        <p:spPr>
          <a:xfrm>
            <a:off x="914400" y="6647498"/>
            <a:ext cx="16459200" cy="9525"/>
          </a:xfrm>
          <a:prstGeom prst="rect">
            <a:avLst/>
          </a:prstGeom>
          <a:solidFill>
            <a:srgbClr val="DBD2C4"/>
          </a:solidFill>
          <a:ln/>
        </p:spPr>
      </p:sp>
      <p:sp>
        <p:nvSpPr>
          <p:cNvPr id="28" name="Text 26"/>
          <p:cNvSpPr/>
          <p:nvPr/>
        </p:nvSpPr>
        <p:spPr>
          <a:xfrm>
            <a:off x="914400" y="5609273"/>
            <a:ext cx="4032659" cy="294084"/>
          </a:xfrm>
          <a:prstGeom prst="rect">
            <a:avLst/>
          </a:prstGeom>
          <a:noFill/>
          <a:ln/>
        </p:spPr>
        <p:txBody>
          <a:bodyPr wrap="square" lIns="25400" tIns="25400" rIns="25400" bIns="25400" rtlCol="0" anchor="t">
            <a:normAutofit/>
          </a:bodyPr>
          <a:lstStyle/>
          <a:p>
            <a:pPr algn="l" indent="0" marL="0">
              <a:lnSpc>
                <a:spcPct val="112000"/>
              </a:lnSpc>
              <a:buNone/>
            </a:pPr>
            <a:r>
              <a:rPr lang="en-US" sz="1800" dirty="0">
                <a:solidFill>
                  <a:srgbClr val="221D17"/>
                </a:solidFill>
                <a:latin typeface="Georgia" pitchFamily="34" charset="0"/>
                <a:ea typeface="Georgia" pitchFamily="34" charset="-122"/>
                <a:cs typeface="Georgia" pitchFamily="34" charset="-120"/>
              </a:rPr>
              <a:t>Legal / Compliance</a:t>
            </a:r>
            <a:endParaRPr lang="en-US" sz="1800" dirty="0"/>
          </a:p>
        </p:txBody>
      </p:sp>
      <p:sp>
        <p:nvSpPr>
          <p:cNvPr id="29" name="Text 27"/>
          <p:cNvSpPr/>
          <p:nvPr/>
        </p:nvSpPr>
        <p:spPr>
          <a:xfrm>
            <a:off x="914400" y="5922407"/>
            <a:ext cx="4032659" cy="238125"/>
          </a:xfrm>
          <a:prstGeom prst="rect">
            <a:avLst/>
          </a:prstGeom>
          <a:noFill/>
          <a:ln/>
        </p:spPr>
        <p:txBody>
          <a:bodyPr wrap="square" lIns="25400" tIns="25400" rIns="25400" bIns="25400" rtlCol="0" anchor="t">
            <a:normAutofit/>
          </a:bodyPr>
          <a:lstStyle/>
          <a:p>
            <a:pPr algn="l" indent="0" marL="0">
              <a:lnSpc>
                <a:spcPct val="150000"/>
              </a:lnSpc>
              <a:buNone/>
            </a:pPr>
            <a:r>
              <a:rPr lang="en-US" sz="1050" spc="42" kern="0" dirty="0">
                <a:solidFill>
                  <a:srgbClr val="A0957F"/>
                </a:solidFill>
                <a:latin typeface="Courier New" pitchFamily="34" charset="0"/>
                <a:ea typeface="Courier New" pitchFamily="34" charset="-122"/>
                <a:cs typeface="Courier New" pitchFamily="34" charset="-120"/>
              </a:rPr>
              <a:t>Risk owner</a:t>
            </a:r>
            <a:endParaRPr lang="en-US" sz="1050" dirty="0"/>
          </a:p>
        </p:txBody>
      </p:sp>
      <p:sp>
        <p:nvSpPr>
          <p:cNvPr id="30" name="Text 28"/>
          <p:cNvSpPr/>
          <p:nvPr/>
        </p:nvSpPr>
        <p:spPr>
          <a:xfrm>
            <a:off x="4999554" y="5609273"/>
            <a:ext cx="4104573" cy="60960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4A443B"/>
                </a:solidFill>
                <a:latin typeface="Arial" pitchFamily="34" charset="0"/>
                <a:ea typeface="Arial" pitchFamily="34" charset="-122"/>
                <a:cs typeface="Arial" pitchFamily="34" charset="-120"/>
              </a:rPr>
              <a:t>AI output never treated as authoritative without human review</a:t>
            </a:r>
            <a:endParaRPr lang="en-US" sz="1500" dirty="0"/>
          </a:p>
        </p:txBody>
      </p:sp>
      <p:sp>
        <p:nvSpPr>
          <p:cNvPr id="31" name="Shape 29"/>
          <p:cNvSpPr/>
          <p:nvPr/>
        </p:nvSpPr>
        <p:spPr>
          <a:xfrm>
            <a:off x="9403675" y="5675948"/>
            <a:ext cx="85725" cy="85725"/>
          </a:xfrm>
          <a:prstGeom prst="ellipse">
            <a:avLst/>
          </a:prstGeom>
          <a:solidFill>
            <a:srgbClr val="C49A4A"/>
          </a:solidFill>
          <a:ln/>
        </p:spPr>
      </p:sp>
      <p:sp>
        <p:nvSpPr>
          <p:cNvPr id="32" name="Text 30"/>
          <p:cNvSpPr/>
          <p:nvPr/>
        </p:nvSpPr>
        <p:spPr>
          <a:xfrm>
            <a:off x="9613225" y="5609273"/>
            <a:ext cx="7993186" cy="89535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4A443B"/>
                </a:solidFill>
                <a:latin typeface="Arial" pitchFamily="34" charset="0"/>
                <a:ea typeface="Arial" pitchFamily="34" charset="-122"/>
                <a:cs typeface="Arial" pitchFamily="34" charset="-120"/>
              </a:rPr>
              <a:t>Potentially cautious. Answer: every fact carries a source citation. Frame as “surfaces for review,” not “interprets contracts.” The correction mechanism is the direct answer to their concern.</a:t>
            </a:r>
            <a:endParaRPr lang="en-US" sz="1500" dirty="0"/>
          </a:p>
        </p:txBody>
      </p:sp>
      <p:sp>
        <p:nvSpPr>
          <p:cNvPr id="33" name="Shape 31"/>
          <p:cNvSpPr/>
          <p:nvPr/>
        </p:nvSpPr>
        <p:spPr>
          <a:xfrm>
            <a:off x="914400" y="7588568"/>
            <a:ext cx="16459200" cy="9525"/>
          </a:xfrm>
          <a:prstGeom prst="rect">
            <a:avLst/>
          </a:prstGeom>
          <a:solidFill>
            <a:srgbClr val="DBD2C4"/>
          </a:solidFill>
          <a:ln/>
        </p:spPr>
      </p:sp>
      <p:sp>
        <p:nvSpPr>
          <p:cNvPr id="34" name="Text 32"/>
          <p:cNvSpPr/>
          <p:nvPr/>
        </p:nvSpPr>
        <p:spPr>
          <a:xfrm>
            <a:off x="914400" y="6836093"/>
            <a:ext cx="4032659" cy="294084"/>
          </a:xfrm>
          <a:prstGeom prst="rect">
            <a:avLst/>
          </a:prstGeom>
          <a:noFill/>
          <a:ln/>
        </p:spPr>
        <p:txBody>
          <a:bodyPr wrap="square" lIns="25400" tIns="25400" rIns="25400" bIns="25400" rtlCol="0" anchor="t">
            <a:normAutofit/>
          </a:bodyPr>
          <a:lstStyle/>
          <a:p>
            <a:pPr algn="l" indent="0" marL="0">
              <a:lnSpc>
                <a:spcPct val="112000"/>
              </a:lnSpc>
              <a:buNone/>
            </a:pPr>
            <a:r>
              <a:rPr lang="en-US" sz="1800" dirty="0">
                <a:solidFill>
                  <a:srgbClr val="221D17"/>
                </a:solidFill>
                <a:latin typeface="Georgia" pitchFamily="34" charset="0"/>
                <a:ea typeface="Georgia" pitchFamily="34" charset="-122"/>
                <a:cs typeface="Georgia" pitchFamily="34" charset="-120"/>
              </a:rPr>
              <a:t>Finance / CFO</a:t>
            </a:r>
            <a:endParaRPr lang="en-US" sz="1800" dirty="0"/>
          </a:p>
        </p:txBody>
      </p:sp>
      <p:sp>
        <p:nvSpPr>
          <p:cNvPr id="35" name="Text 33"/>
          <p:cNvSpPr/>
          <p:nvPr/>
        </p:nvSpPr>
        <p:spPr>
          <a:xfrm>
            <a:off x="914400" y="7149227"/>
            <a:ext cx="4032659" cy="238125"/>
          </a:xfrm>
          <a:prstGeom prst="rect">
            <a:avLst/>
          </a:prstGeom>
          <a:noFill/>
          <a:ln/>
        </p:spPr>
        <p:txBody>
          <a:bodyPr wrap="square" lIns="25400" tIns="25400" rIns="25400" bIns="25400" rtlCol="0" anchor="t">
            <a:normAutofit/>
          </a:bodyPr>
          <a:lstStyle/>
          <a:p>
            <a:pPr algn="l" indent="0" marL="0">
              <a:lnSpc>
                <a:spcPct val="150000"/>
              </a:lnSpc>
              <a:buNone/>
            </a:pPr>
            <a:r>
              <a:rPr lang="en-US" sz="1050" spc="42" kern="0" dirty="0">
                <a:solidFill>
                  <a:srgbClr val="A0957F"/>
                </a:solidFill>
                <a:latin typeface="Courier New" pitchFamily="34" charset="0"/>
                <a:ea typeface="Courier New" pitchFamily="34" charset="-122"/>
                <a:cs typeface="Courier New" pitchFamily="34" charset="-120"/>
              </a:rPr>
              <a:t>Cost approver</a:t>
            </a:r>
            <a:endParaRPr lang="en-US" sz="1050" dirty="0"/>
          </a:p>
        </p:txBody>
      </p:sp>
      <p:sp>
        <p:nvSpPr>
          <p:cNvPr id="36" name="Text 34"/>
          <p:cNvSpPr/>
          <p:nvPr/>
        </p:nvSpPr>
        <p:spPr>
          <a:xfrm>
            <a:off x="4999554" y="6836093"/>
            <a:ext cx="4383524"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4A443B"/>
                </a:solidFill>
                <a:latin typeface="Arial" pitchFamily="34" charset="0"/>
                <a:ea typeface="Arial" pitchFamily="34" charset="-122"/>
                <a:cs typeface="Arial" pitchFamily="34" charset="-120"/>
              </a:rPr>
              <a:t>Measurable ROI in 90 days</a:t>
            </a:r>
            <a:endParaRPr lang="en-US" sz="1500" dirty="0"/>
          </a:p>
        </p:txBody>
      </p:sp>
      <p:sp>
        <p:nvSpPr>
          <p:cNvPr id="37" name="Shape 35"/>
          <p:cNvSpPr/>
          <p:nvPr/>
        </p:nvSpPr>
        <p:spPr>
          <a:xfrm>
            <a:off x="9403675" y="6902768"/>
            <a:ext cx="85725" cy="85725"/>
          </a:xfrm>
          <a:prstGeom prst="ellipse">
            <a:avLst/>
          </a:prstGeom>
          <a:solidFill>
            <a:srgbClr val="C49A4A"/>
          </a:solidFill>
          <a:ln/>
        </p:spPr>
      </p:sp>
      <p:sp>
        <p:nvSpPr>
          <p:cNvPr id="38" name="Text 36"/>
          <p:cNvSpPr/>
          <p:nvPr/>
        </p:nvSpPr>
        <p:spPr>
          <a:xfrm>
            <a:off x="9613225" y="6836093"/>
            <a:ext cx="7993186" cy="60960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4A443B"/>
                </a:solidFill>
                <a:latin typeface="Arial" pitchFamily="34" charset="0"/>
                <a:ea typeface="Arial" pitchFamily="34" charset="-122"/>
                <a:cs typeface="Arial" pitchFamily="34" charset="-120"/>
              </a:rPr>
              <a:t>Not a day-one stakeholder, bring the ROI case at month 3. Lead with labor-cost avoidance (conservative, auditable), not speculative negotiation savings.</a:t>
            </a:r>
            <a:endParaRPr lang="en-US" sz="1500" dirty="0"/>
          </a:p>
        </p:txBody>
      </p:sp>
      <p:sp>
        <p:nvSpPr>
          <p:cNvPr id="39" name="Shape 37"/>
          <p:cNvSpPr/>
          <p:nvPr/>
        </p:nvSpPr>
        <p:spPr>
          <a:xfrm>
            <a:off x="914400" y="9637395"/>
            <a:ext cx="16459200" cy="9525"/>
          </a:xfrm>
          <a:prstGeom prst="rect">
            <a:avLst/>
          </a:prstGeom>
          <a:solidFill>
            <a:srgbClr val="E2DACE"/>
          </a:solidFill>
          <a:ln/>
        </p:spPr>
      </p:sp>
      <p:sp>
        <p:nvSpPr>
          <p:cNvPr id="40" name="Text 38"/>
          <p:cNvSpPr/>
          <p:nvPr/>
        </p:nvSpPr>
        <p:spPr>
          <a:xfrm>
            <a:off x="914400" y="9768840"/>
            <a:ext cx="5462575" cy="21336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A89D8E"/>
                </a:solidFill>
                <a:latin typeface="Courier New" pitchFamily="34" charset="0"/>
                <a:ea typeface="Courier New" pitchFamily="34" charset="-122"/>
                <a:cs typeface="Courier New" pitchFamily="34" charset="-120"/>
              </a:rPr>
              <a:t>STRAUSS PROCUREMENT · FDE EXERCISE · CONFIDENTIAL</a:t>
            </a:r>
            <a:endParaRPr lang="en-US" sz="1050" dirty="0"/>
          </a:p>
        </p:txBody>
      </p:sp>
      <p:sp>
        <p:nvSpPr>
          <p:cNvPr id="41" name="Text 39"/>
          <p:cNvSpPr/>
          <p:nvPr/>
        </p:nvSpPr>
        <p:spPr>
          <a:xfrm>
            <a:off x="16664107" y="9768840"/>
            <a:ext cx="785693" cy="21336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A89D8E"/>
                </a:solidFill>
                <a:latin typeface="Courier New" pitchFamily="34" charset="0"/>
                <a:ea typeface="Courier New" pitchFamily="34" charset="-122"/>
                <a:cs typeface="Courier New" pitchFamily="34" charset="-120"/>
              </a:rPr>
              <a:t>03 / 19</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EFE7"/>
        </a:solidFill>
      </p:bgPr>
    </p:bg>
    <p:spTree>
      <p:nvGrpSpPr>
        <p:cNvPr id="1" name=""/>
        <p:cNvGrpSpPr/>
        <p:nvPr/>
      </p:nvGrpSpPr>
      <p:grpSpPr>
        <a:xfrm>
          <a:off x="0" y="0"/>
          <a:ext cx="0" cy="0"/>
          <a:chOff x="0" y="0"/>
          <a:chExt cx="0" cy="0"/>
        </a:xfrm>
      </p:grpSpPr>
      <p:sp>
        <p:nvSpPr>
          <p:cNvPr id="2" name="Shape 0"/>
          <p:cNvSpPr/>
          <p:nvPr/>
        </p:nvSpPr>
        <p:spPr>
          <a:xfrm>
            <a:off x="914400" y="1749742"/>
            <a:ext cx="16459200" cy="9525"/>
          </a:xfrm>
          <a:prstGeom prst="rect">
            <a:avLst/>
          </a:prstGeom>
          <a:solidFill>
            <a:srgbClr val="D7CDBE"/>
          </a:solidFill>
          <a:ln/>
        </p:spPr>
        <p:txBody>
          <a:bodyPr/>
          <a:p/>
        </p:txBody>
      </p:sp>
      <p:sp>
        <p:nvSpPr>
          <p:cNvPr id="3" name="Text 1"/>
          <p:cNvSpPr/>
          <p:nvPr/>
        </p:nvSpPr>
        <p:spPr>
          <a:xfrm>
            <a:off x="914400" y="704850"/>
            <a:ext cx="18105120" cy="259080"/>
          </a:xfrm>
          <a:prstGeom prst="rect">
            <a:avLst/>
          </a:prstGeom>
          <a:noFill/>
          <a:ln/>
        </p:spPr>
        <p:txBody>
          <a:bodyPr wrap="square" lIns="25400" tIns="25400" rIns="25400" bIns="25400" rtlCol="0" anchor="t">
            <a:normAutofit/>
          </a:bodyPr>
          <a:lstStyle/>
          <a:p>
            <a:pPr algn="l" indent="0" marL="0">
              <a:buNone/>
            </a:pPr>
            <a:r>
              <a:rPr lang="en-US" sz="1350" spc="324" kern="0" dirty="0">
                <a:solidFill>
                  <a:srgbClr val="B23B26"/>
                </a:solidFill>
                <a:latin typeface="Courier New" pitchFamily="34" charset="0"/>
                <a:ea typeface="Courier New" pitchFamily="34" charset="-122"/>
                <a:cs typeface="Courier New" pitchFamily="34" charset="-120"/>
              </a:rPr>
              <a:t>04 · WEEK 1 PLAN</a:t>
            </a:r>
            <a:endParaRPr lang="en-US" sz="1350" dirty="0"/>
          </a:p>
        </p:txBody>
      </p:sp>
      <p:sp>
        <p:nvSpPr>
          <p:cNvPr id="4" name="Text 2"/>
          <p:cNvSpPr/>
          <p:nvPr/>
        </p:nvSpPr>
        <p:spPr>
          <a:xfrm>
            <a:off x="914400" y="1049655"/>
            <a:ext cx="18105120" cy="528638"/>
          </a:xfrm>
          <a:prstGeom prst="rect">
            <a:avLst/>
          </a:prstGeom>
          <a:noFill/>
          <a:ln/>
        </p:spPr>
        <p:txBody>
          <a:bodyPr wrap="square" lIns="25400" tIns="25400" rIns="25400" bIns="25400" rtlCol="0" anchor="t">
            <a:normAutofit/>
          </a:bodyPr>
          <a:lstStyle/>
          <a:p>
            <a:pPr algn="l" indent="0" marL="0">
              <a:lnSpc>
                <a:spcPct val="103000"/>
              </a:lnSpc>
              <a:buNone/>
            </a:pPr>
            <a:r>
              <a:rPr lang="en-US" sz="3750" spc="-56" kern="0" dirty="0">
                <a:solidFill>
                  <a:srgbClr val="221D17"/>
                </a:solidFill>
                <a:latin typeface="Georgia" pitchFamily="34" charset="0"/>
                <a:ea typeface="Georgia" pitchFamily="34" charset="-122"/>
                <a:cs typeface="Georgia" pitchFamily="34" charset="-120"/>
              </a:rPr>
              <a:t>Five things to do before touching any technology</a:t>
            </a:r>
            <a:endParaRPr lang="en-US" sz="3750" dirty="0"/>
          </a:p>
        </p:txBody>
      </p:sp>
      <p:sp>
        <p:nvSpPr>
          <p:cNvPr id="5" name="Shape 3"/>
          <p:cNvSpPr/>
          <p:nvPr/>
        </p:nvSpPr>
        <p:spPr>
          <a:xfrm>
            <a:off x="914400" y="3186113"/>
            <a:ext cx="16459200" cy="9525"/>
          </a:xfrm>
          <a:prstGeom prst="rect">
            <a:avLst/>
          </a:prstGeom>
          <a:solidFill>
            <a:srgbClr val="DBD2C4"/>
          </a:solidFill>
          <a:ln/>
        </p:spPr>
        <p:txBody>
          <a:bodyPr/>
          <a:p/>
        </p:txBody>
      </p:sp>
      <p:sp>
        <p:nvSpPr>
          <p:cNvPr id="6" name="Text 4"/>
          <p:cNvSpPr/>
          <p:nvPr/>
        </p:nvSpPr>
        <p:spPr>
          <a:xfrm>
            <a:off x="914400" y="2090738"/>
            <a:ext cx="685800" cy="419100"/>
          </a:xfrm>
          <a:prstGeom prst="rect">
            <a:avLst/>
          </a:prstGeom>
          <a:noFill/>
          <a:ln/>
        </p:spPr>
        <p:txBody>
          <a:bodyPr wrap="square" lIns="25400" tIns="25400" rIns="25400" bIns="25400" rtlCol="0" anchor="t">
            <a:normAutofit/>
          </a:bodyPr>
          <a:lstStyle/>
          <a:p>
            <a:pPr algn="l" indent="0" marL="0">
              <a:lnSpc>
                <a:spcPct val="100000"/>
              </a:lnSpc>
              <a:buNone/>
            </a:pPr>
            <a:r>
              <a:rPr lang="en-US" sz="3000" dirty="0">
                <a:solidFill>
                  <a:srgbClr val="B23B26"/>
                </a:solidFill>
                <a:latin typeface="Georgia" pitchFamily="34" charset="0"/>
                <a:ea typeface="Georgia" pitchFamily="34" charset="-122"/>
                <a:cs typeface="Georgia" pitchFamily="34" charset="-120"/>
              </a:rPr>
              <a:t>1</a:t>
            </a:r>
            <a:endParaRPr lang="en-US" sz="3000" dirty="0"/>
          </a:p>
        </p:txBody>
      </p:sp>
      <p:sp>
        <p:nvSpPr>
          <p:cNvPr id="7" name="Text 5"/>
          <p:cNvSpPr/>
          <p:nvPr/>
        </p:nvSpPr>
        <p:spPr>
          <a:xfrm>
            <a:off x="1809750" y="2159317"/>
            <a:ext cx="5914942" cy="322897"/>
          </a:xfrm>
          <a:prstGeom prst="rect">
            <a:avLst/>
          </a:prstGeom>
          <a:noFill/>
          <a:ln/>
        </p:spPr>
        <p:txBody>
          <a:bodyPr wrap="square" lIns="25400" tIns="25400" rIns="25400" bIns="25400" rtlCol="0" anchor="t">
            <a:normAutofit/>
          </a:bodyPr>
          <a:lstStyle/>
          <a:p>
            <a:pPr algn="l" indent="0" marL="0">
              <a:lnSpc>
                <a:spcPct val="130000"/>
              </a:lnSpc>
              <a:buNone/>
            </a:pPr>
            <a:r>
              <a:rPr lang="en-US" sz="1725" b="1" dirty="0">
                <a:solidFill>
                  <a:srgbClr val="221D17"/>
                </a:solidFill>
                <a:latin typeface="Arial" pitchFamily="34" charset="0"/>
                <a:ea typeface="Arial" pitchFamily="34" charset="-122"/>
                <a:cs typeface="Arial" pitchFamily="34" charset="-120"/>
              </a:rPr>
              <a:t>Shadow a prep session in real time</a:t>
            </a:r>
            <a:endParaRPr lang="en-US" sz="1725" dirty="0"/>
          </a:p>
        </p:txBody>
      </p:sp>
      <p:sp>
        <p:nvSpPr>
          <p:cNvPr id="8" name="Text 6"/>
          <p:cNvSpPr/>
          <p:nvPr/>
        </p:nvSpPr>
        <p:spPr>
          <a:xfrm>
            <a:off x="7567970" y="2166938"/>
            <a:ext cx="10099799" cy="89535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544C42"/>
                </a:solidFill>
                <a:latin typeface="Arial" pitchFamily="34" charset="0"/>
                <a:ea typeface="Arial" pitchFamily="34" charset="-122"/>
                <a:cs typeface="Arial" pitchFamily="34" charset="-120"/>
              </a:rPr>
              <a:t>Sit next to an analyst preparing for a real upcoming meeting. Don’t ask them to describe the process, watch them do it: which tabs are open, how long each step takes, where they get stuck, what they skip under time pressure. The stated process and the actual process are almost always different.</a:t>
            </a:r>
            <a:endParaRPr lang="en-US" sz="1500" dirty="0"/>
          </a:p>
        </p:txBody>
      </p:sp>
      <p:sp>
        <p:nvSpPr>
          <p:cNvPr id="9" name="Shape 7"/>
          <p:cNvSpPr/>
          <p:nvPr/>
        </p:nvSpPr>
        <p:spPr>
          <a:xfrm>
            <a:off x="914400" y="4165283"/>
            <a:ext cx="16459200" cy="9525"/>
          </a:xfrm>
          <a:prstGeom prst="rect">
            <a:avLst/>
          </a:prstGeom>
          <a:solidFill>
            <a:srgbClr val="DBD2C4"/>
          </a:solidFill>
          <a:ln/>
        </p:spPr>
        <p:txBody>
          <a:bodyPr/>
          <a:p/>
        </p:txBody>
      </p:sp>
      <p:sp>
        <p:nvSpPr>
          <p:cNvPr id="10" name="Text 8"/>
          <p:cNvSpPr/>
          <p:nvPr/>
        </p:nvSpPr>
        <p:spPr>
          <a:xfrm>
            <a:off x="914400" y="3355658"/>
            <a:ext cx="685800" cy="419100"/>
          </a:xfrm>
          <a:prstGeom prst="rect">
            <a:avLst/>
          </a:prstGeom>
          <a:noFill/>
          <a:ln/>
        </p:spPr>
        <p:txBody>
          <a:bodyPr wrap="square" lIns="25400" tIns="25400" rIns="25400" bIns="25400" rtlCol="0" anchor="t">
            <a:normAutofit/>
          </a:bodyPr>
          <a:lstStyle/>
          <a:p>
            <a:pPr algn="l" indent="0" marL="0">
              <a:lnSpc>
                <a:spcPct val="100000"/>
              </a:lnSpc>
              <a:buNone/>
            </a:pPr>
            <a:r>
              <a:rPr lang="en-US" sz="3000" dirty="0">
                <a:solidFill>
                  <a:srgbClr val="B23B26"/>
                </a:solidFill>
                <a:latin typeface="Georgia" pitchFamily="34" charset="0"/>
                <a:ea typeface="Georgia" pitchFamily="34" charset="-122"/>
                <a:cs typeface="Georgia" pitchFamily="34" charset="-120"/>
              </a:rPr>
              <a:t>2</a:t>
            </a:r>
            <a:endParaRPr lang="en-US" sz="3000" dirty="0"/>
          </a:p>
        </p:txBody>
      </p:sp>
      <p:sp>
        <p:nvSpPr>
          <p:cNvPr id="11" name="Text 9"/>
          <p:cNvSpPr/>
          <p:nvPr/>
        </p:nvSpPr>
        <p:spPr>
          <a:xfrm>
            <a:off x="1809750" y="3424238"/>
            <a:ext cx="5914942" cy="322897"/>
          </a:xfrm>
          <a:prstGeom prst="rect">
            <a:avLst/>
          </a:prstGeom>
          <a:noFill/>
          <a:ln/>
        </p:spPr>
        <p:txBody>
          <a:bodyPr wrap="square" lIns="25400" tIns="25400" rIns="25400" bIns="25400" rtlCol="0" anchor="t">
            <a:normAutofit/>
          </a:bodyPr>
          <a:lstStyle/>
          <a:p>
            <a:pPr algn="l" indent="0" marL="0">
              <a:lnSpc>
                <a:spcPct val="130000"/>
              </a:lnSpc>
              <a:buNone/>
            </a:pPr>
            <a:r>
              <a:rPr lang="en-US" sz="1725" b="1" dirty="0">
                <a:solidFill>
                  <a:srgbClr val="221D17"/>
                </a:solidFill>
                <a:latin typeface="Arial" pitchFamily="34" charset="0"/>
                <a:ea typeface="Arial" pitchFamily="34" charset="-122"/>
                <a:cs typeface="Arial" pitchFamily="34" charset="-120"/>
              </a:rPr>
              <a:t>Interview the Procurement Manager separately</a:t>
            </a:r>
            <a:endParaRPr lang="en-US" sz="1725" dirty="0"/>
          </a:p>
        </p:txBody>
      </p:sp>
      <p:sp>
        <p:nvSpPr>
          <p:cNvPr id="12" name="Text 10"/>
          <p:cNvSpPr/>
          <p:nvPr/>
        </p:nvSpPr>
        <p:spPr>
          <a:xfrm>
            <a:off x="7567970" y="3431858"/>
            <a:ext cx="10099799" cy="60960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544C42"/>
                </a:solidFill>
                <a:latin typeface="Arial" pitchFamily="34" charset="0"/>
                <a:ea typeface="Arial" pitchFamily="34" charset="-122"/>
                <a:cs typeface="Arial" pitchFamily="34" charset="-120"/>
              </a:rPr>
              <a:t>Ask: what has gone wrong in a meeting because prep was incomplete? What did you wish you’d known walking in? What would you never trust a tool to get right? The second and third questions matter as much as the first.</a:t>
            </a:r>
            <a:endParaRPr lang="en-US" sz="1500" dirty="0"/>
          </a:p>
        </p:txBody>
      </p:sp>
      <p:sp>
        <p:nvSpPr>
          <p:cNvPr id="13" name="Shape 11"/>
          <p:cNvSpPr/>
          <p:nvPr/>
        </p:nvSpPr>
        <p:spPr>
          <a:xfrm>
            <a:off x="914400" y="5430203"/>
            <a:ext cx="16459200" cy="9525"/>
          </a:xfrm>
          <a:prstGeom prst="rect">
            <a:avLst/>
          </a:prstGeom>
          <a:solidFill>
            <a:srgbClr val="DBD2C4"/>
          </a:solidFill>
          <a:ln/>
        </p:spPr>
        <p:txBody>
          <a:bodyPr/>
          <a:p/>
        </p:txBody>
      </p:sp>
      <p:sp>
        <p:nvSpPr>
          <p:cNvPr id="14" name="Text 12"/>
          <p:cNvSpPr/>
          <p:nvPr/>
        </p:nvSpPr>
        <p:spPr>
          <a:xfrm>
            <a:off x="914400" y="4334828"/>
            <a:ext cx="685800" cy="419100"/>
          </a:xfrm>
          <a:prstGeom prst="rect">
            <a:avLst/>
          </a:prstGeom>
          <a:noFill/>
          <a:ln/>
        </p:spPr>
        <p:txBody>
          <a:bodyPr wrap="square" lIns="25400" tIns="25400" rIns="25400" bIns="25400" rtlCol="0" anchor="t">
            <a:normAutofit/>
          </a:bodyPr>
          <a:lstStyle/>
          <a:p>
            <a:pPr algn="l" indent="0" marL="0">
              <a:lnSpc>
                <a:spcPct val="100000"/>
              </a:lnSpc>
              <a:buNone/>
            </a:pPr>
            <a:r>
              <a:rPr lang="en-US" sz="3000" dirty="0">
                <a:solidFill>
                  <a:srgbClr val="B23B26"/>
                </a:solidFill>
                <a:latin typeface="Georgia" pitchFamily="34" charset="0"/>
                <a:ea typeface="Georgia" pitchFamily="34" charset="-122"/>
                <a:cs typeface="Georgia" pitchFamily="34" charset="-120"/>
              </a:rPr>
              <a:t>3</a:t>
            </a:r>
            <a:endParaRPr lang="en-US" sz="3000" dirty="0"/>
          </a:p>
        </p:txBody>
      </p:sp>
      <p:sp>
        <p:nvSpPr>
          <p:cNvPr id="15" name="Text 13"/>
          <p:cNvSpPr/>
          <p:nvPr/>
        </p:nvSpPr>
        <p:spPr>
          <a:xfrm>
            <a:off x="1809750" y="4403408"/>
            <a:ext cx="5914942" cy="322897"/>
          </a:xfrm>
          <a:prstGeom prst="rect">
            <a:avLst/>
          </a:prstGeom>
          <a:noFill/>
          <a:ln/>
        </p:spPr>
        <p:txBody>
          <a:bodyPr wrap="square" lIns="25400" tIns="25400" rIns="25400" bIns="25400" rtlCol="0" anchor="t">
            <a:normAutofit/>
          </a:bodyPr>
          <a:lstStyle/>
          <a:p>
            <a:pPr algn="l" indent="0" marL="0">
              <a:lnSpc>
                <a:spcPct val="130000"/>
              </a:lnSpc>
              <a:buNone/>
            </a:pPr>
            <a:r>
              <a:rPr lang="en-US" sz="1725" b="1" dirty="0">
                <a:solidFill>
                  <a:srgbClr val="221D17"/>
                </a:solidFill>
                <a:latin typeface="Arial" pitchFamily="34" charset="0"/>
                <a:ea typeface="Arial" pitchFamily="34" charset="-122"/>
                <a:cs typeface="Arial" pitchFamily="34" charset="-120"/>
              </a:rPr>
              <a:t>Audit the actual data sources, not descriptions of them</a:t>
            </a:r>
            <a:endParaRPr lang="en-US" sz="1725" dirty="0"/>
          </a:p>
        </p:txBody>
      </p:sp>
      <p:sp>
        <p:nvSpPr>
          <p:cNvPr id="16" name="Text 14"/>
          <p:cNvSpPr/>
          <p:nvPr/>
        </p:nvSpPr>
        <p:spPr>
          <a:xfrm>
            <a:off x="7567970" y="4411028"/>
            <a:ext cx="10099799" cy="89535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544C42"/>
                </a:solidFill>
                <a:latin typeface="Arial" pitchFamily="34" charset="0"/>
                <a:ea typeface="Arial" pitchFamily="34" charset="-122"/>
                <a:cs typeface="Arial" pitchFamily="34" charset="-120"/>
              </a:rPr>
              <a:t>Request read-only access to one supplier email thread, one contract, the price benchmark sheet. Look at the real mess: how many threads per supplier, the actual file-naming convention, who owns the spreadsheet. You can’t design a robust extraction layer without seeing raw input.</a:t>
            </a:r>
            <a:endParaRPr lang="en-US" sz="1500" dirty="0"/>
          </a:p>
        </p:txBody>
      </p:sp>
      <p:sp>
        <p:nvSpPr>
          <p:cNvPr id="17" name="Shape 15"/>
          <p:cNvSpPr/>
          <p:nvPr/>
        </p:nvSpPr>
        <p:spPr>
          <a:xfrm>
            <a:off x="914400" y="6695123"/>
            <a:ext cx="16459200" cy="9525"/>
          </a:xfrm>
          <a:prstGeom prst="rect">
            <a:avLst/>
          </a:prstGeom>
          <a:solidFill>
            <a:srgbClr val="DBD2C4"/>
          </a:solidFill>
          <a:ln/>
        </p:spPr>
        <p:txBody>
          <a:bodyPr/>
          <a:p/>
        </p:txBody>
      </p:sp>
      <p:sp>
        <p:nvSpPr>
          <p:cNvPr id="18" name="Text 16"/>
          <p:cNvSpPr/>
          <p:nvPr/>
        </p:nvSpPr>
        <p:spPr>
          <a:xfrm>
            <a:off x="914400" y="5599748"/>
            <a:ext cx="685800" cy="419100"/>
          </a:xfrm>
          <a:prstGeom prst="rect">
            <a:avLst/>
          </a:prstGeom>
          <a:noFill/>
          <a:ln/>
        </p:spPr>
        <p:txBody>
          <a:bodyPr wrap="square" lIns="25400" tIns="25400" rIns="25400" bIns="25400" rtlCol="0" anchor="t">
            <a:normAutofit/>
          </a:bodyPr>
          <a:lstStyle/>
          <a:p>
            <a:pPr algn="l" indent="0" marL="0">
              <a:lnSpc>
                <a:spcPct val="100000"/>
              </a:lnSpc>
              <a:buNone/>
            </a:pPr>
            <a:r>
              <a:rPr lang="en-US" sz="3000" dirty="0">
                <a:solidFill>
                  <a:srgbClr val="B23B26"/>
                </a:solidFill>
                <a:latin typeface="Georgia" pitchFamily="34" charset="0"/>
                <a:ea typeface="Georgia" pitchFamily="34" charset="-122"/>
                <a:cs typeface="Georgia" pitchFamily="34" charset="-120"/>
              </a:rPr>
              <a:t>4</a:t>
            </a:r>
            <a:endParaRPr lang="en-US" sz="3000" dirty="0"/>
          </a:p>
        </p:txBody>
      </p:sp>
      <p:sp>
        <p:nvSpPr>
          <p:cNvPr id="19" name="Text 17"/>
          <p:cNvSpPr/>
          <p:nvPr/>
        </p:nvSpPr>
        <p:spPr>
          <a:xfrm>
            <a:off x="1809750" y="5668328"/>
            <a:ext cx="5914942" cy="322897"/>
          </a:xfrm>
          <a:prstGeom prst="rect">
            <a:avLst/>
          </a:prstGeom>
          <a:noFill/>
          <a:ln/>
        </p:spPr>
        <p:txBody>
          <a:bodyPr wrap="square" lIns="25400" tIns="25400" rIns="25400" bIns="25400" rtlCol="0" anchor="t">
            <a:normAutofit/>
          </a:bodyPr>
          <a:lstStyle/>
          <a:p>
            <a:pPr algn="l" indent="0" marL="0">
              <a:lnSpc>
                <a:spcPct val="130000"/>
              </a:lnSpc>
              <a:buNone/>
            </a:pPr>
            <a:r>
              <a:rPr lang="en-US" sz="1725" b="1" dirty="0">
                <a:solidFill>
                  <a:srgbClr val="221D17"/>
                </a:solidFill>
                <a:latin typeface="Arial" pitchFamily="34" charset="0"/>
                <a:ea typeface="Arial" pitchFamily="34" charset="-122"/>
                <a:cs typeface="Arial" pitchFamily="34" charset="-120"/>
              </a:rPr>
              <a:t>Map a good packet by working backwards</a:t>
            </a:r>
            <a:endParaRPr lang="en-US" sz="1725" dirty="0"/>
          </a:p>
        </p:txBody>
      </p:sp>
      <p:sp>
        <p:nvSpPr>
          <p:cNvPr id="20" name="Text 18"/>
          <p:cNvSpPr/>
          <p:nvPr/>
        </p:nvSpPr>
        <p:spPr>
          <a:xfrm>
            <a:off x="7567970" y="5675948"/>
            <a:ext cx="10099799" cy="89535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544C42"/>
                </a:solidFill>
                <a:latin typeface="Arial" pitchFamily="34" charset="0"/>
                <a:ea typeface="Arial" pitchFamily="34" charset="-122"/>
                <a:cs typeface="Arial" pitchFamily="34" charset="-120"/>
              </a:rPr>
              <a:t>Pick the three highest-stakes upcoming meetings. Ask the manager: if you had one page of perfect context for each, what would be on it? This surfaces the prioritisation the tool must make, what to include and, just as important, what to leave out.</a:t>
            </a:r>
            <a:endParaRPr lang="en-US" sz="1500" dirty="0"/>
          </a:p>
        </p:txBody>
      </p:sp>
      <p:sp>
        <p:nvSpPr>
          <p:cNvPr id="21" name="Shape 19"/>
          <p:cNvSpPr/>
          <p:nvPr/>
        </p:nvSpPr>
        <p:spPr>
          <a:xfrm>
            <a:off x="914400" y="7960043"/>
            <a:ext cx="16459200" cy="9525"/>
          </a:xfrm>
          <a:prstGeom prst="rect">
            <a:avLst/>
          </a:prstGeom>
          <a:solidFill>
            <a:srgbClr val="DBD2C4"/>
          </a:solidFill>
          <a:ln/>
        </p:spPr>
        <p:txBody>
          <a:bodyPr/>
          <a:p/>
        </p:txBody>
      </p:sp>
      <p:sp>
        <p:nvSpPr>
          <p:cNvPr id="22" name="Text 20"/>
          <p:cNvSpPr/>
          <p:nvPr/>
        </p:nvSpPr>
        <p:spPr>
          <a:xfrm>
            <a:off x="914400" y="6864668"/>
            <a:ext cx="685800" cy="419100"/>
          </a:xfrm>
          <a:prstGeom prst="rect">
            <a:avLst/>
          </a:prstGeom>
          <a:noFill/>
          <a:ln/>
        </p:spPr>
        <p:txBody>
          <a:bodyPr wrap="square" lIns="25400" tIns="25400" rIns="25400" bIns="25400" rtlCol="0" anchor="t">
            <a:normAutofit/>
          </a:bodyPr>
          <a:lstStyle/>
          <a:p>
            <a:pPr algn="l" indent="0" marL="0">
              <a:lnSpc>
                <a:spcPct val="100000"/>
              </a:lnSpc>
              <a:buNone/>
            </a:pPr>
            <a:r>
              <a:rPr lang="en-US" sz="3000" dirty="0">
                <a:solidFill>
                  <a:srgbClr val="B23B26"/>
                </a:solidFill>
                <a:latin typeface="Georgia" pitchFamily="34" charset="0"/>
                <a:ea typeface="Georgia" pitchFamily="34" charset="-122"/>
                <a:cs typeface="Georgia" pitchFamily="34" charset="-120"/>
              </a:rPr>
              <a:t>5</a:t>
            </a:r>
            <a:endParaRPr lang="en-US" sz="3000" dirty="0"/>
          </a:p>
        </p:txBody>
      </p:sp>
      <p:sp>
        <p:nvSpPr>
          <p:cNvPr id="23" name="Text 21"/>
          <p:cNvSpPr/>
          <p:nvPr/>
        </p:nvSpPr>
        <p:spPr>
          <a:xfrm>
            <a:off x="1809750" y="6933248"/>
            <a:ext cx="5914942" cy="322897"/>
          </a:xfrm>
          <a:prstGeom prst="rect">
            <a:avLst/>
          </a:prstGeom>
          <a:noFill/>
          <a:ln/>
        </p:spPr>
        <p:txBody>
          <a:bodyPr wrap="square" lIns="25400" tIns="25400" rIns="25400" bIns="25400" rtlCol="0" anchor="t">
            <a:normAutofit/>
          </a:bodyPr>
          <a:lstStyle/>
          <a:p>
            <a:pPr algn="l" indent="0" marL="0">
              <a:lnSpc>
                <a:spcPct val="130000"/>
              </a:lnSpc>
              <a:buNone/>
            </a:pPr>
            <a:r>
              <a:rPr lang="en-US" sz="1725" b="1" dirty="0">
                <a:solidFill>
                  <a:srgbClr val="221D17"/>
                </a:solidFill>
                <a:latin typeface="Arial" pitchFamily="34" charset="0"/>
                <a:ea typeface="Arial" pitchFamily="34" charset="-122"/>
                <a:cs typeface="Arial" pitchFamily="34" charset="-120"/>
              </a:rPr>
              <a:t>Identify the first real meeting to demo against</a:t>
            </a:r>
            <a:endParaRPr lang="en-US" sz="1725" dirty="0"/>
          </a:p>
        </p:txBody>
      </p:sp>
      <p:sp>
        <p:nvSpPr>
          <p:cNvPr id="24" name="Text 22"/>
          <p:cNvSpPr/>
          <p:nvPr/>
        </p:nvSpPr>
        <p:spPr>
          <a:xfrm>
            <a:off x="7567970" y="6940868"/>
            <a:ext cx="10099799" cy="89535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544C42"/>
                </a:solidFill>
                <a:latin typeface="Arial" pitchFamily="34" charset="0"/>
                <a:ea typeface="Arial" pitchFamily="34" charset="-122"/>
                <a:cs typeface="Arial" pitchFamily="34" charset="-120"/>
              </a:rPr>
              <a:t>Before building anything, agree on a specific upcoming meeting as the Phase 1 success test. It forces the stakeholder to commit to an evaluation moment, so the first demo isn’t a toy example, it’s something the manager actually cares about walking into.</a:t>
            </a:r>
            <a:endParaRPr lang="en-US" sz="1500" dirty="0"/>
          </a:p>
        </p:txBody>
      </p:sp>
      <p:sp>
        <p:nvSpPr>
          <p:cNvPr id="25" name="Shape 23"/>
          <p:cNvSpPr/>
          <p:nvPr/>
        </p:nvSpPr>
        <p:spPr>
          <a:xfrm>
            <a:off x="914400" y="9637395"/>
            <a:ext cx="16459200" cy="9525"/>
          </a:xfrm>
          <a:prstGeom prst="rect">
            <a:avLst/>
          </a:prstGeom>
          <a:solidFill>
            <a:srgbClr val="E2DACE"/>
          </a:solidFill>
          <a:ln/>
        </p:spPr>
        <p:txBody>
          <a:bodyPr/>
          <a:p/>
        </p:txBody>
      </p:sp>
      <p:sp>
        <p:nvSpPr>
          <p:cNvPr id="26" name="Text 24"/>
          <p:cNvSpPr/>
          <p:nvPr/>
        </p:nvSpPr>
        <p:spPr>
          <a:xfrm>
            <a:off x="914400" y="9768840"/>
            <a:ext cx="5462575" cy="21336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A89D8E"/>
                </a:solidFill>
                <a:latin typeface="Courier New" pitchFamily="34" charset="0"/>
                <a:ea typeface="Courier New" pitchFamily="34" charset="-122"/>
                <a:cs typeface="Courier New" pitchFamily="34" charset="-120"/>
              </a:rPr>
              <a:t>STRAUSS PROCUREMENT · FDE EXERCISE · CONFIDENTIAL</a:t>
            </a:r>
            <a:endParaRPr lang="en-US" sz="1050" dirty="0"/>
          </a:p>
        </p:txBody>
      </p:sp>
      <p:sp>
        <p:nvSpPr>
          <p:cNvPr id="27" name="Text 25"/>
          <p:cNvSpPr/>
          <p:nvPr/>
        </p:nvSpPr>
        <p:spPr>
          <a:xfrm>
            <a:off x="16664107" y="9768840"/>
            <a:ext cx="785693" cy="21336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A89D8E"/>
                </a:solidFill>
                <a:latin typeface="Courier New" pitchFamily="34" charset="0"/>
                <a:ea typeface="Courier New" pitchFamily="34" charset="-122"/>
                <a:cs typeface="Courier New" pitchFamily="34" charset="-120"/>
              </a:rPr>
              <a:t>04 / 19</a:t>
            </a:r>
            <a:endParaRPr lang="en-US" sz="1050" dirty="0"/>
          </a:p>
        </p:txBody>
      </p:sp>
      <p:sp>
        <p:nvSpPr>
          <p:cNvPr id="28" name="TextBox 27"/>
          <p:cNvSpPr txBox="1"/>
          <p:nvPr/>
        </p:nvSpPr>
        <p:spPr>
          <a:xfrm>
            <a:off x="914400" y="8120000"/>
            <a:ext cx="16459200" cy="1100000"/>
          </a:xfrm>
          <a:prstGeom prst="rect">
            <a:avLst/>
          </a:prstGeom>
          <a:noFill/>
        </p:spPr>
        <p:txBody>
          <a:bodyPr wrap="square">
            <a:spAutoFit/>
          </a:bodyPr>
          <a:lstStyle/>
          <a:p>
            <a:pPr algn="l"/>
            <a:r>
              <a:rPr b="1" sz="1100">
                <a:solidFill>
                  <a:srgbClr val="555555"/>
                </a:solidFill>
              </a:rPr>
              <a:t>Out of scope:  </a:t>
            </a:r>
            <a:r>
              <a:rPr b="0" sz="1100" i="1">
                <a:solidFill>
                  <a:srgbClr val="555555"/>
                </a:solidFill>
              </a:rPr>
              <a:t>negotiation strategy, contract lifecycle management, live ERP integration — human judgment stays human.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EFE7"/>
        </a:solidFill>
      </p:bgPr>
    </p:bg>
    <p:spTree>
      <p:nvGrpSpPr>
        <p:cNvPr id="1" name=""/>
        <p:cNvGrpSpPr/>
        <p:nvPr/>
      </p:nvGrpSpPr>
      <p:grpSpPr>
        <a:xfrm>
          <a:off x="0" y="0"/>
          <a:ext cx="0" cy="0"/>
          <a:chOff x="0" y="0"/>
          <a:chExt cx="0" cy="0"/>
        </a:xfrm>
      </p:grpSpPr>
      <p:sp>
        <p:nvSpPr>
          <p:cNvPr id="2" name="Shape 0"/>
          <p:cNvSpPr/>
          <p:nvPr/>
        </p:nvSpPr>
        <p:spPr>
          <a:xfrm>
            <a:off x="914400" y="1749742"/>
            <a:ext cx="16459200" cy="9525"/>
          </a:xfrm>
          <a:prstGeom prst="rect">
            <a:avLst/>
          </a:prstGeom>
          <a:solidFill>
            <a:srgbClr val="D7CDBE"/>
          </a:solidFill>
          <a:ln/>
        </p:spPr>
      </p:sp>
      <p:sp>
        <p:nvSpPr>
          <p:cNvPr id="3" name="Text 1"/>
          <p:cNvSpPr/>
          <p:nvPr/>
        </p:nvSpPr>
        <p:spPr>
          <a:xfrm>
            <a:off x="914400" y="704850"/>
            <a:ext cx="18105120" cy="259080"/>
          </a:xfrm>
          <a:prstGeom prst="rect">
            <a:avLst/>
          </a:prstGeom>
          <a:noFill/>
          <a:ln/>
        </p:spPr>
        <p:txBody>
          <a:bodyPr wrap="square" lIns="25400" tIns="25400" rIns="25400" bIns="25400" rtlCol="0" anchor="t">
            <a:normAutofit/>
          </a:bodyPr>
          <a:lstStyle/>
          <a:p>
            <a:pPr algn="l" indent="0" marL="0">
              <a:buNone/>
            </a:pPr>
            <a:r>
              <a:rPr lang="en-US" sz="1350" spc="324" kern="0" dirty="0">
                <a:solidFill>
                  <a:srgbClr val="B23B26"/>
                </a:solidFill>
                <a:latin typeface="Courier New" pitchFamily="34" charset="0"/>
                <a:ea typeface="Courier New" pitchFamily="34" charset="-122"/>
                <a:cs typeface="Courier New" pitchFamily="34" charset="-120"/>
              </a:rPr>
              <a:t>05 · WHAT I BUILT</a:t>
            </a:r>
            <a:endParaRPr lang="en-US" sz="1350" dirty="0"/>
          </a:p>
        </p:txBody>
      </p:sp>
      <p:sp>
        <p:nvSpPr>
          <p:cNvPr id="4" name="Text 2"/>
          <p:cNvSpPr/>
          <p:nvPr/>
        </p:nvSpPr>
        <p:spPr>
          <a:xfrm>
            <a:off x="914400" y="1049655"/>
            <a:ext cx="18105120" cy="528638"/>
          </a:xfrm>
          <a:prstGeom prst="rect">
            <a:avLst/>
          </a:prstGeom>
          <a:noFill/>
          <a:ln/>
        </p:spPr>
        <p:txBody>
          <a:bodyPr wrap="square" lIns="25400" tIns="25400" rIns="25400" bIns="25400" rtlCol="0" anchor="t">
            <a:normAutofit/>
          </a:bodyPr>
          <a:lstStyle/>
          <a:p>
            <a:pPr algn="l" indent="0" marL="0">
              <a:lnSpc>
                <a:spcPct val="103000"/>
              </a:lnSpc>
              <a:buNone/>
            </a:pPr>
            <a:r>
              <a:rPr lang="en-US" sz="3750" spc="-56" kern="0" dirty="0">
                <a:solidFill>
                  <a:srgbClr val="221D17"/>
                </a:solidFill>
                <a:latin typeface="Georgia" pitchFamily="34" charset="0"/>
                <a:ea typeface="Georgia" pitchFamily="34" charset="-122"/>
                <a:cs typeface="Georgia" pitchFamily="34" charset="-120"/>
              </a:rPr>
              <a:t>One tool. One job. One page per meeting.</a:t>
            </a:r>
            <a:endParaRPr lang="en-US" sz="3750" dirty="0"/>
          </a:p>
        </p:txBody>
      </p:sp>
      <p:sp>
        <p:nvSpPr>
          <p:cNvPr id="5" name="Text 3"/>
          <p:cNvSpPr/>
          <p:nvPr/>
        </p:nvSpPr>
        <p:spPr>
          <a:xfrm>
            <a:off x="914400" y="3201710"/>
            <a:ext cx="15500985" cy="1600438"/>
          </a:xfrm>
          <a:prstGeom prst="rect">
            <a:avLst/>
          </a:prstGeom>
          <a:noFill/>
          <a:ln/>
        </p:spPr>
        <p:txBody>
          <a:bodyPr wrap="square" lIns="25400" tIns="25400" rIns="25400" bIns="25400" rtlCol="0" anchor="t">
            <a:normAutofit/>
          </a:bodyPr>
          <a:lstStyle/>
          <a:p>
            <a:pPr algn="l" indent="0" marL="0">
              <a:lnSpc>
                <a:spcPct val="132000"/>
              </a:lnSpc>
              <a:buNone/>
            </a:pPr>
            <a:r>
              <a:rPr lang="en-US" sz="2925" spc="-29" kern="0" dirty="0">
                <a:solidFill>
                  <a:srgbClr val="2A241D"/>
                </a:solidFill>
                <a:latin typeface="Georgia" pitchFamily="34" charset="0"/>
                <a:ea typeface="Georgia" pitchFamily="34" charset="-122"/>
                <a:cs typeface="Georgia" pitchFamily="34" charset="-120"/>
              </a:rPr>
              <a:t>An AI-generated one-page briefing, produced automatically before every supplier meeting, pulling email history, contract terms and the commodity price benchmark into a single view, </a:t>
            </a:r>
            <a:pPr algn="l" indent="0" marL="0">
              <a:lnSpc>
                <a:spcPct val="132000"/>
              </a:lnSpc>
              <a:buNone/>
            </a:pPr>
            <a:r>
              <a:rPr lang="en-US" sz="2925" i="1" spc="-29" kern="0" dirty="0">
                <a:solidFill>
                  <a:srgbClr val="B23B26"/>
                </a:solidFill>
                <a:latin typeface="Georgia" pitchFamily="34" charset="0"/>
                <a:ea typeface="Georgia" pitchFamily="34" charset="-122"/>
                <a:cs typeface="Georgia" pitchFamily="34" charset="-120"/>
              </a:rPr>
              <a:t>with every claim traceable to its source.</a:t>
            </a:r>
            <a:endParaRPr lang="en-US" sz="2925" dirty="0"/>
          </a:p>
        </p:txBody>
      </p:sp>
      <p:sp>
        <p:nvSpPr>
          <p:cNvPr id="6" name="Shape 4"/>
          <p:cNvSpPr/>
          <p:nvPr/>
        </p:nvSpPr>
        <p:spPr>
          <a:xfrm>
            <a:off x="914400" y="5049798"/>
            <a:ext cx="4669155" cy="499110"/>
          </a:xfrm>
          <a:prstGeom prst="roundRect">
            <a:avLst>
              <a:gd name="adj" fmla="val 5725"/>
            </a:avLst>
          </a:prstGeom>
          <a:solidFill>
            <a:srgbClr val="221D17"/>
          </a:solidFill>
          <a:ln/>
        </p:spPr>
      </p:sp>
      <p:sp>
        <p:nvSpPr>
          <p:cNvPr id="7" name="Text 5"/>
          <p:cNvSpPr/>
          <p:nvPr/>
        </p:nvSpPr>
        <p:spPr>
          <a:xfrm>
            <a:off x="1123950" y="5173623"/>
            <a:ext cx="188595" cy="289560"/>
          </a:xfrm>
          <a:prstGeom prst="rect">
            <a:avLst/>
          </a:prstGeom>
          <a:noFill/>
          <a:ln/>
        </p:spPr>
        <p:txBody>
          <a:bodyPr wrap="square" lIns="25400" tIns="25400" rIns="25400" bIns="25400" rtlCol="0" anchor="t">
            <a:normAutofit/>
          </a:bodyPr>
          <a:lstStyle/>
          <a:p>
            <a:pPr algn="l" indent="0" marL="0">
              <a:buNone/>
            </a:pPr>
            <a:r>
              <a:rPr lang="en-US" sz="1500" spc="60" kern="0" dirty="0">
                <a:solidFill>
                  <a:srgbClr val="CB5238"/>
                </a:solidFill>
                <a:latin typeface="Courier New" pitchFamily="34" charset="0"/>
                <a:ea typeface="Courier New" pitchFamily="34" charset="-122"/>
                <a:cs typeface="Courier New" pitchFamily="34" charset="-120"/>
              </a:rPr>
              <a:t>▸</a:t>
            </a:r>
            <a:endParaRPr lang="en-US" sz="1500" dirty="0"/>
          </a:p>
        </p:txBody>
      </p:sp>
      <p:sp>
        <p:nvSpPr>
          <p:cNvPr id="8" name="Text 6"/>
          <p:cNvSpPr/>
          <p:nvPr/>
        </p:nvSpPr>
        <p:spPr>
          <a:xfrm>
            <a:off x="1350645" y="5173623"/>
            <a:ext cx="4144061" cy="289560"/>
          </a:xfrm>
          <a:prstGeom prst="rect">
            <a:avLst/>
          </a:prstGeom>
          <a:noFill/>
          <a:ln/>
        </p:spPr>
        <p:txBody>
          <a:bodyPr wrap="square" lIns="0" tIns="0" rIns="0" bIns="0" rtlCol="0" anchor="t">
            <a:normAutofit/>
          </a:bodyPr>
          <a:lstStyle/>
          <a:p>
            <a:pPr algn="l" indent="0" marL="0">
              <a:buNone/>
            </a:pPr>
            <a:r>
              <a:rPr lang="en-US" sz="1500" spc="60" kern="0" dirty="0">
                <a:solidFill>
                  <a:srgbClr val="F1ECE2"/>
                </a:solidFill>
                <a:latin typeface="Courier New" pitchFamily="34" charset="0"/>
                <a:ea typeface="Courier New" pitchFamily="34" charset="-122"/>
                <a:cs typeface="Courier New" pitchFamily="34" charset="-120"/>
              </a:rPr>
              <a:t>strauss-procurement.streamlit.app</a:t>
            </a:r>
            <a:endParaRPr lang="en-US" sz="1500" dirty="0"/>
          </a:p>
        </p:txBody>
      </p:sp>
      <p:sp>
        <p:nvSpPr>
          <p:cNvPr id="9" name="Shape 7"/>
          <p:cNvSpPr/>
          <p:nvPr/>
        </p:nvSpPr>
        <p:spPr>
          <a:xfrm>
            <a:off x="914400" y="5948958"/>
            <a:ext cx="5346621" cy="1903095"/>
          </a:xfrm>
          <a:prstGeom prst="roundRect">
            <a:avLst>
              <a:gd name="adj" fmla="val 1502"/>
            </a:avLst>
          </a:prstGeom>
          <a:solidFill>
            <a:srgbClr val="FBF8F2"/>
          </a:solidFill>
          <a:ln w="7620">
            <a:solidFill>
              <a:srgbClr val="DDD4C6"/>
            </a:solidFill>
            <a:prstDash val="solid"/>
          </a:ln>
        </p:spPr>
      </p:sp>
      <p:sp>
        <p:nvSpPr>
          <p:cNvPr id="10" name="Text 8"/>
          <p:cNvSpPr/>
          <p:nvPr/>
        </p:nvSpPr>
        <p:spPr>
          <a:xfrm>
            <a:off x="1207770" y="6242328"/>
            <a:ext cx="5235869" cy="220980"/>
          </a:xfrm>
          <a:prstGeom prst="rect">
            <a:avLst/>
          </a:prstGeom>
          <a:noFill/>
          <a:ln/>
        </p:spPr>
        <p:txBody>
          <a:bodyPr wrap="square" lIns="25400" tIns="25400" rIns="25400" bIns="25400" rtlCol="0" anchor="t">
            <a:normAutofit/>
          </a:bodyPr>
          <a:lstStyle/>
          <a:p>
            <a:pPr algn="l" indent="0" marL="0">
              <a:buNone/>
            </a:pPr>
            <a:r>
              <a:rPr lang="en-US" sz="1125" spc="225" kern="0" dirty="0">
                <a:solidFill>
                  <a:srgbClr val="B23B26"/>
                </a:solidFill>
                <a:latin typeface="Courier New" pitchFamily="34" charset="0"/>
                <a:ea typeface="Courier New" pitchFamily="34" charset="-122"/>
                <a:cs typeface="Courier New" pitchFamily="34" charset="-120"/>
              </a:rPr>
              <a:t>EMAILS</a:t>
            </a:r>
            <a:endParaRPr lang="en-US" sz="1125" dirty="0"/>
          </a:p>
        </p:txBody>
      </p:sp>
      <p:sp>
        <p:nvSpPr>
          <p:cNvPr id="11" name="Text 9"/>
          <p:cNvSpPr/>
          <p:nvPr/>
        </p:nvSpPr>
        <p:spPr>
          <a:xfrm>
            <a:off x="1207770" y="6577608"/>
            <a:ext cx="4902677" cy="981075"/>
          </a:xfrm>
          <a:prstGeom prst="rect">
            <a:avLst/>
          </a:prstGeom>
          <a:noFill/>
          <a:ln/>
        </p:spPr>
        <p:txBody>
          <a:bodyPr wrap="square" lIns="25400" tIns="25400" rIns="25400" bIns="25400" rtlCol="0" anchor="t">
            <a:normAutofit/>
          </a:bodyPr>
          <a:lstStyle/>
          <a:p>
            <a:pPr algn="l" indent="0" marL="0">
              <a:lnSpc>
                <a:spcPct val="150000"/>
              </a:lnSpc>
              <a:buNone/>
            </a:pPr>
            <a:r>
              <a:rPr lang="en-US" sz="1650" dirty="0">
                <a:solidFill>
                  <a:srgbClr val="403A30"/>
                </a:solidFill>
                <a:latin typeface="Arial" pitchFamily="34" charset="0"/>
                <a:ea typeface="Arial" pitchFamily="34" charset="-122"/>
                <a:cs typeface="Arial" pitchFamily="34" charset="-120"/>
              </a:rPr>
              <a:t>Summarises six months of supplier threads. Flags open disputes, unanswered threads and price quotes.</a:t>
            </a:r>
            <a:endParaRPr lang="en-US" sz="1650" dirty="0"/>
          </a:p>
        </p:txBody>
      </p:sp>
      <p:sp>
        <p:nvSpPr>
          <p:cNvPr id="12" name="Shape 10"/>
          <p:cNvSpPr/>
          <p:nvPr/>
        </p:nvSpPr>
        <p:spPr>
          <a:xfrm>
            <a:off x="6470571" y="5948958"/>
            <a:ext cx="5346740" cy="1903095"/>
          </a:xfrm>
          <a:prstGeom prst="roundRect">
            <a:avLst>
              <a:gd name="adj" fmla="val 1502"/>
            </a:avLst>
          </a:prstGeom>
          <a:solidFill>
            <a:srgbClr val="FBF8F2"/>
          </a:solidFill>
          <a:ln w="7620">
            <a:solidFill>
              <a:srgbClr val="DDD4C6"/>
            </a:solidFill>
            <a:prstDash val="solid"/>
          </a:ln>
        </p:spPr>
      </p:sp>
      <p:sp>
        <p:nvSpPr>
          <p:cNvPr id="13" name="Text 11"/>
          <p:cNvSpPr/>
          <p:nvPr/>
        </p:nvSpPr>
        <p:spPr>
          <a:xfrm>
            <a:off x="6763941" y="6242328"/>
            <a:ext cx="5236000" cy="220980"/>
          </a:xfrm>
          <a:prstGeom prst="rect">
            <a:avLst/>
          </a:prstGeom>
          <a:noFill/>
          <a:ln/>
        </p:spPr>
        <p:txBody>
          <a:bodyPr wrap="square" lIns="25400" tIns="25400" rIns="25400" bIns="25400" rtlCol="0" anchor="t">
            <a:normAutofit/>
          </a:bodyPr>
          <a:lstStyle/>
          <a:p>
            <a:pPr algn="l" indent="0" marL="0">
              <a:buNone/>
            </a:pPr>
            <a:r>
              <a:rPr lang="en-US" sz="1125" spc="225" kern="0" dirty="0">
                <a:solidFill>
                  <a:srgbClr val="B23B26"/>
                </a:solidFill>
                <a:latin typeface="Courier New" pitchFamily="34" charset="0"/>
                <a:ea typeface="Courier New" pitchFamily="34" charset="-122"/>
                <a:cs typeface="Courier New" pitchFamily="34" charset="-120"/>
              </a:rPr>
              <a:t>CONTRACTS</a:t>
            </a:r>
            <a:endParaRPr lang="en-US" sz="1125" dirty="0"/>
          </a:p>
        </p:txBody>
      </p:sp>
      <p:sp>
        <p:nvSpPr>
          <p:cNvPr id="14" name="Text 12"/>
          <p:cNvSpPr/>
          <p:nvPr/>
        </p:nvSpPr>
        <p:spPr>
          <a:xfrm>
            <a:off x="6763941" y="6577608"/>
            <a:ext cx="4902800" cy="981075"/>
          </a:xfrm>
          <a:prstGeom prst="rect">
            <a:avLst/>
          </a:prstGeom>
          <a:noFill/>
          <a:ln/>
        </p:spPr>
        <p:txBody>
          <a:bodyPr wrap="square" lIns="25400" tIns="25400" rIns="25400" bIns="25400" rtlCol="0" anchor="t">
            <a:normAutofit/>
          </a:bodyPr>
          <a:lstStyle/>
          <a:p>
            <a:pPr algn="l" indent="0" marL="0">
              <a:lnSpc>
                <a:spcPct val="150000"/>
              </a:lnSpc>
              <a:buNone/>
            </a:pPr>
            <a:r>
              <a:rPr lang="en-US" sz="1650" dirty="0">
                <a:solidFill>
                  <a:srgbClr val="403A30"/>
                </a:solidFill>
                <a:latin typeface="Arial" pitchFamily="34" charset="0"/>
                <a:ea typeface="Arial" pitchFamily="34" charset="-122"/>
                <a:cs typeface="Arial" pitchFamily="34" charset="-120"/>
              </a:rPr>
              <a:t>Extracts payment terms, volume commitments, penalty clauses and renewal dates from the active contract version.</a:t>
            </a:r>
            <a:endParaRPr lang="en-US" sz="1650" dirty="0"/>
          </a:p>
        </p:txBody>
      </p:sp>
      <p:sp>
        <p:nvSpPr>
          <p:cNvPr id="15" name="Shape 13"/>
          <p:cNvSpPr/>
          <p:nvPr/>
        </p:nvSpPr>
        <p:spPr>
          <a:xfrm>
            <a:off x="12026860" y="5948958"/>
            <a:ext cx="5346740" cy="1903095"/>
          </a:xfrm>
          <a:prstGeom prst="roundRect">
            <a:avLst>
              <a:gd name="adj" fmla="val 1502"/>
            </a:avLst>
          </a:prstGeom>
          <a:solidFill>
            <a:srgbClr val="FBF8F2"/>
          </a:solidFill>
          <a:ln w="7620">
            <a:solidFill>
              <a:srgbClr val="DDD4C6"/>
            </a:solidFill>
            <a:prstDash val="solid"/>
          </a:ln>
        </p:spPr>
      </p:sp>
      <p:sp>
        <p:nvSpPr>
          <p:cNvPr id="16" name="Text 14"/>
          <p:cNvSpPr/>
          <p:nvPr/>
        </p:nvSpPr>
        <p:spPr>
          <a:xfrm>
            <a:off x="12320231" y="6242328"/>
            <a:ext cx="5236000" cy="220980"/>
          </a:xfrm>
          <a:prstGeom prst="rect">
            <a:avLst/>
          </a:prstGeom>
          <a:noFill/>
          <a:ln/>
        </p:spPr>
        <p:txBody>
          <a:bodyPr wrap="square" lIns="25400" tIns="25400" rIns="25400" bIns="25400" rtlCol="0" anchor="t">
            <a:normAutofit/>
          </a:bodyPr>
          <a:lstStyle/>
          <a:p>
            <a:pPr algn="l" indent="0" marL="0">
              <a:buNone/>
            </a:pPr>
            <a:r>
              <a:rPr lang="en-US" sz="1125" spc="225" kern="0" dirty="0">
                <a:solidFill>
                  <a:srgbClr val="B23B26"/>
                </a:solidFill>
                <a:latin typeface="Courier New" pitchFamily="34" charset="0"/>
                <a:ea typeface="Courier New" pitchFamily="34" charset="-122"/>
                <a:cs typeface="Courier New" pitchFamily="34" charset="-120"/>
              </a:rPr>
              <a:t>PRICES</a:t>
            </a:r>
            <a:endParaRPr lang="en-US" sz="1125" dirty="0"/>
          </a:p>
        </p:txBody>
      </p:sp>
      <p:sp>
        <p:nvSpPr>
          <p:cNvPr id="17" name="Text 15"/>
          <p:cNvSpPr/>
          <p:nvPr/>
        </p:nvSpPr>
        <p:spPr>
          <a:xfrm>
            <a:off x="12320231" y="6577608"/>
            <a:ext cx="4902800" cy="981075"/>
          </a:xfrm>
          <a:prstGeom prst="rect">
            <a:avLst/>
          </a:prstGeom>
          <a:noFill/>
          <a:ln/>
        </p:spPr>
        <p:txBody>
          <a:bodyPr wrap="square" lIns="25400" tIns="25400" rIns="25400" bIns="25400" rtlCol="0" anchor="t">
            <a:normAutofit/>
          </a:bodyPr>
          <a:lstStyle/>
          <a:p>
            <a:pPr algn="l" indent="0" marL="0">
              <a:lnSpc>
                <a:spcPct val="150000"/>
              </a:lnSpc>
              <a:buNone/>
            </a:pPr>
            <a:r>
              <a:rPr lang="en-US" sz="1650" dirty="0">
                <a:solidFill>
                  <a:srgbClr val="403A30"/>
                </a:solidFill>
                <a:latin typeface="Arial" pitchFamily="34" charset="0"/>
                <a:ea typeface="Arial" pitchFamily="34" charset="-122"/>
                <a:cs typeface="Arial" pitchFamily="34" charset="-120"/>
              </a:rPr>
              <a:t>Adds the live commodity benchmark, cocoa, sugar, dairy, so the manager knows where the market sits before walking in.</a:t>
            </a:r>
            <a:endParaRPr lang="en-US" sz="1650" dirty="0"/>
          </a:p>
        </p:txBody>
      </p:sp>
      <p:sp>
        <p:nvSpPr>
          <p:cNvPr id="18" name="Shape 16"/>
          <p:cNvSpPr/>
          <p:nvPr/>
        </p:nvSpPr>
        <p:spPr>
          <a:xfrm>
            <a:off x="914400" y="9637395"/>
            <a:ext cx="16459200" cy="9525"/>
          </a:xfrm>
          <a:prstGeom prst="rect">
            <a:avLst/>
          </a:prstGeom>
          <a:solidFill>
            <a:srgbClr val="E2DACE"/>
          </a:solidFill>
          <a:ln/>
        </p:spPr>
      </p:sp>
      <p:sp>
        <p:nvSpPr>
          <p:cNvPr id="19" name="Text 17"/>
          <p:cNvSpPr/>
          <p:nvPr/>
        </p:nvSpPr>
        <p:spPr>
          <a:xfrm>
            <a:off x="914400" y="9768840"/>
            <a:ext cx="5462575" cy="21336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A89D8E"/>
                </a:solidFill>
                <a:latin typeface="Courier New" pitchFamily="34" charset="0"/>
                <a:ea typeface="Courier New" pitchFamily="34" charset="-122"/>
                <a:cs typeface="Courier New" pitchFamily="34" charset="-120"/>
              </a:rPr>
              <a:t>STRAUSS PROCUREMENT · FDE EXERCISE · CONFIDENTIAL</a:t>
            </a:r>
            <a:endParaRPr lang="en-US" sz="1050" dirty="0"/>
          </a:p>
        </p:txBody>
      </p:sp>
      <p:sp>
        <p:nvSpPr>
          <p:cNvPr id="20" name="Text 18"/>
          <p:cNvSpPr/>
          <p:nvPr/>
        </p:nvSpPr>
        <p:spPr>
          <a:xfrm>
            <a:off x="16664107" y="9768840"/>
            <a:ext cx="785693" cy="21336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A89D8E"/>
                </a:solidFill>
                <a:latin typeface="Courier New" pitchFamily="34" charset="0"/>
                <a:ea typeface="Courier New" pitchFamily="34" charset="-122"/>
                <a:cs typeface="Courier New" pitchFamily="34" charset="-120"/>
              </a:rPr>
              <a:t>05 / 19</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EFE7"/>
        </a:solidFill>
      </p:bgPr>
    </p:bg>
    <p:spTree>
      <p:nvGrpSpPr>
        <p:cNvPr id="1" name=""/>
        <p:cNvGrpSpPr/>
        <p:nvPr/>
      </p:nvGrpSpPr>
      <p:grpSpPr>
        <a:xfrm>
          <a:off x="0" y="0"/>
          <a:ext cx="0" cy="0"/>
          <a:chOff x="0" y="0"/>
          <a:chExt cx="0" cy="0"/>
        </a:xfrm>
      </p:grpSpPr>
      <p:sp>
        <p:nvSpPr>
          <p:cNvPr id="2" name="Shape 0"/>
          <p:cNvSpPr/>
          <p:nvPr/>
        </p:nvSpPr>
        <p:spPr>
          <a:xfrm>
            <a:off x="914400" y="1749742"/>
            <a:ext cx="16459200" cy="9525"/>
          </a:xfrm>
          <a:prstGeom prst="rect">
            <a:avLst/>
          </a:prstGeom>
          <a:solidFill>
            <a:srgbClr val="D7CDBE"/>
          </a:solidFill>
          <a:ln/>
        </p:spPr>
      </p:sp>
      <p:sp>
        <p:nvSpPr>
          <p:cNvPr id="3" name="Text 1"/>
          <p:cNvSpPr/>
          <p:nvPr/>
        </p:nvSpPr>
        <p:spPr>
          <a:xfrm>
            <a:off x="914400" y="704850"/>
            <a:ext cx="18105120" cy="259080"/>
          </a:xfrm>
          <a:prstGeom prst="rect">
            <a:avLst/>
          </a:prstGeom>
          <a:noFill/>
          <a:ln/>
        </p:spPr>
        <p:txBody>
          <a:bodyPr wrap="square" lIns="25400" tIns="25400" rIns="25400" bIns="25400" rtlCol="0" anchor="t">
            <a:normAutofit/>
          </a:bodyPr>
          <a:lstStyle/>
          <a:p>
            <a:pPr algn="l" indent="0" marL="0">
              <a:buNone/>
            </a:pPr>
            <a:r>
              <a:rPr lang="en-US" sz="1350" spc="324" kern="0" dirty="0">
                <a:solidFill>
                  <a:srgbClr val="B23B26"/>
                </a:solidFill>
                <a:latin typeface="Courier New" pitchFamily="34" charset="0"/>
                <a:ea typeface="Courier New" pitchFamily="34" charset="-122"/>
                <a:cs typeface="Courier New" pitchFamily="34" charset="-120"/>
              </a:rPr>
              <a:t>06 · WHAT I CONSIDERED &amp; REJECTED</a:t>
            </a:r>
            <a:endParaRPr lang="en-US" sz="1350" dirty="0"/>
          </a:p>
        </p:txBody>
      </p:sp>
      <p:sp>
        <p:nvSpPr>
          <p:cNvPr id="4" name="Text 2"/>
          <p:cNvSpPr/>
          <p:nvPr/>
        </p:nvSpPr>
        <p:spPr>
          <a:xfrm>
            <a:off x="914400" y="1049655"/>
            <a:ext cx="18105120" cy="528638"/>
          </a:xfrm>
          <a:prstGeom prst="rect">
            <a:avLst/>
          </a:prstGeom>
          <a:noFill/>
          <a:ln/>
        </p:spPr>
        <p:txBody>
          <a:bodyPr wrap="square" lIns="25400" tIns="25400" rIns="25400" bIns="25400" rtlCol="0" anchor="t">
            <a:normAutofit/>
          </a:bodyPr>
          <a:lstStyle/>
          <a:p>
            <a:pPr algn="l" indent="0" marL="0">
              <a:lnSpc>
                <a:spcPct val="103000"/>
              </a:lnSpc>
              <a:buNone/>
            </a:pPr>
            <a:r>
              <a:rPr lang="en-US" sz="3750" spc="-56" kern="0" dirty="0">
                <a:solidFill>
                  <a:srgbClr val="221D17"/>
                </a:solidFill>
                <a:latin typeface="Georgia" pitchFamily="34" charset="0"/>
                <a:ea typeface="Georgia" pitchFamily="34" charset="-122"/>
                <a:cs typeface="Georgia" pitchFamily="34" charset="-120"/>
              </a:rPr>
              <a:t>Every design decision has a tradeoff, these were mine</a:t>
            </a:r>
            <a:endParaRPr lang="en-US" sz="3750" dirty="0"/>
          </a:p>
        </p:txBody>
      </p:sp>
      <p:sp>
        <p:nvSpPr>
          <p:cNvPr id="5" name="Shape 3"/>
          <p:cNvSpPr/>
          <p:nvPr/>
        </p:nvSpPr>
        <p:spPr>
          <a:xfrm>
            <a:off x="914400" y="2285048"/>
            <a:ext cx="16459200" cy="15240"/>
          </a:xfrm>
          <a:prstGeom prst="rect">
            <a:avLst/>
          </a:prstGeom>
          <a:solidFill>
            <a:srgbClr val="221D17"/>
          </a:solidFill>
          <a:ln/>
        </p:spPr>
      </p:sp>
      <p:sp>
        <p:nvSpPr>
          <p:cNvPr id="6" name="Text 4"/>
          <p:cNvSpPr/>
          <p:nvPr/>
        </p:nvSpPr>
        <p:spPr>
          <a:xfrm>
            <a:off x="914400" y="1985963"/>
            <a:ext cx="4091202" cy="21336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94897A"/>
                </a:solidFill>
                <a:latin typeface="Courier New" pitchFamily="34" charset="0"/>
                <a:ea typeface="Courier New" pitchFamily="34" charset="-122"/>
                <a:cs typeface="Courier New" pitchFamily="34" charset="-120"/>
              </a:rPr>
              <a:t>WHAT I CONSIDERED</a:t>
            </a:r>
            <a:endParaRPr lang="en-US" sz="1050" dirty="0"/>
          </a:p>
        </p:txBody>
      </p:sp>
      <p:sp>
        <p:nvSpPr>
          <p:cNvPr id="7" name="Text 5"/>
          <p:cNvSpPr/>
          <p:nvPr/>
        </p:nvSpPr>
        <p:spPr>
          <a:xfrm>
            <a:off x="5052775" y="1985963"/>
            <a:ext cx="6954964" cy="21336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94897A"/>
                </a:solidFill>
                <a:latin typeface="Courier New" pitchFamily="34" charset="0"/>
                <a:ea typeface="Courier New" pitchFamily="34" charset="-122"/>
                <a:cs typeface="Courier New" pitchFamily="34" charset="-120"/>
              </a:rPr>
              <a:t>REJECTED BECAUSE</a:t>
            </a:r>
            <a:endParaRPr lang="en-US" sz="1050" dirty="0"/>
          </a:p>
        </p:txBody>
      </p:sp>
      <p:sp>
        <p:nvSpPr>
          <p:cNvPr id="8" name="Text 6"/>
          <p:cNvSpPr/>
          <p:nvPr/>
        </p:nvSpPr>
        <p:spPr>
          <a:xfrm>
            <a:off x="11794570" y="1985963"/>
            <a:ext cx="6136934" cy="21336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5E7350"/>
                </a:solidFill>
                <a:latin typeface="Courier New" pitchFamily="34" charset="0"/>
                <a:ea typeface="Courier New" pitchFamily="34" charset="-122"/>
                <a:cs typeface="Courier New" pitchFamily="34" charset="-120"/>
              </a:rPr>
              <a:t>TRADEOFF ACCEPTED</a:t>
            </a:r>
            <a:endParaRPr lang="en-US" sz="1050" dirty="0"/>
          </a:p>
        </p:txBody>
      </p:sp>
      <p:sp>
        <p:nvSpPr>
          <p:cNvPr id="9" name="Shape 7"/>
          <p:cNvSpPr/>
          <p:nvPr/>
        </p:nvSpPr>
        <p:spPr>
          <a:xfrm>
            <a:off x="914400" y="3214688"/>
            <a:ext cx="16459200" cy="9525"/>
          </a:xfrm>
          <a:prstGeom prst="rect">
            <a:avLst/>
          </a:prstGeom>
          <a:solidFill>
            <a:srgbClr val="DBD2C4"/>
          </a:solidFill>
          <a:ln/>
        </p:spPr>
      </p:sp>
      <p:sp>
        <p:nvSpPr>
          <p:cNvPr id="10" name="Text 8"/>
          <p:cNvSpPr/>
          <p:nvPr/>
        </p:nvSpPr>
        <p:spPr>
          <a:xfrm>
            <a:off x="914400" y="2471738"/>
            <a:ext cx="4091202" cy="307777"/>
          </a:xfrm>
          <a:prstGeom prst="rect">
            <a:avLst/>
          </a:prstGeom>
          <a:noFill/>
          <a:ln/>
        </p:spPr>
        <p:txBody>
          <a:bodyPr wrap="square" lIns="25400" tIns="25400" rIns="25400" bIns="25400" rtlCol="0" anchor="t">
            <a:normAutofit/>
          </a:bodyPr>
          <a:lstStyle/>
          <a:p>
            <a:pPr algn="l" indent="0" marL="0">
              <a:lnSpc>
                <a:spcPct val="118000"/>
              </a:lnSpc>
              <a:buNone/>
            </a:pPr>
            <a:r>
              <a:rPr lang="en-US" sz="1800" dirty="0">
                <a:solidFill>
                  <a:srgbClr val="221D17"/>
                </a:solidFill>
                <a:latin typeface="Georgia" pitchFamily="34" charset="0"/>
                <a:ea typeface="Georgia" pitchFamily="34" charset="-122"/>
                <a:cs typeface="Georgia" pitchFamily="34" charset="-120"/>
              </a:rPr>
              <a:t>Commodity pricing dashboard</a:t>
            </a:r>
            <a:endParaRPr lang="en-US" sz="1800" dirty="0"/>
          </a:p>
        </p:txBody>
      </p:sp>
      <p:sp>
        <p:nvSpPr>
          <p:cNvPr id="11" name="Text 9"/>
          <p:cNvSpPr/>
          <p:nvPr/>
        </p:nvSpPr>
        <p:spPr>
          <a:xfrm>
            <a:off x="5052775" y="2471738"/>
            <a:ext cx="6512376" cy="60960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4A443B"/>
                </a:solidFill>
                <a:latin typeface="Arial" pitchFamily="34" charset="0"/>
                <a:ea typeface="Arial" pitchFamily="34" charset="-122"/>
                <a:cs typeface="Arial" pitchFamily="34" charset="-120"/>
              </a:rPr>
              <a:t>Answers an adjacent problem, not the stated pain point. The most obvious build, every candidate goes here.</a:t>
            </a:r>
            <a:endParaRPr lang="en-US" sz="1500" dirty="0"/>
          </a:p>
        </p:txBody>
      </p:sp>
      <p:sp>
        <p:nvSpPr>
          <p:cNvPr id="12" name="Shape 10"/>
          <p:cNvSpPr/>
          <p:nvPr/>
        </p:nvSpPr>
        <p:spPr>
          <a:xfrm>
            <a:off x="11794570" y="2471738"/>
            <a:ext cx="15240" cy="571500"/>
          </a:xfrm>
          <a:prstGeom prst="rect">
            <a:avLst/>
          </a:prstGeom>
          <a:solidFill>
            <a:srgbClr val="C3D0B8"/>
          </a:solidFill>
          <a:ln/>
        </p:spPr>
      </p:sp>
      <p:sp>
        <p:nvSpPr>
          <p:cNvPr id="13" name="Text 11"/>
          <p:cNvSpPr/>
          <p:nvPr/>
        </p:nvSpPr>
        <p:spPr>
          <a:xfrm>
            <a:off x="11981260" y="2471738"/>
            <a:ext cx="5559712" cy="60960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3F4A38"/>
                </a:solidFill>
                <a:latin typeface="Arial" pitchFamily="34" charset="0"/>
                <a:ea typeface="Arial" pitchFamily="34" charset="-122"/>
                <a:cs typeface="Arial" pitchFamily="34" charset="-120"/>
              </a:rPr>
              <a:t>Pricing folded in as one input to the packet, not the centrepiece.</a:t>
            </a:r>
            <a:endParaRPr lang="en-US" sz="1500" dirty="0"/>
          </a:p>
        </p:txBody>
      </p:sp>
      <p:sp>
        <p:nvSpPr>
          <p:cNvPr id="14" name="Shape 12"/>
          <p:cNvSpPr/>
          <p:nvPr/>
        </p:nvSpPr>
        <p:spPr>
          <a:xfrm>
            <a:off x="914400" y="4136708"/>
            <a:ext cx="16459200" cy="9525"/>
          </a:xfrm>
          <a:prstGeom prst="rect">
            <a:avLst/>
          </a:prstGeom>
          <a:solidFill>
            <a:srgbClr val="DBD2C4"/>
          </a:solidFill>
          <a:ln/>
        </p:spPr>
      </p:sp>
      <p:sp>
        <p:nvSpPr>
          <p:cNvPr id="15" name="Text 13"/>
          <p:cNvSpPr/>
          <p:nvPr/>
        </p:nvSpPr>
        <p:spPr>
          <a:xfrm>
            <a:off x="914400" y="3393758"/>
            <a:ext cx="3830853" cy="577453"/>
          </a:xfrm>
          <a:prstGeom prst="rect">
            <a:avLst/>
          </a:prstGeom>
          <a:noFill/>
          <a:ln/>
        </p:spPr>
        <p:txBody>
          <a:bodyPr wrap="square" lIns="25400" tIns="25400" rIns="25400" bIns="25400" rtlCol="0" anchor="t">
            <a:normAutofit/>
          </a:bodyPr>
          <a:lstStyle/>
          <a:p>
            <a:pPr algn="l" indent="0" marL="0">
              <a:lnSpc>
                <a:spcPct val="118000"/>
              </a:lnSpc>
              <a:buNone/>
            </a:pPr>
            <a:r>
              <a:rPr lang="en-US" sz="1800" dirty="0">
                <a:solidFill>
                  <a:srgbClr val="221D17"/>
                </a:solidFill>
                <a:latin typeface="Georgia" pitchFamily="34" charset="0"/>
                <a:ea typeface="Georgia" pitchFamily="34" charset="-122"/>
                <a:cs typeface="Georgia" pitchFamily="34" charset="-120"/>
              </a:rPr>
              <a:t>General “what was agreed” tracking layer</a:t>
            </a:r>
            <a:endParaRPr lang="en-US" sz="1800" dirty="0"/>
          </a:p>
        </p:txBody>
      </p:sp>
      <p:sp>
        <p:nvSpPr>
          <p:cNvPr id="16" name="Text 14"/>
          <p:cNvSpPr/>
          <p:nvPr/>
        </p:nvSpPr>
        <p:spPr>
          <a:xfrm>
            <a:off x="5052775" y="3393758"/>
            <a:ext cx="6512376" cy="60960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4A443B"/>
                </a:solidFill>
                <a:latin typeface="Arial" pitchFamily="34" charset="0"/>
                <a:ea typeface="Arial" pitchFamily="34" charset="-122"/>
                <a:cs typeface="Arial" pitchFamily="34" charset="-120"/>
              </a:rPr>
              <a:t>A system-of-record problem, not an AI problem. Better solved by a database than a model.</a:t>
            </a:r>
            <a:endParaRPr lang="en-US" sz="1500" dirty="0"/>
          </a:p>
        </p:txBody>
      </p:sp>
      <p:sp>
        <p:nvSpPr>
          <p:cNvPr id="17" name="Shape 15"/>
          <p:cNvSpPr/>
          <p:nvPr/>
        </p:nvSpPr>
        <p:spPr>
          <a:xfrm>
            <a:off x="11794570" y="3393758"/>
            <a:ext cx="15240" cy="571500"/>
          </a:xfrm>
          <a:prstGeom prst="rect">
            <a:avLst/>
          </a:prstGeom>
          <a:solidFill>
            <a:srgbClr val="C3D0B8"/>
          </a:solidFill>
          <a:ln/>
        </p:spPr>
      </p:sp>
      <p:sp>
        <p:nvSpPr>
          <p:cNvPr id="18" name="Text 16"/>
          <p:cNvSpPr/>
          <p:nvPr/>
        </p:nvSpPr>
        <p:spPr>
          <a:xfrm>
            <a:off x="11981260" y="3393758"/>
            <a:ext cx="5559712" cy="60960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3F4A38"/>
                </a:solidFill>
                <a:latin typeface="Arial" pitchFamily="34" charset="0"/>
                <a:ea typeface="Arial" pitchFamily="34" charset="-122"/>
                <a:cs typeface="Arial" pitchFamily="34" charset="-120"/>
              </a:rPr>
              <a:t>Solved indirectly: the packet pulls from accurate, current contract terms.</a:t>
            </a:r>
            <a:endParaRPr lang="en-US" sz="1500" dirty="0"/>
          </a:p>
        </p:txBody>
      </p:sp>
      <p:sp>
        <p:nvSpPr>
          <p:cNvPr id="19" name="Shape 17"/>
          <p:cNvSpPr/>
          <p:nvPr/>
        </p:nvSpPr>
        <p:spPr>
          <a:xfrm>
            <a:off x="914400" y="5058728"/>
            <a:ext cx="16459200" cy="9525"/>
          </a:xfrm>
          <a:prstGeom prst="rect">
            <a:avLst/>
          </a:prstGeom>
          <a:solidFill>
            <a:srgbClr val="DBD2C4"/>
          </a:solidFill>
          <a:ln/>
        </p:spPr>
      </p:sp>
      <p:sp>
        <p:nvSpPr>
          <p:cNvPr id="20" name="Text 18"/>
          <p:cNvSpPr/>
          <p:nvPr/>
        </p:nvSpPr>
        <p:spPr>
          <a:xfrm>
            <a:off x="914400" y="4315778"/>
            <a:ext cx="3830853" cy="577453"/>
          </a:xfrm>
          <a:prstGeom prst="rect">
            <a:avLst/>
          </a:prstGeom>
          <a:noFill/>
          <a:ln/>
        </p:spPr>
        <p:txBody>
          <a:bodyPr wrap="square" lIns="25400" tIns="25400" rIns="25400" bIns="25400" rtlCol="0" anchor="t">
            <a:normAutofit/>
          </a:bodyPr>
          <a:lstStyle/>
          <a:p>
            <a:pPr algn="l" indent="0" marL="0">
              <a:lnSpc>
                <a:spcPct val="118000"/>
              </a:lnSpc>
              <a:buNone/>
            </a:pPr>
            <a:r>
              <a:rPr lang="en-US" sz="1800" dirty="0">
                <a:solidFill>
                  <a:srgbClr val="221D17"/>
                </a:solidFill>
                <a:latin typeface="Georgia" pitchFamily="34" charset="0"/>
                <a:ea typeface="Georgia" pitchFamily="34" charset="-122"/>
                <a:cs typeface="Georgia" pitchFamily="34" charset="-120"/>
              </a:rPr>
              <a:t>Live MCP connector for pricing in the prototype</a:t>
            </a:r>
            <a:endParaRPr lang="en-US" sz="1800" dirty="0"/>
          </a:p>
        </p:txBody>
      </p:sp>
      <p:sp>
        <p:nvSpPr>
          <p:cNvPr id="21" name="Text 19"/>
          <p:cNvSpPr/>
          <p:nvPr/>
        </p:nvSpPr>
        <p:spPr>
          <a:xfrm>
            <a:off x="5052775" y="4315778"/>
            <a:ext cx="6512376" cy="60960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4A443B"/>
                </a:solidFill>
                <a:latin typeface="Arial" pitchFamily="34" charset="0"/>
                <a:ea typeface="Arial" pitchFamily="34" charset="-122"/>
                <a:cs typeface="Arial" pitchFamily="34" charset="-120"/>
              </a:rPr>
              <a:t>A live demo depending on a third-party server responding correctly in the room. Unnecessary risk for zero added insight.</a:t>
            </a:r>
            <a:endParaRPr lang="en-US" sz="1500" dirty="0"/>
          </a:p>
        </p:txBody>
      </p:sp>
      <p:sp>
        <p:nvSpPr>
          <p:cNvPr id="22" name="Shape 20"/>
          <p:cNvSpPr/>
          <p:nvPr/>
        </p:nvSpPr>
        <p:spPr>
          <a:xfrm>
            <a:off x="11794570" y="4315778"/>
            <a:ext cx="15240" cy="571500"/>
          </a:xfrm>
          <a:prstGeom prst="rect">
            <a:avLst/>
          </a:prstGeom>
          <a:solidFill>
            <a:srgbClr val="C3D0B8"/>
          </a:solidFill>
          <a:ln/>
        </p:spPr>
      </p:sp>
      <p:sp>
        <p:nvSpPr>
          <p:cNvPr id="23" name="Text 21"/>
          <p:cNvSpPr/>
          <p:nvPr/>
        </p:nvSpPr>
        <p:spPr>
          <a:xfrm>
            <a:off x="11981260" y="4315778"/>
            <a:ext cx="5559712" cy="60960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3F4A38"/>
                </a:solidFill>
                <a:latin typeface="Arial" pitchFamily="34" charset="0"/>
                <a:ea typeface="Arial" pitchFamily="34" charset="-122"/>
                <a:cs typeface="Arial" pitchFamily="34" charset="-120"/>
              </a:rPr>
              <a:t>One-time static CSV pull. MCP documented as the production path, not built into the prototype.</a:t>
            </a:r>
            <a:endParaRPr lang="en-US" sz="1500" dirty="0"/>
          </a:p>
        </p:txBody>
      </p:sp>
      <p:sp>
        <p:nvSpPr>
          <p:cNvPr id="24" name="Shape 22"/>
          <p:cNvSpPr/>
          <p:nvPr/>
        </p:nvSpPr>
        <p:spPr>
          <a:xfrm>
            <a:off x="914400" y="5980748"/>
            <a:ext cx="16459200" cy="9525"/>
          </a:xfrm>
          <a:prstGeom prst="rect">
            <a:avLst/>
          </a:prstGeom>
          <a:solidFill>
            <a:srgbClr val="DBD2C4"/>
          </a:solidFill>
          <a:ln/>
        </p:spPr>
      </p:sp>
      <p:sp>
        <p:nvSpPr>
          <p:cNvPr id="25" name="Text 23"/>
          <p:cNvSpPr/>
          <p:nvPr/>
        </p:nvSpPr>
        <p:spPr>
          <a:xfrm>
            <a:off x="914400" y="5237798"/>
            <a:ext cx="4091202" cy="307777"/>
          </a:xfrm>
          <a:prstGeom prst="rect">
            <a:avLst/>
          </a:prstGeom>
          <a:noFill/>
          <a:ln/>
        </p:spPr>
        <p:txBody>
          <a:bodyPr wrap="square" lIns="25400" tIns="25400" rIns="25400" bIns="25400" rtlCol="0" anchor="t">
            <a:normAutofit/>
          </a:bodyPr>
          <a:lstStyle/>
          <a:p>
            <a:pPr algn="l" indent="0" marL="0">
              <a:lnSpc>
                <a:spcPct val="118000"/>
              </a:lnSpc>
              <a:buNone/>
            </a:pPr>
            <a:r>
              <a:rPr lang="en-US" sz="1800" dirty="0">
                <a:solidFill>
                  <a:srgbClr val="221D17"/>
                </a:solidFill>
                <a:latin typeface="Georgia" pitchFamily="34" charset="0"/>
                <a:ea typeface="Georgia" pitchFamily="34" charset="-122"/>
                <a:cs typeface="Georgia" pitchFamily="34" charset="-120"/>
              </a:rPr>
              <a:t>Vector store + live connectors</a:t>
            </a:r>
            <a:endParaRPr lang="en-US" sz="1800" dirty="0"/>
          </a:p>
        </p:txBody>
      </p:sp>
      <p:sp>
        <p:nvSpPr>
          <p:cNvPr id="26" name="Text 24"/>
          <p:cNvSpPr/>
          <p:nvPr/>
        </p:nvSpPr>
        <p:spPr>
          <a:xfrm>
            <a:off x="5052775" y="5237798"/>
            <a:ext cx="6512376" cy="60960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4A443B"/>
                </a:solidFill>
                <a:latin typeface="Arial" pitchFamily="34" charset="0"/>
                <a:ea typeface="Arial" pitchFamily="34" charset="-122"/>
                <a:cs typeface="Arial" pitchFamily="34" charset="-120"/>
              </a:rPr>
              <a:t>Premature at this data volume: 8 suppliers, ~111 emails. Real value arrives at hundreds of suppliers, thousands of emails.</a:t>
            </a:r>
            <a:endParaRPr lang="en-US" sz="1500" dirty="0"/>
          </a:p>
        </p:txBody>
      </p:sp>
      <p:sp>
        <p:nvSpPr>
          <p:cNvPr id="27" name="Shape 25"/>
          <p:cNvSpPr/>
          <p:nvPr/>
        </p:nvSpPr>
        <p:spPr>
          <a:xfrm>
            <a:off x="11794570" y="5237798"/>
            <a:ext cx="15240" cy="571500"/>
          </a:xfrm>
          <a:prstGeom prst="rect">
            <a:avLst/>
          </a:prstGeom>
          <a:solidFill>
            <a:srgbClr val="C3D0B8"/>
          </a:solidFill>
          <a:ln/>
        </p:spPr>
      </p:sp>
      <p:sp>
        <p:nvSpPr>
          <p:cNvPr id="28" name="Text 26"/>
          <p:cNvSpPr/>
          <p:nvPr/>
        </p:nvSpPr>
        <p:spPr>
          <a:xfrm>
            <a:off x="11981260" y="5237798"/>
            <a:ext cx="5559712" cy="60960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3F4A38"/>
                </a:solidFill>
                <a:latin typeface="Arial" pitchFamily="34" charset="0"/>
                <a:ea typeface="Arial" pitchFamily="34" charset="-122"/>
                <a:cs typeface="Arial" pitchFamily="34" charset="-120"/>
              </a:rPr>
              <a:t>Local extraction against flat files. Vector store called out explicitly as the production-scale answer.</a:t>
            </a:r>
            <a:endParaRPr lang="en-US" sz="1500" dirty="0"/>
          </a:p>
        </p:txBody>
      </p:sp>
      <p:sp>
        <p:nvSpPr>
          <p:cNvPr id="29" name="Shape 27"/>
          <p:cNvSpPr/>
          <p:nvPr/>
        </p:nvSpPr>
        <p:spPr>
          <a:xfrm>
            <a:off x="914400" y="6902768"/>
            <a:ext cx="16459200" cy="9525"/>
          </a:xfrm>
          <a:prstGeom prst="rect">
            <a:avLst/>
          </a:prstGeom>
          <a:solidFill>
            <a:srgbClr val="DBD2C4"/>
          </a:solidFill>
          <a:ln/>
        </p:spPr>
      </p:sp>
      <p:sp>
        <p:nvSpPr>
          <p:cNvPr id="30" name="Text 28"/>
          <p:cNvSpPr/>
          <p:nvPr/>
        </p:nvSpPr>
        <p:spPr>
          <a:xfrm>
            <a:off x="914400" y="6159818"/>
            <a:ext cx="4091202" cy="307777"/>
          </a:xfrm>
          <a:prstGeom prst="rect">
            <a:avLst/>
          </a:prstGeom>
          <a:noFill/>
          <a:ln/>
        </p:spPr>
        <p:txBody>
          <a:bodyPr wrap="square" lIns="25400" tIns="25400" rIns="25400" bIns="25400" rtlCol="0" anchor="t">
            <a:normAutofit/>
          </a:bodyPr>
          <a:lstStyle/>
          <a:p>
            <a:pPr algn="l" indent="0" marL="0">
              <a:lnSpc>
                <a:spcPct val="118000"/>
              </a:lnSpc>
              <a:buNone/>
            </a:pPr>
            <a:r>
              <a:rPr lang="en-US" sz="1800" dirty="0">
                <a:solidFill>
                  <a:srgbClr val="221D17"/>
                </a:solidFill>
                <a:latin typeface="Georgia" pitchFamily="34" charset="0"/>
                <a:ea typeface="Georgia" pitchFamily="34" charset="-122"/>
                <a:cs typeface="Georgia" pitchFamily="34" charset="-120"/>
              </a:rPr>
              <a:t>Full contract lifecycle management</a:t>
            </a:r>
            <a:endParaRPr lang="en-US" sz="1800" dirty="0"/>
          </a:p>
        </p:txBody>
      </p:sp>
      <p:sp>
        <p:nvSpPr>
          <p:cNvPr id="31" name="Text 29"/>
          <p:cNvSpPr/>
          <p:nvPr/>
        </p:nvSpPr>
        <p:spPr>
          <a:xfrm>
            <a:off x="5052775" y="6159818"/>
            <a:ext cx="6512376" cy="60960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4A443B"/>
                </a:solidFill>
                <a:latin typeface="Arial" pitchFamily="34" charset="0"/>
                <a:ea typeface="Arial" pitchFamily="34" charset="-122"/>
                <a:cs typeface="Arial" pitchFamily="34" charset="-120"/>
              </a:rPr>
              <a:t>Too broad a problem for the time available, and not the time-sink the brief describes.</a:t>
            </a:r>
            <a:endParaRPr lang="en-US" sz="1500" dirty="0"/>
          </a:p>
        </p:txBody>
      </p:sp>
      <p:sp>
        <p:nvSpPr>
          <p:cNvPr id="32" name="Shape 30"/>
          <p:cNvSpPr/>
          <p:nvPr/>
        </p:nvSpPr>
        <p:spPr>
          <a:xfrm>
            <a:off x="11794570" y="6159818"/>
            <a:ext cx="15240" cy="571500"/>
          </a:xfrm>
          <a:prstGeom prst="rect">
            <a:avLst/>
          </a:prstGeom>
          <a:solidFill>
            <a:srgbClr val="C3D0B8"/>
          </a:solidFill>
          <a:ln/>
        </p:spPr>
      </p:sp>
      <p:sp>
        <p:nvSpPr>
          <p:cNvPr id="33" name="Text 31"/>
          <p:cNvSpPr/>
          <p:nvPr/>
        </p:nvSpPr>
        <p:spPr>
          <a:xfrm>
            <a:off x="11981260" y="6159818"/>
            <a:ext cx="5559712" cy="60960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3F4A38"/>
                </a:solidFill>
                <a:latin typeface="Arial" pitchFamily="34" charset="0"/>
                <a:ea typeface="Arial" pitchFamily="34" charset="-122"/>
                <a:cs typeface="Arial" pitchFamily="34" charset="-120"/>
              </a:rPr>
              <a:t>Contract terms are read and surfaced, not managed end to end.</a:t>
            </a:r>
            <a:endParaRPr lang="en-US" sz="1500" dirty="0"/>
          </a:p>
        </p:txBody>
      </p:sp>
      <p:sp>
        <p:nvSpPr>
          <p:cNvPr id="34" name="Shape 32"/>
          <p:cNvSpPr/>
          <p:nvPr/>
        </p:nvSpPr>
        <p:spPr>
          <a:xfrm>
            <a:off x="914400" y="8682038"/>
            <a:ext cx="16459200" cy="9525"/>
          </a:xfrm>
          <a:prstGeom prst="rect">
            <a:avLst/>
          </a:prstGeom>
          <a:solidFill>
            <a:srgbClr val="DBD2C4"/>
          </a:solidFill>
          <a:ln/>
        </p:spPr>
      </p:sp>
      <p:sp>
        <p:nvSpPr>
          <p:cNvPr id="35" name="Text 33"/>
          <p:cNvSpPr/>
          <p:nvPr/>
        </p:nvSpPr>
        <p:spPr>
          <a:xfrm>
            <a:off x="914400" y="7081838"/>
            <a:ext cx="3830853" cy="577453"/>
          </a:xfrm>
          <a:prstGeom prst="rect">
            <a:avLst/>
          </a:prstGeom>
          <a:noFill/>
          <a:ln/>
        </p:spPr>
        <p:txBody>
          <a:bodyPr wrap="square" lIns="25400" tIns="25400" rIns="25400" bIns="25400" rtlCol="0" anchor="t">
            <a:normAutofit/>
          </a:bodyPr>
          <a:lstStyle/>
          <a:p>
            <a:pPr algn="l" indent="0" marL="0">
              <a:lnSpc>
                <a:spcPct val="118000"/>
              </a:lnSpc>
              <a:buNone/>
            </a:pPr>
            <a:r>
              <a:rPr lang="en-US" sz="1800" dirty="0">
                <a:solidFill>
                  <a:srgbClr val="221D17"/>
                </a:solidFill>
                <a:latin typeface="Georgia" pitchFamily="34" charset="0"/>
                <a:ea typeface="Georgia" pitchFamily="34" charset="-122"/>
                <a:cs typeface="Georgia" pitchFamily="34" charset="-120"/>
              </a:rPr>
              <a:t>Conversational chatbot over supplier data</a:t>
            </a:r>
            <a:endParaRPr lang="en-US" sz="1800" dirty="0"/>
          </a:p>
        </p:txBody>
      </p:sp>
      <p:sp>
        <p:nvSpPr>
          <p:cNvPr id="36" name="Text 34"/>
          <p:cNvSpPr/>
          <p:nvPr/>
        </p:nvSpPr>
        <p:spPr>
          <a:xfrm>
            <a:off x="5052775" y="7081838"/>
            <a:ext cx="6512376" cy="146685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4A443B"/>
                </a:solidFill>
                <a:latin typeface="Arial" pitchFamily="34" charset="0"/>
                <a:ea typeface="Arial" pitchFamily="34" charset="-122"/>
                <a:cs typeface="Arial" pitchFamily="34" charset="-120"/>
              </a:rPr>
              <a:t>A chatbot surfaces what you ask for, this problem needs to surface what you didn’t know to ask. The Galil price-cap violation would never appear unless the analyst typed “does our quoted price exceed the contract cap?”, which they wouldn’t know to ask. Also requires the user to drive the interaction at exactly the wrong moment.</a:t>
            </a:r>
            <a:endParaRPr lang="en-US" sz="1500" dirty="0"/>
          </a:p>
        </p:txBody>
      </p:sp>
      <p:sp>
        <p:nvSpPr>
          <p:cNvPr id="37" name="Shape 35"/>
          <p:cNvSpPr/>
          <p:nvPr/>
        </p:nvSpPr>
        <p:spPr>
          <a:xfrm>
            <a:off x="11794570" y="7081838"/>
            <a:ext cx="15240" cy="857250"/>
          </a:xfrm>
          <a:prstGeom prst="rect">
            <a:avLst/>
          </a:prstGeom>
          <a:solidFill>
            <a:srgbClr val="C3D0B8"/>
          </a:solidFill>
          <a:ln/>
        </p:spPr>
      </p:sp>
      <p:sp>
        <p:nvSpPr>
          <p:cNvPr id="38" name="Text 36"/>
          <p:cNvSpPr/>
          <p:nvPr/>
        </p:nvSpPr>
        <p:spPr>
          <a:xfrm>
            <a:off x="11981260" y="7081838"/>
            <a:ext cx="5559712" cy="89535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3F4A38"/>
                </a:solidFill>
                <a:latin typeface="Arial" pitchFamily="34" charset="0"/>
                <a:ea typeface="Arial" pitchFamily="34" charset="-122"/>
                <a:cs typeface="Arial" pitchFamily="34" charset="-120"/>
              </a:rPr>
              <a:t>Push-delivered structured packet instead, complete context before every meeting, no query needed. A Q&amp;A layer is a Phase 3 add-on once the packet has earned trust.</a:t>
            </a:r>
            <a:endParaRPr lang="en-US" sz="1500" dirty="0"/>
          </a:p>
        </p:txBody>
      </p:sp>
      <p:sp>
        <p:nvSpPr>
          <p:cNvPr id="39" name="Shape 37"/>
          <p:cNvSpPr/>
          <p:nvPr/>
        </p:nvSpPr>
        <p:spPr>
          <a:xfrm>
            <a:off x="914400" y="9637395"/>
            <a:ext cx="16459200" cy="9525"/>
          </a:xfrm>
          <a:prstGeom prst="rect">
            <a:avLst/>
          </a:prstGeom>
          <a:solidFill>
            <a:srgbClr val="E2DACE"/>
          </a:solidFill>
          <a:ln/>
        </p:spPr>
      </p:sp>
      <p:sp>
        <p:nvSpPr>
          <p:cNvPr id="40" name="Text 38"/>
          <p:cNvSpPr/>
          <p:nvPr/>
        </p:nvSpPr>
        <p:spPr>
          <a:xfrm>
            <a:off x="914400" y="9768840"/>
            <a:ext cx="5462575" cy="21336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A89D8E"/>
                </a:solidFill>
                <a:latin typeface="Courier New" pitchFamily="34" charset="0"/>
                <a:ea typeface="Courier New" pitchFamily="34" charset="-122"/>
                <a:cs typeface="Courier New" pitchFamily="34" charset="-120"/>
              </a:rPr>
              <a:t>STRAUSS PROCUREMENT · FDE EXERCISE · CONFIDENTIAL</a:t>
            </a:r>
            <a:endParaRPr lang="en-US" sz="1050" dirty="0"/>
          </a:p>
        </p:txBody>
      </p:sp>
      <p:sp>
        <p:nvSpPr>
          <p:cNvPr id="41" name="Text 39"/>
          <p:cNvSpPr/>
          <p:nvPr/>
        </p:nvSpPr>
        <p:spPr>
          <a:xfrm>
            <a:off x="16664107" y="9768840"/>
            <a:ext cx="785693" cy="21336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A89D8E"/>
                </a:solidFill>
                <a:latin typeface="Courier New" pitchFamily="34" charset="0"/>
                <a:ea typeface="Courier New" pitchFamily="34" charset="-122"/>
                <a:cs typeface="Courier New" pitchFamily="34" charset="-120"/>
              </a:rPr>
              <a:t>06 / 19</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EFE7"/>
        </a:solidFill>
      </p:bgPr>
    </p:bg>
    <p:spTree>
      <p:nvGrpSpPr>
        <p:cNvPr id="1" name=""/>
        <p:cNvGrpSpPr/>
        <p:nvPr/>
      </p:nvGrpSpPr>
      <p:grpSpPr>
        <a:xfrm>
          <a:off x="0" y="0"/>
          <a:ext cx="0" cy="0"/>
          <a:chOff x="0" y="0"/>
          <a:chExt cx="0" cy="0"/>
        </a:xfrm>
      </p:grpSpPr>
      <p:sp>
        <p:nvSpPr>
          <p:cNvPr id="2" name="Shape 0"/>
          <p:cNvSpPr/>
          <p:nvPr/>
        </p:nvSpPr>
        <p:spPr>
          <a:xfrm>
            <a:off x="914400" y="1749742"/>
            <a:ext cx="16459200" cy="9525"/>
          </a:xfrm>
          <a:prstGeom prst="rect">
            <a:avLst/>
          </a:prstGeom>
          <a:solidFill>
            <a:srgbClr val="D7CDBE"/>
          </a:solidFill>
          <a:ln/>
        </p:spPr>
      </p:sp>
      <p:sp>
        <p:nvSpPr>
          <p:cNvPr id="3" name="Text 1"/>
          <p:cNvSpPr/>
          <p:nvPr/>
        </p:nvSpPr>
        <p:spPr>
          <a:xfrm>
            <a:off x="914400" y="704850"/>
            <a:ext cx="18105120" cy="259080"/>
          </a:xfrm>
          <a:prstGeom prst="rect">
            <a:avLst/>
          </a:prstGeom>
          <a:noFill/>
          <a:ln/>
        </p:spPr>
        <p:txBody>
          <a:bodyPr wrap="square" lIns="25400" tIns="25400" rIns="25400" bIns="25400" rtlCol="0" anchor="t">
            <a:normAutofit/>
          </a:bodyPr>
          <a:lstStyle/>
          <a:p>
            <a:pPr algn="l" indent="0" marL="0">
              <a:buNone/>
            </a:pPr>
            <a:r>
              <a:rPr lang="en-US" sz="1350" spc="324" kern="0" dirty="0">
                <a:solidFill>
                  <a:srgbClr val="B23B26"/>
                </a:solidFill>
                <a:latin typeface="Courier New" pitchFamily="34" charset="0"/>
                <a:ea typeface="Courier New" pitchFamily="34" charset="-122"/>
                <a:cs typeface="Courier New" pitchFamily="34" charset="-120"/>
              </a:rPr>
              <a:t>07 · HOW IT WORKS</a:t>
            </a:r>
            <a:endParaRPr lang="en-US" sz="1350" dirty="0"/>
          </a:p>
        </p:txBody>
      </p:sp>
      <p:sp>
        <p:nvSpPr>
          <p:cNvPr id="4" name="Text 2"/>
          <p:cNvSpPr/>
          <p:nvPr/>
        </p:nvSpPr>
        <p:spPr>
          <a:xfrm>
            <a:off x="914400" y="1049655"/>
            <a:ext cx="18105120" cy="528638"/>
          </a:xfrm>
          <a:prstGeom prst="rect">
            <a:avLst/>
          </a:prstGeom>
          <a:noFill/>
          <a:ln/>
        </p:spPr>
        <p:txBody>
          <a:bodyPr wrap="square" lIns="25400" tIns="25400" rIns="25400" bIns="25400" rtlCol="0" anchor="t">
            <a:normAutofit/>
          </a:bodyPr>
          <a:lstStyle/>
          <a:p>
            <a:pPr algn="l" indent="0" marL="0">
              <a:lnSpc>
                <a:spcPct val="103000"/>
              </a:lnSpc>
              <a:buNone/>
            </a:pPr>
            <a:r>
              <a:rPr lang="en-US" sz="3750" spc="-56" kern="0" dirty="0">
                <a:solidFill>
                  <a:srgbClr val="221D17"/>
                </a:solidFill>
                <a:latin typeface="Georgia" pitchFamily="34" charset="0"/>
                <a:ea typeface="Georgia" pitchFamily="34" charset="-122"/>
                <a:cs typeface="Georgia" pitchFamily="34" charset="-120"/>
              </a:rPr>
              <a:t>Data in, what happens in between, data out</a:t>
            </a:r>
            <a:endParaRPr lang="en-US" sz="3750" dirty="0"/>
          </a:p>
        </p:txBody>
      </p:sp>
      <p:sp>
        <p:nvSpPr>
          <p:cNvPr id="5" name="Text 3"/>
          <p:cNvSpPr/>
          <p:nvPr/>
        </p:nvSpPr>
        <p:spPr>
          <a:xfrm>
            <a:off x="914400" y="2005013"/>
            <a:ext cx="4969216" cy="220980"/>
          </a:xfrm>
          <a:prstGeom prst="rect">
            <a:avLst/>
          </a:prstGeom>
          <a:noFill/>
          <a:ln/>
        </p:spPr>
        <p:txBody>
          <a:bodyPr wrap="square" lIns="25400" tIns="25400" rIns="25400" bIns="25400" rtlCol="0" anchor="t">
            <a:normAutofit/>
          </a:bodyPr>
          <a:lstStyle/>
          <a:p>
            <a:pPr algn="l" indent="0" marL="0">
              <a:buNone/>
            </a:pPr>
            <a:r>
              <a:rPr lang="en-US" sz="1125" spc="203" kern="0" dirty="0">
                <a:solidFill>
                  <a:srgbClr val="94897A"/>
                </a:solidFill>
                <a:latin typeface="Courier New" pitchFamily="34" charset="0"/>
                <a:ea typeface="Courier New" pitchFamily="34" charset="-122"/>
                <a:cs typeface="Courier New" pitchFamily="34" charset="-120"/>
              </a:rPr>
              <a:t>DATA IN</a:t>
            </a:r>
            <a:endParaRPr lang="en-US" sz="1125" dirty="0"/>
          </a:p>
        </p:txBody>
      </p:sp>
      <p:sp>
        <p:nvSpPr>
          <p:cNvPr id="6" name="Shape 4"/>
          <p:cNvSpPr/>
          <p:nvPr/>
        </p:nvSpPr>
        <p:spPr>
          <a:xfrm>
            <a:off x="914400" y="2340292"/>
            <a:ext cx="4517469" cy="2242423"/>
          </a:xfrm>
          <a:prstGeom prst="roundRect">
            <a:avLst>
              <a:gd name="adj" fmla="val 1699"/>
            </a:avLst>
          </a:prstGeom>
          <a:solidFill>
            <a:srgbClr val="FBF8F2"/>
          </a:solidFill>
          <a:ln w="7620">
            <a:solidFill>
              <a:srgbClr val="DDD4C6"/>
            </a:solidFill>
            <a:prstDash val="solid"/>
          </a:ln>
        </p:spPr>
      </p:sp>
      <p:sp>
        <p:nvSpPr>
          <p:cNvPr id="7" name="Text 5"/>
          <p:cNvSpPr/>
          <p:nvPr/>
        </p:nvSpPr>
        <p:spPr>
          <a:xfrm>
            <a:off x="1131570" y="3069074"/>
            <a:ext cx="4491443" cy="251460"/>
          </a:xfrm>
          <a:prstGeom prst="rect">
            <a:avLst/>
          </a:prstGeom>
          <a:noFill/>
          <a:ln/>
        </p:spPr>
        <p:txBody>
          <a:bodyPr wrap="square" lIns="25400" tIns="25400" rIns="25400" bIns="25400" rtlCol="0" anchor="t">
            <a:normAutofit/>
          </a:bodyPr>
          <a:lstStyle/>
          <a:p>
            <a:pPr algn="l" indent="0" marL="0">
              <a:buNone/>
            </a:pPr>
            <a:r>
              <a:rPr lang="en-US" sz="1425" b="1" dirty="0">
                <a:solidFill>
                  <a:srgbClr val="221D17"/>
                </a:solidFill>
                <a:latin typeface="Arial" pitchFamily="34" charset="0"/>
                <a:ea typeface="Arial" pitchFamily="34" charset="-122"/>
                <a:cs typeface="Arial" pitchFamily="34" charset="-120"/>
              </a:rPr>
              <a:t>Supplier emails</a:t>
            </a:r>
            <a:endParaRPr lang="en-US" sz="1425" dirty="0"/>
          </a:p>
        </p:txBody>
      </p:sp>
      <p:sp>
        <p:nvSpPr>
          <p:cNvPr id="8" name="Text 6"/>
          <p:cNvSpPr/>
          <p:nvPr/>
        </p:nvSpPr>
        <p:spPr>
          <a:xfrm>
            <a:off x="1131570" y="3339584"/>
            <a:ext cx="4205623" cy="552450"/>
          </a:xfrm>
          <a:prstGeom prst="rect">
            <a:avLst/>
          </a:prstGeom>
          <a:noFill/>
          <a:ln/>
        </p:spPr>
        <p:txBody>
          <a:bodyPr wrap="square" lIns="25400" tIns="25400" rIns="25400" bIns="25400" rtlCol="0" anchor="t">
            <a:normAutofit/>
          </a:bodyPr>
          <a:lstStyle/>
          <a:p>
            <a:pPr algn="l" indent="0" marL="0">
              <a:lnSpc>
                <a:spcPct val="150000"/>
              </a:lnSpc>
              <a:buNone/>
            </a:pPr>
            <a:r>
              <a:rPr lang="en-US" sz="1350" dirty="0">
                <a:solidFill>
                  <a:srgbClr val="544C42"/>
                </a:solidFill>
                <a:latin typeface="Arial" pitchFamily="34" charset="0"/>
                <a:ea typeface="Arial" pitchFamily="34" charset="-122"/>
                <a:cs typeface="Arial" pitchFamily="34" charset="-120"/>
              </a:rPr>
              <a:t>6 months of threads per supplier, price quotes, disputes, delivery updates, unanswered threads.</a:t>
            </a:r>
            <a:endParaRPr lang="en-US" sz="1350" dirty="0"/>
          </a:p>
        </p:txBody>
      </p:sp>
      <p:sp>
        <p:nvSpPr>
          <p:cNvPr id="9" name="Shape 7"/>
          <p:cNvSpPr/>
          <p:nvPr/>
        </p:nvSpPr>
        <p:spPr>
          <a:xfrm>
            <a:off x="914400" y="4697016"/>
            <a:ext cx="4517469" cy="2242542"/>
          </a:xfrm>
          <a:prstGeom prst="roundRect">
            <a:avLst>
              <a:gd name="adj" fmla="val 1699"/>
            </a:avLst>
          </a:prstGeom>
          <a:solidFill>
            <a:srgbClr val="FBF8F2"/>
          </a:solidFill>
          <a:ln w="7620">
            <a:solidFill>
              <a:srgbClr val="DDD4C6"/>
            </a:solidFill>
            <a:prstDash val="solid"/>
          </a:ln>
        </p:spPr>
      </p:sp>
      <p:sp>
        <p:nvSpPr>
          <p:cNvPr id="10" name="Text 8"/>
          <p:cNvSpPr/>
          <p:nvPr/>
        </p:nvSpPr>
        <p:spPr>
          <a:xfrm>
            <a:off x="1131570" y="5297210"/>
            <a:ext cx="4491443" cy="251460"/>
          </a:xfrm>
          <a:prstGeom prst="rect">
            <a:avLst/>
          </a:prstGeom>
          <a:noFill/>
          <a:ln/>
        </p:spPr>
        <p:txBody>
          <a:bodyPr wrap="square" lIns="25400" tIns="25400" rIns="25400" bIns="25400" rtlCol="0" anchor="t">
            <a:normAutofit/>
          </a:bodyPr>
          <a:lstStyle/>
          <a:p>
            <a:pPr algn="l" indent="0" marL="0">
              <a:buNone/>
            </a:pPr>
            <a:r>
              <a:rPr lang="en-US" sz="1425" b="1" dirty="0">
                <a:solidFill>
                  <a:srgbClr val="221D17"/>
                </a:solidFill>
                <a:latin typeface="Arial" pitchFamily="34" charset="0"/>
                <a:ea typeface="Arial" pitchFamily="34" charset="-122"/>
                <a:cs typeface="Arial" pitchFamily="34" charset="-120"/>
              </a:rPr>
              <a:t>Active contract</a:t>
            </a:r>
            <a:endParaRPr lang="en-US" sz="1425" dirty="0"/>
          </a:p>
        </p:txBody>
      </p:sp>
      <p:sp>
        <p:nvSpPr>
          <p:cNvPr id="11" name="Text 9"/>
          <p:cNvSpPr/>
          <p:nvPr/>
        </p:nvSpPr>
        <p:spPr>
          <a:xfrm>
            <a:off x="1131570" y="5567720"/>
            <a:ext cx="4205623" cy="809625"/>
          </a:xfrm>
          <a:prstGeom prst="rect">
            <a:avLst/>
          </a:prstGeom>
          <a:noFill/>
          <a:ln/>
        </p:spPr>
        <p:txBody>
          <a:bodyPr wrap="square" lIns="25400" tIns="25400" rIns="25400" bIns="25400" rtlCol="0" anchor="t">
            <a:normAutofit/>
          </a:bodyPr>
          <a:lstStyle/>
          <a:p>
            <a:pPr algn="l" indent="0" marL="0">
              <a:lnSpc>
                <a:spcPct val="150000"/>
              </a:lnSpc>
              <a:buNone/>
            </a:pPr>
            <a:r>
              <a:rPr lang="en-US" sz="1350" dirty="0">
                <a:solidFill>
                  <a:srgbClr val="544C42"/>
                </a:solidFill>
                <a:latin typeface="Arial" pitchFamily="34" charset="0"/>
                <a:ea typeface="Arial" pitchFamily="34" charset="-122"/>
                <a:cs typeface="Arial" pitchFamily="34" charset="-120"/>
              </a:rPr>
              <a:t>Payment terms, volume commitments, penalty clauses, renewal date, price cap, from the signed document.</a:t>
            </a:r>
            <a:endParaRPr lang="en-US" sz="1350" dirty="0"/>
          </a:p>
        </p:txBody>
      </p:sp>
      <p:sp>
        <p:nvSpPr>
          <p:cNvPr id="12" name="Shape 10"/>
          <p:cNvSpPr/>
          <p:nvPr/>
        </p:nvSpPr>
        <p:spPr>
          <a:xfrm>
            <a:off x="914400" y="7053858"/>
            <a:ext cx="4517469" cy="2242542"/>
          </a:xfrm>
          <a:prstGeom prst="roundRect">
            <a:avLst>
              <a:gd name="adj" fmla="val 1699"/>
            </a:avLst>
          </a:prstGeom>
          <a:solidFill>
            <a:srgbClr val="FBF8F2"/>
          </a:solidFill>
          <a:ln w="7620">
            <a:solidFill>
              <a:srgbClr val="DDD4C6"/>
            </a:solidFill>
            <a:prstDash val="solid"/>
          </a:ln>
        </p:spPr>
      </p:sp>
      <p:sp>
        <p:nvSpPr>
          <p:cNvPr id="13" name="Text 11"/>
          <p:cNvSpPr/>
          <p:nvPr/>
        </p:nvSpPr>
        <p:spPr>
          <a:xfrm>
            <a:off x="1131570" y="7654052"/>
            <a:ext cx="4491443" cy="251460"/>
          </a:xfrm>
          <a:prstGeom prst="rect">
            <a:avLst/>
          </a:prstGeom>
          <a:noFill/>
          <a:ln/>
        </p:spPr>
        <p:txBody>
          <a:bodyPr wrap="square" lIns="25400" tIns="25400" rIns="25400" bIns="25400" rtlCol="0" anchor="t">
            <a:normAutofit/>
          </a:bodyPr>
          <a:lstStyle/>
          <a:p>
            <a:pPr algn="l" indent="0" marL="0">
              <a:buNone/>
            </a:pPr>
            <a:r>
              <a:rPr lang="en-US" sz="1425" b="1" dirty="0">
                <a:solidFill>
                  <a:srgbClr val="221D17"/>
                </a:solidFill>
                <a:latin typeface="Arial" pitchFamily="34" charset="0"/>
                <a:ea typeface="Arial" pitchFamily="34" charset="-122"/>
                <a:cs typeface="Arial" pitchFamily="34" charset="-120"/>
              </a:rPr>
              <a:t>Commodity price</a:t>
            </a:r>
            <a:endParaRPr lang="en-US" sz="1425" dirty="0"/>
          </a:p>
        </p:txBody>
      </p:sp>
      <p:sp>
        <p:nvSpPr>
          <p:cNvPr id="14" name="Text 12"/>
          <p:cNvSpPr/>
          <p:nvPr/>
        </p:nvSpPr>
        <p:spPr>
          <a:xfrm>
            <a:off x="1131570" y="7924562"/>
            <a:ext cx="4205623" cy="809625"/>
          </a:xfrm>
          <a:prstGeom prst="rect">
            <a:avLst/>
          </a:prstGeom>
          <a:noFill/>
          <a:ln/>
        </p:spPr>
        <p:txBody>
          <a:bodyPr wrap="square" lIns="25400" tIns="25400" rIns="25400" bIns="25400" rtlCol="0" anchor="t">
            <a:normAutofit/>
          </a:bodyPr>
          <a:lstStyle/>
          <a:p>
            <a:pPr algn="l" indent="0" marL="0">
              <a:lnSpc>
                <a:spcPct val="150000"/>
              </a:lnSpc>
              <a:buNone/>
            </a:pPr>
            <a:r>
              <a:rPr lang="en-US" sz="1350" dirty="0">
                <a:solidFill>
                  <a:srgbClr val="544C42"/>
                </a:solidFill>
                <a:latin typeface="Arial" pitchFamily="34" charset="0"/>
                <a:ea typeface="Arial" pitchFamily="34" charset="-122"/>
                <a:cs typeface="Arial" pitchFamily="34" charset="-120"/>
              </a:rPr>
              <a:t>24-month benchmark for cocoa, sugar or dairy, where the market sits relative to the contracted price.</a:t>
            </a:r>
            <a:endParaRPr lang="en-US" sz="1350" dirty="0"/>
          </a:p>
        </p:txBody>
      </p:sp>
      <p:sp>
        <p:nvSpPr>
          <p:cNvPr id="15" name="Text 13"/>
          <p:cNvSpPr/>
          <p:nvPr/>
        </p:nvSpPr>
        <p:spPr>
          <a:xfrm>
            <a:off x="5393770" y="2005013"/>
            <a:ext cx="400050" cy="7329488"/>
          </a:xfrm>
          <a:prstGeom prst="rect">
            <a:avLst/>
          </a:prstGeom>
          <a:noFill/>
          <a:ln/>
        </p:spPr>
        <p:txBody>
          <a:bodyPr wrap="square" lIns="25400" tIns="25400" rIns="25400" bIns="25400" rtlCol="0" anchor="ctr">
            <a:normAutofit/>
          </a:bodyPr>
          <a:lstStyle/>
          <a:p>
            <a:pPr algn="ctr" indent="0" marL="0">
              <a:buNone/>
            </a:pPr>
            <a:r>
              <a:rPr lang="en-US" sz="1800" dirty="0">
                <a:solidFill>
                  <a:srgbClr val="C0B6A4"/>
                </a:solidFill>
                <a:latin typeface="Courier New" pitchFamily="34" charset="0"/>
                <a:ea typeface="Courier New" pitchFamily="34" charset="-122"/>
                <a:cs typeface="Courier New" pitchFamily="34" charset="-120"/>
              </a:rPr>
              <a:t>→</a:t>
            </a:r>
            <a:endParaRPr lang="en-US" sz="1800" dirty="0"/>
          </a:p>
        </p:txBody>
      </p:sp>
      <p:sp>
        <p:nvSpPr>
          <p:cNvPr id="16" name="Text 14"/>
          <p:cNvSpPr/>
          <p:nvPr/>
        </p:nvSpPr>
        <p:spPr>
          <a:xfrm>
            <a:off x="5755720" y="2005013"/>
            <a:ext cx="7454086" cy="220980"/>
          </a:xfrm>
          <a:prstGeom prst="rect">
            <a:avLst/>
          </a:prstGeom>
          <a:noFill/>
          <a:ln/>
        </p:spPr>
        <p:txBody>
          <a:bodyPr wrap="square" lIns="25400" tIns="25400" rIns="25400" bIns="25400" rtlCol="0" anchor="t">
            <a:normAutofit/>
          </a:bodyPr>
          <a:lstStyle/>
          <a:p>
            <a:pPr algn="l" indent="0" marL="0">
              <a:buNone/>
            </a:pPr>
            <a:r>
              <a:rPr lang="en-US" sz="1125" spc="203" kern="0" dirty="0">
                <a:solidFill>
                  <a:srgbClr val="94897A"/>
                </a:solidFill>
                <a:latin typeface="Courier New" pitchFamily="34" charset="0"/>
                <a:ea typeface="Courier New" pitchFamily="34" charset="-122"/>
                <a:cs typeface="Courier New" pitchFamily="34" charset="-120"/>
              </a:rPr>
              <a:t>WHAT HAPPENS IN BETWEEN</a:t>
            </a:r>
            <a:endParaRPr lang="en-US" sz="1125" dirty="0"/>
          </a:p>
        </p:txBody>
      </p:sp>
      <p:sp>
        <p:nvSpPr>
          <p:cNvPr id="17" name="Shape 15"/>
          <p:cNvSpPr/>
          <p:nvPr/>
        </p:nvSpPr>
        <p:spPr>
          <a:xfrm>
            <a:off x="5755720" y="2225992"/>
            <a:ext cx="6776442" cy="3388519"/>
          </a:xfrm>
          <a:prstGeom prst="roundRect">
            <a:avLst>
              <a:gd name="adj" fmla="val 1124"/>
            </a:avLst>
          </a:prstGeom>
          <a:solidFill>
            <a:srgbClr val="FBF8F2"/>
          </a:solidFill>
          <a:ln w="7620">
            <a:solidFill>
              <a:srgbClr val="DDD4C6"/>
            </a:solidFill>
            <a:prstDash val="solid"/>
          </a:ln>
        </p:spPr>
      </p:sp>
      <p:sp>
        <p:nvSpPr>
          <p:cNvPr id="18" name="Text 16"/>
          <p:cNvSpPr/>
          <p:nvPr/>
        </p:nvSpPr>
        <p:spPr>
          <a:xfrm>
            <a:off x="5972889" y="2439353"/>
            <a:ext cx="1027986" cy="205740"/>
          </a:xfrm>
          <a:prstGeom prst="rect">
            <a:avLst/>
          </a:prstGeom>
          <a:noFill/>
          <a:ln/>
        </p:spPr>
        <p:txBody>
          <a:bodyPr wrap="square" lIns="25400" tIns="25400" rIns="25400" bIns="25400" rtlCol="0" anchor="t">
            <a:normAutofit/>
          </a:bodyPr>
          <a:lstStyle/>
          <a:p>
            <a:pPr algn="l" indent="0" marL="0">
              <a:buNone/>
            </a:pPr>
            <a:r>
              <a:rPr lang="en-US" sz="1125" b="1" spc="158" kern="0" dirty="0">
                <a:solidFill>
                  <a:srgbClr val="221D17"/>
                </a:solidFill>
                <a:latin typeface="Courier New" pitchFamily="34" charset="0"/>
                <a:ea typeface="Courier New" pitchFamily="34" charset="-122"/>
                <a:cs typeface="Courier New" pitchFamily="34" charset="-120"/>
              </a:rPr>
              <a:t>PROTOTYPE</a:t>
            </a:r>
            <a:endParaRPr lang="en-US" sz="1125" dirty="0"/>
          </a:p>
        </p:txBody>
      </p:sp>
      <p:sp>
        <p:nvSpPr>
          <p:cNvPr id="19" name="Text 17"/>
          <p:cNvSpPr/>
          <p:nvPr/>
        </p:nvSpPr>
        <p:spPr>
          <a:xfrm>
            <a:off x="7019925" y="2424113"/>
            <a:ext cx="449104" cy="213360"/>
          </a:xfrm>
          <a:prstGeom prst="rect">
            <a:avLst/>
          </a:prstGeom>
          <a:noFill/>
          <a:ln/>
        </p:spPr>
        <p:txBody>
          <a:bodyPr wrap="square" lIns="25400" tIns="25400" rIns="25400" bIns="25400" rtlCol="0" anchor="t">
            <a:normAutofit/>
          </a:bodyPr>
          <a:lstStyle/>
          <a:p>
            <a:pPr algn="l" indent="0" marL="0">
              <a:buNone/>
            </a:pPr>
            <a:r>
              <a:rPr lang="en-US" sz="1200" i="1" dirty="0">
                <a:solidFill>
                  <a:srgbClr val="998E7E"/>
                </a:solidFill>
                <a:latin typeface="Arial" pitchFamily="34" charset="0"/>
                <a:ea typeface="Arial" pitchFamily="34" charset="-122"/>
                <a:cs typeface="Arial" pitchFamily="34" charset="-120"/>
              </a:rPr>
              <a:t>today</a:t>
            </a:r>
            <a:endParaRPr lang="en-US" sz="1200" dirty="0"/>
          </a:p>
        </p:txBody>
      </p:sp>
      <p:sp>
        <p:nvSpPr>
          <p:cNvPr id="20" name="Text 18"/>
          <p:cNvSpPr/>
          <p:nvPr/>
        </p:nvSpPr>
        <p:spPr>
          <a:xfrm>
            <a:off x="5972889" y="2725103"/>
            <a:ext cx="161925"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dirty="0">
                <a:solidFill>
                  <a:srgbClr val="B23B26"/>
                </a:solidFill>
                <a:latin typeface="Courier New" pitchFamily="34" charset="0"/>
                <a:ea typeface="Courier New" pitchFamily="34" charset="-122"/>
                <a:cs typeface="Courier New" pitchFamily="34" charset="-120"/>
              </a:rPr>
              <a:t>1</a:t>
            </a:r>
            <a:endParaRPr lang="en-US" sz="1125" dirty="0"/>
          </a:p>
        </p:txBody>
      </p:sp>
      <p:sp>
        <p:nvSpPr>
          <p:cNvPr id="21" name="Text 19"/>
          <p:cNvSpPr/>
          <p:nvPr/>
        </p:nvSpPr>
        <p:spPr>
          <a:xfrm>
            <a:off x="6134814" y="2717483"/>
            <a:ext cx="5151625" cy="251460"/>
          </a:xfrm>
          <a:prstGeom prst="rect">
            <a:avLst/>
          </a:prstGeom>
          <a:noFill/>
          <a:ln/>
        </p:spPr>
        <p:txBody>
          <a:bodyPr wrap="square" lIns="0" tIns="0" rIns="0" bIns="0" rtlCol="0" anchor="t">
            <a:normAutofit/>
          </a:bodyPr>
          <a:lstStyle/>
          <a:p>
            <a:pPr algn="l" indent="0" marL="0">
              <a:lnSpc>
                <a:spcPct val="150000"/>
              </a:lnSpc>
              <a:buNone/>
            </a:pPr>
            <a:r>
              <a:rPr lang="en-US" sz="1350" dirty="0">
                <a:solidFill>
                  <a:srgbClr val="4A443B"/>
                </a:solidFill>
                <a:latin typeface="Arial" pitchFamily="34" charset="0"/>
                <a:ea typeface="Arial" pitchFamily="34" charset="-122"/>
                <a:cs typeface="Arial" pitchFamily="34" charset="-120"/>
              </a:rPr>
              <a:t>Flat files loaded (JSON emails, markdown contracts, static CSV)</a:t>
            </a:r>
            <a:endParaRPr lang="en-US" sz="1350" dirty="0"/>
          </a:p>
        </p:txBody>
      </p:sp>
      <p:sp>
        <p:nvSpPr>
          <p:cNvPr id="22" name="Text 20"/>
          <p:cNvSpPr/>
          <p:nvPr/>
        </p:nvSpPr>
        <p:spPr>
          <a:xfrm>
            <a:off x="5972889" y="3544133"/>
            <a:ext cx="161925"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dirty="0">
                <a:solidFill>
                  <a:srgbClr val="B23B26"/>
                </a:solidFill>
                <a:latin typeface="Courier New" pitchFamily="34" charset="0"/>
                <a:ea typeface="Courier New" pitchFamily="34" charset="-122"/>
                <a:cs typeface="Courier New" pitchFamily="34" charset="-120"/>
              </a:rPr>
              <a:t>2</a:t>
            </a:r>
            <a:endParaRPr lang="en-US" sz="1125" dirty="0"/>
          </a:p>
        </p:txBody>
      </p:sp>
      <p:sp>
        <p:nvSpPr>
          <p:cNvPr id="23" name="Text 21"/>
          <p:cNvSpPr/>
          <p:nvPr/>
        </p:nvSpPr>
        <p:spPr>
          <a:xfrm>
            <a:off x="6134814" y="3536513"/>
            <a:ext cx="5463730" cy="251460"/>
          </a:xfrm>
          <a:prstGeom prst="rect">
            <a:avLst/>
          </a:prstGeom>
          <a:noFill/>
          <a:ln/>
        </p:spPr>
        <p:txBody>
          <a:bodyPr wrap="square" lIns="0" tIns="0" rIns="0" bIns="0" rtlCol="0" anchor="t">
            <a:normAutofit/>
          </a:bodyPr>
          <a:lstStyle/>
          <a:p>
            <a:pPr algn="l" indent="0" marL="0">
              <a:lnSpc>
                <a:spcPct val="150000"/>
              </a:lnSpc>
              <a:buNone/>
            </a:pPr>
            <a:r>
              <a:rPr lang="en-US" sz="1350" dirty="0">
                <a:solidFill>
                  <a:srgbClr val="4A443B"/>
                </a:solidFill>
                <a:latin typeface="Arial" pitchFamily="34" charset="0"/>
                <a:ea typeface="Arial" pitchFamily="34" charset="-122"/>
                <a:cs typeface="Arial" pitchFamily="34" charset="-120"/>
              </a:rPr>
              <a:t>One Claude API call per supplier, fixed JSON schema, extracts facts</a:t>
            </a:r>
            <a:endParaRPr lang="en-US" sz="1350" dirty="0"/>
          </a:p>
        </p:txBody>
      </p:sp>
      <p:sp>
        <p:nvSpPr>
          <p:cNvPr id="24" name="Text 22"/>
          <p:cNvSpPr/>
          <p:nvPr/>
        </p:nvSpPr>
        <p:spPr>
          <a:xfrm>
            <a:off x="5972889" y="4363045"/>
            <a:ext cx="161925"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dirty="0">
                <a:solidFill>
                  <a:srgbClr val="B23B26"/>
                </a:solidFill>
                <a:latin typeface="Courier New" pitchFamily="34" charset="0"/>
                <a:ea typeface="Courier New" pitchFamily="34" charset="-122"/>
                <a:cs typeface="Courier New" pitchFamily="34" charset="-120"/>
              </a:rPr>
              <a:t>3</a:t>
            </a:r>
            <a:endParaRPr lang="en-US" sz="1125" dirty="0"/>
          </a:p>
        </p:txBody>
      </p:sp>
      <p:sp>
        <p:nvSpPr>
          <p:cNvPr id="25" name="Text 23"/>
          <p:cNvSpPr/>
          <p:nvPr/>
        </p:nvSpPr>
        <p:spPr>
          <a:xfrm>
            <a:off x="6134814" y="4355425"/>
            <a:ext cx="6052007" cy="251460"/>
          </a:xfrm>
          <a:prstGeom prst="rect">
            <a:avLst/>
          </a:prstGeom>
          <a:noFill/>
          <a:ln/>
        </p:spPr>
        <p:txBody>
          <a:bodyPr wrap="square" lIns="0" tIns="0" rIns="0" bIns="0" rtlCol="0" anchor="t">
            <a:normAutofit/>
          </a:bodyPr>
          <a:lstStyle/>
          <a:p>
            <a:pPr algn="l" indent="0" marL="0">
              <a:lnSpc>
                <a:spcPct val="150000"/>
              </a:lnSpc>
              <a:buNone/>
            </a:pPr>
            <a:r>
              <a:rPr lang="en-US" sz="1350" dirty="0">
                <a:solidFill>
                  <a:srgbClr val="4A443B"/>
                </a:solidFill>
                <a:latin typeface="Arial" pitchFamily="34" charset="0"/>
                <a:ea typeface="Arial" pitchFamily="34" charset="-122"/>
                <a:cs typeface="Arial" pitchFamily="34" charset="-120"/>
              </a:rPr>
              <a:t>Python computes KPIs locally (price delta, days to renewal, response time)</a:t>
            </a:r>
            <a:endParaRPr lang="en-US" sz="1350" dirty="0"/>
          </a:p>
        </p:txBody>
      </p:sp>
      <p:sp>
        <p:nvSpPr>
          <p:cNvPr id="26" name="Text 24"/>
          <p:cNvSpPr/>
          <p:nvPr/>
        </p:nvSpPr>
        <p:spPr>
          <a:xfrm>
            <a:off x="5972889" y="5182076"/>
            <a:ext cx="161925"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dirty="0">
                <a:solidFill>
                  <a:srgbClr val="B23B26"/>
                </a:solidFill>
                <a:latin typeface="Courier New" pitchFamily="34" charset="0"/>
                <a:ea typeface="Courier New" pitchFamily="34" charset="-122"/>
                <a:cs typeface="Courier New" pitchFamily="34" charset="-120"/>
              </a:rPr>
              <a:t>4</a:t>
            </a:r>
            <a:endParaRPr lang="en-US" sz="1125" dirty="0"/>
          </a:p>
        </p:txBody>
      </p:sp>
      <p:sp>
        <p:nvSpPr>
          <p:cNvPr id="27" name="Text 25"/>
          <p:cNvSpPr/>
          <p:nvPr/>
        </p:nvSpPr>
        <p:spPr>
          <a:xfrm>
            <a:off x="6134814" y="5174456"/>
            <a:ext cx="4059566" cy="251460"/>
          </a:xfrm>
          <a:prstGeom prst="rect">
            <a:avLst/>
          </a:prstGeom>
          <a:noFill/>
          <a:ln/>
        </p:spPr>
        <p:txBody>
          <a:bodyPr wrap="square" lIns="0" tIns="0" rIns="0" bIns="0" rtlCol="0" anchor="t">
            <a:normAutofit/>
          </a:bodyPr>
          <a:lstStyle/>
          <a:p>
            <a:pPr algn="l" indent="0" marL="0">
              <a:lnSpc>
                <a:spcPct val="150000"/>
              </a:lnSpc>
              <a:buNone/>
            </a:pPr>
            <a:r>
              <a:rPr lang="en-US" sz="1350" dirty="0">
                <a:solidFill>
                  <a:srgbClr val="4A443B"/>
                </a:solidFill>
                <a:latin typeface="Arial" pitchFamily="34" charset="0"/>
                <a:ea typeface="Arial" pitchFamily="34" charset="-122"/>
                <a:cs typeface="Arial" pitchFamily="34" charset="-120"/>
              </a:rPr>
              <a:t>Packet assembled per meeting ID, cached for 24h</a:t>
            </a:r>
            <a:endParaRPr lang="en-US" sz="1350" dirty="0"/>
          </a:p>
        </p:txBody>
      </p:sp>
      <p:sp>
        <p:nvSpPr>
          <p:cNvPr id="28" name="Shape 26"/>
          <p:cNvSpPr/>
          <p:nvPr/>
        </p:nvSpPr>
        <p:spPr>
          <a:xfrm>
            <a:off x="5755720" y="5614511"/>
            <a:ext cx="6776442" cy="308610"/>
          </a:xfrm>
          <a:prstGeom prst="rect">
            <a:avLst/>
          </a:prstGeom>
          <a:solidFill>
            <a:srgbClr val="E8E0D2"/>
          </a:solidFill>
          <a:ln/>
        </p:spPr>
      </p:sp>
      <p:sp>
        <p:nvSpPr>
          <p:cNvPr id="29" name="Shape 27"/>
          <p:cNvSpPr/>
          <p:nvPr/>
        </p:nvSpPr>
        <p:spPr>
          <a:xfrm>
            <a:off x="5755720" y="5614511"/>
            <a:ext cx="9525" cy="308610"/>
          </a:xfrm>
          <a:prstGeom prst="rect">
            <a:avLst/>
          </a:prstGeom>
          <a:solidFill>
            <a:srgbClr val="DDD4C6"/>
          </a:solidFill>
          <a:ln/>
        </p:spPr>
      </p:sp>
      <p:sp>
        <p:nvSpPr>
          <p:cNvPr id="30" name="Shape 28"/>
          <p:cNvSpPr/>
          <p:nvPr/>
        </p:nvSpPr>
        <p:spPr>
          <a:xfrm>
            <a:off x="12524542" y="5614511"/>
            <a:ext cx="9525" cy="308610"/>
          </a:xfrm>
          <a:prstGeom prst="rect">
            <a:avLst/>
          </a:prstGeom>
          <a:solidFill>
            <a:srgbClr val="DDD4C6"/>
          </a:solidFill>
          <a:ln/>
        </p:spPr>
      </p:sp>
      <p:sp>
        <p:nvSpPr>
          <p:cNvPr id="31" name="Shape 29"/>
          <p:cNvSpPr/>
          <p:nvPr/>
        </p:nvSpPr>
        <p:spPr>
          <a:xfrm>
            <a:off x="5972889" y="5764054"/>
            <a:ext cx="1416129" cy="9525"/>
          </a:xfrm>
          <a:prstGeom prst="rect">
            <a:avLst/>
          </a:prstGeom>
          <a:solidFill>
            <a:srgbClr val="C8BFB2"/>
          </a:solidFill>
          <a:ln/>
        </p:spPr>
      </p:sp>
      <p:sp>
        <p:nvSpPr>
          <p:cNvPr id="32" name="Text 30"/>
          <p:cNvSpPr/>
          <p:nvPr/>
        </p:nvSpPr>
        <p:spPr>
          <a:xfrm>
            <a:off x="7522369" y="5681186"/>
            <a:ext cx="3567458" cy="21336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7A7060"/>
                </a:solidFill>
                <a:latin typeface="Courier New" pitchFamily="34" charset="0"/>
                <a:ea typeface="Courier New" pitchFamily="34" charset="-122"/>
                <a:cs typeface="Courier New" pitchFamily="34" charset="-120"/>
              </a:rPr>
              <a:t>SAME OUTPUT · DIFFERENT PLUMBING</a:t>
            </a:r>
            <a:endParaRPr lang="en-US" sz="1050" dirty="0"/>
          </a:p>
        </p:txBody>
      </p:sp>
      <p:sp>
        <p:nvSpPr>
          <p:cNvPr id="33" name="Shape 31"/>
          <p:cNvSpPr/>
          <p:nvPr/>
        </p:nvSpPr>
        <p:spPr>
          <a:xfrm>
            <a:off x="10898863" y="5764054"/>
            <a:ext cx="1416129" cy="9525"/>
          </a:xfrm>
          <a:prstGeom prst="rect">
            <a:avLst/>
          </a:prstGeom>
          <a:solidFill>
            <a:srgbClr val="C8BFB2"/>
          </a:solidFill>
          <a:ln/>
        </p:spPr>
      </p:sp>
      <p:sp>
        <p:nvSpPr>
          <p:cNvPr id="34" name="Shape 32"/>
          <p:cNvSpPr/>
          <p:nvPr/>
        </p:nvSpPr>
        <p:spPr>
          <a:xfrm>
            <a:off x="5755720" y="5923122"/>
            <a:ext cx="6776442" cy="3373279"/>
          </a:xfrm>
          <a:prstGeom prst="rect">
            <a:avLst/>
          </a:prstGeom>
          <a:solidFill>
            <a:srgbClr val="221D17"/>
          </a:solidFill>
          <a:ln/>
        </p:spPr>
      </p:sp>
      <p:sp>
        <p:nvSpPr>
          <p:cNvPr id="35" name="Text 33"/>
          <p:cNvSpPr/>
          <p:nvPr/>
        </p:nvSpPr>
        <p:spPr>
          <a:xfrm>
            <a:off x="5965270" y="6128861"/>
            <a:ext cx="1133713" cy="205740"/>
          </a:xfrm>
          <a:prstGeom prst="rect">
            <a:avLst/>
          </a:prstGeom>
          <a:noFill/>
          <a:ln/>
        </p:spPr>
        <p:txBody>
          <a:bodyPr wrap="square" lIns="25400" tIns="25400" rIns="25400" bIns="25400" rtlCol="0" anchor="t">
            <a:normAutofit/>
          </a:bodyPr>
          <a:lstStyle/>
          <a:p>
            <a:pPr algn="l" indent="0" marL="0">
              <a:buNone/>
            </a:pPr>
            <a:r>
              <a:rPr lang="en-US" sz="1125" b="1" spc="158" kern="0" dirty="0">
                <a:solidFill>
                  <a:srgbClr val="F2ECE0"/>
                </a:solidFill>
                <a:latin typeface="Courier New" pitchFamily="34" charset="0"/>
                <a:ea typeface="Courier New" pitchFamily="34" charset="-122"/>
                <a:cs typeface="Courier New" pitchFamily="34" charset="-120"/>
              </a:rPr>
              <a:t>PRODUCTION</a:t>
            </a:r>
            <a:endParaRPr lang="en-US" sz="1125" dirty="0"/>
          </a:p>
        </p:txBody>
      </p:sp>
      <p:sp>
        <p:nvSpPr>
          <p:cNvPr id="36" name="Text 34"/>
          <p:cNvSpPr/>
          <p:nvPr/>
        </p:nvSpPr>
        <p:spPr>
          <a:xfrm>
            <a:off x="7118032" y="6113622"/>
            <a:ext cx="635437" cy="213360"/>
          </a:xfrm>
          <a:prstGeom prst="rect">
            <a:avLst/>
          </a:prstGeom>
          <a:noFill/>
          <a:ln/>
        </p:spPr>
        <p:txBody>
          <a:bodyPr wrap="square" lIns="25400" tIns="25400" rIns="25400" bIns="25400" rtlCol="0" anchor="t">
            <a:normAutofit/>
          </a:bodyPr>
          <a:lstStyle/>
          <a:p>
            <a:pPr algn="l" indent="0" marL="0">
              <a:buNone/>
            </a:pPr>
            <a:r>
              <a:rPr lang="en-US" sz="1200" i="1" dirty="0">
                <a:solidFill>
                  <a:srgbClr val="A99E8C"/>
                </a:solidFill>
                <a:latin typeface="Arial" pitchFamily="34" charset="0"/>
                <a:ea typeface="Arial" pitchFamily="34" charset="-122"/>
                <a:cs typeface="Arial" pitchFamily="34" charset="-120"/>
              </a:rPr>
              <a:t>Phase 2</a:t>
            </a:r>
            <a:endParaRPr lang="en-US" sz="1200" dirty="0"/>
          </a:p>
        </p:txBody>
      </p:sp>
      <p:sp>
        <p:nvSpPr>
          <p:cNvPr id="37" name="Text 35"/>
          <p:cNvSpPr/>
          <p:nvPr/>
        </p:nvSpPr>
        <p:spPr>
          <a:xfrm>
            <a:off x="5965270" y="6414611"/>
            <a:ext cx="161925"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dirty="0">
                <a:solidFill>
                  <a:srgbClr val="CB5238"/>
                </a:solidFill>
                <a:latin typeface="Courier New" pitchFamily="34" charset="0"/>
                <a:ea typeface="Courier New" pitchFamily="34" charset="-122"/>
                <a:cs typeface="Courier New" pitchFamily="34" charset="-120"/>
              </a:rPr>
              <a:t>1</a:t>
            </a:r>
            <a:endParaRPr lang="en-US" sz="1125" dirty="0"/>
          </a:p>
        </p:txBody>
      </p:sp>
      <p:sp>
        <p:nvSpPr>
          <p:cNvPr id="38" name="Text 36"/>
          <p:cNvSpPr/>
          <p:nvPr/>
        </p:nvSpPr>
        <p:spPr>
          <a:xfrm>
            <a:off x="6127195" y="6406991"/>
            <a:ext cx="5462257" cy="251460"/>
          </a:xfrm>
          <a:prstGeom prst="rect">
            <a:avLst/>
          </a:prstGeom>
          <a:noFill/>
          <a:ln/>
        </p:spPr>
        <p:txBody>
          <a:bodyPr wrap="square" lIns="0" tIns="0" rIns="0" bIns="0" rtlCol="0" anchor="t">
            <a:normAutofit/>
          </a:bodyPr>
          <a:lstStyle/>
          <a:p>
            <a:pPr algn="l" indent="0" marL="0">
              <a:lnSpc>
                <a:spcPct val="150000"/>
              </a:lnSpc>
              <a:buNone/>
            </a:pPr>
            <a:r>
              <a:rPr lang="en-US" sz="1350" dirty="0">
                <a:solidFill>
                  <a:srgbClr val="CBC2B2"/>
                </a:solidFill>
                <a:latin typeface="Arial" pitchFamily="34" charset="0"/>
                <a:ea typeface="Arial" pitchFamily="34" charset="-122"/>
                <a:cs typeface="Arial" pitchFamily="34" charset="-120"/>
              </a:rPr>
              <a:t>Live connectors via MCP, Graph API, SharePoint + OCR, Bloomberg</a:t>
            </a:r>
            <a:endParaRPr lang="en-US" sz="1350" dirty="0"/>
          </a:p>
        </p:txBody>
      </p:sp>
      <p:sp>
        <p:nvSpPr>
          <p:cNvPr id="39" name="Text 37"/>
          <p:cNvSpPr/>
          <p:nvPr/>
        </p:nvSpPr>
        <p:spPr>
          <a:xfrm>
            <a:off x="5965270" y="7233642"/>
            <a:ext cx="161925"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dirty="0">
                <a:solidFill>
                  <a:srgbClr val="CB5238"/>
                </a:solidFill>
                <a:latin typeface="Courier New" pitchFamily="34" charset="0"/>
                <a:ea typeface="Courier New" pitchFamily="34" charset="-122"/>
                <a:cs typeface="Courier New" pitchFamily="34" charset="-120"/>
              </a:rPr>
              <a:t>2</a:t>
            </a:r>
            <a:endParaRPr lang="en-US" sz="1125" dirty="0"/>
          </a:p>
        </p:txBody>
      </p:sp>
      <p:sp>
        <p:nvSpPr>
          <p:cNvPr id="40" name="Text 38"/>
          <p:cNvSpPr/>
          <p:nvPr/>
        </p:nvSpPr>
        <p:spPr>
          <a:xfrm>
            <a:off x="6127195" y="7226022"/>
            <a:ext cx="6063166" cy="251460"/>
          </a:xfrm>
          <a:prstGeom prst="rect">
            <a:avLst/>
          </a:prstGeom>
          <a:noFill/>
          <a:ln/>
        </p:spPr>
        <p:txBody>
          <a:bodyPr wrap="square" lIns="0" tIns="0" rIns="0" bIns="0" rtlCol="0" anchor="t">
            <a:normAutofit/>
          </a:bodyPr>
          <a:lstStyle/>
          <a:p>
            <a:pPr algn="l" indent="0" marL="0">
              <a:lnSpc>
                <a:spcPct val="150000"/>
              </a:lnSpc>
              <a:buNone/>
            </a:pPr>
            <a:r>
              <a:rPr lang="en-US" sz="1350" dirty="0">
                <a:solidFill>
                  <a:srgbClr val="CBC2B2"/>
                </a:solidFill>
                <a:latin typeface="Arial" pitchFamily="34" charset="0"/>
                <a:ea typeface="Arial" pitchFamily="34" charset="-122"/>
                <a:cs typeface="Arial" pitchFamily="34" charset="-120"/>
              </a:rPr>
              <a:t>Storage split, BigQuery (exact facts) + vector store (semantic email search)</a:t>
            </a:r>
            <a:endParaRPr lang="en-US" sz="1350" dirty="0"/>
          </a:p>
        </p:txBody>
      </p:sp>
      <p:sp>
        <p:nvSpPr>
          <p:cNvPr id="41" name="Text 39"/>
          <p:cNvSpPr/>
          <p:nvPr/>
        </p:nvSpPr>
        <p:spPr>
          <a:xfrm>
            <a:off x="5965270" y="8052554"/>
            <a:ext cx="161925"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dirty="0">
                <a:solidFill>
                  <a:srgbClr val="CB5238"/>
                </a:solidFill>
                <a:latin typeface="Courier New" pitchFamily="34" charset="0"/>
                <a:ea typeface="Courier New" pitchFamily="34" charset="-122"/>
                <a:cs typeface="Courier New" pitchFamily="34" charset="-120"/>
              </a:rPr>
              <a:t>3</a:t>
            </a:r>
            <a:endParaRPr lang="en-US" sz="1125" dirty="0"/>
          </a:p>
        </p:txBody>
      </p:sp>
      <p:sp>
        <p:nvSpPr>
          <p:cNvPr id="42" name="Text 40"/>
          <p:cNvSpPr/>
          <p:nvPr/>
        </p:nvSpPr>
        <p:spPr>
          <a:xfrm>
            <a:off x="6127195" y="8044934"/>
            <a:ext cx="3935337" cy="251460"/>
          </a:xfrm>
          <a:prstGeom prst="rect">
            <a:avLst/>
          </a:prstGeom>
          <a:noFill/>
          <a:ln/>
        </p:spPr>
        <p:txBody>
          <a:bodyPr wrap="square" lIns="0" tIns="0" rIns="0" bIns="0" rtlCol="0" anchor="t">
            <a:normAutofit/>
          </a:bodyPr>
          <a:lstStyle/>
          <a:p>
            <a:pPr algn="l" indent="0" marL="0">
              <a:lnSpc>
                <a:spcPct val="150000"/>
              </a:lnSpc>
              <a:buNone/>
            </a:pPr>
            <a:r>
              <a:rPr lang="en-US" sz="1350" dirty="0">
                <a:solidFill>
                  <a:srgbClr val="CBC2B2"/>
                </a:solidFill>
                <a:latin typeface="Arial" pitchFamily="34" charset="0"/>
                <a:ea typeface="Arial" pitchFamily="34" charset="-122"/>
                <a:cs typeface="Arial" pitchFamily="34" charset="-120"/>
              </a:rPr>
              <a:t>Same Claude extraction + KPI logic as prototype</a:t>
            </a:r>
            <a:endParaRPr lang="en-US" sz="1350" dirty="0"/>
          </a:p>
        </p:txBody>
      </p:sp>
      <p:sp>
        <p:nvSpPr>
          <p:cNvPr id="43" name="Text 41"/>
          <p:cNvSpPr/>
          <p:nvPr/>
        </p:nvSpPr>
        <p:spPr>
          <a:xfrm>
            <a:off x="5965270" y="8871585"/>
            <a:ext cx="161925"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dirty="0">
                <a:solidFill>
                  <a:srgbClr val="CB5238"/>
                </a:solidFill>
                <a:latin typeface="Courier New" pitchFamily="34" charset="0"/>
                <a:ea typeface="Courier New" pitchFamily="34" charset="-122"/>
                <a:cs typeface="Courier New" pitchFamily="34" charset="-120"/>
              </a:rPr>
              <a:t>4</a:t>
            </a:r>
            <a:endParaRPr lang="en-US" sz="1125" dirty="0"/>
          </a:p>
        </p:txBody>
      </p:sp>
      <p:sp>
        <p:nvSpPr>
          <p:cNvPr id="44" name="Text 42"/>
          <p:cNvSpPr/>
          <p:nvPr/>
        </p:nvSpPr>
        <p:spPr>
          <a:xfrm>
            <a:off x="6127195" y="8863965"/>
            <a:ext cx="5751061" cy="251460"/>
          </a:xfrm>
          <a:prstGeom prst="rect">
            <a:avLst/>
          </a:prstGeom>
          <a:noFill/>
          <a:ln/>
        </p:spPr>
        <p:txBody>
          <a:bodyPr wrap="square" lIns="0" tIns="0" rIns="0" bIns="0" rtlCol="0" anchor="t">
            <a:normAutofit/>
          </a:bodyPr>
          <a:lstStyle/>
          <a:p>
            <a:pPr algn="l" indent="0" marL="0">
              <a:lnSpc>
                <a:spcPct val="150000"/>
              </a:lnSpc>
              <a:buNone/>
            </a:pPr>
            <a:r>
              <a:rPr lang="en-US" sz="1350" dirty="0">
                <a:solidFill>
                  <a:srgbClr val="CBC2B2"/>
                </a:solidFill>
                <a:latin typeface="Arial" pitchFamily="34" charset="0"/>
                <a:ea typeface="Arial" pitchFamily="34" charset="-122"/>
                <a:cs typeface="Arial" pitchFamily="34" charset="-120"/>
              </a:rPr>
              <a:t>Calendar event triggers packet auto-delivery 24h before each meeting</a:t>
            </a:r>
            <a:endParaRPr lang="en-US" sz="1350" dirty="0"/>
          </a:p>
        </p:txBody>
      </p:sp>
      <p:sp>
        <p:nvSpPr>
          <p:cNvPr id="45" name="Text 43"/>
          <p:cNvSpPr/>
          <p:nvPr/>
        </p:nvSpPr>
        <p:spPr>
          <a:xfrm>
            <a:off x="12494062" y="2005013"/>
            <a:ext cx="400050" cy="7329488"/>
          </a:xfrm>
          <a:prstGeom prst="rect">
            <a:avLst/>
          </a:prstGeom>
          <a:noFill/>
          <a:ln/>
        </p:spPr>
        <p:txBody>
          <a:bodyPr wrap="square" lIns="25400" tIns="25400" rIns="25400" bIns="25400" rtlCol="0" anchor="ctr">
            <a:normAutofit/>
          </a:bodyPr>
          <a:lstStyle/>
          <a:p>
            <a:pPr algn="ctr" indent="0" marL="0">
              <a:buNone/>
            </a:pPr>
            <a:r>
              <a:rPr lang="en-US" sz="1800" dirty="0">
                <a:solidFill>
                  <a:srgbClr val="C0B6A4"/>
                </a:solidFill>
                <a:latin typeface="Courier New" pitchFamily="34" charset="0"/>
                <a:ea typeface="Courier New" pitchFamily="34" charset="-122"/>
                <a:cs typeface="Courier New" pitchFamily="34" charset="-120"/>
              </a:rPr>
              <a:t>→</a:t>
            </a:r>
            <a:endParaRPr lang="en-US" sz="1800" dirty="0"/>
          </a:p>
        </p:txBody>
      </p:sp>
      <p:sp>
        <p:nvSpPr>
          <p:cNvPr id="46" name="Text 44"/>
          <p:cNvSpPr/>
          <p:nvPr/>
        </p:nvSpPr>
        <p:spPr>
          <a:xfrm>
            <a:off x="12856012" y="2005013"/>
            <a:ext cx="4969216" cy="220980"/>
          </a:xfrm>
          <a:prstGeom prst="rect">
            <a:avLst/>
          </a:prstGeom>
          <a:noFill/>
          <a:ln/>
        </p:spPr>
        <p:txBody>
          <a:bodyPr wrap="square" lIns="25400" tIns="25400" rIns="25400" bIns="25400" rtlCol="0" anchor="t">
            <a:normAutofit/>
          </a:bodyPr>
          <a:lstStyle/>
          <a:p>
            <a:pPr algn="l" indent="0" marL="0">
              <a:buNone/>
            </a:pPr>
            <a:r>
              <a:rPr lang="en-US" sz="1125" spc="203" kern="0" dirty="0">
                <a:solidFill>
                  <a:srgbClr val="94897A"/>
                </a:solidFill>
                <a:latin typeface="Courier New" pitchFamily="34" charset="0"/>
                <a:ea typeface="Courier New" pitchFamily="34" charset="-122"/>
                <a:cs typeface="Courier New" pitchFamily="34" charset="-120"/>
              </a:rPr>
              <a:t>DATA OUT, THE PACKET</a:t>
            </a:r>
            <a:endParaRPr lang="en-US" sz="1125" dirty="0"/>
          </a:p>
        </p:txBody>
      </p:sp>
      <p:sp>
        <p:nvSpPr>
          <p:cNvPr id="47" name="Shape 45"/>
          <p:cNvSpPr/>
          <p:nvPr/>
        </p:nvSpPr>
        <p:spPr>
          <a:xfrm>
            <a:off x="12856012" y="2340292"/>
            <a:ext cx="4517469" cy="6956107"/>
          </a:xfrm>
          <a:prstGeom prst="roundRect">
            <a:avLst>
              <a:gd name="adj" fmla="val 843"/>
            </a:avLst>
          </a:prstGeom>
          <a:solidFill>
            <a:srgbClr val="221D17"/>
          </a:solidFill>
          <a:ln/>
        </p:spPr>
      </p:sp>
      <p:sp>
        <p:nvSpPr>
          <p:cNvPr id="48" name="Shape 46"/>
          <p:cNvSpPr/>
          <p:nvPr/>
        </p:nvSpPr>
        <p:spPr>
          <a:xfrm>
            <a:off x="13084612" y="2704147"/>
            <a:ext cx="66675" cy="66675"/>
          </a:xfrm>
          <a:prstGeom prst="ellipse">
            <a:avLst/>
          </a:prstGeom>
          <a:solidFill>
            <a:srgbClr val="CB5238"/>
          </a:solidFill>
          <a:ln/>
        </p:spPr>
      </p:sp>
      <p:sp>
        <p:nvSpPr>
          <p:cNvPr id="49" name="Text 47"/>
          <p:cNvSpPr/>
          <p:nvPr/>
        </p:nvSpPr>
        <p:spPr>
          <a:xfrm>
            <a:off x="13246537" y="2587943"/>
            <a:ext cx="4015295" cy="552450"/>
          </a:xfrm>
          <a:prstGeom prst="rect">
            <a:avLst/>
          </a:prstGeom>
          <a:noFill/>
          <a:ln/>
        </p:spPr>
        <p:txBody>
          <a:bodyPr wrap="square" lIns="25400" tIns="25400" rIns="25400" bIns="25400" rtlCol="0" anchor="t">
            <a:normAutofit/>
          </a:bodyPr>
          <a:lstStyle/>
          <a:p>
            <a:pPr algn="l" indent="0" marL="0">
              <a:lnSpc>
                <a:spcPct val="150000"/>
              </a:lnSpc>
              <a:buNone/>
            </a:pPr>
            <a:r>
              <a:rPr lang="en-US" sz="1350" b="1" dirty="0">
                <a:solidFill>
                  <a:srgbClr val="F2ECE0"/>
                </a:solidFill>
                <a:latin typeface="Arial" pitchFamily="34" charset="0"/>
                <a:ea typeface="Arial" pitchFamily="34" charset="-122"/>
                <a:cs typeface="Arial" pitchFamily="34" charset="-120"/>
              </a:rPr>
              <a:t>Heads-up alert </a:t>
            </a:r>
            <a:pPr algn="l" indent="0" marL="0">
              <a:lnSpc>
                <a:spcPct val="150000"/>
              </a:lnSpc>
              <a:buNone/>
            </a:pPr>
            <a:r>
              <a:rPr lang="en-US" sz="1350" dirty="0">
                <a:solidFill>
                  <a:srgbClr val="E0D8CC"/>
                </a:solidFill>
                <a:latin typeface="Arial" pitchFamily="34" charset="0"/>
                <a:ea typeface="Arial" pitchFamily="34" charset="-122"/>
                <a:cs typeface="Arial" pitchFamily="34" charset="-120"/>
              </a:rPr>
              <a:t>: single most critical thing before walking in</a:t>
            </a:r>
            <a:endParaRPr lang="en-US" sz="1350" dirty="0"/>
          </a:p>
        </p:txBody>
      </p:sp>
      <p:sp>
        <p:nvSpPr>
          <p:cNvPr id="50" name="Shape 48"/>
          <p:cNvSpPr/>
          <p:nvPr/>
        </p:nvSpPr>
        <p:spPr>
          <a:xfrm>
            <a:off x="13084612" y="4045506"/>
            <a:ext cx="66675" cy="66675"/>
          </a:xfrm>
          <a:prstGeom prst="ellipse">
            <a:avLst/>
          </a:prstGeom>
          <a:solidFill>
            <a:srgbClr val="CB5238"/>
          </a:solidFill>
          <a:ln/>
        </p:spPr>
      </p:sp>
      <p:sp>
        <p:nvSpPr>
          <p:cNvPr id="51" name="Text 49"/>
          <p:cNvSpPr/>
          <p:nvPr/>
        </p:nvSpPr>
        <p:spPr>
          <a:xfrm>
            <a:off x="13246537" y="3929301"/>
            <a:ext cx="4015295" cy="552450"/>
          </a:xfrm>
          <a:prstGeom prst="rect">
            <a:avLst/>
          </a:prstGeom>
          <a:noFill/>
          <a:ln/>
        </p:spPr>
        <p:txBody>
          <a:bodyPr wrap="square" lIns="25400" tIns="25400" rIns="25400" bIns="25400" rtlCol="0" anchor="t">
            <a:normAutofit/>
          </a:bodyPr>
          <a:lstStyle/>
          <a:p>
            <a:pPr algn="l" indent="0" marL="0">
              <a:lnSpc>
                <a:spcPct val="150000"/>
              </a:lnSpc>
              <a:buNone/>
            </a:pPr>
            <a:r>
              <a:rPr lang="en-US" sz="1350" b="1" dirty="0">
                <a:solidFill>
                  <a:srgbClr val="F2ECE0"/>
                </a:solidFill>
                <a:latin typeface="Arial" pitchFamily="34" charset="0"/>
                <a:ea typeface="Arial" pitchFamily="34" charset="-122"/>
                <a:cs typeface="Arial" pitchFamily="34" charset="-120"/>
              </a:rPr>
              <a:t>Contract terms </a:t>
            </a:r>
            <a:pPr algn="l" indent="0" marL="0">
              <a:lnSpc>
                <a:spcPct val="150000"/>
              </a:lnSpc>
              <a:buNone/>
            </a:pPr>
            <a:r>
              <a:rPr lang="en-US" sz="1350" dirty="0">
                <a:solidFill>
                  <a:srgbClr val="E0D8CC"/>
                </a:solidFill>
                <a:latin typeface="Arial" pitchFamily="34" charset="0"/>
                <a:ea typeface="Arial" pitchFamily="34" charset="-122"/>
                <a:cs typeface="Arial" pitchFamily="34" charset="-120"/>
              </a:rPr>
              <a:t>: payment, volume, renewal, penalties</a:t>
            </a:r>
            <a:endParaRPr lang="en-US" sz="1350" dirty="0"/>
          </a:p>
        </p:txBody>
      </p:sp>
      <p:sp>
        <p:nvSpPr>
          <p:cNvPr id="52" name="Shape 50"/>
          <p:cNvSpPr/>
          <p:nvPr/>
        </p:nvSpPr>
        <p:spPr>
          <a:xfrm>
            <a:off x="13084612" y="5386745"/>
            <a:ext cx="66675" cy="66675"/>
          </a:xfrm>
          <a:prstGeom prst="ellipse">
            <a:avLst/>
          </a:prstGeom>
          <a:solidFill>
            <a:srgbClr val="CB5238"/>
          </a:solidFill>
          <a:ln/>
        </p:spPr>
      </p:sp>
      <p:sp>
        <p:nvSpPr>
          <p:cNvPr id="53" name="Text 51"/>
          <p:cNvSpPr/>
          <p:nvPr/>
        </p:nvSpPr>
        <p:spPr>
          <a:xfrm>
            <a:off x="13246537" y="5270540"/>
            <a:ext cx="4053483" cy="295275"/>
          </a:xfrm>
          <a:prstGeom prst="rect">
            <a:avLst/>
          </a:prstGeom>
          <a:noFill/>
          <a:ln/>
        </p:spPr>
        <p:txBody>
          <a:bodyPr wrap="square" lIns="25400" tIns="25400" rIns="25400" bIns="25400" rtlCol="0" anchor="t">
            <a:normAutofit/>
          </a:bodyPr>
          <a:lstStyle/>
          <a:p>
            <a:pPr algn="l" indent="0" marL="0">
              <a:lnSpc>
                <a:spcPct val="150000"/>
              </a:lnSpc>
              <a:buNone/>
            </a:pPr>
            <a:r>
              <a:rPr lang="en-US" sz="1350" b="1" dirty="0">
                <a:solidFill>
                  <a:srgbClr val="F2ECE0"/>
                </a:solidFill>
                <a:latin typeface="Arial" pitchFamily="34" charset="0"/>
                <a:ea typeface="Arial" pitchFamily="34" charset="-122"/>
                <a:cs typeface="Arial" pitchFamily="34" charset="-120"/>
              </a:rPr>
              <a:t>Price delta</a:t>
            </a:r>
            <a:pPr algn="l" indent="0" marL="0">
              <a:lnSpc>
                <a:spcPct val="150000"/>
              </a:lnSpc>
              <a:buNone/>
            </a:pPr>
            <a:r>
              <a:rPr lang="en-US" sz="1350" dirty="0">
                <a:solidFill>
                  <a:srgbClr val="E0D8CC"/>
                </a:solidFill>
                <a:latin typeface="Arial" pitchFamily="34" charset="0"/>
                <a:ea typeface="Arial" pitchFamily="34" charset="-122"/>
                <a:cs typeface="Arial" pitchFamily="34" charset="-120"/>
              </a:rPr>
              <a:t>: latest email quote vs. contract base</a:t>
            </a:r>
            <a:endParaRPr lang="en-US" sz="1350" dirty="0"/>
          </a:p>
        </p:txBody>
      </p:sp>
      <p:sp>
        <p:nvSpPr>
          <p:cNvPr id="54" name="Shape 52"/>
          <p:cNvSpPr/>
          <p:nvPr/>
        </p:nvSpPr>
        <p:spPr>
          <a:xfrm>
            <a:off x="13084612" y="6470928"/>
            <a:ext cx="66675" cy="66675"/>
          </a:xfrm>
          <a:prstGeom prst="ellipse">
            <a:avLst/>
          </a:prstGeom>
          <a:solidFill>
            <a:srgbClr val="CB5238"/>
          </a:solidFill>
          <a:ln/>
        </p:spPr>
      </p:sp>
      <p:sp>
        <p:nvSpPr>
          <p:cNvPr id="55" name="Text 53"/>
          <p:cNvSpPr/>
          <p:nvPr/>
        </p:nvSpPr>
        <p:spPr>
          <a:xfrm>
            <a:off x="13246537" y="6354723"/>
            <a:ext cx="4072866" cy="295275"/>
          </a:xfrm>
          <a:prstGeom prst="rect">
            <a:avLst/>
          </a:prstGeom>
          <a:noFill/>
          <a:ln/>
        </p:spPr>
        <p:txBody>
          <a:bodyPr wrap="square" lIns="25400" tIns="25400" rIns="25400" bIns="25400" rtlCol="0" anchor="t">
            <a:normAutofit/>
          </a:bodyPr>
          <a:lstStyle/>
          <a:p>
            <a:pPr algn="l" indent="0" marL="0">
              <a:lnSpc>
                <a:spcPct val="150000"/>
              </a:lnSpc>
              <a:buNone/>
            </a:pPr>
            <a:r>
              <a:rPr lang="en-US" sz="1350" b="1" dirty="0">
                <a:solidFill>
                  <a:srgbClr val="F2ECE0"/>
                </a:solidFill>
                <a:latin typeface="Arial" pitchFamily="34" charset="0"/>
                <a:ea typeface="Arial" pitchFamily="34" charset="-122"/>
                <a:cs typeface="Arial" pitchFamily="34" charset="-120"/>
              </a:rPr>
              <a:t>Open issues</a:t>
            </a:r>
            <a:pPr algn="l" indent="0" marL="0">
              <a:lnSpc>
                <a:spcPct val="150000"/>
              </a:lnSpc>
              <a:buNone/>
            </a:pPr>
            <a:r>
              <a:rPr lang="en-US" sz="1350" dirty="0">
                <a:solidFill>
                  <a:srgbClr val="E0D8CC"/>
                </a:solidFill>
                <a:latin typeface="Arial" pitchFamily="34" charset="0"/>
                <a:ea typeface="Arial" pitchFamily="34" charset="-122"/>
                <a:cs typeface="Arial" pitchFamily="34" charset="-120"/>
              </a:rPr>
              <a:t>: every unresolved dispute, flagged</a:t>
            </a:r>
            <a:endParaRPr lang="en-US" sz="1350" dirty="0"/>
          </a:p>
        </p:txBody>
      </p:sp>
      <p:sp>
        <p:nvSpPr>
          <p:cNvPr id="56" name="Shape 54"/>
          <p:cNvSpPr/>
          <p:nvPr/>
        </p:nvSpPr>
        <p:spPr>
          <a:xfrm>
            <a:off x="13084612" y="7554992"/>
            <a:ext cx="66675" cy="66675"/>
          </a:xfrm>
          <a:prstGeom prst="ellipse">
            <a:avLst/>
          </a:prstGeom>
          <a:solidFill>
            <a:srgbClr val="CB5238"/>
          </a:solidFill>
          <a:ln/>
        </p:spPr>
      </p:sp>
      <p:sp>
        <p:nvSpPr>
          <p:cNvPr id="57" name="Text 55"/>
          <p:cNvSpPr/>
          <p:nvPr/>
        </p:nvSpPr>
        <p:spPr>
          <a:xfrm>
            <a:off x="13246537" y="7438787"/>
            <a:ext cx="4180784" cy="295275"/>
          </a:xfrm>
          <a:prstGeom prst="rect">
            <a:avLst/>
          </a:prstGeom>
          <a:noFill/>
          <a:ln/>
        </p:spPr>
        <p:txBody>
          <a:bodyPr wrap="square" lIns="25400" tIns="25400" rIns="25400" bIns="25400" rtlCol="0" anchor="t">
            <a:normAutofit/>
          </a:bodyPr>
          <a:lstStyle/>
          <a:p>
            <a:pPr algn="l" indent="0" marL="0">
              <a:lnSpc>
                <a:spcPct val="150000"/>
              </a:lnSpc>
              <a:buNone/>
            </a:pPr>
            <a:r>
              <a:rPr lang="en-US" sz="1350" b="1" dirty="0">
                <a:solidFill>
                  <a:srgbClr val="F2ECE0"/>
                </a:solidFill>
                <a:latin typeface="Arial" pitchFamily="34" charset="0"/>
                <a:ea typeface="Arial" pitchFamily="34" charset="-122"/>
                <a:cs typeface="Arial" pitchFamily="34" charset="-120"/>
              </a:rPr>
              <a:t>Benchmark</a:t>
            </a:r>
            <a:pPr algn="l" indent="0" marL="0">
              <a:lnSpc>
                <a:spcPct val="150000"/>
              </a:lnSpc>
              <a:buNone/>
            </a:pPr>
            <a:r>
              <a:rPr lang="en-US" sz="1350" dirty="0">
                <a:solidFill>
                  <a:srgbClr val="E0D8CC"/>
                </a:solidFill>
                <a:latin typeface="Arial" pitchFamily="34" charset="0"/>
                <a:ea typeface="Arial" pitchFamily="34" charset="-122"/>
                <a:cs typeface="Arial" pitchFamily="34" charset="-120"/>
              </a:rPr>
              <a:t>: where commodity market sits today</a:t>
            </a:r>
            <a:endParaRPr lang="en-US" sz="1350" dirty="0"/>
          </a:p>
        </p:txBody>
      </p:sp>
      <p:sp>
        <p:nvSpPr>
          <p:cNvPr id="58" name="Shape 56"/>
          <p:cNvSpPr/>
          <p:nvPr/>
        </p:nvSpPr>
        <p:spPr>
          <a:xfrm>
            <a:off x="13084612" y="8580120"/>
            <a:ext cx="4060269" cy="9525"/>
          </a:xfrm>
          <a:prstGeom prst="rect">
            <a:avLst/>
          </a:prstGeom>
          <a:solidFill>
            <a:srgbClr val="3A332A"/>
          </a:solidFill>
          <a:ln/>
        </p:spPr>
      </p:sp>
      <p:sp>
        <p:nvSpPr>
          <p:cNvPr id="59" name="Text 57"/>
          <p:cNvSpPr/>
          <p:nvPr/>
        </p:nvSpPr>
        <p:spPr>
          <a:xfrm>
            <a:off x="13084612" y="8682990"/>
            <a:ext cx="4182077" cy="403860"/>
          </a:xfrm>
          <a:prstGeom prst="rect">
            <a:avLst/>
          </a:prstGeom>
          <a:noFill/>
          <a:ln/>
        </p:spPr>
        <p:txBody>
          <a:bodyPr wrap="square" lIns="25400" tIns="25400" rIns="25400" bIns="25400" rtlCol="0" anchor="t">
            <a:normAutofit/>
          </a:bodyPr>
          <a:lstStyle/>
          <a:p>
            <a:pPr algn="l" indent="0" marL="0">
              <a:buNone/>
            </a:pPr>
            <a:r>
              <a:rPr lang="en-US" sz="1088" spc="43" kern="0" dirty="0">
                <a:solidFill>
                  <a:srgbClr val="7A7060"/>
                </a:solidFill>
                <a:latin typeface="Courier New" pitchFamily="34" charset="0"/>
                <a:ea typeface="Courier New" pitchFamily="34" charset="-122"/>
                <a:cs typeface="Courier New" pitchFamily="34" charset="-120"/>
              </a:rPr>
              <a:t>Source citation on every field, one click to verify</a:t>
            </a:r>
            <a:endParaRPr lang="en-US" sz="1088" dirty="0"/>
          </a:p>
        </p:txBody>
      </p:sp>
      <p:sp>
        <p:nvSpPr>
          <p:cNvPr id="60" name="Shape 58"/>
          <p:cNvSpPr/>
          <p:nvPr/>
        </p:nvSpPr>
        <p:spPr>
          <a:xfrm>
            <a:off x="914400" y="9629775"/>
            <a:ext cx="16459200" cy="9525"/>
          </a:xfrm>
          <a:prstGeom prst="rect">
            <a:avLst/>
          </a:prstGeom>
          <a:solidFill>
            <a:srgbClr val="E2DACE"/>
          </a:solidFill>
          <a:ln/>
        </p:spPr>
      </p:sp>
      <p:sp>
        <p:nvSpPr>
          <p:cNvPr id="61" name="Text 59"/>
          <p:cNvSpPr/>
          <p:nvPr/>
        </p:nvSpPr>
        <p:spPr>
          <a:xfrm>
            <a:off x="914400" y="9761220"/>
            <a:ext cx="5852732" cy="220980"/>
          </a:xfrm>
          <a:prstGeom prst="rect">
            <a:avLst/>
          </a:prstGeom>
          <a:noFill/>
          <a:ln/>
        </p:spPr>
        <p:txBody>
          <a:bodyPr wrap="square" lIns="25400" tIns="25400" rIns="25400" bIns="25400" rtlCol="0" anchor="t">
            <a:normAutofit/>
          </a:bodyPr>
          <a:lstStyle/>
          <a:p>
            <a:pPr algn="l" indent="0" marL="0">
              <a:buNone/>
            </a:pPr>
            <a:r>
              <a:rPr lang="en-US" sz="1125" spc="180" kern="0" dirty="0">
                <a:solidFill>
                  <a:srgbClr val="A89D8E"/>
                </a:solidFill>
                <a:latin typeface="Courier New" pitchFamily="34" charset="0"/>
                <a:ea typeface="Courier New" pitchFamily="34" charset="-122"/>
                <a:cs typeface="Courier New" pitchFamily="34" charset="-120"/>
              </a:rPr>
              <a:t>STRAUSS PROCUREMENT · FDE EXERCISE · CONFIDENTIAL</a:t>
            </a:r>
            <a:endParaRPr lang="en-US" sz="1125" dirty="0"/>
          </a:p>
        </p:txBody>
      </p:sp>
      <p:sp>
        <p:nvSpPr>
          <p:cNvPr id="62" name="Text 60"/>
          <p:cNvSpPr/>
          <p:nvPr/>
        </p:nvSpPr>
        <p:spPr>
          <a:xfrm>
            <a:off x="16613506" y="9761220"/>
            <a:ext cx="836295" cy="220980"/>
          </a:xfrm>
          <a:prstGeom prst="rect">
            <a:avLst/>
          </a:prstGeom>
          <a:noFill/>
          <a:ln/>
        </p:spPr>
        <p:txBody>
          <a:bodyPr wrap="square" lIns="25400" tIns="25400" rIns="25400" bIns="25400" rtlCol="0" anchor="t">
            <a:normAutofit/>
          </a:bodyPr>
          <a:lstStyle/>
          <a:p>
            <a:pPr algn="l" indent="0" marL="0">
              <a:buNone/>
            </a:pPr>
            <a:r>
              <a:rPr lang="en-US" sz="1125" spc="180" kern="0" dirty="0">
                <a:solidFill>
                  <a:srgbClr val="A89D8E"/>
                </a:solidFill>
                <a:latin typeface="Courier New" pitchFamily="34" charset="0"/>
                <a:ea typeface="Courier New" pitchFamily="34" charset="-122"/>
                <a:cs typeface="Courier New" pitchFamily="34" charset="-120"/>
              </a:rPr>
              <a:t>07 / 19</a:t>
            </a:r>
            <a:endParaRPr lang="en-US" sz="11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EFE7"/>
        </a:solidFill>
      </p:bgPr>
    </p:bg>
    <p:spTree>
      <p:nvGrpSpPr>
        <p:cNvPr id="1" name=""/>
        <p:cNvGrpSpPr/>
        <p:nvPr/>
      </p:nvGrpSpPr>
      <p:grpSpPr>
        <a:xfrm>
          <a:off x="0" y="0"/>
          <a:ext cx="0" cy="0"/>
          <a:chOff x="0" y="0"/>
          <a:chExt cx="0" cy="0"/>
        </a:xfrm>
      </p:grpSpPr>
      <p:sp>
        <p:nvSpPr>
          <p:cNvPr id="2" name="Shape 0"/>
          <p:cNvSpPr/>
          <p:nvPr/>
        </p:nvSpPr>
        <p:spPr>
          <a:xfrm>
            <a:off x="914400" y="1749742"/>
            <a:ext cx="16459200" cy="9525"/>
          </a:xfrm>
          <a:prstGeom prst="rect">
            <a:avLst/>
          </a:prstGeom>
          <a:solidFill>
            <a:srgbClr val="D7CDBE"/>
          </a:solidFill>
          <a:ln/>
        </p:spPr>
      </p:sp>
      <p:sp>
        <p:nvSpPr>
          <p:cNvPr id="3" name="Text 1"/>
          <p:cNvSpPr/>
          <p:nvPr/>
        </p:nvSpPr>
        <p:spPr>
          <a:xfrm>
            <a:off x="914400" y="704850"/>
            <a:ext cx="5448038" cy="259080"/>
          </a:xfrm>
          <a:prstGeom prst="rect">
            <a:avLst/>
          </a:prstGeom>
          <a:noFill/>
          <a:ln/>
        </p:spPr>
        <p:txBody>
          <a:bodyPr wrap="square" lIns="25400" tIns="25400" rIns="25400" bIns="25400" rtlCol="0" anchor="t">
            <a:normAutofit/>
          </a:bodyPr>
          <a:lstStyle/>
          <a:p>
            <a:pPr algn="l" indent="0" marL="0">
              <a:buNone/>
            </a:pPr>
            <a:r>
              <a:rPr lang="en-US" sz="1350" spc="324" kern="0" dirty="0">
                <a:solidFill>
                  <a:srgbClr val="B23B26"/>
                </a:solidFill>
                <a:latin typeface="Courier New" pitchFamily="34" charset="0"/>
                <a:ea typeface="Courier New" pitchFamily="34" charset="-122"/>
                <a:cs typeface="Courier New" pitchFamily="34" charset="-120"/>
              </a:rPr>
              <a:t>08 · DEMO · PROCUREMENT OVERVIEW</a:t>
            </a:r>
            <a:endParaRPr lang="en-US" sz="1350" dirty="0"/>
          </a:p>
        </p:txBody>
      </p:sp>
      <p:sp>
        <p:nvSpPr>
          <p:cNvPr id="4" name="Text 2"/>
          <p:cNvSpPr/>
          <p:nvPr/>
        </p:nvSpPr>
        <p:spPr>
          <a:xfrm>
            <a:off x="914400" y="1049655"/>
            <a:ext cx="5448038" cy="528638"/>
          </a:xfrm>
          <a:prstGeom prst="rect">
            <a:avLst/>
          </a:prstGeom>
          <a:noFill/>
          <a:ln/>
        </p:spPr>
        <p:txBody>
          <a:bodyPr wrap="square" lIns="25400" tIns="25400" rIns="25400" bIns="25400" rtlCol="0" anchor="t">
            <a:normAutofit/>
          </a:bodyPr>
          <a:lstStyle/>
          <a:p>
            <a:pPr algn="l" indent="0" marL="0">
              <a:lnSpc>
                <a:spcPct val="103000"/>
              </a:lnSpc>
              <a:buNone/>
            </a:pPr>
            <a:r>
              <a:rPr lang="en-US" sz="3750" spc="-56" kern="0" dirty="0">
                <a:solidFill>
                  <a:srgbClr val="221D17"/>
                </a:solidFill>
                <a:latin typeface="Georgia" pitchFamily="34" charset="0"/>
                <a:ea typeface="Georgia" pitchFamily="34" charset="-122"/>
                <a:cs typeface="Georgia" pitchFamily="34" charset="-120"/>
              </a:rPr>
              <a:t>Executive portfolio view</a:t>
            </a:r>
            <a:endParaRPr lang="en-US" sz="3750" dirty="0"/>
          </a:p>
        </p:txBody>
      </p:sp>
      <p:sp>
        <p:nvSpPr>
          <p:cNvPr id="5" name="Text 3"/>
          <p:cNvSpPr/>
          <p:nvPr/>
        </p:nvSpPr>
        <p:spPr>
          <a:xfrm>
            <a:off x="14673263" y="1300163"/>
            <a:ext cx="2781348" cy="220980"/>
          </a:xfrm>
          <a:prstGeom prst="rect">
            <a:avLst/>
          </a:prstGeom>
          <a:noFill/>
          <a:ln/>
        </p:spPr>
        <p:txBody>
          <a:bodyPr wrap="none" lIns="25400" tIns="25400" rIns="25400" bIns="25400" rtlCol="0" anchor="t">
            <a:normAutofit/>
          </a:bodyPr>
          <a:lstStyle/>
          <a:p>
            <a:pPr algn="l" indent="0" marL="0">
              <a:buNone/>
            </a:pPr>
            <a:r>
              <a:rPr lang="en-US" sz="1125" spc="113" kern="0" dirty="0">
                <a:solidFill>
                  <a:srgbClr val="5E7350"/>
                </a:solidFill>
                <a:latin typeface="Courier New" pitchFamily="34" charset="0"/>
                <a:ea typeface="Courier New" pitchFamily="34" charset="-122"/>
                <a:cs typeface="Courier New" pitchFamily="34" charset="-120"/>
              </a:rPr>
              <a:t>no API calls · loads in &lt;1s</a:t>
            </a:r>
            <a:endParaRPr lang="en-US" sz="1125" dirty="0"/>
          </a:p>
        </p:txBody>
      </p:sp>
      <p:sp>
        <p:nvSpPr>
          <p:cNvPr id="6" name="Shape 4"/>
          <p:cNvSpPr/>
          <p:nvPr/>
        </p:nvSpPr>
        <p:spPr>
          <a:xfrm>
            <a:off x="914400" y="2130742"/>
            <a:ext cx="76200" cy="76200"/>
          </a:xfrm>
          <a:prstGeom prst="ellipse">
            <a:avLst/>
          </a:prstGeom>
          <a:solidFill>
            <a:srgbClr val="B23B26"/>
          </a:solidFill>
          <a:ln/>
        </p:spPr>
      </p:sp>
      <p:sp>
        <p:nvSpPr>
          <p:cNvPr id="7" name="Text 5"/>
          <p:cNvSpPr/>
          <p:nvPr/>
        </p:nvSpPr>
        <p:spPr>
          <a:xfrm>
            <a:off x="1143000" y="2043113"/>
            <a:ext cx="7403192" cy="723900"/>
          </a:xfrm>
          <a:prstGeom prst="rect">
            <a:avLst/>
          </a:prstGeom>
          <a:noFill/>
          <a:ln/>
        </p:spPr>
        <p:txBody>
          <a:bodyPr wrap="square" lIns="25400" tIns="25400" rIns="25400" bIns="25400" rtlCol="0" anchor="t">
            <a:normAutofit/>
          </a:bodyPr>
          <a:lstStyle/>
          <a:p>
            <a:pPr algn="l" indent="0" marL="0">
              <a:buNone/>
            </a:pPr>
            <a:r>
              <a:rPr lang="en-US" sz="1500" b="1" dirty="0">
                <a:solidFill>
                  <a:srgbClr val="221D17"/>
                </a:solidFill>
                <a:latin typeface="Arial" pitchFamily="34" charset="0"/>
                <a:ea typeface="Arial" pitchFamily="34" charset="-122"/>
                <a:cs typeface="Arial" pitchFamily="34" charset="-120"/>
              </a:rPr>
              <a:t>Portfolio Alerts </a:t>
            </a:r>
            <a:pPr algn="l" indent="0" marL="0">
              <a:buNone/>
            </a:pPr>
            <a:r>
              <a:rPr lang="en-US" sz="1500" dirty="0">
                <a:solidFill>
                  <a:srgbClr val="544C42"/>
                </a:solidFill>
                <a:latin typeface="Arial" pitchFamily="34" charset="0"/>
                <a:ea typeface="Arial" pitchFamily="34" charset="-122"/>
                <a:cs typeface="Arial" pitchFamily="34" charset="-120"/>
              </a:rPr>
              <a:t>: top open issues aggregated across all supplier packets, ranked by severity (expired contracts → price discrepancies → delivery disputes → unanswered threads), in a two-column grid with colour-coded severity borders.</a:t>
            </a:r>
            <a:endParaRPr lang="en-US" sz="1200" dirty="0"/>
          </a:p>
        </p:txBody>
      </p:sp>
      <p:sp>
        <p:nvSpPr>
          <p:cNvPr id="8" name="Shape 6"/>
          <p:cNvSpPr/>
          <p:nvPr/>
        </p:nvSpPr>
        <p:spPr>
          <a:xfrm>
            <a:off x="914400" y="3007043"/>
            <a:ext cx="76200" cy="76200"/>
          </a:xfrm>
          <a:prstGeom prst="ellipse">
            <a:avLst/>
          </a:prstGeom>
          <a:solidFill>
            <a:srgbClr val="B23B26"/>
          </a:solidFill>
          <a:ln/>
        </p:spPr>
      </p:sp>
      <p:sp>
        <p:nvSpPr>
          <p:cNvPr id="9" name="Text 7"/>
          <p:cNvSpPr/>
          <p:nvPr/>
        </p:nvSpPr>
        <p:spPr>
          <a:xfrm>
            <a:off x="1143000" y="2919413"/>
            <a:ext cx="7403192" cy="723900"/>
          </a:xfrm>
          <a:prstGeom prst="rect">
            <a:avLst/>
          </a:prstGeom>
          <a:noFill/>
          <a:ln/>
        </p:spPr>
        <p:txBody>
          <a:bodyPr wrap="square" lIns="25400" tIns="25400" rIns="25400" bIns="25400" rtlCol="0" anchor="t">
            <a:normAutofit/>
          </a:bodyPr>
          <a:lstStyle/>
          <a:p>
            <a:pPr algn="l" indent="0" marL="0">
              <a:buNone/>
            </a:pPr>
            <a:r>
              <a:rPr lang="en-US" sz="1500" b="1" dirty="0">
                <a:solidFill>
                  <a:srgbClr val="221D17"/>
                </a:solidFill>
                <a:latin typeface="Arial" pitchFamily="34" charset="0"/>
                <a:ea typeface="Arial" pitchFamily="34" charset="-122"/>
                <a:cs typeface="Arial" pitchFamily="34" charset="-120"/>
              </a:rPr>
              <a:t>Contract Renewals tracker </a:t>
            </a:r>
            <a:pPr algn="l" indent="0" marL="0">
              <a:buNone/>
            </a:pPr>
            <a:r>
              <a:rPr lang="en-US" sz="1500" dirty="0">
                <a:solidFill>
                  <a:srgbClr val="544C42"/>
                </a:solidFill>
                <a:latin typeface="Arial" pitchFamily="34" charset="0"/>
                <a:ea typeface="Arial" pitchFamily="34" charset="-122"/>
                <a:cs typeface="Arial" pitchFamily="34" charset="-120"/>
              </a:rPr>
              <a:t>: all 8 suppliers by urgency, expired (red), due within 30 days (amber), within 90 days (amber), healthy (green). One glance shows where the renewal risk sits.</a:t>
            </a:r>
            <a:endParaRPr lang="en-US" sz="1200" dirty="0"/>
          </a:p>
        </p:txBody>
      </p:sp>
      <p:sp>
        <p:nvSpPr>
          <p:cNvPr id="10" name="Shape 8"/>
          <p:cNvSpPr/>
          <p:nvPr/>
        </p:nvSpPr>
        <p:spPr>
          <a:xfrm>
            <a:off x="914400" y="3883343"/>
            <a:ext cx="76200" cy="76200"/>
          </a:xfrm>
          <a:prstGeom prst="ellipse">
            <a:avLst/>
          </a:prstGeom>
          <a:solidFill>
            <a:srgbClr val="B23B26"/>
          </a:solidFill>
          <a:ln/>
        </p:spPr>
      </p:sp>
      <p:sp>
        <p:nvSpPr>
          <p:cNvPr id="11" name="Text 9"/>
          <p:cNvSpPr/>
          <p:nvPr/>
        </p:nvSpPr>
        <p:spPr>
          <a:xfrm>
            <a:off x="1143000" y="3795713"/>
            <a:ext cx="7403192" cy="495300"/>
          </a:xfrm>
          <a:prstGeom prst="rect">
            <a:avLst/>
          </a:prstGeom>
          <a:noFill/>
          <a:ln/>
        </p:spPr>
        <p:txBody>
          <a:bodyPr wrap="square" lIns="25400" tIns="25400" rIns="25400" bIns="25400" rtlCol="0" anchor="t">
            <a:normAutofit/>
          </a:bodyPr>
          <a:lstStyle/>
          <a:p>
            <a:pPr algn="l" indent="0" marL="0">
              <a:buNone/>
            </a:pPr>
            <a:r>
              <a:rPr lang="en-US" sz="1500" b="1" dirty="0">
                <a:solidFill>
                  <a:srgbClr val="221D17"/>
                </a:solidFill>
                <a:latin typeface="Arial" pitchFamily="34" charset="0"/>
                <a:ea typeface="Arial" pitchFamily="34" charset="-122"/>
                <a:cs typeface="Arial" pitchFamily="34" charset="-120"/>
              </a:rPr>
              <a:t>Upcoming Meetings </a:t>
            </a:r>
            <a:pPr algn="l" indent="0" marL="0">
              <a:buNone/>
            </a:pPr>
            <a:r>
              <a:rPr lang="en-US" sz="1500" dirty="0">
                <a:solidFill>
                  <a:srgbClr val="544C42"/>
                </a:solidFill>
                <a:latin typeface="Arial" pitchFamily="34" charset="0"/>
                <a:ea typeface="Arial" pitchFamily="34" charset="-122"/>
                <a:cs typeface="Arial" pitchFamily="34" charset="-120"/>
              </a:rPr>
              <a:t>: next 6 meetings with date, supplier, agenda note, and days-until badge.</a:t>
            </a:r>
            <a:endParaRPr lang="en-US" sz="1200" dirty="0"/>
          </a:p>
        </p:txBody>
      </p:sp>
      <p:sp>
        <p:nvSpPr>
          <p:cNvPr id="12" name="Shape 10"/>
          <p:cNvSpPr/>
          <p:nvPr/>
        </p:nvSpPr>
        <p:spPr>
          <a:xfrm>
            <a:off x="914400" y="4531043"/>
            <a:ext cx="76200" cy="76200"/>
          </a:xfrm>
          <a:prstGeom prst="ellipse">
            <a:avLst/>
          </a:prstGeom>
          <a:solidFill>
            <a:srgbClr val="B23B26"/>
          </a:solidFill>
          <a:ln/>
        </p:spPr>
      </p:sp>
      <p:sp>
        <p:nvSpPr>
          <p:cNvPr id="13" name="Text 11"/>
          <p:cNvSpPr/>
          <p:nvPr/>
        </p:nvSpPr>
        <p:spPr>
          <a:xfrm>
            <a:off x="1143000" y="4443413"/>
            <a:ext cx="7403192" cy="495300"/>
          </a:xfrm>
          <a:prstGeom prst="rect">
            <a:avLst/>
          </a:prstGeom>
          <a:noFill/>
          <a:ln/>
        </p:spPr>
        <p:txBody>
          <a:bodyPr wrap="square" lIns="25400" tIns="25400" rIns="25400" bIns="25400" rtlCol="0" anchor="t">
            <a:normAutofit/>
          </a:bodyPr>
          <a:lstStyle/>
          <a:p>
            <a:pPr algn="l" indent="0" marL="0">
              <a:buNone/>
            </a:pPr>
            <a:r>
              <a:rPr lang="en-US" sz="1500" b="1" dirty="0">
                <a:solidFill>
                  <a:srgbClr val="221D17"/>
                </a:solidFill>
                <a:latin typeface="Arial" pitchFamily="34" charset="0"/>
                <a:ea typeface="Arial" pitchFamily="34" charset="-122"/>
                <a:cs typeface="Arial" pitchFamily="34" charset="-120"/>
              </a:rPr>
              <a:t>Supplier Health </a:t>
            </a:r>
            <a:pPr algn="l" indent="0" marL="0">
              <a:buNone/>
            </a:pPr>
            <a:r>
              <a:rPr lang="en-US" sz="1500" dirty="0">
                <a:solidFill>
                  <a:srgbClr val="544C42"/>
                </a:solidFill>
                <a:latin typeface="Arial" pitchFamily="34" charset="0"/>
                <a:ea typeface="Arial" pitchFamily="34" charset="-122"/>
                <a:cs typeface="Arial" pitchFamily="34" charset="-120"/>
              </a:rPr>
              <a:t>: two-column grid showing each supplier with combined health score, contract status, days since last contact, and response trend direction.</a:t>
            </a:r>
            <a:endParaRPr lang="en-US" sz="1200" dirty="0"/>
          </a:p>
        </p:txBody>
      </p:sp>
      <p:sp>
        <p:nvSpPr>
          <p:cNvPr id="14" name="Shape 12"/>
          <p:cNvSpPr/>
          <p:nvPr/>
        </p:nvSpPr>
        <p:spPr>
          <a:xfrm>
            <a:off x="914400" y="5178743"/>
            <a:ext cx="76200" cy="76200"/>
          </a:xfrm>
          <a:prstGeom prst="ellipse">
            <a:avLst/>
          </a:prstGeom>
          <a:solidFill>
            <a:srgbClr val="B23B26"/>
          </a:solidFill>
          <a:ln/>
        </p:spPr>
      </p:sp>
      <p:sp>
        <p:nvSpPr>
          <p:cNvPr id="15" name="Text 13"/>
          <p:cNvSpPr/>
          <p:nvPr/>
        </p:nvSpPr>
        <p:spPr>
          <a:xfrm>
            <a:off x="1143000" y="5091113"/>
            <a:ext cx="7403192" cy="495300"/>
          </a:xfrm>
          <a:prstGeom prst="rect">
            <a:avLst/>
          </a:prstGeom>
          <a:noFill/>
          <a:ln/>
        </p:spPr>
        <p:txBody>
          <a:bodyPr wrap="square" lIns="25400" tIns="25400" rIns="25400" bIns="25400" rtlCol="0" anchor="t">
            <a:normAutofit/>
          </a:bodyPr>
          <a:lstStyle/>
          <a:p>
            <a:pPr algn="l" indent="0" marL="0">
              <a:buNone/>
            </a:pPr>
            <a:r>
              <a:rPr lang="en-US" sz="1500" b="1" dirty="0">
                <a:solidFill>
                  <a:srgbClr val="221D17"/>
                </a:solidFill>
                <a:latin typeface="Arial" pitchFamily="34" charset="0"/>
                <a:ea typeface="Arial" pitchFamily="34" charset="-122"/>
                <a:cs typeface="Arial" pitchFamily="34" charset="-120"/>
              </a:rPr>
              <a:t>4 KPI tiles </a:t>
            </a:r>
            <a:pPr algn="l" indent="0" marL="0">
              <a:buNone/>
            </a:pPr>
            <a:r>
              <a:rPr lang="en-US" sz="1500" dirty="0">
                <a:solidFill>
                  <a:srgbClr val="544C42"/>
                </a:solidFill>
                <a:latin typeface="Arial" pitchFamily="34" charset="0"/>
                <a:ea typeface="Arial" pitchFamily="34" charset="-122"/>
                <a:cs typeface="Arial" pitchFamily="34" charset="-120"/>
              </a:rPr>
              <a:t>: upcoming meetings count, this week’s meetings, suppliers at risk (x/8), contract issues (x/8).</a:t>
            </a:r>
            <a:endParaRPr lang="en-US" sz="1200" dirty="0"/>
          </a:p>
        </p:txBody>
      </p:sp>
      <p:sp>
        <p:nvSpPr>
          <p:cNvPr id="16" name="Shape 14"/>
          <p:cNvSpPr/>
          <p:nvPr/>
        </p:nvSpPr>
        <p:spPr>
          <a:xfrm>
            <a:off x="914400" y="8016240"/>
            <a:ext cx="7416165" cy="1280160"/>
          </a:xfrm>
          <a:prstGeom prst="rect">
            <a:avLst/>
          </a:prstGeom>
          <a:solidFill>
            <a:srgbClr val="EEE7DA"/>
          </a:solidFill>
          <a:ln/>
        </p:spPr>
      </p:sp>
      <p:sp>
        <p:nvSpPr>
          <p:cNvPr id="17" name="Shape 15"/>
          <p:cNvSpPr/>
          <p:nvPr/>
        </p:nvSpPr>
        <p:spPr>
          <a:xfrm>
            <a:off x="914400" y="8016240"/>
            <a:ext cx="22860" cy="1280160"/>
          </a:xfrm>
          <a:prstGeom prst="rect">
            <a:avLst/>
          </a:prstGeom>
          <a:solidFill>
            <a:srgbClr val="5E7350"/>
          </a:solidFill>
          <a:ln/>
        </p:spPr>
      </p:sp>
      <p:sp>
        <p:nvSpPr>
          <p:cNvPr id="18" name="Text 16"/>
          <p:cNvSpPr/>
          <p:nvPr/>
        </p:nvSpPr>
        <p:spPr>
          <a:xfrm>
            <a:off x="1184910" y="8225790"/>
            <a:ext cx="7587806" cy="21336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5E7350"/>
                </a:solidFill>
                <a:latin typeface="Courier New" pitchFamily="34" charset="0"/>
                <a:ea typeface="Courier New" pitchFamily="34" charset="-122"/>
                <a:cs typeface="Courier New" pitchFamily="34" charset="-120"/>
              </a:rPr>
              <a:t>DESIGN DECISION</a:t>
            </a:r>
            <a:endParaRPr lang="en-US" sz="1050" dirty="0"/>
          </a:p>
        </p:txBody>
      </p:sp>
      <p:sp>
        <p:nvSpPr>
          <p:cNvPr id="19" name="Text 17"/>
          <p:cNvSpPr/>
          <p:nvPr/>
        </p:nvSpPr>
        <p:spPr>
          <a:xfrm>
            <a:off x="1184910" y="8496300"/>
            <a:ext cx="7104945" cy="628650"/>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3F392F"/>
                </a:solidFill>
                <a:latin typeface="Arial" pitchFamily="34" charset="0"/>
                <a:ea typeface="Arial" pitchFamily="34" charset="-122"/>
                <a:cs typeface="Arial" pitchFamily="34" charset="-120"/>
              </a:rPr>
              <a:t>Everything on this page is computed locally from email and contract files, </a:t>
            </a:r>
            <a:pPr algn="l" indent="0" marL="0">
              <a:lnSpc>
                <a:spcPct val="155000"/>
              </a:lnSpc>
              <a:buNone/>
            </a:pPr>
            <a:r>
              <a:rPr lang="en-US" sz="1500" b="1" dirty="0">
                <a:solidFill>
                  <a:srgbClr val="3F392F"/>
                </a:solidFill>
                <a:latin typeface="Arial" pitchFamily="34" charset="0"/>
                <a:ea typeface="Arial" pitchFamily="34" charset="-122"/>
                <a:cs typeface="Arial" pitchFamily="34" charset="-120"/>
              </a:rPr>
              <a:t>no AI call, no latency </a:t>
            </a:r>
            <a:pPr algn="l" indent="0" marL="0">
              <a:lnSpc>
                <a:spcPct val="155000"/>
              </a:lnSpc>
              <a:buNone/>
            </a:pPr>
            <a:r>
              <a:rPr lang="en-US" sz="1500" dirty="0">
                <a:solidFill>
                  <a:srgbClr val="3F392F"/>
                </a:solidFill>
                <a:latin typeface="Arial" pitchFamily="34" charset="0"/>
                <a:ea typeface="Arial" pitchFamily="34" charset="-122"/>
                <a:cs typeface="Arial" pitchFamily="34" charset="-120"/>
              </a:rPr>
              <a:t>, safe to load five minutes before a meeting.</a:t>
            </a:r>
            <a:endParaRPr lang="en-US" sz="1500" dirty="0"/>
          </a:p>
        </p:txBody>
      </p:sp>
      <p:sp>
        <p:nvSpPr>
          <p:cNvPr id="20" name="Text 18"/>
          <p:cNvSpPr/>
          <p:nvPr/>
        </p:nvSpPr>
        <p:spPr>
          <a:xfrm>
            <a:off x="8844915" y="9113520"/>
            <a:ext cx="9381554" cy="220980"/>
          </a:xfrm>
          <a:prstGeom prst="rect">
            <a:avLst/>
          </a:prstGeom>
          <a:noFill/>
          <a:ln/>
        </p:spPr>
        <p:txBody>
          <a:bodyPr wrap="square" lIns="25400" tIns="25400" rIns="25400" bIns="25400" rtlCol="0" anchor="t">
            <a:normAutofit/>
          </a:bodyPr>
          <a:lstStyle/>
          <a:p>
            <a:pPr algn="l" indent="0" marL="0">
              <a:buNone/>
            </a:pPr>
            <a:r>
              <a:rPr lang="en-US" sz="1125" spc="90" kern="0" dirty="0">
                <a:solidFill>
                  <a:srgbClr val="A0957F"/>
                </a:solidFill>
                <a:latin typeface="Courier New" pitchFamily="34" charset="0"/>
                <a:ea typeface="Courier New" pitchFamily="34" charset="-122"/>
                <a:cs typeface="Courier New" pitchFamily="34" charset="-120"/>
              </a:rPr>
              <a:t>▸ strauss-procurement.streamlit.app · live demo</a:t>
            </a:r>
            <a:endParaRPr lang="en-US" sz="1125" dirty="0"/>
          </a:p>
        </p:txBody>
      </p:sp>
      <p:sp>
        <p:nvSpPr>
          <p:cNvPr id="21" name="Shape 19"/>
          <p:cNvSpPr/>
          <p:nvPr/>
        </p:nvSpPr>
        <p:spPr>
          <a:xfrm>
            <a:off x="914400" y="9637395"/>
            <a:ext cx="16459200" cy="9525"/>
          </a:xfrm>
          <a:prstGeom prst="rect">
            <a:avLst/>
          </a:prstGeom>
          <a:solidFill>
            <a:srgbClr val="E2DACE"/>
          </a:solidFill>
          <a:ln/>
        </p:spPr>
      </p:sp>
      <p:sp>
        <p:nvSpPr>
          <p:cNvPr id="22" name="Text 20"/>
          <p:cNvSpPr/>
          <p:nvPr/>
        </p:nvSpPr>
        <p:spPr>
          <a:xfrm>
            <a:off x="914400" y="9768840"/>
            <a:ext cx="5462575" cy="21336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A89D8E"/>
                </a:solidFill>
                <a:latin typeface="Courier New" pitchFamily="34" charset="0"/>
                <a:ea typeface="Courier New" pitchFamily="34" charset="-122"/>
                <a:cs typeface="Courier New" pitchFamily="34" charset="-120"/>
              </a:rPr>
              <a:t>STRAUSS PROCUREMENT · FDE EXERCISE · CONFIDENTIAL</a:t>
            </a:r>
            <a:endParaRPr lang="en-US" sz="1050" dirty="0"/>
          </a:p>
        </p:txBody>
      </p:sp>
      <p:sp>
        <p:nvSpPr>
          <p:cNvPr id="23" name="Text 21"/>
          <p:cNvSpPr/>
          <p:nvPr/>
        </p:nvSpPr>
        <p:spPr>
          <a:xfrm>
            <a:off x="16664107" y="9768840"/>
            <a:ext cx="785693" cy="21336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A89D8E"/>
                </a:solidFill>
                <a:latin typeface="Courier New" pitchFamily="34" charset="0"/>
                <a:ea typeface="Courier New" pitchFamily="34" charset="-122"/>
                <a:cs typeface="Courier New" pitchFamily="34" charset="-120"/>
              </a:rPr>
              <a:t>08 / 19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EFE7"/>
        </a:solidFill>
      </p:bgPr>
    </p:bg>
    <p:spTree>
      <p:nvGrpSpPr>
        <p:cNvPr id="1" name=""/>
        <p:cNvGrpSpPr/>
        <p:nvPr/>
      </p:nvGrpSpPr>
      <p:grpSpPr>
        <a:xfrm>
          <a:off x="0" y="0"/>
          <a:ext cx="0" cy="0"/>
          <a:chOff x="0" y="0"/>
          <a:chExt cx="0" cy="0"/>
        </a:xfrm>
      </p:grpSpPr>
      <p:sp>
        <p:nvSpPr>
          <p:cNvPr id="2" name="Shape 0"/>
          <p:cNvSpPr/>
          <p:nvPr/>
        </p:nvSpPr>
        <p:spPr>
          <a:xfrm>
            <a:off x="914400" y="1749742"/>
            <a:ext cx="16459200" cy="9525"/>
          </a:xfrm>
          <a:prstGeom prst="rect">
            <a:avLst/>
          </a:prstGeom>
          <a:solidFill>
            <a:srgbClr val="D7CDBE"/>
          </a:solidFill>
          <a:ln/>
        </p:spPr>
      </p:sp>
      <p:sp>
        <p:nvSpPr>
          <p:cNvPr id="3" name="Text 1"/>
          <p:cNvSpPr/>
          <p:nvPr/>
        </p:nvSpPr>
        <p:spPr>
          <a:xfrm>
            <a:off x="914400" y="704850"/>
            <a:ext cx="18105120" cy="259080"/>
          </a:xfrm>
          <a:prstGeom prst="rect">
            <a:avLst/>
          </a:prstGeom>
          <a:noFill/>
          <a:ln/>
        </p:spPr>
        <p:txBody>
          <a:bodyPr wrap="square" lIns="25400" tIns="25400" rIns="25400" bIns="25400" rtlCol="0" anchor="t">
            <a:normAutofit/>
          </a:bodyPr>
          <a:lstStyle/>
          <a:p>
            <a:pPr algn="l" indent="0" marL="0">
              <a:buNone/>
            </a:pPr>
            <a:r>
              <a:rPr lang="en-US" sz="1350" spc="324" kern="0" dirty="0">
                <a:solidFill>
                  <a:srgbClr val="B23B26"/>
                </a:solidFill>
                <a:latin typeface="Courier New" pitchFamily="34" charset="0"/>
                <a:ea typeface="Courier New" pitchFamily="34" charset="-122"/>
                <a:cs typeface="Courier New" pitchFamily="34" charset="-120"/>
              </a:rPr>
              <a:t>09 · DEMO · SUPPLIER PROFILE</a:t>
            </a:r>
            <a:endParaRPr lang="en-US" sz="1350" dirty="0"/>
          </a:p>
        </p:txBody>
      </p:sp>
      <p:sp>
        <p:nvSpPr>
          <p:cNvPr id="4" name="Text 2"/>
          <p:cNvSpPr/>
          <p:nvPr/>
        </p:nvSpPr>
        <p:spPr>
          <a:xfrm>
            <a:off x="914400" y="1049655"/>
            <a:ext cx="18105120" cy="528638"/>
          </a:xfrm>
          <a:prstGeom prst="rect">
            <a:avLst/>
          </a:prstGeom>
          <a:noFill/>
          <a:ln/>
        </p:spPr>
        <p:txBody>
          <a:bodyPr wrap="square" lIns="25400" tIns="25400" rIns="25400" bIns="25400" rtlCol="0" anchor="t">
            <a:normAutofit/>
          </a:bodyPr>
          <a:lstStyle/>
          <a:p>
            <a:pPr algn="l" indent="0" marL="0">
              <a:lnSpc>
                <a:spcPct val="103000"/>
              </a:lnSpc>
              <a:buNone/>
            </a:pPr>
            <a:r>
              <a:rPr lang="en-US" sz="3750" spc="-56" kern="0" dirty="0">
                <a:solidFill>
                  <a:srgbClr val="221D17"/>
                </a:solidFill>
                <a:latin typeface="Georgia" pitchFamily="34" charset="0"/>
                <a:ea typeface="Georgia" pitchFamily="34" charset="-122"/>
                <a:cs typeface="Georgia" pitchFamily="34" charset="-120"/>
              </a:rPr>
              <a:t>Relationship health, supplier by supplier</a:t>
            </a:r>
            <a:endParaRPr lang="en-US" sz="3750" dirty="0"/>
          </a:p>
        </p:txBody>
      </p:sp>
      <p:sp>
        <p:nvSpPr>
          <p:cNvPr id="5" name="Shape 3"/>
          <p:cNvSpPr/>
          <p:nvPr/>
        </p:nvSpPr>
        <p:spPr>
          <a:xfrm>
            <a:off x="914400" y="2138363"/>
            <a:ext cx="76200" cy="76200"/>
          </a:xfrm>
          <a:prstGeom prst="ellipse">
            <a:avLst/>
          </a:prstGeom>
          <a:solidFill>
            <a:srgbClr val="B23B26"/>
          </a:solidFill>
          <a:ln/>
        </p:spPr>
      </p:sp>
      <p:sp>
        <p:nvSpPr>
          <p:cNvPr id="6" name="Text 4"/>
          <p:cNvSpPr/>
          <p:nvPr/>
        </p:nvSpPr>
        <p:spPr>
          <a:xfrm>
            <a:off x="1143000" y="2043113"/>
            <a:ext cx="7113407" cy="281940"/>
          </a:xfrm>
          <a:prstGeom prst="rect">
            <a:avLst/>
          </a:prstGeom>
          <a:noFill/>
          <a:ln/>
        </p:spPr>
        <p:txBody>
          <a:bodyPr wrap="square" lIns="25400" tIns="25400" rIns="25400" bIns="25400" rtlCol="0" anchor="t">
            <a:normAutofit/>
          </a:bodyPr>
          <a:lstStyle/>
          <a:p>
            <a:pPr algn="l" indent="0" marL="0">
              <a:buNone/>
            </a:pPr>
            <a:r>
              <a:rPr lang="en-US" sz="1650" b="1" dirty="0">
                <a:solidFill>
                  <a:srgbClr val="221D17"/>
                </a:solidFill>
                <a:latin typeface="Arial" pitchFamily="34" charset="0"/>
                <a:ea typeface="Arial" pitchFamily="34" charset="-122"/>
                <a:cs typeface="Arial" pitchFamily="34" charset="-120"/>
              </a:rPr>
              <a:t>Searchable directory</a:t>
            </a:r>
            <a:pPr algn="l" indent="0" marL="0">
              <a:buNone/>
            </a:pPr>
            <a:r>
              <a:rPr lang="en-US" sz="1575" dirty="0">
                <a:solidFill>
                  <a:srgbClr val="544C42"/>
                </a:solidFill>
                <a:latin typeface="Arial" pitchFamily="34" charset="0"/>
                <a:ea typeface="Arial" pitchFamily="34" charset="-122"/>
                <a:cs typeface="Arial" pitchFamily="34" charset="-120"/>
              </a:rPr>
              <a:t>: autocomplete, type a supplier name to filter instantly.</a:t>
            </a:r>
            <a:endParaRPr lang="en-US" sz="1200" dirty="0"/>
          </a:p>
        </p:txBody>
      </p:sp>
      <p:sp>
        <p:nvSpPr>
          <p:cNvPr id="7" name="Shape 5"/>
          <p:cNvSpPr/>
          <p:nvPr/>
        </p:nvSpPr>
        <p:spPr>
          <a:xfrm>
            <a:off x="914400" y="2563178"/>
            <a:ext cx="76200" cy="76200"/>
          </a:xfrm>
          <a:prstGeom prst="ellipse">
            <a:avLst/>
          </a:prstGeom>
          <a:solidFill>
            <a:srgbClr val="6E8B5E"/>
          </a:solidFill>
          <a:ln/>
        </p:spPr>
      </p:sp>
      <p:sp>
        <p:nvSpPr>
          <p:cNvPr id="8" name="Shape 6"/>
          <p:cNvSpPr/>
          <p:nvPr/>
        </p:nvSpPr>
        <p:spPr>
          <a:xfrm>
            <a:off x="1028700" y="2563178"/>
            <a:ext cx="76200" cy="76200"/>
          </a:xfrm>
          <a:prstGeom prst="ellipse">
            <a:avLst/>
          </a:prstGeom>
          <a:solidFill>
            <a:srgbClr val="CB922F"/>
          </a:solidFill>
          <a:ln/>
        </p:spPr>
      </p:sp>
      <p:sp>
        <p:nvSpPr>
          <p:cNvPr id="9" name="Shape 7"/>
          <p:cNvSpPr/>
          <p:nvPr/>
        </p:nvSpPr>
        <p:spPr>
          <a:xfrm>
            <a:off x="1143000" y="2563178"/>
            <a:ext cx="76200" cy="76200"/>
          </a:xfrm>
          <a:prstGeom prst="ellipse">
            <a:avLst/>
          </a:prstGeom>
          <a:solidFill>
            <a:srgbClr val="C24A33"/>
          </a:solidFill>
          <a:ln/>
        </p:spPr>
      </p:sp>
      <p:sp>
        <p:nvSpPr>
          <p:cNvPr id="10" name="Text 8"/>
          <p:cNvSpPr/>
          <p:nvPr/>
        </p:nvSpPr>
        <p:spPr>
          <a:xfrm>
            <a:off x="1371600" y="2458403"/>
            <a:ext cx="7540297" cy="518160"/>
          </a:xfrm>
          <a:prstGeom prst="rect">
            <a:avLst/>
          </a:prstGeom>
          <a:noFill/>
          <a:ln/>
        </p:spPr>
        <p:txBody>
          <a:bodyPr wrap="square" lIns="25400" tIns="25400" rIns="25400" bIns="25400" rtlCol="0" anchor="t">
            <a:normAutofit/>
          </a:bodyPr>
          <a:lstStyle/>
          <a:p>
            <a:pPr algn="l" indent="0" marL="0">
              <a:buNone/>
            </a:pPr>
            <a:r>
              <a:rPr lang="en-US" sz="1650" b="1" dirty="0">
                <a:solidFill>
                  <a:srgbClr val="221D17"/>
                </a:solidFill>
                <a:latin typeface="Arial" pitchFamily="34" charset="0"/>
                <a:ea typeface="Arial" pitchFamily="34" charset="-122"/>
                <a:cs typeface="Arial" pitchFamily="34" charset="-120"/>
              </a:rPr>
              <a:t>Relationship health score </a:t>
            </a:r>
            <a:pPr algn="l" indent="0" marL="0">
              <a:buNone/>
            </a:pPr>
            <a:r>
              <a:rPr lang="en-US" sz="1575" dirty="0">
                <a:solidFill>
                  <a:srgbClr val="544C42"/>
                </a:solidFill>
                <a:latin typeface="Arial" pitchFamily="34" charset="0"/>
                <a:ea typeface="Arial" pitchFamily="34" charset="-122"/>
                <a:cs typeface="Arial" pitchFamily="34" charset="-120"/>
              </a:rPr>
              <a:t>: response-time trend + communication volume + contract status (active / expired / missing).</a:t>
            </a:r>
            <a:endParaRPr lang="en-US" sz="1200" dirty="0"/>
          </a:p>
        </p:txBody>
      </p:sp>
      <p:sp>
        <p:nvSpPr>
          <p:cNvPr id="11" name="Shape 9"/>
          <p:cNvSpPr/>
          <p:nvPr/>
        </p:nvSpPr>
        <p:spPr>
          <a:xfrm>
            <a:off x="914400" y="3205163"/>
            <a:ext cx="76200" cy="76200"/>
          </a:xfrm>
          <a:prstGeom prst="ellipse">
            <a:avLst/>
          </a:prstGeom>
          <a:solidFill>
            <a:srgbClr val="B23B26"/>
          </a:solidFill>
          <a:ln/>
        </p:spPr>
      </p:sp>
      <p:sp>
        <p:nvSpPr>
          <p:cNvPr id="12" name="Text 10"/>
          <p:cNvSpPr/>
          <p:nvPr/>
        </p:nvSpPr>
        <p:spPr>
          <a:xfrm>
            <a:off x="1143000" y="3109913"/>
            <a:ext cx="6062921" cy="281940"/>
          </a:xfrm>
          <a:prstGeom prst="rect">
            <a:avLst/>
          </a:prstGeom>
          <a:noFill/>
          <a:ln/>
        </p:spPr>
        <p:txBody>
          <a:bodyPr wrap="square" lIns="25400" tIns="25400" rIns="25400" bIns="25400" rtlCol="0" anchor="t">
            <a:normAutofit/>
          </a:bodyPr>
          <a:lstStyle/>
          <a:p>
            <a:pPr algn="l" indent="0" marL="0">
              <a:buNone/>
            </a:pPr>
            <a:r>
              <a:rPr lang="en-US" sz="1650" b="1" dirty="0">
                <a:solidFill>
                  <a:srgbClr val="221D17"/>
                </a:solidFill>
                <a:latin typeface="Arial" pitchFamily="34" charset="0"/>
                <a:ea typeface="Arial" pitchFamily="34" charset="-122"/>
                <a:cs typeface="Arial" pitchFamily="34" charset="-120"/>
              </a:rPr>
              <a:t>Email activity chart</a:t>
            </a:r>
            <a:pPr algn="l" indent="0" marL="0">
              <a:buNone/>
            </a:pPr>
            <a:r>
              <a:rPr lang="en-US" sz="1575" dirty="0">
                <a:solidFill>
                  <a:srgbClr val="544C42"/>
                </a:solidFill>
                <a:latin typeface="Arial" pitchFamily="34" charset="0"/>
                <a:ea typeface="Arial" pitchFamily="34" charset="-122"/>
                <a:cs typeface="Arial" pitchFamily="34" charset="-120"/>
              </a:rPr>
              <a:t>: emails per month across the last 12 months.</a:t>
            </a:r>
            <a:endParaRPr lang="en-US" sz="1200" dirty="0"/>
          </a:p>
        </p:txBody>
      </p:sp>
      <p:sp>
        <p:nvSpPr>
          <p:cNvPr id="13" name="Shape 11"/>
          <p:cNvSpPr/>
          <p:nvPr/>
        </p:nvSpPr>
        <p:spPr>
          <a:xfrm>
            <a:off x="914400" y="3620453"/>
            <a:ext cx="76200" cy="76200"/>
          </a:xfrm>
          <a:prstGeom prst="ellipse">
            <a:avLst/>
          </a:prstGeom>
          <a:solidFill>
            <a:srgbClr val="B23B26"/>
          </a:solidFill>
          <a:ln/>
        </p:spPr>
      </p:sp>
      <p:sp>
        <p:nvSpPr>
          <p:cNvPr id="14" name="Text 12"/>
          <p:cNvSpPr/>
          <p:nvPr/>
        </p:nvSpPr>
        <p:spPr>
          <a:xfrm>
            <a:off x="1143000" y="3525203"/>
            <a:ext cx="7775755" cy="518160"/>
          </a:xfrm>
          <a:prstGeom prst="rect">
            <a:avLst/>
          </a:prstGeom>
          <a:noFill/>
          <a:ln/>
        </p:spPr>
        <p:txBody>
          <a:bodyPr wrap="square" lIns="25400" tIns="25400" rIns="25400" bIns="25400" rtlCol="0" anchor="t">
            <a:normAutofit/>
          </a:bodyPr>
          <a:lstStyle/>
          <a:p>
            <a:pPr algn="l" indent="0" marL="0">
              <a:buNone/>
            </a:pPr>
            <a:r>
              <a:rPr lang="en-US" sz="1650" b="1" dirty="0">
                <a:solidFill>
                  <a:srgbClr val="221D17"/>
                </a:solidFill>
                <a:latin typeface="Arial" pitchFamily="34" charset="0"/>
                <a:ea typeface="Arial" pitchFamily="34" charset="-122"/>
                <a:cs typeface="Arial" pitchFamily="34" charset="-120"/>
              </a:rPr>
              <a:t>Responsiveness trend </a:t>
            </a:r>
            <a:pPr algn="l" indent="0" marL="0">
              <a:buNone/>
            </a:pPr>
            <a:r>
              <a:rPr lang="en-US" sz="1575" dirty="0">
                <a:solidFill>
                  <a:srgbClr val="544C42"/>
                </a:solidFill>
                <a:latin typeface="Arial" pitchFamily="34" charset="0"/>
                <a:ea typeface="Arial" pitchFamily="34" charset="-122"/>
                <a:cs typeface="Arial" pitchFamily="34" charset="-120"/>
              </a:rPr>
              <a:t>: early-half vs recent-half response time; getting slower is a warning.</a:t>
            </a:r>
            <a:endParaRPr lang="en-US" sz="1200" dirty="0"/>
          </a:p>
        </p:txBody>
      </p:sp>
      <p:sp>
        <p:nvSpPr>
          <p:cNvPr id="15" name="Shape 13"/>
          <p:cNvSpPr/>
          <p:nvPr/>
        </p:nvSpPr>
        <p:spPr>
          <a:xfrm>
            <a:off x="914400" y="4271963"/>
            <a:ext cx="76200" cy="76200"/>
          </a:xfrm>
          <a:prstGeom prst="ellipse">
            <a:avLst/>
          </a:prstGeom>
          <a:solidFill>
            <a:srgbClr val="B23B26"/>
          </a:solidFill>
          <a:ln/>
        </p:spPr>
      </p:sp>
      <p:sp>
        <p:nvSpPr>
          <p:cNvPr id="16" name="Text 14"/>
          <p:cNvSpPr/>
          <p:nvPr/>
        </p:nvSpPr>
        <p:spPr>
          <a:xfrm>
            <a:off x="1143000" y="4176712"/>
            <a:ext cx="7775755" cy="518160"/>
          </a:xfrm>
          <a:prstGeom prst="rect">
            <a:avLst/>
          </a:prstGeom>
          <a:noFill/>
          <a:ln/>
        </p:spPr>
        <p:txBody>
          <a:bodyPr wrap="square" lIns="25400" tIns="25400" rIns="25400" bIns="25400" rtlCol="0" anchor="t">
            <a:normAutofit/>
          </a:bodyPr>
          <a:lstStyle/>
          <a:p>
            <a:pPr algn="l" indent="0" marL="0">
              <a:buNone/>
            </a:pPr>
            <a:r>
              <a:rPr lang="en-US" sz="1650" b="1" dirty="0">
                <a:solidFill>
                  <a:srgbClr val="221D17"/>
                </a:solidFill>
                <a:latin typeface="Arial" pitchFamily="34" charset="0"/>
                <a:ea typeface="Arial" pitchFamily="34" charset="-122"/>
                <a:cs typeface="Arial" pitchFamily="34" charset="-120"/>
              </a:rPr>
              <a:t>Retention signal </a:t>
            </a:r>
            <a:pPr algn="l" indent="0" marL="0">
              <a:buNone/>
            </a:pPr>
            <a:r>
              <a:rPr lang="en-US" sz="1575" dirty="0">
                <a:solidFill>
                  <a:srgbClr val="544C42"/>
                </a:solidFill>
                <a:latin typeface="Arial" pitchFamily="34" charset="0"/>
                <a:ea typeface="Arial" pitchFamily="34" charset="-122"/>
                <a:cs typeface="Arial" pitchFamily="34" charset="-120"/>
              </a:rPr>
              <a:t>: volume trend, days since last contact, interpreted in plain English.</a:t>
            </a:r>
            <a:endParaRPr lang="en-US" sz="1200" dirty="0"/>
          </a:p>
        </p:txBody>
      </p:sp>
      <p:sp>
        <p:nvSpPr>
          <p:cNvPr id="17" name="Shape 15"/>
          <p:cNvSpPr/>
          <p:nvPr/>
        </p:nvSpPr>
        <p:spPr>
          <a:xfrm>
            <a:off x="914400" y="4923473"/>
            <a:ext cx="76200" cy="76200"/>
          </a:xfrm>
          <a:prstGeom prst="ellipse">
            <a:avLst/>
          </a:prstGeom>
          <a:solidFill>
            <a:srgbClr val="B23B26"/>
          </a:solidFill>
          <a:ln/>
        </p:spPr>
      </p:sp>
      <p:sp>
        <p:nvSpPr>
          <p:cNvPr id="18" name="Text 16"/>
          <p:cNvSpPr/>
          <p:nvPr/>
        </p:nvSpPr>
        <p:spPr>
          <a:xfrm>
            <a:off x="1143000" y="4828222"/>
            <a:ext cx="5912080" cy="281940"/>
          </a:xfrm>
          <a:prstGeom prst="rect">
            <a:avLst/>
          </a:prstGeom>
          <a:noFill/>
          <a:ln/>
        </p:spPr>
        <p:txBody>
          <a:bodyPr wrap="square" lIns="25400" tIns="25400" rIns="25400" bIns="25400" rtlCol="0" anchor="t">
            <a:normAutofit/>
          </a:bodyPr>
          <a:lstStyle/>
          <a:p>
            <a:pPr algn="l" indent="0" marL="0">
              <a:buNone/>
            </a:pPr>
            <a:r>
              <a:rPr lang="en-US" sz="1650" b="1" dirty="0">
                <a:solidFill>
                  <a:srgbClr val="221D17"/>
                </a:solidFill>
                <a:latin typeface="Arial" pitchFamily="34" charset="0"/>
                <a:ea typeface="Arial" pitchFamily="34" charset="-122"/>
                <a:cs typeface="Arial" pitchFamily="34" charset="-120"/>
              </a:rPr>
              <a:t>Latest discussion preview</a:t>
            </a:r>
            <a:pPr algn="l" indent="0" marL="0">
              <a:buNone/>
            </a:pPr>
            <a:r>
              <a:rPr lang="en-US" sz="1575" dirty="0">
                <a:solidFill>
                  <a:srgbClr val="544C42"/>
                </a:solidFill>
                <a:latin typeface="Arial" pitchFamily="34" charset="0"/>
                <a:ea typeface="Arial" pitchFamily="34" charset="-122"/>
                <a:cs typeface="Arial" pitchFamily="34" charset="-120"/>
              </a:rPr>
              <a:t>: most recent thread with inline read.</a:t>
            </a:r>
            <a:endParaRPr lang="en-US" sz="1200" dirty="0"/>
          </a:p>
        </p:txBody>
      </p:sp>
      <p:sp>
        <p:nvSpPr>
          <p:cNvPr id="19" name="Shape 17"/>
          <p:cNvSpPr/>
          <p:nvPr/>
        </p:nvSpPr>
        <p:spPr>
          <a:xfrm>
            <a:off x="914400" y="5395913"/>
            <a:ext cx="76200" cy="76200"/>
          </a:xfrm>
          <a:prstGeom prst="ellipse">
            <a:avLst/>
          </a:prstGeom>
          <a:solidFill>
            <a:srgbClr val="5E7350"/>
          </a:solidFill>
          <a:ln/>
        </p:spPr>
      </p:sp>
      <p:sp>
        <p:nvSpPr>
          <p:cNvPr id="20" name="Text 18"/>
          <p:cNvSpPr/>
          <p:nvPr/>
        </p:nvSpPr>
        <p:spPr>
          <a:xfrm>
            <a:off x="1143000" y="5300663"/>
            <a:ext cx="6828159" cy="281940"/>
          </a:xfrm>
          <a:prstGeom prst="rect">
            <a:avLst/>
          </a:prstGeom>
          <a:noFill/>
          <a:ln/>
        </p:spPr>
        <p:txBody>
          <a:bodyPr wrap="square" lIns="25400" tIns="25400" rIns="25400" bIns="25400" rtlCol="0" anchor="t">
            <a:normAutofit/>
          </a:bodyPr>
          <a:lstStyle/>
          <a:p>
            <a:pPr algn="l" indent="0" marL="0">
              <a:buNone/>
            </a:pPr>
            <a:r>
              <a:rPr lang="en-US" sz="1650" b="1" dirty="0">
                <a:solidFill>
                  <a:srgbClr val="3F4A38"/>
                </a:solidFill>
                <a:latin typeface="Arial" pitchFamily="34" charset="0"/>
                <a:ea typeface="Arial" pitchFamily="34" charset="-122"/>
                <a:cs typeface="Arial" pitchFamily="34" charset="-120"/>
              </a:rPr>
              <a:t>One-click shortcut</a:t>
            </a:r>
            <a:pPr algn="l" indent="0" marL="0">
              <a:buNone/>
            </a:pPr>
            <a:r>
              <a:rPr lang="en-US" sz="1575" dirty="0">
                <a:solidFill>
                  <a:srgbClr val="3F4A38"/>
                </a:solidFill>
                <a:latin typeface="Arial" pitchFamily="34" charset="0"/>
                <a:ea typeface="Arial" pitchFamily="34" charset="-122"/>
                <a:cs typeface="Arial" pitchFamily="34" charset="-120"/>
              </a:rPr>
              <a:t>to generate the meeting prep packet for this supplier.</a:t>
            </a:r>
            <a:endParaRPr lang="en-US" sz="1200" dirty="0"/>
          </a:p>
        </p:txBody>
      </p:sp>
      <p:sp>
        <p:nvSpPr>
          <p:cNvPr id="21" name="Text 19"/>
          <p:cNvSpPr/>
          <p:nvPr/>
        </p:nvSpPr>
        <p:spPr>
          <a:xfrm>
            <a:off x="9206627" y="9113520"/>
            <a:ext cx="8983670" cy="220980"/>
          </a:xfrm>
          <a:prstGeom prst="rect">
            <a:avLst/>
          </a:prstGeom>
          <a:noFill/>
          <a:ln/>
        </p:spPr>
        <p:txBody>
          <a:bodyPr wrap="square" lIns="25400" tIns="25400" rIns="25400" bIns="25400" rtlCol="0" anchor="t">
            <a:normAutofit/>
          </a:bodyPr>
          <a:lstStyle/>
          <a:p>
            <a:pPr algn="l" indent="0" marL="0">
              <a:buNone/>
            </a:pPr>
            <a:r>
              <a:rPr lang="en-US" sz="1125" spc="90" kern="0" dirty="0">
                <a:solidFill>
                  <a:srgbClr val="A0957F"/>
                </a:solidFill>
                <a:latin typeface="Courier New" pitchFamily="34" charset="0"/>
                <a:ea typeface="Courier New" pitchFamily="34" charset="-122"/>
                <a:cs typeface="Courier New" pitchFamily="34" charset="-120"/>
              </a:rPr>
              <a:t>▸ live demo · searchable per-supplier depth</a:t>
            </a:r>
            <a:endParaRPr lang="en-US" sz="1125" dirty="0"/>
          </a:p>
        </p:txBody>
      </p:sp>
      <p:sp>
        <p:nvSpPr>
          <p:cNvPr id="22" name="Shape 20"/>
          <p:cNvSpPr/>
          <p:nvPr/>
        </p:nvSpPr>
        <p:spPr>
          <a:xfrm>
            <a:off x="914400" y="9637395"/>
            <a:ext cx="16459200" cy="9525"/>
          </a:xfrm>
          <a:prstGeom prst="rect">
            <a:avLst/>
          </a:prstGeom>
          <a:solidFill>
            <a:srgbClr val="E2DACE"/>
          </a:solidFill>
          <a:ln/>
        </p:spPr>
      </p:sp>
      <p:sp>
        <p:nvSpPr>
          <p:cNvPr id="23" name="Text 21"/>
          <p:cNvSpPr/>
          <p:nvPr/>
        </p:nvSpPr>
        <p:spPr>
          <a:xfrm>
            <a:off x="914400" y="9768840"/>
            <a:ext cx="5462575" cy="21336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A89D8E"/>
                </a:solidFill>
                <a:latin typeface="Courier New" pitchFamily="34" charset="0"/>
                <a:ea typeface="Courier New" pitchFamily="34" charset="-122"/>
                <a:cs typeface="Courier New" pitchFamily="34" charset="-120"/>
              </a:rPr>
              <a:t>STRAUSS PROCUREMENT · FDE EXERCISE · CONFIDENTIAL</a:t>
            </a:r>
            <a:endParaRPr lang="en-US" sz="1050" dirty="0"/>
          </a:p>
        </p:txBody>
      </p:sp>
      <p:sp>
        <p:nvSpPr>
          <p:cNvPr id="24" name="Text 22"/>
          <p:cNvSpPr/>
          <p:nvPr/>
        </p:nvSpPr>
        <p:spPr>
          <a:xfrm>
            <a:off x="16664107" y="9768840"/>
            <a:ext cx="785693" cy="21336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A89D8E"/>
                </a:solidFill>
                <a:latin typeface="Courier New" pitchFamily="34" charset="0"/>
                <a:ea typeface="Courier New" pitchFamily="34" charset="-122"/>
                <a:cs typeface="Courier New" pitchFamily="34" charset="-120"/>
              </a:rPr>
              <a:t>09 / 19</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EFE7"/>
        </a:solidFill>
      </p:bgPr>
    </p:bg>
    <p:spTree>
      <p:nvGrpSpPr>
        <p:cNvPr id="1" name=""/>
        <p:cNvGrpSpPr/>
        <p:nvPr/>
      </p:nvGrpSpPr>
      <p:grpSpPr>
        <a:xfrm>
          <a:off x="0" y="0"/>
          <a:ext cx="0" cy="0"/>
          <a:chOff x="0" y="0"/>
          <a:chExt cx="0" cy="0"/>
        </a:xfrm>
      </p:grpSpPr>
      <p:sp>
        <p:nvSpPr>
          <p:cNvPr id="2" name="Shape 0"/>
          <p:cNvSpPr/>
          <p:nvPr/>
        </p:nvSpPr>
        <p:spPr>
          <a:xfrm>
            <a:off x="914400" y="1749742"/>
            <a:ext cx="16459200" cy="9525"/>
          </a:xfrm>
          <a:prstGeom prst="rect">
            <a:avLst/>
          </a:prstGeom>
          <a:solidFill>
            <a:srgbClr val="D7CDBE"/>
          </a:solidFill>
          <a:ln/>
        </p:spPr>
        <p:txBody>
          <a:bodyPr/>
          <a:p/>
        </p:txBody>
      </p:sp>
      <p:sp>
        <p:nvSpPr>
          <p:cNvPr id="3" name="Text 1"/>
          <p:cNvSpPr/>
          <p:nvPr/>
        </p:nvSpPr>
        <p:spPr>
          <a:xfrm>
            <a:off x="914400" y="704850"/>
            <a:ext cx="18105120" cy="259080"/>
          </a:xfrm>
          <a:prstGeom prst="rect">
            <a:avLst/>
          </a:prstGeom>
          <a:noFill/>
          <a:ln/>
        </p:spPr>
        <p:txBody>
          <a:bodyPr wrap="square" lIns="25400" tIns="25400" rIns="25400" bIns="25400" rtlCol="0" anchor="t">
            <a:normAutofit/>
          </a:bodyPr>
          <a:lstStyle/>
          <a:p>
            <a:pPr algn="l" indent="0" marL="0">
              <a:buNone/>
            </a:pPr>
            <a:r>
              <a:rPr lang="en-US" sz="1350" spc="324" kern="0" dirty="0">
                <a:solidFill>
                  <a:srgbClr val="B23B26"/>
                </a:solidFill>
                <a:latin typeface="Courier New" pitchFamily="34" charset="0"/>
                <a:ea typeface="Courier New" pitchFamily="34" charset="-122"/>
                <a:cs typeface="Courier New" pitchFamily="34" charset="-120"/>
              </a:rPr>
              <a:t>10 · DEMO · MEETING PREP PACKET</a:t>
            </a:r>
            <a:endParaRPr lang="en-US" sz="1350" dirty="0"/>
          </a:p>
        </p:txBody>
      </p:sp>
      <p:sp>
        <p:nvSpPr>
          <p:cNvPr id="4" name="Text 2"/>
          <p:cNvSpPr/>
          <p:nvPr/>
        </p:nvSpPr>
        <p:spPr>
          <a:xfrm>
            <a:off x="914400" y="1049655"/>
            <a:ext cx="18105120" cy="528638"/>
          </a:xfrm>
          <a:prstGeom prst="rect">
            <a:avLst/>
          </a:prstGeom>
          <a:noFill/>
          <a:ln/>
        </p:spPr>
        <p:txBody>
          <a:bodyPr wrap="square" lIns="25400" tIns="25400" rIns="25400" bIns="25400" rtlCol="0" anchor="t">
            <a:normAutofit/>
          </a:bodyPr>
          <a:lstStyle/>
          <a:p>
            <a:pPr algn="l" indent="0" marL="0">
              <a:lnSpc>
                <a:spcPct val="103000"/>
              </a:lnSpc>
              <a:buNone/>
            </a:pPr>
            <a:r>
              <a:rPr lang="en-US" sz="3750" spc="-56" kern="0" dirty="0">
                <a:solidFill>
                  <a:srgbClr val="221D17"/>
                </a:solidFill>
                <a:latin typeface="Georgia" pitchFamily="34" charset="0"/>
                <a:ea typeface="Georgia" pitchFamily="34" charset="-122"/>
                <a:cs typeface="Georgia" pitchFamily="34" charset="-120"/>
              </a:rPr>
              <a:t>The core product, one click, one page, everything the manager needs</a:t>
            </a:r>
            <a:endParaRPr lang="en-US" sz="3750" dirty="0"/>
          </a:p>
        </p:txBody>
      </p:sp>
      <p:sp>
        <p:nvSpPr>
          <p:cNvPr id="5" name="Shape 3"/>
          <p:cNvSpPr/>
          <p:nvPr/>
        </p:nvSpPr>
        <p:spPr>
          <a:xfrm>
            <a:off x="914400" y="2005013"/>
            <a:ext cx="7340322" cy="838200"/>
          </a:xfrm>
          <a:prstGeom prst="roundRect">
            <a:avLst>
              <a:gd name="adj" fmla="val 4545"/>
            </a:avLst>
          </a:prstGeom>
          <a:solidFill>
            <a:srgbClr val="221D17"/>
          </a:solidFill>
          <a:ln/>
        </p:spPr>
        <p:txBody>
          <a:bodyPr/>
          <a:p/>
        </p:txBody>
      </p:sp>
      <p:sp>
        <p:nvSpPr>
          <p:cNvPr id="6" name="Text 4"/>
          <p:cNvSpPr/>
          <p:nvPr/>
        </p:nvSpPr>
        <p:spPr>
          <a:xfrm>
            <a:off x="1123950" y="2279333"/>
            <a:ext cx="363974" cy="327660"/>
          </a:xfrm>
          <a:prstGeom prst="rect">
            <a:avLst/>
          </a:prstGeom>
          <a:noFill/>
          <a:ln/>
        </p:spPr>
        <p:txBody>
          <a:bodyPr wrap="square" lIns="25400" tIns="25400" rIns="25400" bIns="25400" rtlCol="0" anchor="t">
            <a:normAutofit/>
          </a:bodyPr>
          <a:lstStyle/>
          <a:p>
            <a:pPr algn="l" indent="0" marL="0">
              <a:buNone/>
            </a:pPr>
            <a:r>
              <a:rPr lang="en-US" sz="1650" dirty="0">
                <a:solidFill>
                  <a:srgbClr val="CB5238"/>
                </a:solidFill>
                <a:latin typeface="Courier New" pitchFamily="34" charset="0"/>
                <a:ea typeface="Courier New" pitchFamily="34" charset="-122"/>
                <a:cs typeface="Courier New" pitchFamily="34" charset="-120"/>
              </a:rPr>
              <a:t>⚡</a:t>
            </a:r>
            <a:endParaRPr lang="en-US" sz="1650" dirty="0"/>
          </a:p>
        </p:txBody>
      </p:sp>
      <p:sp>
        <p:nvSpPr>
          <p:cNvPr id="7" name="Text 5"/>
          <p:cNvSpPr/>
          <p:nvPr/>
        </p:nvSpPr>
        <p:spPr>
          <a:xfrm>
            <a:off x="1545074" y="2157413"/>
            <a:ext cx="4438874" cy="571500"/>
          </a:xfrm>
          <a:prstGeom prst="rect">
            <a:avLst/>
          </a:prstGeom>
          <a:noFill/>
          <a:ln/>
        </p:spPr>
        <p:txBody>
          <a:bodyPr wrap="square" lIns="25400" tIns="25400" rIns="25400" bIns="25400" rtlCol="0" anchor="t">
            <a:normAutofit/>
          </a:bodyPr>
          <a:lstStyle/>
          <a:p>
            <a:pPr algn="l" indent="0" marL="0">
              <a:lnSpc>
                <a:spcPct val="140000"/>
              </a:lnSpc>
              <a:buNone/>
            </a:pPr>
            <a:r>
              <a:rPr lang="en-US" sz="1500" b="1" dirty="0">
                <a:solidFill>
                  <a:srgbClr val="F1ECE2"/>
                </a:solidFill>
                <a:latin typeface="Arial" pitchFamily="34" charset="0"/>
                <a:ea typeface="Arial" pitchFamily="34" charset="-122"/>
                <a:cs typeface="Arial" pitchFamily="34" charset="-120"/>
              </a:rPr>
              <a:t>Select meeting → Generate Packet </a:t>
            </a:r>
            <a:pPr algn="l" indent="0" marL="0">
              <a:lnSpc>
                <a:spcPct val="140000"/>
              </a:lnSpc>
              <a:buNone/>
            </a:pPr>
            <a:r>
              <a:rPr lang="en-US" sz="1425" dirty="0">
                <a:solidFill>
                  <a:srgbClr val="B6AC9C"/>
                </a:solidFill>
                <a:latin typeface="Arial" pitchFamily="34" charset="0"/>
                <a:ea typeface="Arial" pitchFamily="34" charset="-122"/>
                <a:cs typeface="Arial" pitchFamily="34" charset="-120"/>
              </a:rPr>
              <a:t>One Claude API call per supplier · returns in ~10-15s</a:t>
            </a:r>
            <a:endParaRPr lang="en-US" sz="1500" dirty="0"/>
          </a:p>
        </p:txBody>
      </p:sp>
      <p:sp>
        <p:nvSpPr>
          <p:cNvPr id="8" name="Text 6"/>
          <p:cNvSpPr/>
          <p:nvPr/>
        </p:nvSpPr>
        <p:spPr>
          <a:xfrm>
            <a:off x="914400" y="3033713"/>
            <a:ext cx="8074355" cy="21336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94897A"/>
                </a:solidFill>
                <a:latin typeface="Courier New" pitchFamily="34" charset="0"/>
                <a:ea typeface="Courier New" pitchFamily="34" charset="-122"/>
                <a:cs typeface="Courier New" pitchFamily="34" charset="-120"/>
              </a:rPr>
              <a:t>THE PACKET CONTAINS</a:t>
            </a:r>
            <a:endParaRPr lang="en-US" sz="1050" dirty="0"/>
          </a:p>
        </p:txBody>
      </p:sp>
      <p:sp>
        <p:nvSpPr>
          <p:cNvPr id="9" name="Shape 7"/>
          <p:cNvSpPr/>
          <p:nvPr/>
        </p:nvSpPr>
        <p:spPr>
          <a:xfrm>
            <a:off x="914400" y="3685222"/>
            <a:ext cx="3555802" cy="9525"/>
          </a:xfrm>
          <a:prstGeom prst="rect">
            <a:avLst/>
          </a:prstGeom>
          <a:solidFill>
            <a:srgbClr val="E2DACE"/>
          </a:solidFill>
          <a:ln/>
        </p:spPr>
        <p:txBody>
          <a:bodyPr/>
          <a:p/>
        </p:txBody>
      </p:sp>
      <p:sp>
        <p:nvSpPr>
          <p:cNvPr id="10" name="Text 8"/>
          <p:cNvSpPr/>
          <p:nvPr/>
        </p:nvSpPr>
        <p:spPr>
          <a:xfrm>
            <a:off x="914400" y="3342322"/>
            <a:ext cx="3662476"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dirty="0">
                <a:solidFill>
                  <a:srgbClr val="4A443B"/>
                </a:solidFill>
                <a:latin typeface="Arial" pitchFamily="34" charset="0"/>
                <a:ea typeface="Arial" pitchFamily="34" charset="-122"/>
                <a:cs typeface="Arial" pitchFamily="34" charset="-120"/>
              </a:rPr>
              <a:t>AI negotiation brief</a:t>
            </a:r>
            <a:pPr algn="l" indent="0" marL="0">
              <a:lnSpc>
                <a:spcPct val="140000"/>
              </a:lnSpc>
              <a:buNone/>
            </a:pPr>
            <a:r>
              <a:rPr lang="en-US" sz="1500" dirty="0">
                <a:solidFill>
                  <a:srgbClr val="998E7E"/>
                </a:solidFill>
                <a:latin typeface="Arial" pitchFamily="34" charset="0"/>
                <a:ea typeface="Arial" pitchFamily="34" charset="-122"/>
                <a:cs typeface="Arial" pitchFamily="34" charset="-120"/>
              </a:rPr>
              <a:t/>
            </a:r>
            <a:endParaRPr lang="en-US" sz="1500" dirty="0"/>
          </a:p>
        </p:txBody>
      </p:sp>
      <p:sp>
        <p:nvSpPr>
          <p:cNvPr id="11" name="Shape 9"/>
          <p:cNvSpPr/>
          <p:nvPr/>
        </p:nvSpPr>
        <p:spPr>
          <a:xfrm>
            <a:off x="4698802" y="3685222"/>
            <a:ext cx="3555921" cy="9525"/>
          </a:xfrm>
          <a:prstGeom prst="rect">
            <a:avLst/>
          </a:prstGeom>
          <a:solidFill>
            <a:srgbClr val="E2DACE"/>
          </a:solidFill>
          <a:ln/>
        </p:spPr>
        <p:txBody>
          <a:bodyPr/>
          <a:p/>
        </p:txBody>
      </p:sp>
      <p:sp>
        <p:nvSpPr>
          <p:cNvPr id="12" name="Text 10"/>
          <p:cNvSpPr/>
          <p:nvPr/>
        </p:nvSpPr>
        <p:spPr>
          <a:xfrm>
            <a:off x="4698802" y="3342322"/>
            <a:ext cx="3662598"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dirty="0">
                <a:solidFill>
                  <a:srgbClr val="4A443B"/>
                </a:solidFill>
                <a:latin typeface="Arial" pitchFamily="34" charset="0"/>
                <a:ea typeface="Arial" pitchFamily="34" charset="-122"/>
                <a:cs typeface="Arial" pitchFamily="34" charset="-120"/>
              </a:rPr>
              <a:t>4 KPI tiles</a:t>
            </a:r>
            <a:endParaRPr lang="en-US" sz="1500" dirty="0"/>
          </a:p>
        </p:txBody>
      </p:sp>
      <p:sp>
        <p:nvSpPr>
          <p:cNvPr id="13" name="Shape 11"/>
          <p:cNvSpPr/>
          <p:nvPr/>
        </p:nvSpPr>
        <p:spPr>
          <a:xfrm>
            <a:off x="914400" y="4140518"/>
            <a:ext cx="3555802" cy="9525"/>
          </a:xfrm>
          <a:prstGeom prst="rect">
            <a:avLst/>
          </a:prstGeom>
          <a:solidFill>
            <a:srgbClr val="E2DACE"/>
          </a:solidFill>
          <a:ln/>
        </p:spPr>
        <p:txBody>
          <a:bodyPr/>
          <a:p/>
        </p:txBody>
      </p:sp>
      <p:sp>
        <p:nvSpPr>
          <p:cNvPr id="14" name="Text 12"/>
          <p:cNvSpPr/>
          <p:nvPr/>
        </p:nvSpPr>
        <p:spPr>
          <a:xfrm>
            <a:off x="914400" y="3797618"/>
            <a:ext cx="3662476"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dirty="0">
                <a:solidFill>
                  <a:srgbClr val="4A443B"/>
                </a:solidFill>
                <a:latin typeface="Arial" pitchFamily="34" charset="0"/>
                <a:ea typeface="Arial" pitchFamily="34" charset="-122"/>
                <a:cs typeface="Arial" pitchFamily="34" charset="-120"/>
              </a:rPr>
              <a:t>Heads-up alert </a:t>
            </a:r>
            <a:pPr algn="l" indent="0" marL="0">
              <a:lnSpc>
                <a:spcPct val="140000"/>
              </a:lnSpc>
              <a:buNone/>
            </a:pPr>
            <a:r>
              <a:rPr lang="en-US" sz="1500" dirty="0">
                <a:solidFill>
                  <a:srgbClr val="998E7E"/>
                </a:solidFill>
                <a:latin typeface="Arial" pitchFamily="34" charset="0"/>
                <a:ea typeface="Arial" pitchFamily="34" charset="-122"/>
                <a:cs typeface="Arial" pitchFamily="34" charset="-120"/>
              </a:rPr>
              <a:t>most critical issue</a:t>
            </a:r>
            <a:endParaRPr lang="en-US" sz="1500" dirty="0"/>
          </a:p>
        </p:txBody>
      </p:sp>
      <p:sp>
        <p:nvSpPr>
          <p:cNvPr id="15" name="Shape 13"/>
          <p:cNvSpPr/>
          <p:nvPr/>
        </p:nvSpPr>
        <p:spPr>
          <a:xfrm>
            <a:off x="4698802" y="4140518"/>
            <a:ext cx="3555921" cy="9525"/>
          </a:xfrm>
          <a:prstGeom prst="rect">
            <a:avLst/>
          </a:prstGeom>
          <a:solidFill>
            <a:srgbClr val="E2DACE"/>
          </a:solidFill>
          <a:ln/>
        </p:spPr>
        <p:txBody>
          <a:bodyPr/>
          <a:p/>
        </p:txBody>
      </p:sp>
      <p:sp>
        <p:nvSpPr>
          <p:cNvPr id="16" name="Text 14"/>
          <p:cNvSpPr/>
          <p:nvPr/>
        </p:nvSpPr>
        <p:spPr>
          <a:xfrm>
            <a:off x="4698802" y="3797618"/>
            <a:ext cx="3662598"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dirty="0">
                <a:solidFill>
                  <a:srgbClr val="4A443B"/>
                </a:solidFill>
                <a:latin typeface="Arial" pitchFamily="34" charset="0"/>
                <a:ea typeface="Arial" pitchFamily="34" charset="-122"/>
                <a:cs typeface="Arial" pitchFamily="34" charset="-120"/>
              </a:rPr>
              <a:t>Open issues </a:t>
            </a:r>
            <a:pPr algn="l" indent="0" marL="0">
              <a:lnSpc>
                <a:spcPct val="140000"/>
              </a:lnSpc>
              <a:buNone/>
            </a:pPr>
            <a:r>
              <a:rPr lang="en-US" sz="1500" dirty="0">
                <a:solidFill>
                  <a:srgbClr val="998E7E"/>
                </a:solidFill>
                <a:latin typeface="Arial" pitchFamily="34" charset="0"/>
                <a:ea typeface="Arial" pitchFamily="34" charset="-122"/>
                <a:cs typeface="Arial" pitchFamily="34" charset="-120"/>
              </a:rPr>
              <a:t>severity-coded</a:t>
            </a:r>
            <a:endParaRPr lang="en-US" sz="1500" dirty="0"/>
          </a:p>
        </p:txBody>
      </p:sp>
      <p:sp>
        <p:nvSpPr>
          <p:cNvPr id="17" name="Shape 15"/>
          <p:cNvSpPr/>
          <p:nvPr/>
        </p:nvSpPr>
        <p:spPr>
          <a:xfrm>
            <a:off x="914400" y="4595812"/>
            <a:ext cx="3555802" cy="9525"/>
          </a:xfrm>
          <a:prstGeom prst="rect">
            <a:avLst/>
          </a:prstGeom>
          <a:solidFill>
            <a:srgbClr val="E2DACE"/>
          </a:solidFill>
          <a:ln/>
        </p:spPr>
        <p:txBody>
          <a:bodyPr/>
          <a:p/>
        </p:txBody>
      </p:sp>
      <p:sp>
        <p:nvSpPr>
          <p:cNvPr id="18" name="Text 16"/>
          <p:cNvSpPr/>
          <p:nvPr/>
        </p:nvSpPr>
        <p:spPr>
          <a:xfrm>
            <a:off x="914400" y="4252913"/>
            <a:ext cx="3662476"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dirty="0">
                <a:solidFill>
                  <a:srgbClr val="4A443B"/>
                </a:solidFill>
                <a:latin typeface="Arial" pitchFamily="34" charset="0"/>
                <a:ea typeface="Arial" pitchFamily="34" charset="-122"/>
                <a:cs typeface="Arial" pitchFamily="34" charset="-120"/>
              </a:rPr>
              <a:t>Email thread summary</a:t>
            </a:r>
            <a:endParaRPr lang="en-US" sz="1500" dirty="0"/>
          </a:p>
        </p:txBody>
      </p:sp>
      <p:sp>
        <p:nvSpPr>
          <p:cNvPr id="19" name="Shape 17"/>
          <p:cNvSpPr/>
          <p:nvPr/>
        </p:nvSpPr>
        <p:spPr>
          <a:xfrm>
            <a:off x="4698802" y="4595812"/>
            <a:ext cx="3555921" cy="9525"/>
          </a:xfrm>
          <a:prstGeom prst="rect">
            <a:avLst/>
          </a:prstGeom>
          <a:solidFill>
            <a:srgbClr val="E2DACE"/>
          </a:solidFill>
          <a:ln/>
        </p:spPr>
        <p:txBody>
          <a:bodyPr/>
          <a:p/>
        </p:txBody>
      </p:sp>
      <p:sp>
        <p:nvSpPr>
          <p:cNvPr id="20" name="Text 18"/>
          <p:cNvSpPr/>
          <p:nvPr/>
        </p:nvSpPr>
        <p:spPr>
          <a:xfrm>
            <a:off x="4698802" y="4252913"/>
            <a:ext cx="3662598"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dirty="0">
                <a:solidFill>
                  <a:srgbClr val="4A443B"/>
                </a:solidFill>
                <a:latin typeface="Arial" pitchFamily="34" charset="0"/>
                <a:ea typeface="Arial" pitchFamily="34" charset="-122"/>
                <a:cs typeface="Arial" pitchFamily="34" charset="-120"/>
              </a:rPr>
              <a:t>Contract at a glance</a:t>
            </a:r>
            <a:endParaRPr lang="en-US" sz="1500" dirty="0"/>
          </a:p>
        </p:txBody>
      </p:sp>
      <p:sp>
        <p:nvSpPr>
          <p:cNvPr id="21" name="Shape 19"/>
          <p:cNvSpPr/>
          <p:nvPr/>
        </p:nvSpPr>
        <p:spPr>
          <a:xfrm>
            <a:off x="914400" y="5051108"/>
            <a:ext cx="3555802" cy="9525"/>
          </a:xfrm>
          <a:prstGeom prst="rect">
            <a:avLst/>
          </a:prstGeom>
          <a:solidFill>
            <a:srgbClr val="E2DACE"/>
          </a:solidFill>
          <a:ln/>
        </p:spPr>
        <p:txBody>
          <a:bodyPr/>
          <a:p/>
        </p:txBody>
      </p:sp>
      <p:sp>
        <p:nvSpPr>
          <p:cNvPr id="22" name="Text 20"/>
          <p:cNvSpPr/>
          <p:nvPr/>
        </p:nvSpPr>
        <p:spPr>
          <a:xfrm>
            <a:off x="914400" y="4708208"/>
            <a:ext cx="3662476"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dirty="0">
                <a:solidFill>
                  <a:srgbClr val="4A443B"/>
                </a:solidFill>
                <a:latin typeface="Arial" pitchFamily="34" charset="0"/>
                <a:ea typeface="Arial" pitchFamily="34" charset="-122"/>
                <a:cs typeface="Arial" pitchFamily="34" charset="-120"/>
              </a:rPr>
              <a:t>Pricing + delta calc</a:t>
            </a:r>
            <a:endParaRPr lang="en-US" sz="1500" dirty="0"/>
          </a:p>
        </p:txBody>
      </p:sp>
      <p:sp>
        <p:nvSpPr>
          <p:cNvPr id="23" name="Shape 21"/>
          <p:cNvSpPr/>
          <p:nvPr/>
        </p:nvSpPr>
        <p:spPr>
          <a:xfrm>
            <a:off x="4698802" y="5051108"/>
            <a:ext cx="3555921" cy="9525"/>
          </a:xfrm>
          <a:prstGeom prst="rect">
            <a:avLst/>
          </a:prstGeom>
          <a:solidFill>
            <a:srgbClr val="E2DACE"/>
          </a:solidFill>
          <a:ln/>
        </p:spPr>
        <p:txBody>
          <a:bodyPr/>
          <a:p/>
        </p:txBody>
      </p:sp>
      <p:sp>
        <p:nvSpPr>
          <p:cNvPr id="24" name="Text 22"/>
          <p:cNvSpPr/>
          <p:nvPr/>
        </p:nvSpPr>
        <p:spPr>
          <a:xfrm>
            <a:off x="4698802" y="4708208"/>
            <a:ext cx="3662598"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dirty="0">
                <a:solidFill>
                  <a:srgbClr val="4A443B"/>
                </a:solidFill>
                <a:latin typeface="Arial" pitchFamily="34" charset="0"/>
                <a:ea typeface="Arial" pitchFamily="34" charset="-122"/>
                <a:cs typeface="Arial" pitchFamily="34" charset="-120"/>
              </a:rPr>
              <a:t>Early-payment discount </a:t>
            </a:r>
            <a:pPr algn="l" indent="0" marL="0">
              <a:lnSpc>
                <a:spcPct val="140000"/>
              </a:lnSpc>
              <a:buNone/>
            </a:pPr>
            <a:r>
              <a:rPr lang="en-US" sz="1500" dirty="0">
                <a:solidFill>
                  <a:srgbClr val="998E7E"/>
                </a:solidFill>
                <a:latin typeface="Arial" pitchFamily="34" charset="0"/>
                <a:ea typeface="Arial" pitchFamily="34" charset="-122"/>
                <a:cs typeface="Arial" pitchFamily="34" charset="-120"/>
              </a:rPr>
              <a:t>implied APR</a:t>
            </a:r>
            <a:endParaRPr lang="en-US" sz="1500" dirty="0"/>
          </a:p>
        </p:txBody>
      </p:sp>
      <p:sp>
        <p:nvSpPr>
          <p:cNvPr id="25" name="Text 23"/>
          <p:cNvSpPr/>
          <p:nvPr/>
        </p:nvSpPr>
        <p:spPr>
          <a:xfrm>
            <a:off x="914400" y="5163503"/>
            <a:ext cx="3662476" cy="571500"/>
          </a:xfrm>
          <a:prstGeom prst="rect">
            <a:avLst/>
          </a:prstGeom>
          <a:noFill/>
          <a:ln/>
        </p:spPr>
        <p:txBody>
          <a:bodyPr wrap="square" lIns="25400" tIns="25400" rIns="25400" bIns="25400" rtlCol="0" anchor="t">
            <a:normAutofit/>
          </a:bodyPr>
          <a:lstStyle/>
          <a:p>
            <a:pPr algn="l" indent="0" marL="0">
              <a:lnSpc>
                <a:spcPct val="140000"/>
              </a:lnSpc>
              <a:buNone/>
            </a:pPr>
            <a:r>
              <a:rPr lang="en-US" sz="1500" dirty="0">
                <a:solidFill>
                  <a:srgbClr val="4A443B"/>
                </a:solidFill>
                <a:latin typeface="Arial" pitchFamily="34" charset="0"/>
                <a:ea typeface="Arial" pitchFamily="34" charset="-122"/>
                <a:cs typeface="Arial" pitchFamily="34" charset="-120"/>
              </a:rPr>
              <a:t>Commodity benchmark </a:t>
            </a:r>
            <a:pPr algn="l" indent="0" marL="0">
              <a:lnSpc>
                <a:spcPct val="140000"/>
              </a:lnSpc>
              <a:buNone/>
            </a:pPr>
            <a:r>
              <a:rPr lang="en-US" sz="1500" dirty="0">
                <a:solidFill>
                  <a:srgbClr val="998E7E"/>
                </a:solidFill>
                <a:latin typeface="Arial" pitchFamily="34" charset="0"/>
                <a:ea typeface="Arial" pitchFamily="34" charset="-122"/>
                <a:cs typeface="Arial" pitchFamily="34" charset="-120"/>
              </a:rPr>
              <a:t>6-month change</a:t>
            </a:r>
            <a:endParaRPr lang="en-US" sz="1500" dirty="0"/>
          </a:p>
        </p:txBody>
      </p:sp>
      <p:sp>
        <p:nvSpPr>
          <p:cNvPr id="26" name="Text 24"/>
          <p:cNvSpPr/>
          <p:nvPr/>
        </p:nvSpPr>
        <p:spPr>
          <a:xfrm>
            <a:off x="4698802" y="5163503"/>
            <a:ext cx="3662598" cy="571500"/>
          </a:xfrm>
          <a:prstGeom prst="rect">
            <a:avLst/>
          </a:prstGeom>
          <a:noFill/>
          <a:ln/>
        </p:spPr>
        <p:txBody>
          <a:bodyPr wrap="square" lIns="25400" tIns="25400" rIns="25400" bIns="25400" rtlCol="0" anchor="t">
            <a:normAutofit/>
          </a:bodyPr>
          <a:lstStyle/>
          <a:p>
            <a:pPr algn="l" indent="0" marL="0">
              <a:lnSpc>
                <a:spcPct val="140000"/>
              </a:lnSpc>
              <a:buNone/>
            </a:pPr>
            <a:r>
              <a:rPr lang="en-US" sz="1500" dirty="0">
                <a:solidFill>
                  <a:srgbClr val="4A443B"/>
                </a:solidFill>
                <a:latin typeface="Arial" pitchFamily="34" charset="0"/>
                <a:ea typeface="Arial" pitchFamily="34" charset="-122"/>
                <a:cs typeface="Arial" pitchFamily="34" charset="-120"/>
              </a:rPr>
              <a:t>“Show source” on every fact</a:t>
            </a:r>
            <a:endParaRPr lang="en-US" sz="1500" dirty="0"/>
          </a:p>
          <a:p>
            <a:pPr algn="l" indent="0" marL="0">
              <a:lnSpc>
                <a:spcPct val="140000"/>
              </a:lnSpc>
              <a:buNone/>
            </a:pPr>
            <a:endParaRPr lang="en-US" sz="1500" dirty="0"/>
            <a:r>
              <a:rPr lang="en-US" sz="1500" dirty="0" i="1">
                <a:solidFill>
                  <a:srgbClr val="4A443B"/>
                </a:solidFill>
                <a:latin typeface="Arial" pitchFamily="34" charset="0"/>
                <a:ea typeface="Arial" pitchFamily="34" charset="-122"/>
                <a:cs typeface="Arial" pitchFamily="34" charset="-120"/>
              </a:rPr>
              <a:t>Synthetic data is intentionally messy: late replies, inconsistent formatting, unit ambiguity (Siam Sugar), one hard-to-reach supplier — realistic by design.</a:t>
            </a:r>
          </a:p>
        </p:txBody>
      </p:sp>
      <p:sp>
        <p:nvSpPr>
          <p:cNvPr id="27" name="Shape 25"/>
          <p:cNvSpPr/>
          <p:nvPr/>
        </p:nvSpPr>
        <p:spPr>
          <a:xfrm>
            <a:off x="8711922" y="2005013"/>
            <a:ext cx="8661678" cy="3570446"/>
          </a:xfrm>
          <a:prstGeom prst="roundRect">
            <a:avLst>
              <a:gd name="adj" fmla="val 1334"/>
            </a:avLst>
          </a:prstGeom>
          <a:solidFill>
            <a:srgbClr val="FBF8F2"/>
          </a:solidFill>
          <a:ln w="7620">
            <a:solidFill>
              <a:srgbClr val="DDD4C6"/>
            </a:solidFill>
            <a:prstDash val="solid"/>
          </a:ln>
        </p:spPr>
        <p:txBody>
          <a:bodyPr/>
          <a:p/>
        </p:txBody>
      </p:sp>
      <p:sp>
        <p:nvSpPr>
          <p:cNvPr id="28" name="Text 26"/>
          <p:cNvSpPr/>
          <p:nvPr/>
        </p:nvSpPr>
        <p:spPr>
          <a:xfrm>
            <a:off x="9005292" y="2260283"/>
            <a:ext cx="2570524" cy="274320"/>
          </a:xfrm>
          <a:prstGeom prst="rect">
            <a:avLst/>
          </a:prstGeom>
          <a:noFill/>
          <a:ln/>
        </p:spPr>
        <p:txBody>
          <a:bodyPr wrap="square" lIns="25400" tIns="25400" rIns="25400" bIns="25400" rtlCol="0" anchor="t">
            <a:normAutofit/>
          </a:bodyPr>
          <a:lstStyle/>
          <a:p>
            <a:pPr algn="l" indent="0" marL="0">
              <a:buNone/>
            </a:pPr>
            <a:r>
              <a:rPr lang="en-US" sz="1875" dirty="0">
                <a:solidFill>
                  <a:srgbClr val="221D17"/>
                </a:solidFill>
                <a:latin typeface="Georgia" pitchFamily="34" charset="0"/>
                <a:ea typeface="Georgia" pitchFamily="34" charset="-122"/>
                <a:cs typeface="Georgia" pitchFamily="34" charset="-120"/>
              </a:rPr>
              <a:t>Demo case · Galil Dairy</a:t>
            </a:r>
            <a:endParaRPr lang="en-US" sz="1875" dirty="0"/>
          </a:p>
        </p:txBody>
      </p:sp>
      <p:sp>
        <p:nvSpPr>
          <p:cNvPr id="29" name="Text 27"/>
          <p:cNvSpPr/>
          <p:nvPr/>
        </p:nvSpPr>
        <p:spPr>
          <a:xfrm>
            <a:off x="15543966" y="2290763"/>
            <a:ext cx="1689890" cy="213360"/>
          </a:xfrm>
          <a:prstGeom prst="rect">
            <a:avLst/>
          </a:prstGeom>
          <a:noFill/>
          <a:ln/>
        </p:spPr>
        <p:txBody>
          <a:bodyPr wrap="square" lIns="25400" tIns="25400" rIns="25400" bIns="25400" rtlCol="0" anchor="t">
            <a:normAutofit/>
          </a:bodyPr>
          <a:lstStyle/>
          <a:p>
            <a:pPr algn="l" indent="0" marL="0">
              <a:buNone/>
            </a:pPr>
            <a:r>
              <a:rPr lang="en-US" sz="1050" spc="126" kern="0" dirty="0">
                <a:solidFill>
                  <a:srgbClr val="A0957F"/>
                </a:solidFill>
                <a:latin typeface="Courier New" pitchFamily="34" charset="0"/>
                <a:ea typeface="Courier New" pitchFamily="34" charset="-122"/>
                <a:cs typeface="Courier New" pitchFamily="34" charset="-120"/>
              </a:rPr>
              <a:t>GENERATED PACKET</a:t>
            </a:r>
            <a:endParaRPr lang="en-US" sz="1050" dirty="0"/>
          </a:p>
        </p:txBody>
      </p:sp>
      <p:sp>
        <p:nvSpPr>
          <p:cNvPr id="30" name="Shape 28"/>
          <p:cNvSpPr/>
          <p:nvPr/>
        </p:nvSpPr>
        <p:spPr>
          <a:xfrm>
            <a:off x="9005292" y="2667953"/>
            <a:ext cx="8074938" cy="1178243"/>
          </a:xfrm>
          <a:prstGeom prst="roundRect">
            <a:avLst>
              <a:gd name="adj" fmla="val 3234"/>
            </a:avLst>
          </a:prstGeom>
          <a:solidFill>
            <a:srgbClr val="F7ECE9"/>
          </a:solidFill>
          <a:ln w="7620">
            <a:solidFill>
              <a:srgbClr val="E6C7BF"/>
            </a:solidFill>
            <a:prstDash val="solid"/>
          </a:ln>
        </p:spPr>
        <p:txBody>
          <a:bodyPr/>
          <a:p/>
        </p:txBody>
      </p:sp>
      <p:sp>
        <p:nvSpPr>
          <p:cNvPr id="31" name="Shape 29"/>
          <p:cNvSpPr/>
          <p:nvPr/>
        </p:nvSpPr>
        <p:spPr>
          <a:xfrm>
            <a:off x="9184362" y="2895600"/>
            <a:ext cx="85725" cy="85725"/>
          </a:xfrm>
          <a:prstGeom prst="ellipse">
            <a:avLst/>
          </a:prstGeom>
          <a:solidFill>
            <a:srgbClr val="C24A33"/>
          </a:solidFill>
          <a:ln/>
        </p:spPr>
        <p:txBody>
          <a:bodyPr/>
          <a:p/>
        </p:txBody>
      </p:sp>
      <p:sp>
        <p:nvSpPr>
          <p:cNvPr id="32" name="Text 30"/>
          <p:cNvSpPr/>
          <p:nvPr/>
        </p:nvSpPr>
        <p:spPr>
          <a:xfrm>
            <a:off x="9365337" y="2827972"/>
            <a:ext cx="2451997" cy="259080"/>
          </a:xfrm>
          <a:prstGeom prst="rect">
            <a:avLst/>
          </a:prstGeom>
          <a:noFill/>
          <a:ln/>
        </p:spPr>
        <p:txBody>
          <a:bodyPr wrap="square" lIns="25400" tIns="25400" rIns="25400" bIns="25400" rtlCol="0" anchor="t">
            <a:normAutofit/>
          </a:bodyPr>
          <a:lstStyle/>
          <a:p>
            <a:pPr algn="l" indent="0" marL="0">
              <a:buNone/>
            </a:pPr>
            <a:r>
              <a:rPr lang="en-US" sz="1500" b="1" spc="15" kern="0" dirty="0">
                <a:solidFill>
                  <a:srgbClr val="9A2E1C"/>
                </a:solidFill>
                <a:latin typeface="Arial" pitchFamily="34" charset="0"/>
                <a:ea typeface="Arial" pitchFamily="34" charset="-122"/>
                <a:cs typeface="Arial" pitchFamily="34" charset="-120"/>
              </a:rPr>
              <a:t>Price discrepancy flagged</a:t>
            </a:r>
            <a:endParaRPr lang="en-US" sz="1500" dirty="0"/>
          </a:p>
        </p:txBody>
      </p:sp>
      <p:sp>
        <p:nvSpPr>
          <p:cNvPr id="33" name="Text 31"/>
          <p:cNvSpPr/>
          <p:nvPr/>
        </p:nvSpPr>
        <p:spPr>
          <a:xfrm>
            <a:off x="9184362" y="3125153"/>
            <a:ext cx="7948302" cy="599123"/>
          </a:xfrm>
          <a:prstGeom prst="rect">
            <a:avLst/>
          </a:prstGeom>
          <a:noFill/>
          <a:ln/>
        </p:spPr>
        <p:txBody>
          <a:bodyPr wrap="square" lIns="25400" tIns="25400" rIns="25400" bIns="25400" rtlCol="0" anchor="t">
            <a:normAutofit/>
          </a:bodyPr>
          <a:lstStyle/>
          <a:p>
            <a:pPr algn="l" indent="0" marL="0">
              <a:lnSpc>
                <a:spcPct val="155000"/>
              </a:lnSpc>
              <a:buNone/>
            </a:pPr>
            <a:r>
              <a:rPr lang="en-US" sz="1425" dirty="0">
                <a:solidFill>
                  <a:srgbClr val="4A443B"/>
                </a:solidFill>
                <a:latin typeface="Arial" pitchFamily="34" charset="0"/>
                <a:ea typeface="Arial" pitchFamily="34" charset="-122"/>
                <a:cs typeface="Arial" pitchFamily="34" charset="-120"/>
              </a:rPr>
              <a:t>Supplier quoted </a:t>
            </a:r>
            <a:pPr algn="l" indent="0" marL="0">
              <a:lnSpc>
                <a:spcPct val="155000"/>
              </a:lnSpc>
              <a:buNone/>
            </a:pPr>
            <a:r>
              <a:rPr lang="en-US" sz="1425" b="1" dirty="0">
                <a:solidFill>
                  <a:srgbClr val="4A443B"/>
                </a:solidFill>
                <a:latin typeface="Arial" pitchFamily="34" charset="0"/>
                <a:ea typeface="Arial" pitchFamily="34" charset="-122"/>
                <a:cs typeface="Arial" pitchFamily="34" charset="-120"/>
              </a:rPr>
              <a:t>₪15.50/kg </a:t>
            </a:r>
            <a:pPr algn="l" indent="0" marL="0">
              <a:lnSpc>
                <a:spcPct val="155000"/>
              </a:lnSpc>
              <a:buNone/>
            </a:pPr>
            <a:r>
              <a:rPr lang="en-US" sz="1425" dirty="0">
                <a:solidFill>
                  <a:srgbClr val="4A443B"/>
                </a:solidFill>
                <a:latin typeface="Arial" pitchFamily="34" charset="0"/>
                <a:ea typeface="Arial" pitchFamily="34" charset="-122"/>
                <a:cs typeface="Arial" pitchFamily="34" charset="-120"/>
              </a:rPr>
              <a:t>in email; contract §4.2 caps at </a:t>
            </a:r>
            <a:pPr algn="l" indent="0" marL="0">
              <a:lnSpc>
                <a:spcPct val="155000"/>
              </a:lnSpc>
              <a:buNone/>
            </a:pPr>
            <a:r>
              <a:rPr lang="en-US" sz="1425" b="1" dirty="0">
                <a:solidFill>
                  <a:srgbClr val="4A443B"/>
                </a:solidFill>
                <a:latin typeface="Arial" pitchFamily="34" charset="0"/>
                <a:ea typeface="Arial" pitchFamily="34" charset="-122"/>
                <a:cs typeface="Arial" pitchFamily="34" charset="-120"/>
              </a:rPr>
              <a:t>₪14.20/kg </a:t>
            </a:r>
            <a:pPr algn="l" indent="0" marL="0">
              <a:lnSpc>
                <a:spcPct val="155000"/>
              </a:lnSpc>
              <a:buNone/>
            </a:pPr>
            <a:r>
              <a:rPr lang="en-US" sz="1425" dirty="0">
                <a:solidFill>
                  <a:srgbClr val="4A443B"/>
                </a:solidFill>
                <a:latin typeface="Arial" pitchFamily="34" charset="0"/>
                <a:ea typeface="Arial" pitchFamily="34" charset="-122"/>
                <a:cs typeface="Arial" pitchFamily="34" charset="-120"/>
              </a:rPr>
              <a:t>. No written amendment exists. </a:t>
            </a:r>
            <a:pPr algn="l" indent="0" marL="0">
              <a:lnSpc>
                <a:spcPct val="155000"/>
              </a:lnSpc>
              <a:buNone/>
            </a:pPr>
            <a:r>
              <a:rPr lang="en-US" sz="1350" dirty="0">
                <a:solidFill>
                  <a:srgbClr val="9A2E1C"/>
                </a:solidFill>
                <a:latin typeface="Courier New" pitchFamily="34" charset="0"/>
                <a:ea typeface="Courier New" pitchFamily="34" charset="-122"/>
                <a:cs typeface="Courier New" pitchFamily="34" charset="-120"/>
              </a:rPr>
              <a:t>Delta +₪1.30/kg (+9.2%)</a:t>
            </a:r>
            <a:endParaRPr lang="en-US" sz="1425" dirty="0"/>
          </a:p>
        </p:txBody>
      </p:sp>
      <p:sp>
        <p:nvSpPr>
          <p:cNvPr id="34" name="Shape 32"/>
          <p:cNvSpPr/>
          <p:nvPr/>
        </p:nvSpPr>
        <p:spPr>
          <a:xfrm>
            <a:off x="9005292" y="3979545"/>
            <a:ext cx="8074938" cy="897731"/>
          </a:xfrm>
          <a:prstGeom prst="roundRect">
            <a:avLst>
              <a:gd name="adj" fmla="val 4244"/>
            </a:avLst>
          </a:prstGeom>
          <a:solidFill>
            <a:srgbClr val="FAF2E2"/>
          </a:solidFill>
          <a:ln w="7620">
            <a:solidFill>
              <a:srgbClr val="EAD7AE"/>
            </a:solidFill>
            <a:prstDash val="solid"/>
          </a:ln>
        </p:spPr>
        <p:txBody>
          <a:bodyPr/>
          <a:p/>
        </p:txBody>
      </p:sp>
      <p:sp>
        <p:nvSpPr>
          <p:cNvPr id="35" name="Shape 33"/>
          <p:cNvSpPr/>
          <p:nvPr/>
        </p:nvSpPr>
        <p:spPr>
          <a:xfrm>
            <a:off x="9184362" y="4207193"/>
            <a:ext cx="85725" cy="85725"/>
          </a:xfrm>
          <a:prstGeom prst="ellipse">
            <a:avLst/>
          </a:prstGeom>
          <a:solidFill>
            <a:srgbClr val="CB922F"/>
          </a:solidFill>
          <a:ln/>
        </p:spPr>
        <p:txBody>
          <a:bodyPr/>
          <a:p/>
        </p:txBody>
      </p:sp>
      <p:sp>
        <p:nvSpPr>
          <p:cNvPr id="36" name="Text 34"/>
          <p:cNvSpPr/>
          <p:nvPr/>
        </p:nvSpPr>
        <p:spPr>
          <a:xfrm>
            <a:off x="9365337" y="4139565"/>
            <a:ext cx="2626971" cy="259080"/>
          </a:xfrm>
          <a:prstGeom prst="rect">
            <a:avLst/>
          </a:prstGeom>
          <a:noFill/>
          <a:ln/>
        </p:spPr>
        <p:txBody>
          <a:bodyPr wrap="square" lIns="25400" tIns="25400" rIns="25400" bIns="25400" rtlCol="0" anchor="t">
            <a:normAutofit/>
          </a:bodyPr>
          <a:lstStyle/>
          <a:p>
            <a:pPr algn="l" indent="0" marL="0">
              <a:buNone/>
            </a:pPr>
            <a:r>
              <a:rPr lang="en-US" sz="1500" b="1" spc="15" kern="0" dirty="0">
                <a:solidFill>
                  <a:srgbClr val="8A6212"/>
                </a:solidFill>
                <a:latin typeface="Arial" pitchFamily="34" charset="0"/>
                <a:ea typeface="Arial" pitchFamily="34" charset="-122"/>
                <a:cs typeface="Arial" pitchFamily="34" charset="-120"/>
              </a:rPr>
              <a:t>Unanswered thread flagged</a:t>
            </a:r>
            <a:endParaRPr lang="en-US" sz="1500" dirty="0"/>
          </a:p>
        </p:txBody>
      </p:sp>
      <p:sp>
        <p:nvSpPr>
          <p:cNvPr id="37" name="Text 35"/>
          <p:cNvSpPr/>
          <p:nvPr/>
        </p:nvSpPr>
        <p:spPr>
          <a:xfrm>
            <a:off x="9184362" y="4436745"/>
            <a:ext cx="8488478" cy="318611"/>
          </a:xfrm>
          <a:prstGeom prst="rect">
            <a:avLst/>
          </a:prstGeom>
          <a:noFill/>
          <a:ln/>
        </p:spPr>
        <p:txBody>
          <a:bodyPr wrap="square" lIns="25400" tIns="25400" rIns="25400" bIns="25400" rtlCol="0" anchor="t">
            <a:normAutofit/>
          </a:bodyPr>
          <a:lstStyle/>
          <a:p>
            <a:pPr algn="l" indent="0" marL="0">
              <a:lnSpc>
                <a:spcPct val="155000"/>
              </a:lnSpc>
              <a:buNone/>
            </a:pPr>
            <a:r>
              <a:rPr lang="en-US" sz="1425" dirty="0">
                <a:solidFill>
                  <a:srgbClr val="4A443B"/>
                </a:solidFill>
                <a:latin typeface="Arial" pitchFamily="34" charset="0"/>
                <a:ea typeface="Arial" pitchFamily="34" charset="-122"/>
                <a:cs typeface="Arial" pitchFamily="34" charset="-120"/>
              </a:rPr>
              <a:t>Yael Shapira requested alignment; David Cohen proposed a call, no documented outcome.</a:t>
            </a:r>
            <a:endParaRPr lang="en-US" sz="1425" dirty="0"/>
          </a:p>
        </p:txBody>
      </p:sp>
      <p:sp>
        <p:nvSpPr>
          <p:cNvPr id="38" name="Text 36"/>
          <p:cNvSpPr/>
          <p:nvPr/>
        </p:nvSpPr>
        <p:spPr>
          <a:xfrm>
            <a:off x="9005292" y="5048726"/>
            <a:ext cx="337780" cy="289560"/>
          </a:xfrm>
          <a:prstGeom prst="rect">
            <a:avLst/>
          </a:prstGeom>
          <a:noFill/>
          <a:ln/>
        </p:spPr>
        <p:txBody>
          <a:bodyPr wrap="square" lIns="25400" tIns="25400" rIns="25400" bIns="25400" rtlCol="0" anchor="t">
            <a:normAutofit/>
          </a:bodyPr>
          <a:lstStyle/>
          <a:p>
            <a:pPr algn="l" indent="0" marL="0">
              <a:buNone/>
            </a:pPr>
            <a:r>
              <a:rPr lang="en-US" sz="1500" dirty="0">
                <a:solidFill>
                  <a:srgbClr val="221D17"/>
                </a:solidFill>
                <a:latin typeface="Arial" pitchFamily="34" charset="0"/>
                <a:ea typeface="Arial" pitchFamily="34" charset="-122"/>
                <a:cs typeface="Arial" pitchFamily="34" charset="-120"/>
              </a:rPr>
              <a:t>📎</a:t>
            </a:r>
            <a:endParaRPr lang="en-US" sz="1500" dirty="0"/>
          </a:p>
        </p:txBody>
      </p:sp>
      <p:sp>
        <p:nvSpPr>
          <p:cNvPr id="39" name="Text 37"/>
          <p:cNvSpPr/>
          <p:nvPr/>
        </p:nvSpPr>
        <p:spPr>
          <a:xfrm>
            <a:off x="9371648" y="5048726"/>
            <a:ext cx="8309706" cy="309563"/>
          </a:xfrm>
          <a:prstGeom prst="rect">
            <a:avLst/>
          </a:prstGeom>
          <a:noFill/>
          <a:ln/>
        </p:spPr>
        <p:txBody>
          <a:bodyPr wrap="square" lIns="25400" tIns="25400" rIns="25400" bIns="25400" rtlCol="0" anchor="t">
            <a:normAutofit/>
          </a:bodyPr>
          <a:lstStyle/>
          <a:p>
            <a:pPr algn="l" indent="0" marL="0">
              <a:lnSpc>
                <a:spcPct val="150000"/>
              </a:lnSpc>
              <a:buNone/>
            </a:pPr>
            <a:r>
              <a:rPr lang="en-US" sz="1425" dirty="0">
                <a:solidFill>
                  <a:srgbClr val="544C42"/>
                </a:solidFill>
                <a:latin typeface="Arial" pitchFamily="34" charset="0"/>
                <a:ea typeface="Arial" pitchFamily="34" charset="-122"/>
                <a:cs typeface="Arial" pitchFamily="34" charset="-120"/>
              </a:rPr>
              <a:t>Every fact carries a </a:t>
            </a:r>
            <a:pPr algn="l" indent="0" marL="0">
              <a:lnSpc>
                <a:spcPct val="150000"/>
              </a:lnSpc>
              <a:buNone/>
            </a:pPr>
            <a:r>
              <a:rPr lang="en-US" sz="1425" b="1" dirty="0">
                <a:solidFill>
                  <a:srgbClr val="544C42"/>
                </a:solidFill>
                <a:latin typeface="Arial" pitchFamily="34" charset="0"/>
                <a:ea typeface="Arial" pitchFamily="34" charset="-122"/>
                <a:cs typeface="Arial" pitchFamily="34" charset="-120"/>
              </a:rPr>
              <a:t>“Show source” </a:t>
            </a:r>
            <a:pPr algn="l" indent="0" marL="0">
              <a:lnSpc>
                <a:spcPct val="150000"/>
              </a:lnSpc>
              <a:buNone/>
            </a:pPr>
            <a:r>
              <a:rPr lang="en-US" sz="1425" dirty="0">
                <a:solidFill>
                  <a:srgbClr val="544C42"/>
                </a:solidFill>
                <a:latin typeface="Arial" pitchFamily="34" charset="0"/>
                <a:ea typeface="Arial" pitchFamily="34" charset="-122"/>
                <a:cs typeface="Arial" pitchFamily="34" charset="-120"/>
              </a:rPr>
              <a:t>expander pointing to the exact email or contract section.</a:t>
            </a:r>
            <a:endParaRPr lang="en-US" sz="1425" dirty="0"/>
          </a:p>
        </p:txBody>
      </p:sp>
      <p:sp>
        <p:nvSpPr>
          <p:cNvPr id="40" name="Shape 38"/>
          <p:cNvSpPr/>
          <p:nvPr/>
        </p:nvSpPr>
        <p:spPr>
          <a:xfrm>
            <a:off x="914400" y="9637395"/>
            <a:ext cx="16459200" cy="9525"/>
          </a:xfrm>
          <a:prstGeom prst="rect">
            <a:avLst/>
          </a:prstGeom>
          <a:solidFill>
            <a:srgbClr val="E2DACE"/>
          </a:solidFill>
          <a:ln/>
        </p:spPr>
        <p:txBody>
          <a:bodyPr/>
          <a:p/>
        </p:txBody>
      </p:sp>
      <p:sp>
        <p:nvSpPr>
          <p:cNvPr id="41" name="Text 39"/>
          <p:cNvSpPr/>
          <p:nvPr/>
        </p:nvSpPr>
        <p:spPr>
          <a:xfrm>
            <a:off x="914400" y="9768840"/>
            <a:ext cx="5462575" cy="21336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A89D8E"/>
                </a:solidFill>
                <a:latin typeface="Courier New" pitchFamily="34" charset="0"/>
                <a:ea typeface="Courier New" pitchFamily="34" charset="-122"/>
                <a:cs typeface="Courier New" pitchFamily="34" charset="-120"/>
              </a:rPr>
              <a:t>STRAUSS PROCUREMENT · FDE EXERCISE · CONFIDENTIAL</a:t>
            </a:r>
            <a:endParaRPr lang="en-US" sz="1050" dirty="0"/>
          </a:p>
        </p:txBody>
      </p:sp>
      <p:sp>
        <p:nvSpPr>
          <p:cNvPr id="42" name="Text 40"/>
          <p:cNvSpPr/>
          <p:nvPr/>
        </p:nvSpPr>
        <p:spPr>
          <a:xfrm>
            <a:off x="16664107" y="9768840"/>
            <a:ext cx="785693" cy="21336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A89D8E"/>
                </a:solidFill>
                <a:latin typeface="Courier New" pitchFamily="34" charset="0"/>
                <a:ea typeface="Courier New" pitchFamily="34" charset="-122"/>
                <a:cs typeface="Courier New" pitchFamily="34" charset="-120"/>
              </a:rPr>
              <a:t>10 / 19</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EFE7"/>
        </a:solidFill>
      </p:bgPr>
    </p:bg>
    <p:spTree>
      <p:nvGrpSpPr>
        <p:cNvPr id="1" name=""/>
        <p:cNvGrpSpPr/>
        <p:nvPr/>
      </p:nvGrpSpPr>
      <p:grpSpPr>
        <a:xfrm>
          <a:off x="0" y="0"/>
          <a:ext cx="0" cy="0"/>
          <a:chOff x="0" y="0"/>
          <a:chExt cx="0" cy="0"/>
        </a:xfrm>
      </p:grpSpPr>
      <p:sp>
        <p:nvSpPr>
          <p:cNvPr id="2" name="Shape 0"/>
          <p:cNvSpPr/>
          <p:nvPr/>
        </p:nvSpPr>
        <p:spPr>
          <a:xfrm>
            <a:off x="914400" y="1749742"/>
            <a:ext cx="16459200" cy="9525"/>
          </a:xfrm>
          <a:prstGeom prst="rect">
            <a:avLst/>
          </a:prstGeom>
          <a:solidFill>
            <a:srgbClr val="D7CDBE"/>
          </a:solidFill>
          <a:ln/>
        </p:spPr>
      </p:sp>
      <p:sp>
        <p:nvSpPr>
          <p:cNvPr id="3" name="Text 1"/>
          <p:cNvSpPr/>
          <p:nvPr/>
        </p:nvSpPr>
        <p:spPr>
          <a:xfrm>
            <a:off x="914400" y="704850"/>
            <a:ext cx="18105120" cy="259080"/>
          </a:xfrm>
          <a:prstGeom prst="rect">
            <a:avLst/>
          </a:prstGeom>
          <a:noFill/>
          <a:ln/>
        </p:spPr>
        <p:txBody>
          <a:bodyPr wrap="square" lIns="25400" tIns="25400" rIns="25400" bIns="25400" rtlCol="0" anchor="t">
            <a:normAutofit/>
          </a:bodyPr>
          <a:lstStyle/>
          <a:p>
            <a:pPr algn="l" indent="0" marL="0">
              <a:buNone/>
            </a:pPr>
            <a:r>
              <a:rPr lang="en-US" sz="1350" spc="324" kern="0" dirty="0">
                <a:solidFill>
                  <a:srgbClr val="B23B26"/>
                </a:solidFill>
                <a:latin typeface="Courier New" pitchFamily="34" charset="0"/>
                <a:ea typeface="Courier New" pitchFamily="34" charset="-122"/>
                <a:cs typeface="Courier New" pitchFamily="34" charset="-120"/>
              </a:rPr>
              <a:t>11 · THE HUMAN IN THE LOOP</a:t>
            </a:r>
            <a:endParaRPr lang="en-US" sz="1350" dirty="0"/>
          </a:p>
        </p:txBody>
      </p:sp>
      <p:sp>
        <p:nvSpPr>
          <p:cNvPr id="4" name="Text 2"/>
          <p:cNvSpPr/>
          <p:nvPr/>
        </p:nvSpPr>
        <p:spPr>
          <a:xfrm>
            <a:off x="914400" y="1049655"/>
            <a:ext cx="18105120" cy="528638"/>
          </a:xfrm>
          <a:prstGeom prst="rect">
            <a:avLst/>
          </a:prstGeom>
          <a:noFill/>
          <a:ln/>
        </p:spPr>
        <p:txBody>
          <a:bodyPr wrap="square" lIns="25400" tIns="25400" rIns="25400" bIns="25400" rtlCol="0" anchor="t">
            <a:normAutofit/>
          </a:bodyPr>
          <a:lstStyle/>
          <a:p>
            <a:pPr algn="l" indent="0" marL="0">
              <a:lnSpc>
                <a:spcPct val="103000"/>
              </a:lnSpc>
              <a:buNone/>
            </a:pPr>
            <a:r>
              <a:rPr lang="en-US" sz="3750" spc="-56" kern="0" dirty="0">
                <a:solidFill>
                  <a:srgbClr val="221D17"/>
                </a:solidFill>
                <a:latin typeface="Georgia" pitchFamily="34" charset="0"/>
                <a:ea typeface="Georgia" pitchFamily="34" charset="-122"/>
                <a:cs typeface="Georgia" pitchFamily="34" charset="-120"/>
              </a:rPr>
              <a:t>What stops this from being trusted blindly</a:t>
            </a:r>
            <a:endParaRPr lang="en-US" sz="3750" dirty="0"/>
          </a:p>
        </p:txBody>
      </p:sp>
      <p:sp>
        <p:nvSpPr>
          <p:cNvPr id="5" name="Shape 3"/>
          <p:cNvSpPr/>
          <p:nvPr/>
        </p:nvSpPr>
        <p:spPr>
          <a:xfrm>
            <a:off x="914400" y="2024062"/>
            <a:ext cx="8115300" cy="3521869"/>
          </a:xfrm>
          <a:prstGeom prst="roundRect">
            <a:avLst>
              <a:gd name="adj" fmla="val 1082"/>
            </a:avLst>
          </a:prstGeom>
          <a:solidFill>
            <a:srgbClr val="FBF8F2"/>
          </a:solidFill>
          <a:ln w="7620">
            <a:solidFill>
              <a:srgbClr val="DDD4C6"/>
            </a:solidFill>
            <a:prstDash val="solid"/>
          </a:ln>
        </p:spPr>
      </p:sp>
      <p:sp>
        <p:nvSpPr>
          <p:cNvPr id="6" name="Text 4"/>
          <p:cNvSpPr/>
          <p:nvPr/>
        </p:nvSpPr>
        <p:spPr>
          <a:xfrm>
            <a:off x="1245870" y="2317433"/>
            <a:ext cx="8197596" cy="297180"/>
          </a:xfrm>
          <a:prstGeom prst="rect">
            <a:avLst/>
          </a:prstGeom>
          <a:noFill/>
          <a:ln/>
        </p:spPr>
        <p:txBody>
          <a:bodyPr wrap="square" lIns="25400" tIns="25400" rIns="25400" bIns="25400" rtlCol="0" anchor="t">
            <a:normAutofit/>
          </a:bodyPr>
          <a:lstStyle/>
          <a:p>
            <a:pPr algn="l" indent="0" marL="0">
              <a:buNone/>
            </a:pPr>
            <a:r>
              <a:rPr lang="en-US" sz="1500" dirty="0">
                <a:solidFill>
                  <a:srgbClr val="B23B26"/>
                </a:solidFill>
                <a:latin typeface="Courier New" pitchFamily="34" charset="0"/>
                <a:ea typeface="Courier New" pitchFamily="34" charset="-122"/>
                <a:cs typeface="Courier New" pitchFamily="34" charset="-120"/>
              </a:rPr>
              <a:t>01 </a:t>
            </a:r>
            <a:pPr algn="l" indent="0" marL="0">
              <a:buNone/>
            </a:pPr>
            <a:r>
              <a:rPr lang="en-US" sz="1875" dirty="0">
                <a:solidFill>
                  <a:srgbClr val="221D17"/>
                </a:solidFill>
                <a:latin typeface="Georgia" pitchFamily="34" charset="0"/>
                <a:ea typeface="Georgia" pitchFamily="34" charset="-122"/>
                <a:cs typeface="Georgia" pitchFamily="34" charset="-120"/>
              </a:rPr>
              <a:t>Source attribution on every field</a:t>
            </a:r>
            <a:endParaRPr lang="en-US" sz="1875" dirty="0"/>
          </a:p>
        </p:txBody>
      </p:sp>
      <p:sp>
        <p:nvSpPr>
          <p:cNvPr id="7" name="Text 5"/>
          <p:cNvSpPr/>
          <p:nvPr/>
        </p:nvSpPr>
        <p:spPr>
          <a:xfrm>
            <a:off x="1245870" y="2690813"/>
            <a:ext cx="7675931" cy="1012508"/>
          </a:xfrm>
          <a:prstGeom prst="rect">
            <a:avLst/>
          </a:prstGeom>
          <a:noFill/>
          <a:ln/>
        </p:spPr>
        <p:txBody>
          <a:bodyPr wrap="square" lIns="25400" tIns="25400" rIns="25400" bIns="25400" rtlCol="0" anchor="t">
            <a:normAutofit/>
          </a:bodyPr>
          <a:lstStyle/>
          <a:p>
            <a:pPr algn="l" indent="0" marL="0">
              <a:lnSpc>
                <a:spcPct val="155000"/>
              </a:lnSpc>
              <a:buNone/>
            </a:pPr>
            <a:r>
              <a:rPr lang="en-US" sz="1650" dirty="0">
                <a:solidFill>
                  <a:srgbClr val="4A443B"/>
                </a:solidFill>
                <a:latin typeface="Arial" pitchFamily="34" charset="0"/>
                <a:ea typeface="Arial" pitchFamily="34" charset="-122"/>
                <a:cs typeface="Arial" pitchFamily="34" charset="-120"/>
              </a:rPr>
              <a:t>Every number, date and clause cites exactly where it came from, email date + sender, or contract section. One click to verify. Nothing is presented as settled ground truth.</a:t>
            </a:r>
            <a:endParaRPr lang="en-US" sz="1650" dirty="0"/>
          </a:p>
        </p:txBody>
      </p:sp>
      <p:sp>
        <p:nvSpPr>
          <p:cNvPr id="8" name="Shape 6"/>
          <p:cNvSpPr/>
          <p:nvPr/>
        </p:nvSpPr>
        <p:spPr>
          <a:xfrm>
            <a:off x="9258300" y="2024062"/>
            <a:ext cx="8115300" cy="3521869"/>
          </a:xfrm>
          <a:prstGeom prst="roundRect">
            <a:avLst>
              <a:gd name="adj" fmla="val 1082"/>
            </a:avLst>
          </a:prstGeom>
          <a:solidFill>
            <a:srgbClr val="FBF8F2"/>
          </a:solidFill>
          <a:ln w="7620">
            <a:solidFill>
              <a:srgbClr val="DDD4C6"/>
            </a:solidFill>
            <a:prstDash val="solid"/>
          </a:ln>
        </p:spPr>
      </p:sp>
      <p:sp>
        <p:nvSpPr>
          <p:cNvPr id="9" name="Text 7"/>
          <p:cNvSpPr/>
          <p:nvPr/>
        </p:nvSpPr>
        <p:spPr>
          <a:xfrm>
            <a:off x="9589770" y="2317433"/>
            <a:ext cx="8197596" cy="297180"/>
          </a:xfrm>
          <a:prstGeom prst="rect">
            <a:avLst/>
          </a:prstGeom>
          <a:noFill/>
          <a:ln/>
        </p:spPr>
        <p:txBody>
          <a:bodyPr wrap="square" lIns="25400" tIns="25400" rIns="25400" bIns="25400" rtlCol="0" anchor="t">
            <a:normAutofit/>
          </a:bodyPr>
          <a:lstStyle/>
          <a:p>
            <a:pPr algn="l" indent="0" marL="0">
              <a:buNone/>
            </a:pPr>
            <a:r>
              <a:rPr lang="en-US" sz="1500" dirty="0">
                <a:solidFill>
                  <a:srgbClr val="B23B26"/>
                </a:solidFill>
                <a:latin typeface="Courier New" pitchFamily="34" charset="0"/>
                <a:ea typeface="Courier New" pitchFamily="34" charset="-122"/>
                <a:cs typeface="Courier New" pitchFamily="34" charset="-120"/>
              </a:rPr>
              <a:t>02 </a:t>
            </a:r>
            <a:pPr algn="l" indent="0" marL="0">
              <a:buNone/>
            </a:pPr>
            <a:r>
              <a:rPr lang="en-US" sz="1875" dirty="0">
                <a:solidFill>
                  <a:srgbClr val="221D17"/>
                </a:solidFill>
                <a:latin typeface="Georgia" pitchFamily="34" charset="0"/>
                <a:ea typeface="Georgia" pitchFamily="34" charset="-122"/>
                <a:cs typeface="Georgia" pitchFamily="34" charset="-120"/>
              </a:rPr>
              <a:t>Explicit conflict flagging</a:t>
            </a:r>
            <a:endParaRPr lang="en-US" sz="1875" dirty="0"/>
          </a:p>
        </p:txBody>
      </p:sp>
      <p:sp>
        <p:nvSpPr>
          <p:cNvPr id="10" name="Text 8"/>
          <p:cNvSpPr/>
          <p:nvPr/>
        </p:nvSpPr>
        <p:spPr>
          <a:xfrm>
            <a:off x="9589770" y="2690813"/>
            <a:ext cx="7675931" cy="1012508"/>
          </a:xfrm>
          <a:prstGeom prst="rect">
            <a:avLst/>
          </a:prstGeom>
          <a:noFill/>
          <a:ln/>
        </p:spPr>
        <p:txBody>
          <a:bodyPr wrap="square" lIns="25400" tIns="25400" rIns="25400" bIns="25400" rtlCol="0" anchor="t">
            <a:normAutofit/>
          </a:bodyPr>
          <a:lstStyle/>
          <a:p>
            <a:pPr algn="l" indent="0" marL="0">
              <a:lnSpc>
                <a:spcPct val="155000"/>
              </a:lnSpc>
              <a:buNone/>
            </a:pPr>
            <a:r>
              <a:rPr lang="en-US" sz="1650" dirty="0">
                <a:solidFill>
                  <a:srgbClr val="4A443B"/>
                </a:solidFill>
                <a:latin typeface="Arial" pitchFamily="34" charset="0"/>
                <a:ea typeface="Arial" pitchFamily="34" charset="-122"/>
                <a:cs typeface="Arial" pitchFamily="34" charset="-120"/>
              </a:rPr>
              <a:t>When email and contract disagree, the packet surfaces both and flags the conflict, it never silently picks one. The Galil price discrepancy and Siam Sugar unit ambiguity are live examples in the demo.</a:t>
            </a:r>
            <a:endParaRPr lang="en-US" sz="1650" dirty="0"/>
          </a:p>
        </p:txBody>
      </p:sp>
      <p:sp>
        <p:nvSpPr>
          <p:cNvPr id="11" name="Shape 9"/>
          <p:cNvSpPr/>
          <p:nvPr/>
        </p:nvSpPr>
        <p:spPr>
          <a:xfrm>
            <a:off x="914400" y="5774531"/>
            <a:ext cx="8115300" cy="3521869"/>
          </a:xfrm>
          <a:prstGeom prst="roundRect">
            <a:avLst>
              <a:gd name="adj" fmla="val 1082"/>
            </a:avLst>
          </a:prstGeom>
          <a:solidFill>
            <a:srgbClr val="FBF8F2"/>
          </a:solidFill>
          <a:ln w="7620">
            <a:solidFill>
              <a:srgbClr val="DDD4C6"/>
            </a:solidFill>
            <a:prstDash val="solid"/>
          </a:ln>
        </p:spPr>
      </p:sp>
      <p:sp>
        <p:nvSpPr>
          <p:cNvPr id="12" name="Text 10"/>
          <p:cNvSpPr/>
          <p:nvPr/>
        </p:nvSpPr>
        <p:spPr>
          <a:xfrm>
            <a:off x="1245870" y="6067901"/>
            <a:ext cx="8197596" cy="297180"/>
          </a:xfrm>
          <a:prstGeom prst="rect">
            <a:avLst/>
          </a:prstGeom>
          <a:noFill/>
          <a:ln/>
        </p:spPr>
        <p:txBody>
          <a:bodyPr wrap="square" lIns="25400" tIns="25400" rIns="25400" bIns="25400" rtlCol="0" anchor="t">
            <a:normAutofit/>
          </a:bodyPr>
          <a:lstStyle/>
          <a:p>
            <a:pPr algn="l" indent="0" marL="0">
              <a:buNone/>
            </a:pPr>
            <a:r>
              <a:rPr lang="en-US" sz="1500" dirty="0">
                <a:solidFill>
                  <a:srgbClr val="B23B26"/>
                </a:solidFill>
                <a:latin typeface="Courier New" pitchFamily="34" charset="0"/>
                <a:ea typeface="Courier New" pitchFamily="34" charset="-122"/>
                <a:cs typeface="Courier New" pitchFamily="34" charset="-120"/>
              </a:rPr>
              <a:t>03 </a:t>
            </a:r>
            <a:pPr algn="l" indent="0" marL="0">
              <a:buNone/>
            </a:pPr>
            <a:r>
              <a:rPr lang="en-US" sz="1875" dirty="0">
                <a:solidFill>
                  <a:srgbClr val="221D17"/>
                </a:solidFill>
                <a:latin typeface="Georgia" pitchFamily="34" charset="0"/>
                <a:ea typeface="Georgia" pitchFamily="34" charset="-122"/>
                <a:cs typeface="Georgia" pitchFamily="34" charset="-120"/>
              </a:rPr>
              <a:t>Correction tracking built in</a:t>
            </a:r>
            <a:endParaRPr lang="en-US" sz="1875" dirty="0"/>
          </a:p>
        </p:txBody>
      </p:sp>
      <p:sp>
        <p:nvSpPr>
          <p:cNvPr id="13" name="Text 11"/>
          <p:cNvSpPr/>
          <p:nvPr/>
        </p:nvSpPr>
        <p:spPr>
          <a:xfrm>
            <a:off x="1245870" y="6441281"/>
            <a:ext cx="7675931" cy="1012508"/>
          </a:xfrm>
          <a:prstGeom prst="rect">
            <a:avLst/>
          </a:prstGeom>
          <a:noFill/>
          <a:ln/>
        </p:spPr>
        <p:txBody>
          <a:bodyPr wrap="square" lIns="25400" tIns="25400" rIns="25400" bIns="25400" rtlCol="0" anchor="t">
            <a:normAutofit/>
          </a:bodyPr>
          <a:lstStyle/>
          <a:p>
            <a:pPr algn="l" indent="0" marL="0">
              <a:lnSpc>
                <a:spcPct val="155000"/>
              </a:lnSpc>
              <a:buNone/>
            </a:pPr>
            <a:r>
              <a:rPr lang="en-US" sz="1650" dirty="0">
                <a:solidFill>
                  <a:srgbClr val="4A443B"/>
                </a:solidFill>
                <a:latin typeface="Arial" pitchFamily="34" charset="0"/>
                <a:ea typeface="Arial" pitchFamily="34" charset="-122"/>
                <a:cs typeface="Arial" pitchFamily="34" charset="-120"/>
              </a:rPr>
              <a:t>The manager can flag any field as wrong directly in the packet view. Corrections save to a log </a:t>
            </a:r>
            <a:pPr algn="l" indent="0" marL="0">
              <a:lnSpc>
                <a:spcPct val="155000"/>
              </a:lnSpc>
              <a:buNone/>
            </a:pPr>
            <a:r>
              <a:rPr lang="en-US" sz="1425" dirty="0">
                <a:solidFill>
                  <a:srgbClr val="4A443B"/>
                </a:solidFill>
                <a:highlight>
                  <a:srgbClr val="EAE3D6"/>
                </a:highlight>
                <a:latin typeface="Courier New" pitchFamily="34" charset="0"/>
                <a:ea typeface="Courier New" pitchFamily="34" charset="-122"/>
                <a:cs typeface="Courier New" pitchFamily="34" charset="-120"/>
              </a:rPr>
              <a:t>correction_log.csv </a:t>
            </a:r>
            <a:pPr algn="l" indent="0" marL="0">
              <a:lnSpc>
                <a:spcPct val="155000"/>
              </a:lnSpc>
              <a:buNone/>
            </a:pPr>
            <a:r>
              <a:rPr lang="en-US" sz="1650" dirty="0">
                <a:solidFill>
                  <a:srgbClr val="4A443B"/>
                </a:solidFill>
                <a:latin typeface="Arial" pitchFamily="34" charset="0"/>
                <a:ea typeface="Arial" pitchFamily="34" charset="-122"/>
                <a:cs typeface="Arial" pitchFamily="34" charset="-120"/>
              </a:rPr>
              <a:t>: the extraction-quality feedback loop.</a:t>
            </a:r>
            <a:endParaRPr lang="en-US" sz="1650" dirty="0"/>
          </a:p>
        </p:txBody>
      </p:sp>
      <p:sp>
        <p:nvSpPr>
          <p:cNvPr id="14" name="Shape 12"/>
          <p:cNvSpPr/>
          <p:nvPr/>
        </p:nvSpPr>
        <p:spPr>
          <a:xfrm>
            <a:off x="9258300" y="5774531"/>
            <a:ext cx="8115300" cy="3521869"/>
          </a:xfrm>
          <a:prstGeom prst="roundRect">
            <a:avLst>
              <a:gd name="adj" fmla="val 1082"/>
            </a:avLst>
          </a:prstGeom>
          <a:solidFill>
            <a:srgbClr val="221D17"/>
          </a:solidFill>
          <a:ln w="7620">
            <a:solidFill>
              <a:srgbClr val="221D17"/>
            </a:solidFill>
            <a:prstDash val="solid"/>
          </a:ln>
        </p:spPr>
      </p:sp>
      <p:sp>
        <p:nvSpPr>
          <p:cNvPr id="15" name="Text 13"/>
          <p:cNvSpPr/>
          <p:nvPr/>
        </p:nvSpPr>
        <p:spPr>
          <a:xfrm>
            <a:off x="9589770" y="6067901"/>
            <a:ext cx="8197596" cy="297180"/>
          </a:xfrm>
          <a:prstGeom prst="rect">
            <a:avLst/>
          </a:prstGeom>
          <a:noFill/>
          <a:ln/>
        </p:spPr>
        <p:txBody>
          <a:bodyPr wrap="square" lIns="25400" tIns="25400" rIns="25400" bIns="25400" rtlCol="0" anchor="t">
            <a:normAutofit/>
          </a:bodyPr>
          <a:lstStyle/>
          <a:p>
            <a:pPr algn="l" indent="0" marL="0">
              <a:buNone/>
            </a:pPr>
            <a:r>
              <a:rPr lang="en-US" sz="1500" dirty="0">
                <a:solidFill>
                  <a:srgbClr val="CB5238"/>
                </a:solidFill>
                <a:latin typeface="Courier New" pitchFamily="34" charset="0"/>
                <a:ea typeface="Courier New" pitchFamily="34" charset="-122"/>
                <a:cs typeface="Courier New" pitchFamily="34" charset="-120"/>
              </a:rPr>
              <a:t>04 </a:t>
            </a:r>
            <a:pPr algn="l" indent="0" marL="0">
              <a:buNone/>
            </a:pPr>
            <a:r>
              <a:rPr lang="en-US" sz="1875" dirty="0">
                <a:solidFill>
                  <a:srgbClr val="F5F0E6"/>
                </a:solidFill>
                <a:latin typeface="Georgia" pitchFamily="34" charset="0"/>
                <a:ea typeface="Georgia" pitchFamily="34" charset="-122"/>
                <a:cs typeface="Georgia" pitchFamily="34" charset="-120"/>
              </a:rPr>
              <a:t>The tool never acts</a:t>
            </a:r>
            <a:endParaRPr lang="en-US" sz="1875" dirty="0"/>
          </a:p>
        </p:txBody>
      </p:sp>
      <p:sp>
        <p:nvSpPr>
          <p:cNvPr id="16" name="Text 14"/>
          <p:cNvSpPr/>
          <p:nvPr/>
        </p:nvSpPr>
        <p:spPr>
          <a:xfrm>
            <a:off x="9589770" y="6441281"/>
            <a:ext cx="7675931" cy="1020127"/>
          </a:xfrm>
          <a:prstGeom prst="rect">
            <a:avLst/>
          </a:prstGeom>
          <a:noFill/>
          <a:ln/>
        </p:spPr>
        <p:txBody>
          <a:bodyPr wrap="square" lIns="25400" tIns="25400" rIns="25400" bIns="25400" rtlCol="0" anchor="t">
            <a:normAutofit/>
          </a:bodyPr>
          <a:lstStyle/>
          <a:p>
            <a:pPr algn="l" indent="0" marL="0">
              <a:lnSpc>
                <a:spcPct val="155000"/>
              </a:lnSpc>
              <a:buNone/>
            </a:pPr>
            <a:r>
              <a:rPr lang="en-US" sz="1650" dirty="0">
                <a:solidFill>
                  <a:srgbClr val="C7BEAE"/>
                </a:solidFill>
                <a:latin typeface="Arial" pitchFamily="34" charset="0"/>
                <a:ea typeface="Arial" pitchFamily="34" charset="-122"/>
                <a:cs typeface="Arial" pitchFamily="34" charset="-120"/>
              </a:rPr>
              <a:t>No emails sent, no contracts updated, no decisions taken. Every action stays with the human. The tool removes the assembly work in front of the judgment call, </a:t>
            </a:r>
            <a:pPr algn="l" indent="0" marL="0">
              <a:lnSpc>
                <a:spcPct val="155000"/>
              </a:lnSpc>
              <a:buNone/>
            </a:pPr>
            <a:r>
              <a:rPr lang="en-US" sz="1650" b="1" dirty="0">
                <a:solidFill>
                  <a:srgbClr val="F0E9DC"/>
                </a:solidFill>
                <a:latin typeface="Arial" pitchFamily="34" charset="0"/>
                <a:ea typeface="Arial" pitchFamily="34" charset="-122"/>
                <a:cs typeface="Arial" pitchFamily="34" charset="-120"/>
              </a:rPr>
              <a:t>it does not replace the judgment call.</a:t>
            </a:r>
            <a:endParaRPr lang="en-US" sz="1650" dirty="0"/>
          </a:p>
        </p:txBody>
      </p:sp>
      <p:sp>
        <p:nvSpPr>
          <p:cNvPr id="17" name="Shape 15"/>
          <p:cNvSpPr/>
          <p:nvPr/>
        </p:nvSpPr>
        <p:spPr>
          <a:xfrm>
            <a:off x="914400" y="9637395"/>
            <a:ext cx="16459200" cy="9525"/>
          </a:xfrm>
          <a:prstGeom prst="rect">
            <a:avLst/>
          </a:prstGeom>
          <a:solidFill>
            <a:srgbClr val="E2DACE"/>
          </a:solidFill>
          <a:ln/>
        </p:spPr>
      </p:sp>
      <p:sp>
        <p:nvSpPr>
          <p:cNvPr id="18" name="Text 16"/>
          <p:cNvSpPr/>
          <p:nvPr/>
        </p:nvSpPr>
        <p:spPr>
          <a:xfrm>
            <a:off x="914400" y="9768840"/>
            <a:ext cx="5462575" cy="21336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A89D8E"/>
                </a:solidFill>
                <a:latin typeface="Courier New" pitchFamily="34" charset="0"/>
                <a:ea typeface="Courier New" pitchFamily="34" charset="-122"/>
                <a:cs typeface="Courier New" pitchFamily="34" charset="-120"/>
              </a:rPr>
              <a:t>STRAUSS PROCUREMENT · FDE EXERCISE · CONFIDENTIAL</a:t>
            </a:r>
            <a:endParaRPr lang="en-US" sz="1050" dirty="0"/>
          </a:p>
        </p:txBody>
      </p:sp>
      <p:sp>
        <p:nvSpPr>
          <p:cNvPr id="19" name="Text 17"/>
          <p:cNvSpPr/>
          <p:nvPr/>
        </p:nvSpPr>
        <p:spPr>
          <a:xfrm>
            <a:off x="16664107" y="9768840"/>
            <a:ext cx="785693" cy="21336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A89D8E"/>
                </a:solidFill>
                <a:latin typeface="Courier New" pitchFamily="34" charset="0"/>
                <a:ea typeface="Courier New" pitchFamily="34" charset="-122"/>
                <a:cs typeface="Courier New" pitchFamily="34" charset="-120"/>
              </a:rPr>
              <a:t>11 / 19</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EFE7"/>
        </a:solidFill>
      </p:bgPr>
    </p:bg>
    <p:spTree>
      <p:nvGrpSpPr>
        <p:cNvPr id="1" name=""/>
        <p:cNvGrpSpPr/>
        <p:nvPr/>
      </p:nvGrpSpPr>
      <p:grpSpPr>
        <a:xfrm>
          <a:off x="0" y="0"/>
          <a:ext cx="0" cy="0"/>
          <a:chOff x="0" y="0"/>
          <a:chExt cx="0" cy="0"/>
        </a:xfrm>
      </p:grpSpPr>
      <p:sp>
        <p:nvSpPr>
          <p:cNvPr id="2" name="Shape 0"/>
          <p:cNvSpPr/>
          <p:nvPr/>
        </p:nvSpPr>
        <p:spPr>
          <a:xfrm>
            <a:off x="762000" y="1539002"/>
            <a:ext cx="16764000" cy="9525"/>
          </a:xfrm>
          <a:prstGeom prst="rect">
            <a:avLst/>
          </a:prstGeom>
          <a:solidFill>
            <a:srgbClr val="D7CDBE"/>
          </a:solidFill>
          <a:ln/>
        </p:spPr>
      </p:sp>
      <p:sp>
        <p:nvSpPr>
          <p:cNvPr id="3" name="Text 1"/>
          <p:cNvSpPr/>
          <p:nvPr/>
        </p:nvSpPr>
        <p:spPr>
          <a:xfrm>
            <a:off x="762000" y="571500"/>
            <a:ext cx="18440400" cy="259080"/>
          </a:xfrm>
          <a:prstGeom prst="rect">
            <a:avLst/>
          </a:prstGeom>
          <a:noFill/>
          <a:ln/>
        </p:spPr>
        <p:txBody>
          <a:bodyPr wrap="square" lIns="25400" tIns="25400" rIns="25400" bIns="25400" rtlCol="0" anchor="t">
            <a:normAutofit/>
          </a:bodyPr>
          <a:lstStyle/>
          <a:p>
            <a:pPr algn="l" indent="0" marL="0">
              <a:buNone/>
            </a:pPr>
            <a:r>
              <a:rPr lang="en-US" sz="1350" spc="324" kern="0" dirty="0">
                <a:solidFill>
                  <a:srgbClr val="B23B26"/>
                </a:solidFill>
                <a:latin typeface="Courier New" pitchFamily="34" charset="0"/>
                <a:ea typeface="Courier New" pitchFamily="34" charset="-122"/>
                <a:cs typeface="Courier New" pitchFamily="34" charset="-120"/>
              </a:rPr>
              <a:t>12 · KPIS</a:t>
            </a:r>
            <a:endParaRPr lang="en-US" sz="1350" dirty="0"/>
          </a:p>
        </p:txBody>
      </p:sp>
      <p:sp>
        <p:nvSpPr>
          <p:cNvPr id="4" name="Text 2"/>
          <p:cNvSpPr/>
          <p:nvPr/>
        </p:nvSpPr>
        <p:spPr>
          <a:xfrm>
            <a:off x="762000" y="916305"/>
            <a:ext cx="18440400" cy="489347"/>
          </a:xfrm>
          <a:prstGeom prst="rect">
            <a:avLst/>
          </a:prstGeom>
          <a:noFill/>
          <a:ln/>
        </p:spPr>
        <p:txBody>
          <a:bodyPr wrap="square" lIns="25400" tIns="25400" rIns="25400" bIns="25400" rtlCol="0" anchor="t">
            <a:normAutofit/>
          </a:bodyPr>
          <a:lstStyle/>
          <a:p>
            <a:pPr algn="l" indent="0" marL="0">
              <a:lnSpc>
                <a:spcPct val="103000"/>
              </a:lnSpc>
              <a:buNone/>
            </a:pPr>
            <a:r>
              <a:rPr lang="en-US" sz="3450" spc="-52" kern="0" dirty="0">
                <a:solidFill>
                  <a:srgbClr val="221D17"/>
                </a:solidFill>
                <a:latin typeface="Georgia" pitchFamily="34" charset="0"/>
                <a:ea typeface="Georgia" pitchFamily="34" charset="-122"/>
                <a:cs typeface="Georgia" pitchFamily="34" charset="-120"/>
              </a:rPr>
              <a:t>Three metrics: what they are, and how each is measured</a:t>
            </a:r>
            <a:endParaRPr lang="en-US" sz="3450" dirty="0"/>
          </a:p>
        </p:txBody>
      </p:sp>
      <p:sp>
        <p:nvSpPr>
          <p:cNvPr id="5" name="Shape 3"/>
          <p:cNvSpPr/>
          <p:nvPr/>
        </p:nvSpPr>
        <p:spPr>
          <a:xfrm>
            <a:off x="762000" y="1794272"/>
            <a:ext cx="5435561" cy="7654528"/>
          </a:xfrm>
          <a:prstGeom prst="roundRect">
            <a:avLst>
              <a:gd name="adj" fmla="val 701"/>
            </a:avLst>
          </a:prstGeom>
          <a:solidFill>
            <a:srgbClr val="FBF8F2"/>
          </a:solidFill>
          <a:ln/>
        </p:spPr>
      </p:sp>
      <p:sp>
        <p:nvSpPr>
          <p:cNvPr id="6" name="Shape 4"/>
          <p:cNvSpPr/>
          <p:nvPr/>
        </p:nvSpPr>
        <p:spPr>
          <a:xfrm>
            <a:off x="762000" y="9441180"/>
            <a:ext cx="5435561" cy="9525"/>
          </a:xfrm>
          <a:prstGeom prst="rect">
            <a:avLst/>
          </a:prstGeom>
          <a:solidFill>
            <a:srgbClr val="DDD4C6"/>
          </a:solidFill>
          <a:ln/>
        </p:spPr>
      </p:sp>
      <p:sp>
        <p:nvSpPr>
          <p:cNvPr id="7" name="Shape 5"/>
          <p:cNvSpPr/>
          <p:nvPr/>
        </p:nvSpPr>
        <p:spPr>
          <a:xfrm>
            <a:off x="762000" y="1794272"/>
            <a:ext cx="5435561" cy="22860"/>
          </a:xfrm>
          <a:prstGeom prst="rect">
            <a:avLst/>
          </a:prstGeom>
          <a:solidFill>
            <a:srgbClr val="B23B26"/>
          </a:solidFill>
          <a:ln/>
        </p:spPr>
      </p:sp>
      <p:sp>
        <p:nvSpPr>
          <p:cNvPr id="8" name="Shape 6"/>
          <p:cNvSpPr/>
          <p:nvPr/>
        </p:nvSpPr>
        <p:spPr>
          <a:xfrm>
            <a:off x="762000" y="1794272"/>
            <a:ext cx="9525" cy="7654528"/>
          </a:xfrm>
          <a:prstGeom prst="rect">
            <a:avLst/>
          </a:prstGeom>
          <a:solidFill>
            <a:srgbClr val="DDD4C6"/>
          </a:solidFill>
          <a:ln/>
        </p:spPr>
      </p:sp>
      <p:sp>
        <p:nvSpPr>
          <p:cNvPr id="9" name="Shape 7"/>
          <p:cNvSpPr/>
          <p:nvPr/>
        </p:nvSpPr>
        <p:spPr>
          <a:xfrm>
            <a:off x="6189941" y="1794272"/>
            <a:ext cx="9525" cy="7654528"/>
          </a:xfrm>
          <a:prstGeom prst="rect">
            <a:avLst/>
          </a:prstGeom>
          <a:solidFill>
            <a:srgbClr val="DDD4C6"/>
          </a:solidFill>
          <a:ln/>
        </p:spPr>
      </p:sp>
      <p:sp>
        <p:nvSpPr>
          <p:cNvPr id="10" name="Shape 8"/>
          <p:cNvSpPr/>
          <p:nvPr/>
        </p:nvSpPr>
        <p:spPr>
          <a:xfrm>
            <a:off x="1036320" y="2102882"/>
            <a:ext cx="1527810" cy="220980"/>
          </a:xfrm>
          <a:prstGeom prst="roundRect">
            <a:avLst>
              <a:gd name="adj" fmla="val 8621"/>
            </a:avLst>
          </a:prstGeom>
          <a:solidFill>
            <a:srgbClr val="B23B26"/>
          </a:solidFill>
          <a:ln/>
        </p:spPr>
      </p:sp>
      <p:sp>
        <p:nvSpPr>
          <p:cNvPr id="11" name="Text 9"/>
          <p:cNvSpPr/>
          <p:nvPr/>
        </p:nvSpPr>
        <p:spPr>
          <a:xfrm>
            <a:off x="1131570" y="2140982"/>
            <a:ext cx="1413510" cy="182880"/>
          </a:xfrm>
          <a:prstGeom prst="rect">
            <a:avLst/>
          </a:prstGeom>
          <a:noFill/>
          <a:ln/>
        </p:spPr>
        <p:txBody>
          <a:bodyPr wrap="square" lIns="25400" tIns="25400" rIns="25400" bIns="25400" rtlCol="0" anchor="t">
            <a:normAutofit/>
          </a:bodyPr>
          <a:lstStyle/>
          <a:p>
            <a:pPr algn="l" indent="0" marL="0">
              <a:buNone/>
            </a:pPr>
            <a:r>
              <a:rPr lang="en-US" sz="900" spc="162" kern="0" dirty="0">
                <a:solidFill>
                  <a:srgbClr val="FFFFFF"/>
                </a:solidFill>
                <a:latin typeface="Courier New" pitchFamily="34" charset="0"/>
                <a:ea typeface="Courier New" pitchFamily="34" charset="-122"/>
                <a:cs typeface="Courier New" pitchFamily="34" charset="-120"/>
              </a:rPr>
              <a:t>PRIMARY · VALUE</a:t>
            </a:r>
            <a:endParaRPr lang="en-US" sz="900" dirty="0"/>
          </a:p>
        </p:txBody>
      </p:sp>
      <p:sp>
        <p:nvSpPr>
          <p:cNvPr id="12" name="Text 10"/>
          <p:cNvSpPr/>
          <p:nvPr/>
        </p:nvSpPr>
        <p:spPr>
          <a:xfrm>
            <a:off x="2659380" y="2125742"/>
            <a:ext cx="1689890" cy="21336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94897A"/>
                </a:solidFill>
                <a:latin typeface="Courier New" pitchFamily="34" charset="0"/>
                <a:ea typeface="Courier New" pitchFamily="34" charset="-122"/>
                <a:cs typeface="Courier New" pitchFamily="34" charset="-120"/>
              </a:rPr>
              <a:t>Does it save time?</a:t>
            </a:r>
            <a:endParaRPr lang="en-US" sz="1050" dirty="0"/>
          </a:p>
        </p:txBody>
      </p:sp>
      <p:sp>
        <p:nvSpPr>
          <p:cNvPr id="13" name="Text 11"/>
          <p:cNvSpPr/>
          <p:nvPr/>
        </p:nvSpPr>
        <p:spPr>
          <a:xfrm>
            <a:off x="1036320" y="2476262"/>
            <a:ext cx="5375612" cy="356949"/>
          </a:xfrm>
          <a:prstGeom prst="rect">
            <a:avLst/>
          </a:prstGeom>
          <a:noFill/>
          <a:ln/>
        </p:spPr>
        <p:txBody>
          <a:bodyPr wrap="square" lIns="25400" tIns="25400" rIns="25400" bIns="25400" rtlCol="0" anchor="t">
            <a:normAutofit/>
          </a:bodyPr>
          <a:lstStyle/>
          <a:p>
            <a:pPr algn="l" indent="0" marL="0">
              <a:lnSpc>
                <a:spcPct val="108000"/>
              </a:lnSpc>
              <a:buNone/>
            </a:pPr>
            <a:r>
              <a:rPr lang="en-US" sz="2325" dirty="0">
                <a:solidFill>
                  <a:srgbClr val="221D17"/>
                </a:solidFill>
                <a:latin typeface="Georgia" pitchFamily="34" charset="0"/>
                <a:ea typeface="Georgia" pitchFamily="34" charset="-122"/>
                <a:cs typeface="Georgia" pitchFamily="34" charset="-120"/>
              </a:rPr>
              <a:t>Prep time saved</a:t>
            </a:r>
            <a:endParaRPr lang="en-US" sz="2325" dirty="0"/>
          </a:p>
        </p:txBody>
      </p:sp>
      <p:sp>
        <p:nvSpPr>
          <p:cNvPr id="14" name="Text 12"/>
          <p:cNvSpPr/>
          <p:nvPr/>
        </p:nvSpPr>
        <p:spPr>
          <a:xfrm>
            <a:off x="1036320" y="2928461"/>
            <a:ext cx="5033528" cy="923925"/>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4A443B"/>
                </a:solidFill>
                <a:latin typeface="Arial" pitchFamily="34" charset="0"/>
                <a:ea typeface="Arial" pitchFamily="34" charset="-122"/>
                <a:cs typeface="Arial" pitchFamily="34" charset="-120"/>
              </a:rPr>
              <a:t>Manual prep runs ~135 min per meeting, the manager’s own estimate. With the packet it drops to ~15 min, about 14 hrs reclaimed per analyst each month.</a:t>
            </a:r>
            <a:endParaRPr lang="en-US" sz="1500" dirty="0"/>
          </a:p>
        </p:txBody>
      </p:sp>
      <p:sp>
        <p:nvSpPr>
          <p:cNvPr id="15" name="Text 13"/>
          <p:cNvSpPr/>
          <p:nvPr/>
        </p:nvSpPr>
        <p:spPr>
          <a:xfrm>
            <a:off x="1036320" y="5429488"/>
            <a:ext cx="1469993" cy="198120"/>
          </a:xfrm>
          <a:prstGeom prst="rect">
            <a:avLst/>
          </a:prstGeom>
          <a:noFill/>
          <a:ln/>
        </p:spPr>
        <p:txBody>
          <a:bodyPr wrap="square" lIns="25400" tIns="25400" rIns="25400" bIns="25400" rtlCol="0" anchor="t">
            <a:normAutofit/>
          </a:bodyPr>
          <a:lstStyle/>
          <a:p>
            <a:pPr algn="l" indent="0" marL="0">
              <a:buNone/>
            </a:pPr>
            <a:r>
              <a:rPr lang="en-US" sz="975" dirty="0">
                <a:solidFill>
                  <a:srgbClr val="94897A"/>
                </a:solidFill>
                <a:latin typeface="Courier New" pitchFamily="34" charset="0"/>
                <a:ea typeface="Courier New" pitchFamily="34" charset="-122"/>
                <a:cs typeface="Courier New" pitchFamily="34" charset="-120"/>
              </a:rPr>
              <a:t>MANUAL</a:t>
            </a:r>
            <a:endParaRPr lang="en-US" sz="975" dirty="0"/>
          </a:p>
        </p:txBody>
      </p:sp>
      <p:sp>
        <p:nvSpPr>
          <p:cNvPr id="16" name="Text 14"/>
          <p:cNvSpPr/>
          <p:nvPr/>
        </p:nvSpPr>
        <p:spPr>
          <a:xfrm>
            <a:off x="1036320" y="5637133"/>
            <a:ext cx="1469993" cy="400050"/>
          </a:xfrm>
          <a:prstGeom prst="rect">
            <a:avLst/>
          </a:prstGeom>
          <a:noFill/>
          <a:ln/>
        </p:spPr>
        <p:txBody>
          <a:bodyPr wrap="square" lIns="25400" tIns="25400" rIns="25400" bIns="25400" rtlCol="0" anchor="t">
            <a:normAutofit/>
          </a:bodyPr>
          <a:lstStyle/>
          <a:p>
            <a:pPr algn="l" indent="0" marL="0">
              <a:lnSpc>
                <a:spcPct val="100000"/>
              </a:lnSpc>
              <a:buNone/>
            </a:pPr>
            <a:r>
              <a:rPr lang="en-US" sz="2850" dirty="0">
                <a:solidFill>
                  <a:srgbClr val="94897A"/>
                </a:solidFill>
                <a:latin typeface="Georgia" pitchFamily="34" charset="0"/>
                <a:ea typeface="Georgia" pitchFamily="34" charset="-122"/>
                <a:cs typeface="Georgia" pitchFamily="34" charset="-120"/>
              </a:rPr>
              <a:t>135 min</a:t>
            </a:r>
            <a:endParaRPr lang="en-US" sz="2850" dirty="0"/>
          </a:p>
        </p:txBody>
      </p:sp>
      <p:sp>
        <p:nvSpPr>
          <p:cNvPr id="17" name="Text 15"/>
          <p:cNvSpPr/>
          <p:nvPr/>
        </p:nvSpPr>
        <p:spPr>
          <a:xfrm>
            <a:off x="2544128" y="5307568"/>
            <a:ext cx="212408" cy="358140"/>
          </a:xfrm>
          <a:prstGeom prst="rect">
            <a:avLst/>
          </a:prstGeom>
          <a:noFill/>
          <a:ln/>
        </p:spPr>
        <p:txBody>
          <a:bodyPr wrap="square" lIns="25400" tIns="25400" rIns="25400" bIns="25400" rtlCol="0" anchor="t">
            <a:normAutofit/>
          </a:bodyPr>
          <a:lstStyle/>
          <a:p>
            <a:pPr algn="l" indent="0" marL="0">
              <a:buNone/>
            </a:pPr>
            <a:r>
              <a:rPr lang="en-US" sz="1950" dirty="0">
                <a:solidFill>
                  <a:srgbClr val="D7CDBE"/>
                </a:solidFill>
                <a:latin typeface="Courier New" pitchFamily="34" charset="0"/>
                <a:ea typeface="Courier New" pitchFamily="34" charset="-122"/>
                <a:cs typeface="Courier New" pitchFamily="34" charset="-120"/>
              </a:rPr>
              <a:t>→</a:t>
            </a:r>
            <a:endParaRPr lang="en-US" sz="1950" dirty="0"/>
          </a:p>
        </p:txBody>
      </p:sp>
      <p:sp>
        <p:nvSpPr>
          <p:cNvPr id="18" name="Text 16"/>
          <p:cNvSpPr/>
          <p:nvPr/>
        </p:nvSpPr>
        <p:spPr>
          <a:xfrm>
            <a:off x="2851785" y="5429488"/>
            <a:ext cx="1199555" cy="198120"/>
          </a:xfrm>
          <a:prstGeom prst="rect">
            <a:avLst/>
          </a:prstGeom>
          <a:noFill/>
          <a:ln/>
        </p:spPr>
        <p:txBody>
          <a:bodyPr wrap="square" lIns="25400" tIns="25400" rIns="25400" bIns="25400" rtlCol="0" anchor="t">
            <a:normAutofit/>
          </a:bodyPr>
          <a:lstStyle/>
          <a:p>
            <a:pPr algn="l" indent="0" marL="0">
              <a:buNone/>
            </a:pPr>
            <a:r>
              <a:rPr lang="en-US" sz="975" dirty="0">
                <a:solidFill>
                  <a:srgbClr val="5E7350"/>
                </a:solidFill>
                <a:latin typeface="Courier New" pitchFamily="34" charset="0"/>
                <a:ea typeface="Courier New" pitchFamily="34" charset="-122"/>
                <a:cs typeface="Courier New" pitchFamily="34" charset="-120"/>
              </a:rPr>
              <a:t>WITH PACKET</a:t>
            </a:r>
            <a:endParaRPr lang="en-US" sz="975" dirty="0"/>
          </a:p>
        </p:txBody>
      </p:sp>
      <p:sp>
        <p:nvSpPr>
          <p:cNvPr id="19" name="Text 17"/>
          <p:cNvSpPr/>
          <p:nvPr/>
        </p:nvSpPr>
        <p:spPr>
          <a:xfrm>
            <a:off x="2851785" y="5637133"/>
            <a:ext cx="1199555" cy="400050"/>
          </a:xfrm>
          <a:prstGeom prst="rect">
            <a:avLst/>
          </a:prstGeom>
          <a:noFill/>
          <a:ln/>
        </p:spPr>
        <p:txBody>
          <a:bodyPr wrap="square" lIns="25400" tIns="25400" rIns="25400" bIns="25400" rtlCol="0" anchor="t">
            <a:normAutofit/>
          </a:bodyPr>
          <a:lstStyle/>
          <a:p>
            <a:pPr algn="l" indent="0" marL="0">
              <a:lnSpc>
                <a:spcPct val="100000"/>
              </a:lnSpc>
              <a:buNone/>
            </a:pPr>
            <a:r>
              <a:rPr lang="en-US" sz="2850" dirty="0">
                <a:solidFill>
                  <a:srgbClr val="5E7350"/>
                </a:solidFill>
                <a:latin typeface="Georgia" pitchFamily="34" charset="0"/>
                <a:ea typeface="Georgia" pitchFamily="34" charset="-122"/>
                <a:cs typeface="Georgia" pitchFamily="34" charset="-120"/>
              </a:rPr>
              <a:t>15 min</a:t>
            </a:r>
            <a:endParaRPr lang="en-US" sz="2850" dirty="0"/>
          </a:p>
        </p:txBody>
      </p:sp>
      <p:sp>
        <p:nvSpPr>
          <p:cNvPr id="20" name="Shape 18"/>
          <p:cNvSpPr/>
          <p:nvPr/>
        </p:nvSpPr>
        <p:spPr>
          <a:xfrm>
            <a:off x="1036320" y="7492365"/>
            <a:ext cx="4886920" cy="9525"/>
          </a:xfrm>
          <a:prstGeom prst="rect">
            <a:avLst/>
          </a:prstGeom>
          <a:solidFill>
            <a:srgbClr val="E2DACE"/>
          </a:solidFill>
          <a:ln/>
        </p:spPr>
      </p:sp>
      <p:sp>
        <p:nvSpPr>
          <p:cNvPr id="21" name="Text 19"/>
          <p:cNvSpPr/>
          <p:nvPr/>
        </p:nvSpPr>
        <p:spPr>
          <a:xfrm>
            <a:off x="1036320" y="7654290"/>
            <a:ext cx="5375612" cy="182880"/>
          </a:xfrm>
          <a:prstGeom prst="rect">
            <a:avLst/>
          </a:prstGeom>
          <a:noFill/>
          <a:ln/>
        </p:spPr>
        <p:txBody>
          <a:bodyPr wrap="square" lIns="25400" tIns="25400" rIns="25400" bIns="25400" rtlCol="0" anchor="t">
            <a:normAutofit/>
          </a:bodyPr>
          <a:lstStyle/>
          <a:p>
            <a:pPr algn="l" indent="0" marL="0">
              <a:buNone/>
            </a:pPr>
            <a:r>
              <a:rPr lang="en-US" sz="900" spc="144" kern="0" dirty="0">
                <a:solidFill>
                  <a:srgbClr val="94897A"/>
                </a:solidFill>
                <a:latin typeface="Courier New" pitchFamily="34" charset="0"/>
                <a:ea typeface="Courier New" pitchFamily="34" charset="-122"/>
                <a:cs typeface="Courier New" pitchFamily="34" charset="-120"/>
              </a:rPr>
              <a:t>HOW IT’S MEASURED</a:t>
            </a:r>
            <a:endParaRPr lang="en-US" sz="900" dirty="0"/>
          </a:p>
        </p:txBody>
      </p:sp>
      <p:sp>
        <p:nvSpPr>
          <p:cNvPr id="22" name="Text 20"/>
          <p:cNvSpPr/>
          <p:nvPr/>
        </p:nvSpPr>
        <p:spPr>
          <a:xfrm>
            <a:off x="1036320" y="7962900"/>
            <a:ext cx="952500" cy="198120"/>
          </a:xfrm>
          <a:prstGeom prst="rect">
            <a:avLst/>
          </a:prstGeom>
          <a:noFill/>
          <a:ln/>
        </p:spPr>
        <p:txBody>
          <a:bodyPr wrap="square" lIns="25400" tIns="25400" rIns="25400" bIns="25400" rtlCol="0" anchor="t">
            <a:normAutofit/>
          </a:bodyPr>
          <a:lstStyle/>
          <a:p>
            <a:pPr algn="l" indent="0" marL="0">
              <a:buNone/>
            </a:pPr>
            <a:r>
              <a:rPr lang="en-US" sz="975" spc="39" kern="0" dirty="0">
                <a:solidFill>
                  <a:srgbClr val="B23B26"/>
                </a:solidFill>
                <a:latin typeface="Courier New" pitchFamily="34" charset="0"/>
                <a:ea typeface="Courier New" pitchFamily="34" charset="-122"/>
                <a:cs typeface="Courier New" pitchFamily="34" charset="-120"/>
              </a:rPr>
              <a:t>LOG FILE</a:t>
            </a:r>
            <a:endParaRPr lang="en-US" sz="975" dirty="0"/>
          </a:p>
        </p:txBody>
      </p:sp>
      <p:sp>
        <p:nvSpPr>
          <p:cNvPr id="23" name="Text 21"/>
          <p:cNvSpPr/>
          <p:nvPr/>
        </p:nvSpPr>
        <p:spPr>
          <a:xfrm>
            <a:off x="2045970" y="7932420"/>
            <a:ext cx="1469469" cy="258128"/>
          </a:xfrm>
          <a:prstGeom prst="rect">
            <a:avLst/>
          </a:prstGeom>
          <a:noFill/>
          <a:ln/>
        </p:spPr>
        <p:txBody>
          <a:bodyPr wrap="square" lIns="25400" tIns="25400" rIns="25400" bIns="25400" rtlCol="0" anchor="t">
            <a:normAutofit/>
          </a:bodyPr>
          <a:lstStyle/>
          <a:p>
            <a:pPr algn="l" indent="0" marL="0">
              <a:lnSpc>
                <a:spcPct val="140000"/>
              </a:lnSpc>
              <a:buNone/>
            </a:pPr>
            <a:r>
              <a:rPr lang="en-US" sz="1238" dirty="0">
                <a:solidFill>
                  <a:srgbClr val="4A443B"/>
                </a:solidFill>
                <a:latin typeface="Arial" pitchFamily="34" charset="0"/>
                <a:ea typeface="Arial" pitchFamily="34" charset="-122"/>
                <a:cs typeface="Arial" pitchFamily="34" charset="-120"/>
              </a:rPr>
              <a:t>prep_time_log.csv</a:t>
            </a:r>
            <a:endParaRPr lang="en-US" sz="1238" dirty="0"/>
          </a:p>
        </p:txBody>
      </p:sp>
      <p:sp>
        <p:nvSpPr>
          <p:cNvPr id="24" name="Text 22"/>
          <p:cNvSpPr/>
          <p:nvPr/>
        </p:nvSpPr>
        <p:spPr>
          <a:xfrm>
            <a:off x="1036320" y="8297228"/>
            <a:ext cx="952500" cy="198120"/>
          </a:xfrm>
          <a:prstGeom prst="rect">
            <a:avLst/>
          </a:prstGeom>
          <a:noFill/>
          <a:ln/>
        </p:spPr>
        <p:txBody>
          <a:bodyPr wrap="square" lIns="25400" tIns="25400" rIns="25400" bIns="25400" rtlCol="0" anchor="t">
            <a:normAutofit/>
          </a:bodyPr>
          <a:lstStyle/>
          <a:p>
            <a:pPr algn="l" indent="0" marL="0">
              <a:buNone/>
            </a:pPr>
            <a:r>
              <a:rPr lang="en-US" sz="975" spc="39" kern="0" dirty="0">
                <a:solidFill>
                  <a:srgbClr val="B23B26"/>
                </a:solidFill>
                <a:latin typeface="Courier New" pitchFamily="34" charset="0"/>
                <a:ea typeface="Courier New" pitchFamily="34" charset="-122"/>
                <a:cs typeface="Courier New" pitchFamily="34" charset="-120"/>
              </a:rPr>
              <a:t>FIELDS</a:t>
            </a:r>
            <a:endParaRPr lang="en-US" sz="975" dirty="0"/>
          </a:p>
        </p:txBody>
      </p:sp>
      <p:sp>
        <p:nvSpPr>
          <p:cNvPr id="25" name="Text 23"/>
          <p:cNvSpPr/>
          <p:nvPr/>
        </p:nvSpPr>
        <p:spPr>
          <a:xfrm>
            <a:off x="2045970" y="8266748"/>
            <a:ext cx="2324695" cy="258128"/>
          </a:xfrm>
          <a:prstGeom prst="rect">
            <a:avLst/>
          </a:prstGeom>
          <a:noFill/>
          <a:ln/>
        </p:spPr>
        <p:txBody>
          <a:bodyPr wrap="square" lIns="25400" tIns="25400" rIns="25400" bIns="25400" rtlCol="0" anchor="t">
            <a:normAutofit/>
          </a:bodyPr>
          <a:lstStyle/>
          <a:p>
            <a:pPr algn="l" indent="0" marL="0">
              <a:lnSpc>
                <a:spcPct val="140000"/>
              </a:lnSpc>
              <a:buNone/>
            </a:pPr>
            <a:r>
              <a:rPr lang="en-US" sz="1238" dirty="0">
                <a:solidFill>
                  <a:srgbClr val="4A443B"/>
                </a:solidFill>
                <a:latin typeface="Arial" pitchFamily="34" charset="0"/>
                <a:ea typeface="Arial" pitchFamily="34" charset="-122"/>
                <a:cs typeface="Arial" pitchFamily="34" charset="-120"/>
              </a:rPr>
              <a:t>prep_seconds, prep_minutes</a:t>
            </a:r>
            <a:endParaRPr lang="en-US" sz="1238" dirty="0"/>
          </a:p>
        </p:txBody>
      </p:sp>
      <p:sp>
        <p:nvSpPr>
          <p:cNvPr id="26" name="Text 24"/>
          <p:cNvSpPr/>
          <p:nvPr/>
        </p:nvSpPr>
        <p:spPr>
          <a:xfrm>
            <a:off x="1036320" y="8631555"/>
            <a:ext cx="952500" cy="198120"/>
          </a:xfrm>
          <a:prstGeom prst="rect">
            <a:avLst/>
          </a:prstGeom>
          <a:noFill/>
          <a:ln/>
        </p:spPr>
        <p:txBody>
          <a:bodyPr wrap="square" lIns="25400" tIns="25400" rIns="25400" bIns="25400" rtlCol="0" anchor="t">
            <a:normAutofit/>
          </a:bodyPr>
          <a:lstStyle/>
          <a:p>
            <a:pPr algn="l" indent="0" marL="0">
              <a:buNone/>
            </a:pPr>
            <a:r>
              <a:rPr lang="en-US" sz="975" spc="39" kern="0" dirty="0">
                <a:solidFill>
                  <a:srgbClr val="B23B26"/>
                </a:solidFill>
                <a:latin typeface="Courier New" pitchFamily="34" charset="0"/>
                <a:ea typeface="Courier New" pitchFamily="34" charset="-122"/>
                <a:cs typeface="Courier New" pitchFamily="34" charset="-120"/>
              </a:rPr>
              <a:t>HOW</a:t>
            </a:r>
            <a:endParaRPr lang="en-US" sz="975" dirty="0"/>
          </a:p>
        </p:txBody>
      </p:sp>
      <p:sp>
        <p:nvSpPr>
          <p:cNvPr id="27" name="Text 25"/>
          <p:cNvSpPr/>
          <p:nvPr/>
        </p:nvSpPr>
        <p:spPr>
          <a:xfrm>
            <a:off x="2045970" y="8601075"/>
            <a:ext cx="4151971" cy="258128"/>
          </a:xfrm>
          <a:prstGeom prst="rect">
            <a:avLst/>
          </a:prstGeom>
          <a:noFill/>
          <a:ln/>
        </p:spPr>
        <p:txBody>
          <a:bodyPr wrap="square" lIns="25400" tIns="25400" rIns="25400" bIns="25400" rtlCol="0" anchor="t">
            <a:normAutofit/>
          </a:bodyPr>
          <a:lstStyle/>
          <a:p>
            <a:pPr algn="l" indent="0" marL="0">
              <a:lnSpc>
                <a:spcPct val="140000"/>
              </a:lnSpc>
              <a:buNone/>
            </a:pPr>
            <a:r>
              <a:rPr lang="en-US" sz="1238" dirty="0">
                <a:solidFill>
                  <a:srgbClr val="4A443B"/>
                </a:solidFill>
                <a:latin typeface="Arial" pitchFamily="34" charset="0"/>
                <a:ea typeface="Arial" pitchFamily="34" charset="-122"/>
                <a:cs typeface="Arial" pitchFamily="34" charset="-120"/>
              </a:rPr>
              <a:t>timer starts on render, stops on “Ready for meeting”</a:t>
            </a:r>
            <a:endParaRPr lang="en-US" sz="1238" dirty="0"/>
          </a:p>
        </p:txBody>
      </p:sp>
      <p:sp>
        <p:nvSpPr>
          <p:cNvPr id="28" name="Text 26"/>
          <p:cNvSpPr/>
          <p:nvPr/>
        </p:nvSpPr>
        <p:spPr>
          <a:xfrm>
            <a:off x="1036320" y="8965882"/>
            <a:ext cx="952500" cy="198120"/>
          </a:xfrm>
          <a:prstGeom prst="rect">
            <a:avLst/>
          </a:prstGeom>
          <a:noFill/>
          <a:ln/>
        </p:spPr>
        <p:txBody>
          <a:bodyPr wrap="square" lIns="25400" tIns="25400" rIns="25400" bIns="25400" rtlCol="0" anchor="t">
            <a:normAutofit/>
          </a:bodyPr>
          <a:lstStyle/>
          <a:p>
            <a:pPr algn="l" indent="0" marL="0">
              <a:buNone/>
            </a:pPr>
            <a:r>
              <a:rPr lang="en-US" sz="975" spc="39" kern="0" dirty="0">
                <a:solidFill>
                  <a:srgbClr val="B23B26"/>
                </a:solidFill>
                <a:latin typeface="Courier New" pitchFamily="34" charset="0"/>
                <a:ea typeface="Courier New" pitchFamily="34" charset="-122"/>
                <a:cs typeface="Courier New" pitchFamily="34" charset="-120"/>
              </a:rPr>
              <a:t>STATUS</a:t>
            </a:r>
            <a:endParaRPr lang="en-US" sz="975" dirty="0"/>
          </a:p>
        </p:txBody>
      </p:sp>
      <p:sp>
        <p:nvSpPr>
          <p:cNvPr id="29" name="Text 27"/>
          <p:cNvSpPr/>
          <p:nvPr/>
        </p:nvSpPr>
        <p:spPr>
          <a:xfrm>
            <a:off x="2045970" y="8935403"/>
            <a:ext cx="1348847" cy="258128"/>
          </a:xfrm>
          <a:prstGeom prst="rect">
            <a:avLst/>
          </a:prstGeom>
          <a:noFill/>
          <a:ln/>
        </p:spPr>
        <p:txBody>
          <a:bodyPr wrap="square" lIns="25400" tIns="25400" rIns="25400" bIns="25400" rtlCol="0" anchor="t">
            <a:normAutofit/>
          </a:bodyPr>
          <a:lstStyle/>
          <a:p>
            <a:pPr algn="l" indent="0" marL="0">
              <a:lnSpc>
                <a:spcPct val="140000"/>
              </a:lnSpc>
              <a:buNone/>
            </a:pPr>
            <a:r>
              <a:rPr lang="en-US" sz="1238" dirty="0">
                <a:solidFill>
                  <a:srgbClr val="4A443B"/>
                </a:solidFill>
                <a:latin typeface="Arial" pitchFamily="34" charset="0"/>
                <a:ea typeface="Arial" pitchFamily="34" charset="-122"/>
                <a:cs typeface="Arial" pitchFamily="34" charset="-120"/>
              </a:rPr>
              <a:t>Live in prototype</a:t>
            </a:r>
            <a:endParaRPr lang="en-US" sz="1238" dirty="0"/>
          </a:p>
        </p:txBody>
      </p:sp>
      <p:sp>
        <p:nvSpPr>
          <p:cNvPr id="30" name="Shape 28"/>
          <p:cNvSpPr/>
          <p:nvPr/>
        </p:nvSpPr>
        <p:spPr>
          <a:xfrm>
            <a:off x="6426161" y="1794272"/>
            <a:ext cx="5435561" cy="7654528"/>
          </a:xfrm>
          <a:prstGeom prst="roundRect">
            <a:avLst>
              <a:gd name="adj" fmla="val 701"/>
            </a:avLst>
          </a:prstGeom>
          <a:solidFill>
            <a:srgbClr val="FBF8F2"/>
          </a:solidFill>
          <a:ln/>
        </p:spPr>
      </p:sp>
      <p:sp>
        <p:nvSpPr>
          <p:cNvPr id="31" name="Shape 29"/>
          <p:cNvSpPr/>
          <p:nvPr/>
        </p:nvSpPr>
        <p:spPr>
          <a:xfrm>
            <a:off x="6426161" y="9441180"/>
            <a:ext cx="5435561" cy="9525"/>
          </a:xfrm>
          <a:prstGeom prst="rect">
            <a:avLst/>
          </a:prstGeom>
          <a:solidFill>
            <a:srgbClr val="DDD4C6"/>
          </a:solidFill>
          <a:ln/>
        </p:spPr>
      </p:sp>
      <p:sp>
        <p:nvSpPr>
          <p:cNvPr id="32" name="Shape 30"/>
          <p:cNvSpPr/>
          <p:nvPr/>
        </p:nvSpPr>
        <p:spPr>
          <a:xfrm>
            <a:off x="6426161" y="1794272"/>
            <a:ext cx="5435561" cy="22860"/>
          </a:xfrm>
          <a:prstGeom prst="rect">
            <a:avLst/>
          </a:prstGeom>
          <a:solidFill>
            <a:srgbClr val="5E7350"/>
          </a:solidFill>
          <a:ln/>
        </p:spPr>
      </p:sp>
      <p:sp>
        <p:nvSpPr>
          <p:cNvPr id="33" name="Shape 31"/>
          <p:cNvSpPr/>
          <p:nvPr/>
        </p:nvSpPr>
        <p:spPr>
          <a:xfrm>
            <a:off x="6426161" y="1794272"/>
            <a:ext cx="9525" cy="7654528"/>
          </a:xfrm>
          <a:prstGeom prst="rect">
            <a:avLst/>
          </a:prstGeom>
          <a:solidFill>
            <a:srgbClr val="DDD4C6"/>
          </a:solidFill>
          <a:ln/>
        </p:spPr>
      </p:sp>
      <p:sp>
        <p:nvSpPr>
          <p:cNvPr id="34" name="Shape 32"/>
          <p:cNvSpPr/>
          <p:nvPr/>
        </p:nvSpPr>
        <p:spPr>
          <a:xfrm>
            <a:off x="11854101" y="1794272"/>
            <a:ext cx="9525" cy="7654528"/>
          </a:xfrm>
          <a:prstGeom prst="rect">
            <a:avLst/>
          </a:prstGeom>
          <a:solidFill>
            <a:srgbClr val="DDD4C6"/>
          </a:solidFill>
          <a:ln/>
        </p:spPr>
      </p:sp>
      <p:sp>
        <p:nvSpPr>
          <p:cNvPr id="35" name="Shape 33"/>
          <p:cNvSpPr/>
          <p:nvPr/>
        </p:nvSpPr>
        <p:spPr>
          <a:xfrm>
            <a:off x="6700481" y="2102882"/>
            <a:ext cx="1973580" cy="220980"/>
          </a:xfrm>
          <a:prstGeom prst="roundRect">
            <a:avLst>
              <a:gd name="adj" fmla="val 8621"/>
            </a:avLst>
          </a:prstGeom>
          <a:solidFill>
            <a:srgbClr val="5E7350"/>
          </a:solidFill>
          <a:ln/>
        </p:spPr>
      </p:sp>
      <p:sp>
        <p:nvSpPr>
          <p:cNvPr id="36" name="Text 34"/>
          <p:cNvSpPr/>
          <p:nvPr/>
        </p:nvSpPr>
        <p:spPr>
          <a:xfrm>
            <a:off x="6795731" y="2140982"/>
            <a:ext cx="1859280" cy="182880"/>
          </a:xfrm>
          <a:prstGeom prst="rect">
            <a:avLst/>
          </a:prstGeom>
          <a:noFill/>
          <a:ln/>
        </p:spPr>
        <p:txBody>
          <a:bodyPr wrap="square" lIns="25400" tIns="25400" rIns="25400" bIns="25400" rtlCol="0" anchor="t">
            <a:normAutofit/>
          </a:bodyPr>
          <a:lstStyle/>
          <a:p>
            <a:pPr algn="l" indent="0" marL="0">
              <a:buNone/>
            </a:pPr>
            <a:r>
              <a:rPr lang="en-US" sz="900" spc="162" kern="0" dirty="0">
                <a:solidFill>
                  <a:srgbClr val="FFFFFF"/>
                </a:solidFill>
                <a:latin typeface="Courier New" pitchFamily="34" charset="0"/>
                <a:ea typeface="Courier New" pitchFamily="34" charset="-122"/>
                <a:cs typeface="Courier New" pitchFamily="34" charset="-120"/>
              </a:rPr>
              <a:t>SECONDARY · ADOPTION</a:t>
            </a:r>
            <a:endParaRPr lang="en-US" sz="900" dirty="0"/>
          </a:p>
        </p:txBody>
      </p:sp>
      <p:sp>
        <p:nvSpPr>
          <p:cNvPr id="37" name="Text 35"/>
          <p:cNvSpPr/>
          <p:nvPr/>
        </p:nvSpPr>
        <p:spPr>
          <a:xfrm>
            <a:off x="8769311" y="2125742"/>
            <a:ext cx="1877568" cy="21336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94897A"/>
                </a:solidFill>
                <a:latin typeface="Courier New" pitchFamily="34" charset="0"/>
                <a:ea typeface="Courier New" pitchFamily="34" charset="-122"/>
                <a:cs typeface="Courier New" pitchFamily="34" charset="-120"/>
              </a:rPr>
              <a:t>Are people using it?</a:t>
            </a:r>
            <a:endParaRPr lang="en-US" sz="1050" dirty="0"/>
          </a:p>
        </p:txBody>
      </p:sp>
      <p:sp>
        <p:nvSpPr>
          <p:cNvPr id="38" name="Text 36"/>
          <p:cNvSpPr/>
          <p:nvPr/>
        </p:nvSpPr>
        <p:spPr>
          <a:xfrm>
            <a:off x="6700481" y="2476262"/>
            <a:ext cx="5375612" cy="356949"/>
          </a:xfrm>
          <a:prstGeom prst="rect">
            <a:avLst/>
          </a:prstGeom>
          <a:noFill/>
          <a:ln/>
        </p:spPr>
        <p:txBody>
          <a:bodyPr wrap="square" lIns="25400" tIns="25400" rIns="25400" bIns="25400" rtlCol="0" anchor="t">
            <a:normAutofit/>
          </a:bodyPr>
          <a:lstStyle/>
          <a:p>
            <a:pPr algn="l" indent="0" marL="0">
              <a:lnSpc>
                <a:spcPct val="108000"/>
              </a:lnSpc>
              <a:buNone/>
            </a:pPr>
            <a:r>
              <a:rPr lang="en-US" sz="2325" dirty="0">
                <a:solidFill>
                  <a:srgbClr val="221D17"/>
                </a:solidFill>
                <a:latin typeface="Georgia" pitchFamily="34" charset="0"/>
                <a:ea typeface="Georgia" pitchFamily="34" charset="-122"/>
                <a:cs typeface="Georgia" pitchFamily="34" charset="-120"/>
              </a:rPr>
              <a:t>Packet adoption rate</a:t>
            </a:r>
            <a:endParaRPr lang="en-US" sz="2325" dirty="0"/>
          </a:p>
        </p:txBody>
      </p:sp>
      <p:sp>
        <p:nvSpPr>
          <p:cNvPr id="39" name="Text 37"/>
          <p:cNvSpPr/>
          <p:nvPr/>
        </p:nvSpPr>
        <p:spPr>
          <a:xfrm>
            <a:off x="6700481" y="2928461"/>
            <a:ext cx="5033528" cy="923925"/>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4A443B"/>
                </a:solidFill>
                <a:latin typeface="Arial" pitchFamily="34" charset="0"/>
                <a:ea typeface="Arial" pitchFamily="34" charset="-122"/>
                <a:cs typeface="Arial" pitchFamily="34" charset="-120"/>
              </a:rPr>
              <a:t>% of upcoming meetings where the manager opens and uses the prep packet before walking in. The cleanest adoption signal there is.</a:t>
            </a:r>
            <a:endParaRPr lang="en-US" sz="1500" dirty="0"/>
          </a:p>
        </p:txBody>
      </p:sp>
      <p:sp>
        <p:nvSpPr>
          <p:cNvPr id="40" name="Text 38"/>
          <p:cNvSpPr/>
          <p:nvPr/>
        </p:nvSpPr>
        <p:spPr>
          <a:xfrm>
            <a:off x="6700481" y="5258514"/>
            <a:ext cx="5375612" cy="198120"/>
          </a:xfrm>
          <a:prstGeom prst="rect">
            <a:avLst/>
          </a:prstGeom>
          <a:noFill/>
          <a:ln/>
        </p:spPr>
        <p:txBody>
          <a:bodyPr wrap="square" lIns="25400" tIns="25400" rIns="25400" bIns="25400" rtlCol="0" anchor="t">
            <a:normAutofit/>
          </a:bodyPr>
          <a:lstStyle/>
          <a:p>
            <a:pPr algn="l" indent="0" marL="0">
              <a:buNone/>
            </a:pPr>
            <a:r>
              <a:rPr lang="en-US" sz="975" dirty="0">
                <a:solidFill>
                  <a:srgbClr val="94897A"/>
                </a:solidFill>
                <a:latin typeface="Courier New" pitchFamily="34" charset="0"/>
                <a:ea typeface="Courier New" pitchFamily="34" charset="-122"/>
                <a:cs typeface="Courier New" pitchFamily="34" charset="-120"/>
              </a:rPr>
              <a:t>TARGET · BY PHASE 2</a:t>
            </a:r>
            <a:endParaRPr lang="en-US" sz="975" dirty="0"/>
          </a:p>
        </p:txBody>
      </p:sp>
      <p:sp>
        <p:nvSpPr>
          <p:cNvPr id="41" name="Text 39"/>
          <p:cNvSpPr/>
          <p:nvPr/>
        </p:nvSpPr>
        <p:spPr>
          <a:xfrm>
            <a:off x="6700481" y="5466159"/>
            <a:ext cx="5375612" cy="400050"/>
          </a:xfrm>
          <a:prstGeom prst="rect">
            <a:avLst/>
          </a:prstGeom>
          <a:noFill/>
          <a:ln/>
        </p:spPr>
        <p:txBody>
          <a:bodyPr wrap="square" lIns="25400" tIns="25400" rIns="25400" bIns="25400" rtlCol="0" anchor="t">
            <a:normAutofit/>
          </a:bodyPr>
          <a:lstStyle/>
          <a:p>
            <a:pPr algn="l" indent="0" marL="0">
              <a:lnSpc>
                <a:spcPct val="100000"/>
              </a:lnSpc>
              <a:buNone/>
            </a:pPr>
            <a:r>
              <a:rPr lang="en-US" sz="2850" dirty="0">
                <a:solidFill>
                  <a:srgbClr val="5E7350"/>
                </a:solidFill>
                <a:latin typeface="Georgia" pitchFamily="34" charset="0"/>
                <a:ea typeface="Georgia" pitchFamily="34" charset="-122"/>
                <a:cs typeface="Georgia" pitchFamily="34" charset="-120"/>
              </a:rPr>
              <a:t>&gt;80%</a:t>
            </a:r>
            <a:endParaRPr lang="en-US" sz="2850" dirty="0"/>
          </a:p>
        </p:txBody>
      </p:sp>
      <p:sp>
        <p:nvSpPr>
          <p:cNvPr id="42" name="Shape 40"/>
          <p:cNvSpPr/>
          <p:nvPr/>
        </p:nvSpPr>
        <p:spPr>
          <a:xfrm>
            <a:off x="6700481" y="7272338"/>
            <a:ext cx="4886920" cy="9525"/>
          </a:xfrm>
          <a:prstGeom prst="rect">
            <a:avLst/>
          </a:prstGeom>
          <a:solidFill>
            <a:srgbClr val="E2DACE"/>
          </a:solidFill>
          <a:ln/>
        </p:spPr>
      </p:sp>
      <p:sp>
        <p:nvSpPr>
          <p:cNvPr id="43" name="Text 41"/>
          <p:cNvSpPr/>
          <p:nvPr/>
        </p:nvSpPr>
        <p:spPr>
          <a:xfrm>
            <a:off x="6700481" y="7434263"/>
            <a:ext cx="5375612" cy="182880"/>
          </a:xfrm>
          <a:prstGeom prst="rect">
            <a:avLst/>
          </a:prstGeom>
          <a:noFill/>
          <a:ln/>
        </p:spPr>
        <p:txBody>
          <a:bodyPr wrap="square" lIns="25400" tIns="25400" rIns="25400" bIns="25400" rtlCol="0" anchor="t">
            <a:normAutofit/>
          </a:bodyPr>
          <a:lstStyle/>
          <a:p>
            <a:pPr algn="l" indent="0" marL="0">
              <a:buNone/>
            </a:pPr>
            <a:r>
              <a:rPr lang="en-US" sz="900" spc="144" kern="0" dirty="0">
                <a:solidFill>
                  <a:srgbClr val="94897A"/>
                </a:solidFill>
                <a:latin typeface="Courier New" pitchFamily="34" charset="0"/>
                <a:ea typeface="Courier New" pitchFamily="34" charset="-122"/>
                <a:cs typeface="Courier New" pitchFamily="34" charset="-120"/>
              </a:rPr>
              <a:t>HOW IT’S MEASURED</a:t>
            </a:r>
            <a:endParaRPr lang="en-US" sz="900" dirty="0"/>
          </a:p>
        </p:txBody>
      </p:sp>
      <p:sp>
        <p:nvSpPr>
          <p:cNvPr id="44" name="Text 42"/>
          <p:cNvSpPr/>
          <p:nvPr/>
        </p:nvSpPr>
        <p:spPr>
          <a:xfrm>
            <a:off x="6700481" y="7742873"/>
            <a:ext cx="952500" cy="198120"/>
          </a:xfrm>
          <a:prstGeom prst="rect">
            <a:avLst/>
          </a:prstGeom>
          <a:noFill/>
          <a:ln/>
        </p:spPr>
        <p:txBody>
          <a:bodyPr wrap="square" lIns="25400" tIns="25400" rIns="25400" bIns="25400" rtlCol="0" anchor="t">
            <a:normAutofit/>
          </a:bodyPr>
          <a:lstStyle/>
          <a:p>
            <a:pPr algn="l" indent="0" marL="0">
              <a:buNone/>
            </a:pPr>
            <a:r>
              <a:rPr lang="en-US" sz="975" spc="39" kern="0" dirty="0">
                <a:solidFill>
                  <a:srgbClr val="5E7350"/>
                </a:solidFill>
                <a:latin typeface="Courier New" pitchFamily="34" charset="0"/>
                <a:ea typeface="Courier New" pitchFamily="34" charset="-122"/>
                <a:cs typeface="Courier New" pitchFamily="34" charset="-120"/>
              </a:rPr>
              <a:t>LOG FILE</a:t>
            </a:r>
            <a:endParaRPr lang="en-US" sz="975" dirty="0"/>
          </a:p>
        </p:txBody>
      </p:sp>
      <p:sp>
        <p:nvSpPr>
          <p:cNvPr id="45" name="Text 43"/>
          <p:cNvSpPr/>
          <p:nvPr/>
        </p:nvSpPr>
        <p:spPr>
          <a:xfrm>
            <a:off x="7710131" y="7712393"/>
            <a:ext cx="1469469" cy="258128"/>
          </a:xfrm>
          <a:prstGeom prst="rect">
            <a:avLst/>
          </a:prstGeom>
          <a:noFill/>
          <a:ln/>
        </p:spPr>
        <p:txBody>
          <a:bodyPr wrap="square" lIns="25400" tIns="25400" rIns="25400" bIns="25400" rtlCol="0" anchor="t">
            <a:normAutofit/>
          </a:bodyPr>
          <a:lstStyle/>
          <a:p>
            <a:pPr algn="l" indent="0" marL="0">
              <a:lnSpc>
                <a:spcPct val="140000"/>
              </a:lnSpc>
              <a:buNone/>
            </a:pPr>
            <a:r>
              <a:rPr lang="en-US" sz="1238" dirty="0">
                <a:solidFill>
                  <a:srgbClr val="4A443B"/>
                </a:solidFill>
                <a:latin typeface="Arial" pitchFamily="34" charset="0"/>
                <a:ea typeface="Arial" pitchFamily="34" charset="-122"/>
                <a:cs typeface="Arial" pitchFamily="34" charset="-120"/>
              </a:rPr>
              <a:t>prep_time_log.csv</a:t>
            </a:r>
            <a:endParaRPr lang="en-US" sz="1238" dirty="0"/>
          </a:p>
        </p:txBody>
      </p:sp>
      <p:sp>
        <p:nvSpPr>
          <p:cNvPr id="46" name="Text 44"/>
          <p:cNvSpPr/>
          <p:nvPr/>
        </p:nvSpPr>
        <p:spPr>
          <a:xfrm>
            <a:off x="6700481" y="8077200"/>
            <a:ext cx="952500" cy="198120"/>
          </a:xfrm>
          <a:prstGeom prst="rect">
            <a:avLst/>
          </a:prstGeom>
          <a:noFill/>
          <a:ln/>
        </p:spPr>
        <p:txBody>
          <a:bodyPr wrap="square" lIns="25400" tIns="25400" rIns="25400" bIns="25400" rtlCol="0" anchor="t">
            <a:normAutofit/>
          </a:bodyPr>
          <a:lstStyle/>
          <a:p>
            <a:pPr algn="l" indent="0" marL="0">
              <a:buNone/>
            </a:pPr>
            <a:r>
              <a:rPr lang="en-US" sz="975" spc="39" kern="0" dirty="0">
                <a:solidFill>
                  <a:srgbClr val="5E7350"/>
                </a:solidFill>
                <a:latin typeface="Courier New" pitchFamily="34" charset="0"/>
                <a:ea typeface="Courier New" pitchFamily="34" charset="-122"/>
                <a:cs typeface="Courier New" pitchFamily="34" charset="-120"/>
              </a:rPr>
              <a:t>FIELDS</a:t>
            </a:r>
            <a:endParaRPr lang="en-US" sz="975" dirty="0"/>
          </a:p>
        </p:txBody>
      </p:sp>
      <p:sp>
        <p:nvSpPr>
          <p:cNvPr id="47" name="Text 45"/>
          <p:cNvSpPr/>
          <p:nvPr/>
        </p:nvSpPr>
        <p:spPr>
          <a:xfrm>
            <a:off x="7710131" y="8046720"/>
            <a:ext cx="3993588" cy="478155"/>
          </a:xfrm>
          <a:prstGeom prst="rect">
            <a:avLst/>
          </a:prstGeom>
          <a:noFill/>
          <a:ln/>
        </p:spPr>
        <p:txBody>
          <a:bodyPr wrap="square" lIns="25400" tIns="25400" rIns="25400" bIns="25400" rtlCol="0" anchor="t">
            <a:normAutofit/>
          </a:bodyPr>
          <a:lstStyle/>
          <a:p>
            <a:pPr algn="l" indent="0" marL="0">
              <a:lnSpc>
                <a:spcPct val="140000"/>
              </a:lnSpc>
              <a:buNone/>
            </a:pPr>
            <a:r>
              <a:rPr lang="en-US" sz="1238" dirty="0">
                <a:solidFill>
                  <a:srgbClr val="4A443B"/>
                </a:solidFill>
                <a:latin typeface="Arial" pitchFamily="34" charset="0"/>
                <a:ea typeface="Arial" pitchFamily="34" charset="-122"/>
                <a:cs typeface="Arial" pitchFamily="34" charset="-120"/>
              </a:rPr>
              <a:t>packets generated, packets opened, calendar.csv meetings</a:t>
            </a:r>
            <a:endParaRPr lang="en-US" sz="1238" dirty="0"/>
          </a:p>
        </p:txBody>
      </p:sp>
      <p:sp>
        <p:nvSpPr>
          <p:cNvPr id="48" name="Text 46"/>
          <p:cNvSpPr/>
          <p:nvPr/>
        </p:nvSpPr>
        <p:spPr>
          <a:xfrm>
            <a:off x="6700481" y="8631555"/>
            <a:ext cx="952500" cy="198120"/>
          </a:xfrm>
          <a:prstGeom prst="rect">
            <a:avLst/>
          </a:prstGeom>
          <a:noFill/>
          <a:ln/>
        </p:spPr>
        <p:txBody>
          <a:bodyPr wrap="square" lIns="25400" tIns="25400" rIns="25400" bIns="25400" rtlCol="0" anchor="t">
            <a:normAutofit/>
          </a:bodyPr>
          <a:lstStyle/>
          <a:p>
            <a:pPr algn="l" indent="0" marL="0">
              <a:buNone/>
            </a:pPr>
            <a:r>
              <a:rPr lang="en-US" sz="975" spc="39" kern="0" dirty="0">
                <a:solidFill>
                  <a:srgbClr val="5E7350"/>
                </a:solidFill>
                <a:latin typeface="Courier New" pitchFamily="34" charset="0"/>
                <a:ea typeface="Courier New" pitchFamily="34" charset="-122"/>
                <a:cs typeface="Courier New" pitchFamily="34" charset="-120"/>
              </a:rPr>
              <a:t>HOW</a:t>
            </a:r>
            <a:endParaRPr lang="en-US" sz="975" dirty="0"/>
          </a:p>
        </p:txBody>
      </p:sp>
      <p:sp>
        <p:nvSpPr>
          <p:cNvPr id="49" name="Text 47"/>
          <p:cNvSpPr/>
          <p:nvPr/>
        </p:nvSpPr>
        <p:spPr>
          <a:xfrm>
            <a:off x="7710131" y="8601075"/>
            <a:ext cx="4026896" cy="258128"/>
          </a:xfrm>
          <a:prstGeom prst="rect">
            <a:avLst/>
          </a:prstGeom>
          <a:noFill/>
          <a:ln/>
        </p:spPr>
        <p:txBody>
          <a:bodyPr wrap="square" lIns="25400" tIns="25400" rIns="25400" bIns="25400" rtlCol="0" anchor="t">
            <a:normAutofit/>
          </a:bodyPr>
          <a:lstStyle/>
          <a:p>
            <a:pPr algn="l" indent="0" marL="0">
              <a:lnSpc>
                <a:spcPct val="140000"/>
              </a:lnSpc>
              <a:buNone/>
            </a:pPr>
            <a:r>
              <a:rPr lang="en-US" sz="1238" dirty="0">
                <a:solidFill>
                  <a:srgbClr val="4A443B"/>
                </a:solidFill>
                <a:latin typeface="Arial" pitchFamily="34" charset="0"/>
                <a:ea typeface="Arial" pitchFamily="34" charset="-122"/>
                <a:cs typeface="Arial" pitchFamily="34" charset="-120"/>
              </a:rPr>
              <a:t>packets opened ÷ meetings × 100 (Python, no API)</a:t>
            </a:r>
            <a:endParaRPr lang="en-US" sz="1238" dirty="0"/>
          </a:p>
        </p:txBody>
      </p:sp>
      <p:sp>
        <p:nvSpPr>
          <p:cNvPr id="50" name="Text 48"/>
          <p:cNvSpPr/>
          <p:nvPr/>
        </p:nvSpPr>
        <p:spPr>
          <a:xfrm>
            <a:off x="6700481" y="8965882"/>
            <a:ext cx="952500" cy="198120"/>
          </a:xfrm>
          <a:prstGeom prst="rect">
            <a:avLst/>
          </a:prstGeom>
          <a:noFill/>
          <a:ln/>
        </p:spPr>
        <p:txBody>
          <a:bodyPr wrap="square" lIns="25400" tIns="25400" rIns="25400" bIns="25400" rtlCol="0" anchor="t">
            <a:normAutofit/>
          </a:bodyPr>
          <a:lstStyle/>
          <a:p>
            <a:pPr algn="l" indent="0" marL="0">
              <a:buNone/>
            </a:pPr>
            <a:r>
              <a:rPr lang="en-US" sz="975" spc="39" kern="0" dirty="0">
                <a:solidFill>
                  <a:srgbClr val="5E7350"/>
                </a:solidFill>
                <a:latin typeface="Courier New" pitchFamily="34" charset="0"/>
                <a:ea typeface="Courier New" pitchFamily="34" charset="-122"/>
                <a:cs typeface="Courier New" pitchFamily="34" charset="-120"/>
              </a:rPr>
              <a:t>STATUS</a:t>
            </a:r>
            <a:endParaRPr lang="en-US" sz="975" dirty="0"/>
          </a:p>
        </p:txBody>
      </p:sp>
      <p:sp>
        <p:nvSpPr>
          <p:cNvPr id="51" name="Text 49"/>
          <p:cNvSpPr/>
          <p:nvPr/>
        </p:nvSpPr>
        <p:spPr>
          <a:xfrm>
            <a:off x="7710131" y="8935403"/>
            <a:ext cx="1348847" cy="258128"/>
          </a:xfrm>
          <a:prstGeom prst="rect">
            <a:avLst/>
          </a:prstGeom>
          <a:noFill/>
          <a:ln/>
        </p:spPr>
        <p:txBody>
          <a:bodyPr wrap="square" lIns="25400" tIns="25400" rIns="25400" bIns="25400" rtlCol="0" anchor="t">
            <a:normAutofit/>
          </a:bodyPr>
          <a:lstStyle/>
          <a:p>
            <a:pPr algn="l" indent="0" marL="0">
              <a:lnSpc>
                <a:spcPct val="140000"/>
              </a:lnSpc>
              <a:buNone/>
            </a:pPr>
            <a:r>
              <a:rPr lang="en-US" sz="1238" dirty="0">
                <a:solidFill>
                  <a:srgbClr val="4A443B"/>
                </a:solidFill>
                <a:latin typeface="Arial" pitchFamily="34" charset="0"/>
                <a:ea typeface="Arial" pitchFamily="34" charset="-122"/>
                <a:cs typeface="Arial" pitchFamily="34" charset="-120"/>
              </a:rPr>
              <a:t>Live in prototype</a:t>
            </a:r>
            <a:endParaRPr lang="en-US" sz="1238" dirty="0"/>
          </a:p>
        </p:txBody>
      </p:sp>
      <p:sp>
        <p:nvSpPr>
          <p:cNvPr id="52" name="Shape 50"/>
          <p:cNvSpPr/>
          <p:nvPr/>
        </p:nvSpPr>
        <p:spPr>
          <a:xfrm>
            <a:off x="12090321" y="1794272"/>
            <a:ext cx="5435561" cy="7654528"/>
          </a:xfrm>
          <a:prstGeom prst="roundRect">
            <a:avLst>
              <a:gd name="adj" fmla="val 701"/>
            </a:avLst>
          </a:prstGeom>
          <a:solidFill>
            <a:srgbClr val="221D17"/>
          </a:solidFill>
          <a:ln/>
        </p:spPr>
      </p:sp>
      <p:sp>
        <p:nvSpPr>
          <p:cNvPr id="53" name="Shape 51"/>
          <p:cNvSpPr/>
          <p:nvPr/>
        </p:nvSpPr>
        <p:spPr>
          <a:xfrm>
            <a:off x="12090321" y="9441180"/>
            <a:ext cx="5435561" cy="9525"/>
          </a:xfrm>
          <a:prstGeom prst="rect">
            <a:avLst/>
          </a:prstGeom>
          <a:solidFill>
            <a:srgbClr val="221D17"/>
          </a:solidFill>
          <a:ln/>
        </p:spPr>
      </p:sp>
      <p:sp>
        <p:nvSpPr>
          <p:cNvPr id="54" name="Shape 52"/>
          <p:cNvSpPr/>
          <p:nvPr/>
        </p:nvSpPr>
        <p:spPr>
          <a:xfrm>
            <a:off x="12090321" y="1794272"/>
            <a:ext cx="5435561" cy="22860"/>
          </a:xfrm>
          <a:prstGeom prst="rect">
            <a:avLst/>
          </a:prstGeom>
          <a:solidFill>
            <a:srgbClr val="CB5238"/>
          </a:solidFill>
          <a:ln/>
        </p:spPr>
      </p:sp>
      <p:sp>
        <p:nvSpPr>
          <p:cNvPr id="55" name="Shape 53"/>
          <p:cNvSpPr/>
          <p:nvPr/>
        </p:nvSpPr>
        <p:spPr>
          <a:xfrm>
            <a:off x="12090321" y="1794272"/>
            <a:ext cx="9525" cy="7654528"/>
          </a:xfrm>
          <a:prstGeom prst="rect">
            <a:avLst/>
          </a:prstGeom>
          <a:solidFill>
            <a:srgbClr val="221D17"/>
          </a:solidFill>
          <a:ln/>
        </p:spPr>
      </p:sp>
      <p:sp>
        <p:nvSpPr>
          <p:cNvPr id="56" name="Shape 54"/>
          <p:cNvSpPr/>
          <p:nvPr/>
        </p:nvSpPr>
        <p:spPr>
          <a:xfrm>
            <a:off x="17518262" y="1794272"/>
            <a:ext cx="9525" cy="7654528"/>
          </a:xfrm>
          <a:prstGeom prst="rect">
            <a:avLst/>
          </a:prstGeom>
          <a:solidFill>
            <a:srgbClr val="221D17"/>
          </a:solidFill>
          <a:ln/>
        </p:spPr>
      </p:sp>
      <p:sp>
        <p:nvSpPr>
          <p:cNvPr id="57" name="Shape 55"/>
          <p:cNvSpPr/>
          <p:nvPr/>
        </p:nvSpPr>
        <p:spPr>
          <a:xfrm>
            <a:off x="12364641" y="2102882"/>
            <a:ext cx="814626" cy="220980"/>
          </a:xfrm>
          <a:prstGeom prst="roundRect">
            <a:avLst>
              <a:gd name="adj" fmla="val 8621"/>
            </a:avLst>
          </a:prstGeom>
          <a:solidFill>
            <a:srgbClr val="CB5238"/>
          </a:solidFill>
          <a:ln/>
        </p:spPr>
      </p:sp>
      <p:sp>
        <p:nvSpPr>
          <p:cNvPr id="58" name="Text 56"/>
          <p:cNvSpPr/>
          <p:nvPr/>
        </p:nvSpPr>
        <p:spPr>
          <a:xfrm>
            <a:off x="12459891" y="2140982"/>
            <a:ext cx="700326" cy="182880"/>
          </a:xfrm>
          <a:prstGeom prst="rect">
            <a:avLst/>
          </a:prstGeom>
          <a:noFill/>
          <a:ln/>
        </p:spPr>
        <p:txBody>
          <a:bodyPr wrap="square" lIns="25400" tIns="25400" rIns="25400" bIns="25400" rtlCol="0" anchor="t">
            <a:normAutofit/>
          </a:bodyPr>
          <a:lstStyle/>
          <a:p>
            <a:pPr algn="l" indent="0" marL="0">
              <a:buNone/>
            </a:pPr>
            <a:r>
              <a:rPr lang="en-US" sz="900" spc="162" kern="0" dirty="0">
                <a:solidFill>
                  <a:srgbClr val="FFFFFF"/>
                </a:solidFill>
                <a:latin typeface="Courier New" pitchFamily="34" charset="0"/>
                <a:ea typeface="Courier New" pitchFamily="34" charset="-122"/>
                <a:cs typeface="Courier New" pitchFamily="34" charset="-120"/>
              </a:rPr>
              <a:t>QUALITY</a:t>
            </a:r>
            <a:endParaRPr lang="en-US" sz="900" dirty="0"/>
          </a:p>
        </p:txBody>
      </p:sp>
      <p:sp>
        <p:nvSpPr>
          <p:cNvPr id="59" name="Text 57"/>
          <p:cNvSpPr/>
          <p:nvPr/>
        </p:nvSpPr>
        <p:spPr>
          <a:xfrm>
            <a:off x="13274516" y="2125742"/>
            <a:ext cx="1408176" cy="21336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7A7060"/>
                </a:solidFill>
                <a:latin typeface="Courier New" pitchFamily="34" charset="0"/>
                <a:ea typeface="Courier New" pitchFamily="34" charset="-122"/>
                <a:cs typeface="Courier New" pitchFamily="34" charset="-120"/>
              </a:rPr>
              <a:t>Is it accurate?</a:t>
            </a:r>
            <a:endParaRPr lang="en-US" sz="1050" dirty="0"/>
          </a:p>
        </p:txBody>
      </p:sp>
      <p:sp>
        <p:nvSpPr>
          <p:cNvPr id="60" name="Text 58"/>
          <p:cNvSpPr/>
          <p:nvPr/>
        </p:nvSpPr>
        <p:spPr>
          <a:xfrm>
            <a:off x="12364641" y="2476262"/>
            <a:ext cx="5033528" cy="675799"/>
          </a:xfrm>
          <a:prstGeom prst="rect">
            <a:avLst/>
          </a:prstGeom>
          <a:noFill/>
          <a:ln/>
        </p:spPr>
        <p:txBody>
          <a:bodyPr wrap="square" lIns="25400" tIns="25400" rIns="25400" bIns="25400" rtlCol="0" anchor="t">
            <a:normAutofit/>
          </a:bodyPr>
          <a:lstStyle/>
          <a:p>
            <a:pPr algn="l" indent="0" marL="0">
              <a:lnSpc>
                <a:spcPct val="108000"/>
              </a:lnSpc>
              <a:buNone/>
            </a:pPr>
            <a:r>
              <a:rPr lang="en-US" sz="2325" dirty="0">
                <a:solidFill>
                  <a:srgbClr val="F4EFE6"/>
                </a:solidFill>
                <a:latin typeface="Georgia" pitchFamily="34" charset="0"/>
                <a:ea typeface="Georgia" pitchFamily="34" charset="-122"/>
                <a:cs typeface="Georgia" pitchFamily="34" charset="-120"/>
              </a:rPr>
              <a:t>Correction / override rate</a:t>
            </a:r>
            <a:endParaRPr lang="en-US" sz="2325" dirty="0"/>
          </a:p>
        </p:txBody>
      </p:sp>
      <p:sp>
        <p:nvSpPr>
          <p:cNvPr id="61" name="Text 59"/>
          <p:cNvSpPr/>
          <p:nvPr/>
        </p:nvSpPr>
        <p:spPr>
          <a:xfrm>
            <a:off x="12364641" y="3247311"/>
            <a:ext cx="5033528" cy="923925"/>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C7BEAE"/>
                </a:solidFill>
                <a:latin typeface="Arial" pitchFamily="34" charset="0"/>
                <a:ea typeface="Arial" pitchFamily="34" charset="-122"/>
                <a:cs typeface="Arial" pitchFamily="34" charset="-120"/>
              </a:rPr>
              <a:t>% of AI-extracted fields the manager flags or corrects. A falling rate means extraction is improving and trust is growing.</a:t>
            </a:r>
            <a:endParaRPr lang="en-US" sz="1500" dirty="0"/>
          </a:p>
        </p:txBody>
      </p:sp>
      <p:sp>
        <p:nvSpPr>
          <p:cNvPr id="62" name="Text 60"/>
          <p:cNvSpPr/>
          <p:nvPr/>
        </p:nvSpPr>
        <p:spPr>
          <a:xfrm>
            <a:off x="12364641" y="5419368"/>
            <a:ext cx="5375612" cy="198120"/>
          </a:xfrm>
          <a:prstGeom prst="rect">
            <a:avLst/>
          </a:prstGeom>
          <a:noFill/>
          <a:ln/>
        </p:spPr>
        <p:txBody>
          <a:bodyPr wrap="square" lIns="25400" tIns="25400" rIns="25400" bIns="25400" rtlCol="0" anchor="t">
            <a:normAutofit/>
          </a:bodyPr>
          <a:lstStyle/>
          <a:p>
            <a:pPr algn="l" indent="0" marL="0">
              <a:buNone/>
            </a:pPr>
            <a:r>
              <a:rPr lang="en-US" sz="975" dirty="0">
                <a:solidFill>
                  <a:srgbClr val="A99E8C"/>
                </a:solidFill>
                <a:latin typeface="Courier New" pitchFamily="34" charset="0"/>
                <a:ea typeface="Courier New" pitchFamily="34" charset="-122"/>
                <a:cs typeface="Courier New" pitchFamily="34" charset="-120"/>
              </a:rPr>
              <a:t>TARGET</a:t>
            </a:r>
            <a:endParaRPr lang="en-US" sz="975" dirty="0"/>
          </a:p>
        </p:txBody>
      </p:sp>
      <p:sp>
        <p:nvSpPr>
          <p:cNvPr id="63" name="Text 61"/>
          <p:cNvSpPr/>
          <p:nvPr/>
        </p:nvSpPr>
        <p:spPr>
          <a:xfrm>
            <a:off x="12364641" y="5627013"/>
            <a:ext cx="5375612" cy="400050"/>
          </a:xfrm>
          <a:prstGeom prst="rect">
            <a:avLst/>
          </a:prstGeom>
          <a:noFill/>
          <a:ln/>
        </p:spPr>
        <p:txBody>
          <a:bodyPr wrap="square" lIns="25400" tIns="25400" rIns="25400" bIns="25400" rtlCol="0" anchor="t">
            <a:normAutofit/>
          </a:bodyPr>
          <a:lstStyle/>
          <a:p>
            <a:pPr algn="l" indent="0" marL="0">
              <a:lnSpc>
                <a:spcPct val="100000"/>
              </a:lnSpc>
              <a:buNone/>
            </a:pPr>
            <a:r>
              <a:rPr lang="en-US" sz="2850" dirty="0">
                <a:solidFill>
                  <a:srgbClr val="E8A18C"/>
                </a:solidFill>
                <a:latin typeface="Georgia" pitchFamily="34" charset="0"/>
                <a:ea typeface="Georgia" pitchFamily="34" charset="-122"/>
                <a:cs typeface="Georgia" pitchFamily="34" charset="-120"/>
              </a:rPr>
              <a:t>&lt;15% · &lt;10%</a:t>
            </a:r>
            <a:endParaRPr lang="en-US" sz="2850" dirty="0"/>
          </a:p>
        </p:txBody>
      </p:sp>
      <p:sp>
        <p:nvSpPr>
          <p:cNvPr id="64" name="Text 62"/>
          <p:cNvSpPr/>
          <p:nvPr/>
        </p:nvSpPr>
        <p:spPr>
          <a:xfrm>
            <a:off x="12364641" y="6046113"/>
            <a:ext cx="5375612" cy="198120"/>
          </a:xfrm>
          <a:prstGeom prst="rect">
            <a:avLst/>
          </a:prstGeom>
          <a:noFill/>
          <a:ln/>
        </p:spPr>
        <p:txBody>
          <a:bodyPr wrap="square" lIns="25400" tIns="25400" rIns="25400" bIns="25400" rtlCol="0" anchor="t">
            <a:normAutofit/>
          </a:bodyPr>
          <a:lstStyle/>
          <a:p>
            <a:pPr algn="l" indent="0" marL="0">
              <a:buNone/>
            </a:pPr>
            <a:r>
              <a:rPr lang="en-US" sz="1050" dirty="0">
                <a:solidFill>
                  <a:srgbClr val="A99E8C"/>
                </a:solidFill>
                <a:latin typeface="Arial" pitchFamily="34" charset="0"/>
                <a:ea typeface="Arial" pitchFamily="34" charset="-122"/>
                <a:cs typeface="Arial" pitchFamily="34" charset="-120"/>
              </a:rPr>
              <a:t>by Phase 2 · by day 90</a:t>
            </a:r>
            <a:endParaRPr lang="en-US" sz="1050" dirty="0"/>
          </a:p>
        </p:txBody>
      </p:sp>
      <p:sp>
        <p:nvSpPr>
          <p:cNvPr id="65" name="Shape 63"/>
          <p:cNvSpPr/>
          <p:nvPr/>
        </p:nvSpPr>
        <p:spPr>
          <a:xfrm>
            <a:off x="12364641" y="7492365"/>
            <a:ext cx="4886920" cy="9525"/>
          </a:xfrm>
          <a:prstGeom prst="rect">
            <a:avLst/>
          </a:prstGeom>
          <a:solidFill>
            <a:srgbClr val="3A332A"/>
          </a:solidFill>
          <a:ln/>
        </p:spPr>
      </p:sp>
      <p:sp>
        <p:nvSpPr>
          <p:cNvPr id="66" name="Text 64"/>
          <p:cNvSpPr/>
          <p:nvPr/>
        </p:nvSpPr>
        <p:spPr>
          <a:xfrm>
            <a:off x="12364641" y="7654290"/>
            <a:ext cx="5375612" cy="182880"/>
          </a:xfrm>
          <a:prstGeom prst="rect">
            <a:avLst/>
          </a:prstGeom>
          <a:noFill/>
          <a:ln/>
        </p:spPr>
        <p:txBody>
          <a:bodyPr wrap="square" lIns="25400" tIns="25400" rIns="25400" bIns="25400" rtlCol="0" anchor="t">
            <a:normAutofit/>
          </a:bodyPr>
          <a:lstStyle/>
          <a:p>
            <a:pPr algn="l" indent="0" marL="0">
              <a:buNone/>
            </a:pPr>
            <a:r>
              <a:rPr lang="en-US" sz="900" spc="144" kern="0" dirty="0">
                <a:solidFill>
                  <a:srgbClr val="A99E8C"/>
                </a:solidFill>
                <a:latin typeface="Courier New" pitchFamily="34" charset="0"/>
                <a:ea typeface="Courier New" pitchFamily="34" charset="-122"/>
                <a:cs typeface="Courier New" pitchFamily="34" charset="-120"/>
              </a:rPr>
              <a:t>HOW IT’S MEASURED</a:t>
            </a:r>
            <a:endParaRPr lang="en-US" sz="900" dirty="0"/>
          </a:p>
        </p:txBody>
      </p:sp>
      <p:sp>
        <p:nvSpPr>
          <p:cNvPr id="67" name="Text 65"/>
          <p:cNvSpPr/>
          <p:nvPr/>
        </p:nvSpPr>
        <p:spPr>
          <a:xfrm>
            <a:off x="12364641" y="7962900"/>
            <a:ext cx="952500" cy="198120"/>
          </a:xfrm>
          <a:prstGeom prst="rect">
            <a:avLst/>
          </a:prstGeom>
          <a:noFill/>
          <a:ln/>
        </p:spPr>
        <p:txBody>
          <a:bodyPr wrap="square" lIns="25400" tIns="25400" rIns="25400" bIns="25400" rtlCol="0" anchor="t">
            <a:normAutofit/>
          </a:bodyPr>
          <a:lstStyle/>
          <a:p>
            <a:pPr algn="l" indent="0" marL="0">
              <a:buNone/>
            </a:pPr>
            <a:r>
              <a:rPr lang="en-US" sz="975" spc="39" kern="0" dirty="0">
                <a:solidFill>
                  <a:srgbClr val="CB5238"/>
                </a:solidFill>
                <a:latin typeface="Courier New" pitchFamily="34" charset="0"/>
                <a:ea typeface="Courier New" pitchFamily="34" charset="-122"/>
                <a:cs typeface="Courier New" pitchFamily="34" charset="-120"/>
              </a:rPr>
              <a:t>LOG FILE</a:t>
            </a:r>
            <a:endParaRPr lang="en-US" sz="975" dirty="0"/>
          </a:p>
        </p:txBody>
      </p:sp>
      <p:sp>
        <p:nvSpPr>
          <p:cNvPr id="68" name="Text 66"/>
          <p:cNvSpPr/>
          <p:nvPr/>
        </p:nvSpPr>
        <p:spPr>
          <a:xfrm>
            <a:off x="13374291" y="7932420"/>
            <a:ext cx="1474577" cy="258128"/>
          </a:xfrm>
          <a:prstGeom prst="rect">
            <a:avLst/>
          </a:prstGeom>
          <a:noFill/>
          <a:ln/>
        </p:spPr>
        <p:txBody>
          <a:bodyPr wrap="square" lIns="25400" tIns="25400" rIns="25400" bIns="25400" rtlCol="0" anchor="t">
            <a:normAutofit/>
          </a:bodyPr>
          <a:lstStyle/>
          <a:p>
            <a:pPr algn="l" indent="0" marL="0">
              <a:lnSpc>
                <a:spcPct val="140000"/>
              </a:lnSpc>
              <a:buNone/>
            </a:pPr>
            <a:r>
              <a:rPr lang="en-US" sz="1238" dirty="0">
                <a:solidFill>
                  <a:srgbClr val="D9D0C0"/>
                </a:solidFill>
                <a:latin typeface="Arial" pitchFamily="34" charset="0"/>
                <a:ea typeface="Arial" pitchFamily="34" charset="-122"/>
                <a:cs typeface="Arial" pitchFamily="34" charset="-120"/>
              </a:rPr>
              <a:t>correction_log.csv</a:t>
            </a:r>
            <a:endParaRPr lang="en-US" sz="1238" dirty="0"/>
          </a:p>
        </p:txBody>
      </p:sp>
      <p:sp>
        <p:nvSpPr>
          <p:cNvPr id="69" name="Text 67"/>
          <p:cNvSpPr/>
          <p:nvPr/>
        </p:nvSpPr>
        <p:spPr>
          <a:xfrm>
            <a:off x="12364641" y="8297228"/>
            <a:ext cx="952500" cy="198120"/>
          </a:xfrm>
          <a:prstGeom prst="rect">
            <a:avLst/>
          </a:prstGeom>
          <a:noFill/>
          <a:ln/>
        </p:spPr>
        <p:txBody>
          <a:bodyPr wrap="square" lIns="25400" tIns="25400" rIns="25400" bIns="25400" rtlCol="0" anchor="t">
            <a:normAutofit/>
          </a:bodyPr>
          <a:lstStyle/>
          <a:p>
            <a:pPr algn="l" indent="0" marL="0">
              <a:buNone/>
            </a:pPr>
            <a:r>
              <a:rPr lang="en-US" sz="975" spc="39" kern="0" dirty="0">
                <a:solidFill>
                  <a:srgbClr val="CB5238"/>
                </a:solidFill>
                <a:latin typeface="Courier New" pitchFamily="34" charset="0"/>
                <a:ea typeface="Courier New" pitchFamily="34" charset="-122"/>
                <a:cs typeface="Courier New" pitchFamily="34" charset="-120"/>
              </a:rPr>
              <a:t>FIELDS</a:t>
            </a:r>
            <a:endParaRPr lang="en-US" sz="975" dirty="0"/>
          </a:p>
        </p:txBody>
      </p:sp>
      <p:sp>
        <p:nvSpPr>
          <p:cNvPr id="70" name="Text 68"/>
          <p:cNvSpPr/>
          <p:nvPr/>
        </p:nvSpPr>
        <p:spPr>
          <a:xfrm>
            <a:off x="13374291" y="8266748"/>
            <a:ext cx="2567773" cy="258128"/>
          </a:xfrm>
          <a:prstGeom prst="rect">
            <a:avLst/>
          </a:prstGeom>
          <a:noFill/>
          <a:ln/>
        </p:spPr>
        <p:txBody>
          <a:bodyPr wrap="square" lIns="25400" tIns="25400" rIns="25400" bIns="25400" rtlCol="0" anchor="t">
            <a:normAutofit/>
          </a:bodyPr>
          <a:lstStyle/>
          <a:p>
            <a:pPr algn="l" indent="0" marL="0">
              <a:lnSpc>
                <a:spcPct val="140000"/>
              </a:lnSpc>
              <a:buNone/>
            </a:pPr>
            <a:r>
              <a:rPr lang="en-US" sz="1238" dirty="0">
                <a:solidFill>
                  <a:srgbClr val="D9D0C0"/>
                </a:solidFill>
                <a:latin typeface="Arial" pitchFamily="34" charset="0"/>
                <a:ea typeface="Arial" pitchFamily="34" charset="-122"/>
                <a:cs typeface="Arial" pitchFamily="34" charset="-120"/>
              </a:rPr>
              <a:t>fields_presented, fields_flagged</a:t>
            </a:r>
            <a:endParaRPr lang="en-US" sz="1238" dirty="0"/>
          </a:p>
        </p:txBody>
      </p:sp>
      <p:sp>
        <p:nvSpPr>
          <p:cNvPr id="71" name="Text 69"/>
          <p:cNvSpPr/>
          <p:nvPr/>
        </p:nvSpPr>
        <p:spPr>
          <a:xfrm>
            <a:off x="12364641" y="8631555"/>
            <a:ext cx="952500" cy="198120"/>
          </a:xfrm>
          <a:prstGeom prst="rect">
            <a:avLst/>
          </a:prstGeom>
          <a:noFill/>
          <a:ln/>
        </p:spPr>
        <p:txBody>
          <a:bodyPr wrap="square" lIns="25400" tIns="25400" rIns="25400" bIns="25400" rtlCol="0" anchor="t">
            <a:normAutofit/>
          </a:bodyPr>
          <a:lstStyle/>
          <a:p>
            <a:pPr algn="l" indent="0" marL="0">
              <a:buNone/>
            </a:pPr>
            <a:r>
              <a:rPr lang="en-US" sz="975" spc="39" kern="0" dirty="0">
                <a:solidFill>
                  <a:srgbClr val="CB5238"/>
                </a:solidFill>
                <a:latin typeface="Courier New" pitchFamily="34" charset="0"/>
                <a:ea typeface="Courier New" pitchFamily="34" charset="-122"/>
                <a:cs typeface="Courier New" pitchFamily="34" charset="-120"/>
              </a:rPr>
              <a:t>HOW</a:t>
            </a:r>
            <a:endParaRPr lang="en-US" sz="975" dirty="0"/>
          </a:p>
        </p:txBody>
      </p:sp>
      <p:sp>
        <p:nvSpPr>
          <p:cNvPr id="72" name="Text 70"/>
          <p:cNvSpPr/>
          <p:nvPr/>
        </p:nvSpPr>
        <p:spPr>
          <a:xfrm>
            <a:off x="13374291" y="8601075"/>
            <a:ext cx="2590038" cy="258128"/>
          </a:xfrm>
          <a:prstGeom prst="rect">
            <a:avLst/>
          </a:prstGeom>
          <a:noFill/>
          <a:ln/>
        </p:spPr>
        <p:txBody>
          <a:bodyPr wrap="square" lIns="25400" tIns="25400" rIns="25400" bIns="25400" rtlCol="0" anchor="t">
            <a:normAutofit/>
          </a:bodyPr>
          <a:lstStyle/>
          <a:p>
            <a:pPr algn="l" indent="0" marL="0">
              <a:lnSpc>
                <a:spcPct val="140000"/>
              </a:lnSpc>
              <a:buNone/>
            </a:pPr>
            <a:r>
              <a:rPr lang="en-US" sz="1238" dirty="0">
                <a:solidFill>
                  <a:srgbClr val="D9D0C0"/>
                </a:solidFill>
                <a:latin typeface="Arial" pitchFamily="34" charset="0"/>
                <a:ea typeface="Arial" pitchFamily="34" charset="-122"/>
                <a:cs typeface="Arial" pitchFamily="34" charset="-120"/>
              </a:rPr>
              <a:t>fields flagged ÷ total fields × 100</a:t>
            </a:r>
            <a:endParaRPr lang="en-US" sz="1238" dirty="0"/>
          </a:p>
        </p:txBody>
      </p:sp>
      <p:sp>
        <p:nvSpPr>
          <p:cNvPr id="73" name="Text 71"/>
          <p:cNvSpPr/>
          <p:nvPr/>
        </p:nvSpPr>
        <p:spPr>
          <a:xfrm>
            <a:off x="12364641" y="8965882"/>
            <a:ext cx="952500" cy="198120"/>
          </a:xfrm>
          <a:prstGeom prst="rect">
            <a:avLst/>
          </a:prstGeom>
          <a:noFill/>
          <a:ln/>
        </p:spPr>
        <p:txBody>
          <a:bodyPr wrap="square" lIns="25400" tIns="25400" rIns="25400" bIns="25400" rtlCol="0" anchor="t">
            <a:normAutofit/>
          </a:bodyPr>
          <a:lstStyle/>
          <a:p>
            <a:pPr algn="l" indent="0" marL="0">
              <a:buNone/>
            </a:pPr>
            <a:r>
              <a:rPr lang="en-US" sz="975" spc="39" kern="0" dirty="0">
                <a:solidFill>
                  <a:srgbClr val="CB5238"/>
                </a:solidFill>
                <a:latin typeface="Courier New" pitchFamily="34" charset="0"/>
                <a:ea typeface="Courier New" pitchFamily="34" charset="-122"/>
                <a:cs typeface="Courier New" pitchFamily="34" charset="-120"/>
              </a:rPr>
              <a:t>STATUS</a:t>
            </a:r>
            <a:endParaRPr lang="en-US" sz="975" dirty="0"/>
          </a:p>
        </p:txBody>
      </p:sp>
      <p:sp>
        <p:nvSpPr>
          <p:cNvPr id="74" name="Text 72"/>
          <p:cNvSpPr/>
          <p:nvPr/>
        </p:nvSpPr>
        <p:spPr>
          <a:xfrm>
            <a:off x="13374291" y="8935403"/>
            <a:ext cx="1348847" cy="258128"/>
          </a:xfrm>
          <a:prstGeom prst="rect">
            <a:avLst/>
          </a:prstGeom>
          <a:noFill/>
          <a:ln/>
        </p:spPr>
        <p:txBody>
          <a:bodyPr wrap="square" lIns="25400" tIns="25400" rIns="25400" bIns="25400" rtlCol="0" anchor="t">
            <a:normAutofit/>
          </a:bodyPr>
          <a:lstStyle/>
          <a:p>
            <a:pPr algn="l" indent="0" marL="0">
              <a:lnSpc>
                <a:spcPct val="140000"/>
              </a:lnSpc>
              <a:buNone/>
            </a:pPr>
            <a:r>
              <a:rPr lang="en-US" sz="1238" dirty="0">
                <a:solidFill>
                  <a:srgbClr val="D9D0C0"/>
                </a:solidFill>
                <a:latin typeface="Arial" pitchFamily="34" charset="0"/>
                <a:ea typeface="Arial" pitchFamily="34" charset="-122"/>
                <a:cs typeface="Arial" pitchFamily="34" charset="-120"/>
              </a:rPr>
              <a:t>Live in prototype</a:t>
            </a:r>
            <a:endParaRPr lang="en-US" sz="1238" dirty="0"/>
          </a:p>
        </p:txBody>
      </p:sp>
      <p:sp>
        <p:nvSpPr>
          <p:cNvPr id="75" name="Shape 73"/>
          <p:cNvSpPr/>
          <p:nvPr/>
        </p:nvSpPr>
        <p:spPr>
          <a:xfrm>
            <a:off x="762000" y="9675495"/>
            <a:ext cx="16764000" cy="9525"/>
          </a:xfrm>
          <a:prstGeom prst="rect">
            <a:avLst/>
          </a:prstGeom>
          <a:solidFill>
            <a:srgbClr val="E2DACE"/>
          </a:solidFill>
          <a:ln/>
        </p:spPr>
      </p:sp>
      <p:sp>
        <p:nvSpPr>
          <p:cNvPr id="76" name="Text 74"/>
          <p:cNvSpPr/>
          <p:nvPr/>
        </p:nvSpPr>
        <p:spPr>
          <a:xfrm>
            <a:off x="762000" y="9806940"/>
            <a:ext cx="5462575" cy="21336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A89D8E"/>
                </a:solidFill>
                <a:latin typeface="Courier New" pitchFamily="34" charset="0"/>
                <a:ea typeface="Courier New" pitchFamily="34" charset="-122"/>
                <a:cs typeface="Courier New" pitchFamily="34" charset="-120"/>
              </a:rPr>
              <a:t>STRAUSS PROCUREMENT · FDE EXERCISE · CONFIDENTIAL</a:t>
            </a:r>
            <a:endParaRPr lang="en-US" sz="1050" dirty="0"/>
          </a:p>
        </p:txBody>
      </p:sp>
      <p:sp>
        <p:nvSpPr>
          <p:cNvPr id="77" name="Text 75"/>
          <p:cNvSpPr/>
          <p:nvPr/>
        </p:nvSpPr>
        <p:spPr>
          <a:xfrm>
            <a:off x="16816507" y="9806940"/>
            <a:ext cx="785693" cy="21336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A89D8E"/>
                </a:solidFill>
                <a:latin typeface="Courier New" pitchFamily="34" charset="0"/>
                <a:ea typeface="Courier New" pitchFamily="34" charset="-122"/>
                <a:cs typeface="Courier New" pitchFamily="34" charset="-120"/>
              </a:rPr>
              <a:t>12 / 19</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EFE7"/>
        </a:solidFill>
      </p:bgPr>
    </p:bg>
    <p:spTree>
      <p:nvGrpSpPr>
        <p:cNvPr id="1" name=""/>
        <p:cNvGrpSpPr/>
        <p:nvPr/>
      </p:nvGrpSpPr>
      <p:grpSpPr>
        <a:xfrm>
          <a:off x="0" y="0"/>
          <a:ext cx="0" cy="0"/>
          <a:chOff x="0" y="0"/>
          <a:chExt cx="0" cy="0"/>
        </a:xfrm>
      </p:grpSpPr>
      <p:sp>
        <p:nvSpPr>
          <p:cNvPr id="2" name="Shape 0"/>
          <p:cNvSpPr/>
          <p:nvPr/>
        </p:nvSpPr>
        <p:spPr>
          <a:xfrm>
            <a:off x="914400" y="1749742"/>
            <a:ext cx="16459200" cy="9525"/>
          </a:xfrm>
          <a:prstGeom prst="rect">
            <a:avLst/>
          </a:prstGeom>
          <a:solidFill>
            <a:srgbClr val="D7CDBE"/>
          </a:solidFill>
          <a:ln/>
        </p:spPr>
      </p:sp>
      <p:sp>
        <p:nvSpPr>
          <p:cNvPr id="3" name="Text 1"/>
          <p:cNvSpPr/>
          <p:nvPr/>
        </p:nvSpPr>
        <p:spPr>
          <a:xfrm>
            <a:off x="914400" y="704850"/>
            <a:ext cx="18105120" cy="259080"/>
          </a:xfrm>
          <a:prstGeom prst="rect">
            <a:avLst/>
          </a:prstGeom>
          <a:noFill/>
          <a:ln/>
        </p:spPr>
        <p:txBody>
          <a:bodyPr wrap="square" lIns="25400" tIns="25400" rIns="25400" bIns="25400" rtlCol="0" anchor="t">
            <a:normAutofit/>
          </a:bodyPr>
          <a:lstStyle/>
          <a:p>
            <a:pPr algn="l" indent="0" marL="0">
              <a:buNone/>
            </a:pPr>
            <a:r>
              <a:rPr lang="en-US" sz="1350" spc="324" kern="0" dirty="0">
                <a:solidFill>
                  <a:srgbClr val="B23B26"/>
                </a:solidFill>
                <a:latin typeface="Courier New" pitchFamily="34" charset="0"/>
                <a:ea typeface="Courier New" pitchFamily="34" charset="-122"/>
                <a:cs typeface="Courier New" pitchFamily="34" charset="-120"/>
              </a:rPr>
              <a:t>13 · ROLLOUT PLAN</a:t>
            </a:r>
            <a:endParaRPr lang="en-US" sz="1350" dirty="0"/>
          </a:p>
        </p:txBody>
      </p:sp>
      <p:sp>
        <p:nvSpPr>
          <p:cNvPr id="4" name="Text 2"/>
          <p:cNvSpPr/>
          <p:nvPr/>
        </p:nvSpPr>
        <p:spPr>
          <a:xfrm>
            <a:off x="914400" y="1049655"/>
            <a:ext cx="18105120" cy="528638"/>
          </a:xfrm>
          <a:prstGeom prst="rect">
            <a:avLst/>
          </a:prstGeom>
          <a:noFill/>
          <a:ln/>
        </p:spPr>
        <p:txBody>
          <a:bodyPr wrap="square" lIns="25400" tIns="25400" rIns="25400" bIns="25400" rtlCol="0" anchor="t">
            <a:normAutofit/>
          </a:bodyPr>
          <a:lstStyle/>
          <a:p>
            <a:pPr algn="l" indent="0" marL="0">
              <a:lnSpc>
                <a:spcPct val="103000"/>
              </a:lnSpc>
              <a:buNone/>
            </a:pPr>
            <a:r>
              <a:rPr lang="en-US" sz="3750" spc="-56" kern="0" dirty="0">
                <a:solidFill>
                  <a:srgbClr val="221D17"/>
                </a:solidFill>
                <a:latin typeface="Georgia" pitchFamily="34" charset="0"/>
                <a:ea typeface="Georgia" pitchFamily="34" charset="-122"/>
                <a:cs typeface="Georgia" pitchFamily="34" charset="-120"/>
              </a:rPr>
              <a:t>Three phases, trust first, scale second</a:t>
            </a:r>
            <a:endParaRPr lang="en-US" sz="3750" dirty="0"/>
          </a:p>
        </p:txBody>
      </p:sp>
      <p:sp>
        <p:nvSpPr>
          <p:cNvPr id="5" name="Text 3"/>
          <p:cNvSpPr/>
          <p:nvPr/>
        </p:nvSpPr>
        <p:spPr>
          <a:xfrm>
            <a:off x="914400" y="2046923"/>
            <a:ext cx="796409" cy="205740"/>
          </a:xfrm>
          <a:prstGeom prst="rect">
            <a:avLst/>
          </a:prstGeom>
          <a:noFill/>
          <a:ln/>
        </p:spPr>
        <p:txBody>
          <a:bodyPr wrap="square" lIns="25400" tIns="25400" rIns="25400" bIns="25400" rtlCol="0" anchor="t">
            <a:normAutofit/>
          </a:bodyPr>
          <a:lstStyle/>
          <a:p>
            <a:pPr algn="l" indent="0" marL="0">
              <a:buNone/>
            </a:pPr>
            <a:r>
              <a:rPr lang="en-US" sz="1125" b="1" spc="135" kern="0" dirty="0">
                <a:solidFill>
                  <a:srgbClr val="B23B26"/>
                </a:solidFill>
                <a:latin typeface="Courier New" pitchFamily="34" charset="0"/>
                <a:ea typeface="Courier New" pitchFamily="34" charset="-122"/>
                <a:cs typeface="Courier New" pitchFamily="34" charset="-120"/>
              </a:rPr>
              <a:t>PHASE 1</a:t>
            </a:r>
            <a:endParaRPr lang="en-US" sz="1125" dirty="0"/>
          </a:p>
        </p:txBody>
      </p:sp>
      <p:sp>
        <p:nvSpPr>
          <p:cNvPr id="6" name="Text 4"/>
          <p:cNvSpPr/>
          <p:nvPr/>
        </p:nvSpPr>
        <p:spPr>
          <a:xfrm>
            <a:off x="1748909" y="2024062"/>
            <a:ext cx="847725" cy="220980"/>
          </a:xfrm>
          <a:prstGeom prst="rect">
            <a:avLst/>
          </a:prstGeom>
          <a:noFill/>
          <a:ln/>
        </p:spPr>
        <p:txBody>
          <a:bodyPr wrap="square" lIns="25400" tIns="25400" rIns="25400" bIns="25400" rtlCol="0" anchor="t">
            <a:normAutofit/>
          </a:bodyPr>
          <a:lstStyle/>
          <a:p>
            <a:pPr algn="l" indent="0" marL="0">
              <a:buNone/>
            </a:pPr>
            <a:r>
              <a:rPr lang="en-US" sz="1125" dirty="0">
                <a:solidFill>
                  <a:srgbClr val="A0957F"/>
                </a:solidFill>
                <a:latin typeface="Courier New" pitchFamily="34" charset="0"/>
                <a:ea typeface="Courier New" pitchFamily="34" charset="-122"/>
                <a:cs typeface="Courier New" pitchFamily="34" charset="-120"/>
              </a:rPr>
              <a:t>Weeks 1-4</a:t>
            </a:r>
            <a:endParaRPr lang="en-US" sz="1125" dirty="0"/>
          </a:p>
        </p:txBody>
      </p:sp>
      <p:sp>
        <p:nvSpPr>
          <p:cNvPr id="7" name="Text 5"/>
          <p:cNvSpPr/>
          <p:nvPr/>
        </p:nvSpPr>
        <p:spPr>
          <a:xfrm>
            <a:off x="914400" y="2252663"/>
            <a:ext cx="5853387" cy="297180"/>
          </a:xfrm>
          <a:prstGeom prst="rect">
            <a:avLst/>
          </a:prstGeom>
          <a:noFill/>
          <a:ln/>
        </p:spPr>
        <p:txBody>
          <a:bodyPr wrap="square" lIns="25400" tIns="25400" rIns="25400" bIns="25400" rtlCol="0" anchor="t">
            <a:normAutofit/>
          </a:bodyPr>
          <a:lstStyle/>
          <a:p>
            <a:pPr algn="l" indent="0" marL="0">
              <a:buNone/>
            </a:pPr>
            <a:r>
              <a:rPr lang="en-US" sz="2025" dirty="0">
                <a:solidFill>
                  <a:srgbClr val="221D17"/>
                </a:solidFill>
                <a:latin typeface="Georgia" pitchFamily="34" charset="0"/>
                <a:ea typeface="Georgia" pitchFamily="34" charset="-122"/>
                <a:cs typeface="Georgia" pitchFamily="34" charset="-120"/>
              </a:rPr>
              <a:t>Controlled pilot</a:t>
            </a:r>
            <a:endParaRPr lang="en-US" sz="2025" dirty="0"/>
          </a:p>
        </p:txBody>
      </p:sp>
      <p:sp>
        <p:nvSpPr>
          <p:cNvPr id="8" name="Shape 6"/>
          <p:cNvSpPr/>
          <p:nvPr/>
        </p:nvSpPr>
        <p:spPr>
          <a:xfrm>
            <a:off x="914400" y="2664143"/>
            <a:ext cx="15240" cy="276225"/>
          </a:xfrm>
          <a:prstGeom prst="rect">
            <a:avLst/>
          </a:prstGeom>
          <a:solidFill>
            <a:srgbClr val="E0D8CB"/>
          </a:solidFill>
          <a:ln/>
        </p:spPr>
      </p:sp>
      <p:sp>
        <p:nvSpPr>
          <p:cNvPr id="9" name="Text 7"/>
          <p:cNvSpPr/>
          <p:nvPr/>
        </p:nvSpPr>
        <p:spPr>
          <a:xfrm>
            <a:off x="1082040" y="2664143"/>
            <a:ext cx="5685747"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4A443B"/>
                </a:solidFill>
                <a:latin typeface="Arial" pitchFamily="34" charset="0"/>
                <a:ea typeface="Arial" pitchFamily="34" charset="-122"/>
                <a:cs typeface="Arial" pitchFamily="34" charset="-120"/>
              </a:rPr>
              <a:t>2-3 upcoming meetings with one analyst as primary user.</a:t>
            </a:r>
            <a:endParaRPr lang="en-US" sz="1500" dirty="0"/>
          </a:p>
        </p:txBody>
      </p:sp>
      <p:sp>
        <p:nvSpPr>
          <p:cNvPr id="10" name="Shape 8"/>
          <p:cNvSpPr/>
          <p:nvPr/>
        </p:nvSpPr>
        <p:spPr>
          <a:xfrm>
            <a:off x="914400" y="3054668"/>
            <a:ext cx="15240" cy="276225"/>
          </a:xfrm>
          <a:prstGeom prst="rect">
            <a:avLst/>
          </a:prstGeom>
          <a:solidFill>
            <a:srgbClr val="E0D8CB"/>
          </a:solidFill>
          <a:ln/>
        </p:spPr>
      </p:sp>
      <p:sp>
        <p:nvSpPr>
          <p:cNvPr id="11" name="Text 9"/>
          <p:cNvSpPr/>
          <p:nvPr/>
        </p:nvSpPr>
        <p:spPr>
          <a:xfrm>
            <a:off x="1082040" y="3054668"/>
            <a:ext cx="5685747"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4A443B"/>
                </a:solidFill>
                <a:latin typeface="Arial" pitchFamily="34" charset="0"/>
                <a:ea typeface="Arial" pitchFamily="34" charset="-122"/>
                <a:cs typeface="Arial" pitchFamily="34" charset="-120"/>
              </a:rPr>
              <a:t>Analyst runs the tool, reviews output, flags corrections.</a:t>
            </a:r>
            <a:endParaRPr lang="en-US" sz="1500" dirty="0"/>
          </a:p>
        </p:txBody>
      </p:sp>
      <p:sp>
        <p:nvSpPr>
          <p:cNvPr id="12" name="Shape 10"/>
          <p:cNvSpPr/>
          <p:nvPr/>
        </p:nvSpPr>
        <p:spPr>
          <a:xfrm>
            <a:off x="914400" y="3445193"/>
            <a:ext cx="15240" cy="276225"/>
          </a:xfrm>
          <a:prstGeom prst="rect">
            <a:avLst/>
          </a:prstGeom>
          <a:solidFill>
            <a:srgbClr val="E0D8CB"/>
          </a:solidFill>
          <a:ln/>
        </p:spPr>
      </p:sp>
      <p:sp>
        <p:nvSpPr>
          <p:cNvPr id="13" name="Text 11"/>
          <p:cNvSpPr/>
          <p:nvPr/>
        </p:nvSpPr>
        <p:spPr>
          <a:xfrm>
            <a:off x="1082040" y="3445193"/>
            <a:ext cx="5685747"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4A443B"/>
                </a:solidFill>
                <a:latin typeface="Arial" pitchFamily="34" charset="0"/>
                <a:ea typeface="Arial" pitchFamily="34" charset="-122"/>
                <a:cs typeface="Arial" pitchFamily="34" charset="-120"/>
              </a:rPr>
              <a:t>Track correction rate weekly, target &lt;20% by week 4.</a:t>
            </a:r>
            <a:endParaRPr lang="en-US" sz="1500" dirty="0"/>
          </a:p>
        </p:txBody>
      </p:sp>
      <p:sp>
        <p:nvSpPr>
          <p:cNvPr id="14" name="Shape 12"/>
          <p:cNvSpPr/>
          <p:nvPr/>
        </p:nvSpPr>
        <p:spPr>
          <a:xfrm>
            <a:off x="914400" y="3835718"/>
            <a:ext cx="15240" cy="552450"/>
          </a:xfrm>
          <a:prstGeom prst="rect">
            <a:avLst/>
          </a:prstGeom>
          <a:solidFill>
            <a:srgbClr val="E0D8CB"/>
          </a:solidFill>
          <a:ln/>
        </p:spPr>
      </p:sp>
      <p:sp>
        <p:nvSpPr>
          <p:cNvPr id="15" name="Text 13"/>
          <p:cNvSpPr/>
          <p:nvPr/>
        </p:nvSpPr>
        <p:spPr>
          <a:xfrm>
            <a:off x="1082040" y="3835718"/>
            <a:ext cx="5313258" cy="590550"/>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4A443B"/>
                </a:solidFill>
                <a:latin typeface="Arial" pitchFamily="34" charset="0"/>
                <a:ea typeface="Arial" pitchFamily="34" charset="-122"/>
                <a:cs typeface="Arial" pitchFamily="34" charset="-120"/>
              </a:rPr>
              <a:t>One structured debrief after each meeting: what did the packet get right?</a:t>
            </a:r>
            <a:endParaRPr lang="en-US" sz="1500" dirty="0"/>
          </a:p>
        </p:txBody>
      </p:sp>
      <p:sp>
        <p:nvSpPr>
          <p:cNvPr id="16" name="Shape 14"/>
          <p:cNvSpPr/>
          <p:nvPr/>
        </p:nvSpPr>
        <p:spPr>
          <a:xfrm>
            <a:off x="914400" y="8274368"/>
            <a:ext cx="5321261" cy="1022033"/>
          </a:xfrm>
          <a:prstGeom prst="rect">
            <a:avLst/>
          </a:prstGeom>
          <a:solidFill>
            <a:srgbClr val="EEE7DA"/>
          </a:solidFill>
          <a:ln/>
        </p:spPr>
      </p:sp>
      <p:sp>
        <p:nvSpPr>
          <p:cNvPr id="17" name="Shape 15"/>
          <p:cNvSpPr/>
          <p:nvPr/>
        </p:nvSpPr>
        <p:spPr>
          <a:xfrm>
            <a:off x="914400" y="8274368"/>
            <a:ext cx="22860" cy="1022033"/>
          </a:xfrm>
          <a:prstGeom prst="rect">
            <a:avLst/>
          </a:prstGeom>
          <a:solidFill>
            <a:srgbClr val="5E7350"/>
          </a:solidFill>
          <a:ln/>
        </p:spPr>
      </p:sp>
      <p:sp>
        <p:nvSpPr>
          <p:cNvPr id="18" name="Text 16"/>
          <p:cNvSpPr/>
          <p:nvPr/>
        </p:nvSpPr>
        <p:spPr>
          <a:xfrm>
            <a:off x="1089660" y="8422957"/>
            <a:ext cx="1186934" cy="205740"/>
          </a:xfrm>
          <a:prstGeom prst="rect">
            <a:avLst/>
          </a:prstGeom>
          <a:noFill/>
          <a:ln/>
        </p:spPr>
        <p:txBody>
          <a:bodyPr wrap="square" lIns="25400" tIns="25400" rIns="25400" bIns="25400" rtlCol="0" anchor="t">
            <a:normAutofit/>
          </a:bodyPr>
          <a:lstStyle/>
          <a:p>
            <a:pPr algn="l" indent="0" marL="0">
              <a:buNone/>
            </a:pPr>
            <a:r>
              <a:rPr lang="en-US" sz="1013" spc="122" kern="0" dirty="0">
                <a:solidFill>
                  <a:srgbClr val="5E7350"/>
                </a:solidFill>
                <a:latin typeface="Courier New" pitchFamily="34" charset="0"/>
                <a:ea typeface="Courier New" pitchFamily="34" charset="-122"/>
                <a:cs typeface="Courier New" pitchFamily="34" charset="-120"/>
              </a:rPr>
              <a:t>SUCCESS GATE</a:t>
            </a:r>
            <a:endParaRPr lang="en-US" sz="1013" dirty="0"/>
          </a:p>
        </p:txBody>
      </p:sp>
      <p:sp>
        <p:nvSpPr>
          <p:cNvPr id="19" name="Text 17"/>
          <p:cNvSpPr/>
          <p:nvPr/>
        </p:nvSpPr>
        <p:spPr>
          <a:xfrm>
            <a:off x="1089660" y="8638223"/>
            <a:ext cx="5143408" cy="562928"/>
          </a:xfrm>
          <a:prstGeom prst="rect">
            <a:avLst/>
          </a:prstGeom>
          <a:noFill/>
          <a:ln/>
        </p:spPr>
        <p:txBody>
          <a:bodyPr wrap="square" lIns="25400" tIns="25400" rIns="25400" bIns="25400" rtlCol="0" anchor="t">
            <a:normAutofit/>
          </a:bodyPr>
          <a:lstStyle/>
          <a:p>
            <a:pPr algn="l" indent="0" marL="0">
              <a:lnSpc>
                <a:spcPct val="145000"/>
              </a:lnSpc>
              <a:buNone/>
            </a:pPr>
            <a:r>
              <a:rPr lang="en-US" sz="1425" dirty="0">
                <a:solidFill>
                  <a:srgbClr val="3F4A38"/>
                </a:solidFill>
                <a:latin typeface="Arial" pitchFamily="34" charset="0"/>
                <a:ea typeface="Arial" pitchFamily="34" charset="-122"/>
                <a:cs typeface="Arial" pitchFamily="34" charset="-120"/>
              </a:rPr>
              <a:t>Packet catches one real issue the analyst would have missed.</a:t>
            </a:r>
            <a:endParaRPr lang="en-US" sz="1425" dirty="0"/>
          </a:p>
        </p:txBody>
      </p:sp>
      <p:sp>
        <p:nvSpPr>
          <p:cNvPr id="20" name="Text 18"/>
          <p:cNvSpPr/>
          <p:nvPr/>
        </p:nvSpPr>
        <p:spPr>
          <a:xfrm>
            <a:off x="6483311" y="2046923"/>
            <a:ext cx="796409" cy="205740"/>
          </a:xfrm>
          <a:prstGeom prst="rect">
            <a:avLst/>
          </a:prstGeom>
          <a:noFill/>
          <a:ln/>
        </p:spPr>
        <p:txBody>
          <a:bodyPr wrap="square" lIns="25400" tIns="25400" rIns="25400" bIns="25400" rtlCol="0" anchor="t">
            <a:normAutofit/>
          </a:bodyPr>
          <a:lstStyle/>
          <a:p>
            <a:pPr algn="l" indent="0" marL="0">
              <a:buNone/>
            </a:pPr>
            <a:r>
              <a:rPr lang="en-US" sz="1125" b="1" spc="135" kern="0" dirty="0">
                <a:solidFill>
                  <a:srgbClr val="B23B26"/>
                </a:solidFill>
                <a:latin typeface="Courier New" pitchFamily="34" charset="0"/>
                <a:ea typeface="Courier New" pitchFamily="34" charset="-122"/>
                <a:cs typeface="Courier New" pitchFamily="34" charset="-120"/>
              </a:rPr>
              <a:t>PHASE 2</a:t>
            </a:r>
            <a:endParaRPr lang="en-US" sz="1125" dirty="0"/>
          </a:p>
        </p:txBody>
      </p:sp>
      <p:sp>
        <p:nvSpPr>
          <p:cNvPr id="21" name="Text 19"/>
          <p:cNvSpPr/>
          <p:nvPr/>
        </p:nvSpPr>
        <p:spPr>
          <a:xfrm>
            <a:off x="7317820" y="2024062"/>
            <a:ext cx="847725" cy="220980"/>
          </a:xfrm>
          <a:prstGeom prst="rect">
            <a:avLst/>
          </a:prstGeom>
          <a:noFill/>
          <a:ln/>
        </p:spPr>
        <p:txBody>
          <a:bodyPr wrap="square" lIns="25400" tIns="25400" rIns="25400" bIns="25400" rtlCol="0" anchor="t">
            <a:normAutofit/>
          </a:bodyPr>
          <a:lstStyle/>
          <a:p>
            <a:pPr algn="l" indent="0" marL="0">
              <a:buNone/>
            </a:pPr>
            <a:r>
              <a:rPr lang="en-US" sz="1125" dirty="0">
                <a:solidFill>
                  <a:srgbClr val="A0957F"/>
                </a:solidFill>
                <a:latin typeface="Courier New" pitchFamily="34" charset="0"/>
                <a:ea typeface="Courier New" pitchFamily="34" charset="-122"/>
                <a:cs typeface="Courier New" pitchFamily="34" charset="-120"/>
              </a:rPr>
              <a:t>Weeks 5-8</a:t>
            </a:r>
            <a:endParaRPr lang="en-US" sz="1125" dirty="0"/>
          </a:p>
        </p:txBody>
      </p:sp>
      <p:sp>
        <p:nvSpPr>
          <p:cNvPr id="22" name="Text 20"/>
          <p:cNvSpPr/>
          <p:nvPr/>
        </p:nvSpPr>
        <p:spPr>
          <a:xfrm>
            <a:off x="6483311" y="2252663"/>
            <a:ext cx="5853387" cy="297180"/>
          </a:xfrm>
          <a:prstGeom prst="rect">
            <a:avLst/>
          </a:prstGeom>
          <a:noFill/>
          <a:ln/>
        </p:spPr>
        <p:txBody>
          <a:bodyPr wrap="square" lIns="25400" tIns="25400" rIns="25400" bIns="25400" rtlCol="0" anchor="t">
            <a:normAutofit/>
          </a:bodyPr>
          <a:lstStyle/>
          <a:p>
            <a:pPr algn="l" indent="0" marL="0">
              <a:buNone/>
            </a:pPr>
            <a:r>
              <a:rPr lang="en-US" sz="2025" dirty="0">
                <a:solidFill>
                  <a:srgbClr val="221D17"/>
                </a:solidFill>
                <a:latin typeface="Georgia" pitchFamily="34" charset="0"/>
                <a:ea typeface="Georgia" pitchFamily="34" charset="-122"/>
                <a:cs typeface="Georgia" pitchFamily="34" charset="-120"/>
              </a:rPr>
              <a:t>Expanded pilot</a:t>
            </a:r>
            <a:endParaRPr lang="en-US" sz="2025" dirty="0"/>
          </a:p>
        </p:txBody>
      </p:sp>
      <p:sp>
        <p:nvSpPr>
          <p:cNvPr id="23" name="Shape 21"/>
          <p:cNvSpPr/>
          <p:nvPr/>
        </p:nvSpPr>
        <p:spPr>
          <a:xfrm>
            <a:off x="6483311" y="2664143"/>
            <a:ext cx="15240" cy="276225"/>
          </a:xfrm>
          <a:prstGeom prst="rect">
            <a:avLst/>
          </a:prstGeom>
          <a:solidFill>
            <a:srgbClr val="E0D8CB"/>
          </a:solidFill>
          <a:ln/>
        </p:spPr>
      </p:sp>
      <p:sp>
        <p:nvSpPr>
          <p:cNvPr id="24" name="Text 22"/>
          <p:cNvSpPr/>
          <p:nvPr/>
        </p:nvSpPr>
        <p:spPr>
          <a:xfrm>
            <a:off x="6650951" y="2664143"/>
            <a:ext cx="5685747"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4A443B"/>
                </a:solidFill>
                <a:latin typeface="Arial" pitchFamily="34" charset="0"/>
                <a:ea typeface="Arial" pitchFamily="34" charset="-122"/>
                <a:cs typeface="Arial" pitchFamily="34" charset="-120"/>
              </a:rPr>
              <a:t>All 8 suppliers in scope; full procurement team using it.</a:t>
            </a:r>
            <a:endParaRPr lang="en-US" sz="1500" dirty="0"/>
          </a:p>
        </p:txBody>
      </p:sp>
      <p:sp>
        <p:nvSpPr>
          <p:cNvPr id="25" name="Shape 23"/>
          <p:cNvSpPr/>
          <p:nvPr/>
        </p:nvSpPr>
        <p:spPr>
          <a:xfrm>
            <a:off x="6483311" y="3054668"/>
            <a:ext cx="15240" cy="276225"/>
          </a:xfrm>
          <a:prstGeom prst="rect">
            <a:avLst/>
          </a:prstGeom>
          <a:solidFill>
            <a:srgbClr val="E0D8CB"/>
          </a:solidFill>
          <a:ln/>
        </p:spPr>
      </p:sp>
      <p:sp>
        <p:nvSpPr>
          <p:cNvPr id="26" name="Text 24"/>
          <p:cNvSpPr/>
          <p:nvPr/>
        </p:nvSpPr>
        <p:spPr>
          <a:xfrm>
            <a:off x="6650951" y="3054668"/>
            <a:ext cx="5685747"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4A443B"/>
                </a:solidFill>
                <a:latin typeface="Arial" pitchFamily="34" charset="0"/>
                <a:ea typeface="Arial" pitchFamily="34" charset="-122"/>
                <a:cs typeface="Arial" pitchFamily="34" charset="-120"/>
              </a:rPr>
              <a:t>IT review: security, data access, API key governance.</a:t>
            </a:r>
            <a:endParaRPr lang="en-US" sz="1500" dirty="0"/>
          </a:p>
        </p:txBody>
      </p:sp>
      <p:sp>
        <p:nvSpPr>
          <p:cNvPr id="27" name="Shape 25"/>
          <p:cNvSpPr/>
          <p:nvPr/>
        </p:nvSpPr>
        <p:spPr>
          <a:xfrm>
            <a:off x="6483311" y="3445193"/>
            <a:ext cx="15240" cy="552450"/>
          </a:xfrm>
          <a:prstGeom prst="rect">
            <a:avLst/>
          </a:prstGeom>
          <a:solidFill>
            <a:srgbClr val="E0D8CB"/>
          </a:solidFill>
          <a:ln/>
        </p:spPr>
      </p:sp>
      <p:sp>
        <p:nvSpPr>
          <p:cNvPr id="28" name="Text 26"/>
          <p:cNvSpPr/>
          <p:nvPr/>
        </p:nvSpPr>
        <p:spPr>
          <a:xfrm>
            <a:off x="6650951" y="3445193"/>
            <a:ext cx="5313258" cy="590550"/>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4A443B"/>
                </a:solidFill>
                <a:latin typeface="Arial" pitchFamily="34" charset="0"/>
                <a:ea typeface="Arial" pitchFamily="34" charset="-122"/>
                <a:cs typeface="Arial" pitchFamily="34" charset="-120"/>
              </a:rPr>
              <a:t>Calendar integration auto-triggers packet generation 24h before each meeting.</a:t>
            </a:r>
            <a:endParaRPr lang="en-US" sz="1500" dirty="0"/>
          </a:p>
        </p:txBody>
      </p:sp>
      <p:sp>
        <p:nvSpPr>
          <p:cNvPr id="29" name="Shape 27"/>
          <p:cNvSpPr/>
          <p:nvPr/>
        </p:nvSpPr>
        <p:spPr>
          <a:xfrm>
            <a:off x="6483311" y="4111943"/>
            <a:ext cx="15240" cy="552450"/>
          </a:xfrm>
          <a:prstGeom prst="rect">
            <a:avLst/>
          </a:prstGeom>
          <a:solidFill>
            <a:srgbClr val="E0D8CB"/>
          </a:solidFill>
          <a:ln/>
        </p:spPr>
      </p:sp>
      <p:sp>
        <p:nvSpPr>
          <p:cNvPr id="30" name="Text 28"/>
          <p:cNvSpPr/>
          <p:nvPr/>
        </p:nvSpPr>
        <p:spPr>
          <a:xfrm>
            <a:off x="6650951" y="4111943"/>
            <a:ext cx="5313258" cy="590550"/>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4A443B"/>
                </a:solidFill>
                <a:latin typeface="Arial" pitchFamily="34" charset="0"/>
                <a:ea typeface="Arial" pitchFamily="34" charset="-122"/>
                <a:cs typeface="Arial" pitchFamily="34" charset="-120"/>
              </a:rPr>
              <a:t>Add live sources: Graph API for emails, SharePoint for contracts.</a:t>
            </a:r>
            <a:endParaRPr lang="en-US" sz="1500" dirty="0"/>
          </a:p>
        </p:txBody>
      </p:sp>
      <p:sp>
        <p:nvSpPr>
          <p:cNvPr id="31" name="Shape 29"/>
          <p:cNvSpPr/>
          <p:nvPr/>
        </p:nvSpPr>
        <p:spPr>
          <a:xfrm>
            <a:off x="6483311" y="8274368"/>
            <a:ext cx="5321261" cy="1022033"/>
          </a:xfrm>
          <a:prstGeom prst="rect">
            <a:avLst/>
          </a:prstGeom>
          <a:solidFill>
            <a:srgbClr val="EEE7DA"/>
          </a:solidFill>
          <a:ln/>
        </p:spPr>
      </p:sp>
      <p:sp>
        <p:nvSpPr>
          <p:cNvPr id="32" name="Shape 30"/>
          <p:cNvSpPr/>
          <p:nvPr/>
        </p:nvSpPr>
        <p:spPr>
          <a:xfrm>
            <a:off x="6483311" y="8274368"/>
            <a:ext cx="22860" cy="1022033"/>
          </a:xfrm>
          <a:prstGeom prst="rect">
            <a:avLst/>
          </a:prstGeom>
          <a:solidFill>
            <a:srgbClr val="5E7350"/>
          </a:solidFill>
          <a:ln/>
        </p:spPr>
      </p:sp>
      <p:sp>
        <p:nvSpPr>
          <p:cNvPr id="33" name="Text 31"/>
          <p:cNvSpPr/>
          <p:nvPr/>
        </p:nvSpPr>
        <p:spPr>
          <a:xfrm>
            <a:off x="6658570" y="8422957"/>
            <a:ext cx="1186934" cy="205740"/>
          </a:xfrm>
          <a:prstGeom prst="rect">
            <a:avLst/>
          </a:prstGeom>
          <a:noFill/>
          <a:ln/>
        </p:spPr>
        <p:txBody>
          <a:bodyPr wrap="square" lIns="25400" tIns="25400" rIns="25400" bIns="25400" rtlCol="0" anchor="t">
            <a:normAutofit/>
          </a:bodyPr>
          <a:lstStyle/>
          <a:p>
            <a:pPr algn="l" indent="0" marL="0">
              <a:buNone/>
            </a:pPr>
            <a:r>
              <a:rPr lang="en-US" sz="1013" spc="122" kern="0" dirty="0">
                <a:solidFill>
                  <a:srgbClr val="5E7350"/>
                </a:solidFill>
                <a:latin typeface="Courier New" pitchFamily="34" charset="0"/>
                <a:ea typeface="Courier New" pitchFamily="34" charset="-122"/>
                <a:cs typeface="Courier New" pitchFamily="34" charset="-120"/>
              </a:rPr>
              <a:t>SUCCESS GATE</a:t>
            </a:r>
            <a:endParaRPr lang="en-US" sz="1013" dirty="0"/>
          </a:p>
        </p:txBody>
      </p:sp>
      <p:sp>
        <p:nvSpPr>
          <p:cNvPr id="34" name="Text 32"/>
          <p:cNvSpPr/>
          <p:nvPr/>
        </p:nvSpPr>
        <p:spPr>
          <a:xfrm>
            <a:off x="6658570" y="8638223"/>
            <a:ext cx="5143408" cy="562928"/>
          </a:xfrm>
          <a:prstGeom prst="rect">
            <a:avLst/>
          </a:prstGeom>
          <a:noFill/>
          <a:ln/>
        </p:spPr>
        <p:txBody>
          <a:bodyPr wrap="square" lIns="25400" tIns="25400" rIns="25400" bIns="25400" rtlCol="0" anchor="t">
            <a:normAutofit/>
          </a:bodyPr>
          <a:lstStyle/>
          <a:p>
            <a:pPr algn="l" indent="0" marL="0">
              <a:lnSpc>
                <a:spcPct val="145000"/>
              </a:lnSpc>
              <a:buNone/>
            </a:pPr>
            <a:r>
              <a:rPr lang="en-US" sz="1425" dirty="0">
                <a:solidFill>
                  <a:srgbClr val="3F4A38"/>
                </a:solidFill>
                <a:latin typeface="Arial" pitchFamily="34" charset="0"/>
                <a:ea typeface="Arial" pitchFamily="34" charset="-122"/>
                <a:cs typeface="Arial" pitchFamily="34" charset="-120"/>
              </a:rPr>
              <a:t>Team uses the packet without being reminded; correction rate &lt;10%.</a:t>
            </a:r>
            <a:endParaRPr lang="en-US" sz="1425" dirty="0"/>
          </a:p>
        </p:txBody>
      </p:sp>
      <p:sp>
        <p:nvSpPr>
          <p:cNvPr id="35" name="Text 33"/>
          <p:cNvSpPr/>
          <p:nvPr/>
        </p:nvSpPr>
        <p:spPr>
          <a:xfrm>
            <a:off x="12052221" y="2046923"/>
            <a:ext cx="796409" cy="205740"/>
          </a:xfrm>
          <a:prstGeom prst="rect">
            <a:avLst/>
          </a:prstGeom>
          <a:noFill/>
          <a:ln/>
        </p:spPr>
        <p:txBody>
          <a:bodyPr wrap="square" lIns="25400" tIns="25400" rIns="25400" bIns="25400" rtlCol="0" anchor="t">
            <a:normAutofit/>
          </a:bodyPr>
          <a:lstStyle/>
          <a:p>
            <a:pPr algn="l" indent="0" marL="0">
              <a:buNone/>
            </a:pPr>
            <a:r>
              <a:rPr lang="en-US" sz="1125" b="1" spc="135" kern="0" dirty="0">
                <a:solidFill>
                  <a:srgbClr val="B23B26"/>
                </a:solidFill>
                <a:latin typeface="Courier New" pitchFamily="34" charset="0"/>
                <a:ea typeface="Courier New" pitchFamily="34" charset="-122"/>
                <a:cs typeface="Courier New" pitchFamily="34" charset="-120"/>
              </a:rPr>
              <a:t>PHASE 3</a:t>
            </a:r>
            <a:endParaRPr lang="en-US" sz="1125" dirty="0"/>
          </a:p>
        </p:txBody>
      </p:sp>
      <p:sp>
        <p:nvSpPr>
          <p:cNvPr id="36" name="Text 34"/>
          <p:cNvSpPr/>
          <p:nvPr/>
        </p:nvSpPr>
        <p:spPr>
          <a:xfrm>
            <a:off x="12886730" y="2024062"/>
            <a:ext cx="933450" cy="220980"/>
          </a:xfrm>
          <a:prstGeom prst="rect">
            <a:avLst/>
          </a:prstGeom>
          <a:noFill/>
          <a:ln/>
        </p:spPr>
        <p:txBody>
          <a:bodyPr wrap="square" lIns="25400" tIns="25400" rIns="25400" bIns="25400" rtlCol="0" anchor="t">
            <a:normAutofit/>
          </a:bodyPr>
          <a:lstStyle/>
          <a:p>
            <a:pPr algn="l" indent="0" marL="0">
              <a:buNone/>
            </a:pPr>
            <a:r>
              <a:rPr lang="en-US" sz="1125" dirty="0">
                <a:solidFill>
                  <a:srgbClr val="A0957F"/>
                </a:solidFill>
                <a:latin typeface="Courier New" pitchFamily="34" charset="0"/>
                <a:ea typeface="Courier New" pitchFamily="34" charset="-122"/>
                <a:cs typeface="Courier New" pitchFamily="34" charset="-120"/>
              </a:rPr>
              <a:t>Weeks 9-12</a:t>
            </a:r>
            <a:endParaRPr lang="en-US" sz="1125" dirty="0"/>
          </a:p>
        </p:txBody>
      </p:sp>
      <p:sp>
        <p:nvSpPr>
          <p:cNvPr id="37" name="Text 35"/>
          <p:cNvSpPr/>
          <p:nvPr/>
        </p:nvSpPr>
        <p:spPr>
          <a:xfrm>
            <a:off x="12052221" y="2252663"/>
            <a:ext cx="5853387" cy="297180"/>
          </a:xfrm>
          <a:prstGeom prst="rect">
            <a:avLst/>
          </a:prstGeom>
          <a:noFill/>
          <a:ln/>
        </p:spPr>
        <p:txBody>
          <a:bodyPr wrap="square" lIns="25400" tIns="25400" rIns="25400" bIns="25400" rtlCol="0" anchor="t">
            <a:normAutofit/>
          </a:bodyPr>
          <a:lstStyle/>
          <a:p>
            <a:pPr algn="l" indent="0" marL="0">
              <a:buNone/>
            </a:pPr>
            <a:r>
              <a:rPr lang="en-US" sz="2025" dirty="0">
                <a:solidFill>
                  <a:srgbClr val="221D17"/>
                </a:solidFill>
                <a:latin typeface="Georgia" pitchFamily="34" charset="0"/>
                <a:ea typeface="Georgia" pitchFamily="34" charset="-122"/>
                <a:cs typeface="Georgia" pitchFamily="34" charset="-120"/>
              </a:rPr>
              <a:t>Handover</a:t>
            </a:r>
            <a:endParaRPr lang="en-US" sz="2025" dirty="0"/>
          </a:p>
        </p:txBody>
      </p:sp>
      <p:sp>
        <p:nvSpPr>
          <p:cNvPr id="38" name="Shape 36"/>
          <p:cNvSpPr/>
          <p:nvPr/>
        </p:nvSpPr>
        <p:spPr>
          <a:xfrm>
            <a:off x="12052221" y="2664143"/>
            <a:ext cx="15240" cy="552450"/>
          </a:xfrm>
          <a:prstGeom prst="rect">
            <a:avLst/>
          </a:prstGeom>
          <a:solidFill>
            <a:srgbClr val="E0D8CB"/>
          </a:solidFill>
          <a:ln/>
        </p:spPr>
      </p:sp>
      <p:sp>
        <p:nvSpPr>
          <p:cNvPr id="39" name="Text 37"/>
          <p:cNvSpPr/>
          <p:nvPr/>
        </p:nvSpPr>
        <p:spPr>
          <a:xfrm>
            <a:off x="12219861" y="2664143"/>
            <a:ext cx="5313258" cy="590550"/>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4A443B"/>
                </a:solidFill>
                <a:latin typeface="Arial" pitchFamily="34" charset="0"/>
                <a:ea typeface="Arial" pitchFamily="34" charset="-122"/>
                <a:cs typeface="Arial" pitchFamily="34" charset="-120"/>
              </a:rPr>
              <a:t>Ownership transferred to the internal champion (Procurement Manager).</a:t>
            </a:r>
            <a:endParaRPr lang="en-US" sz="1500" dirty="0"/>
          </a:p>
        </p:txBody>
      </p:sp>
      <p:sp>
        <p:nvSpPr>
          <p:cNvPr id="40" name="Shape 38"/>
          <p:cNvSpPr/>
          <p:nvPr/>
        </p:nvSpPr>
        <p:spPr>
          <a:xfrm>
            <a:off x="12052221" y="3330893"/>
            <a:ext cx="15240" cy="276225"/>
          </a:xfrm>
          <a:prstGeom prst="rect">
            <a:avLst/>
          </a:prstGeom>
          <a:solidFill>
            <a:srgbClr val="E0D8CB"/>
          </a:solidFill>
          <a:ln/>
        </p:spPr>
      </p:sp>
      <p:sp>
        <p:nvSpPr>
          <p:cNvPr id="41" name="Text 39"/>
          <p:cNvSpPr/>
          <p:nvPr/>
        </p:nvSpPr>
        <p:spPr>
          <a:xfrm>
            <a:off x="12219861" y="3330893"/>
            <a:ext cx="5685747"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4A443B"/>
                </a:solidFill>
                <a:latin typeface="Arial" pitchFamily="34" charset="0"/>
                <a:ea typeface="Arial" pitchFamily="34" charset="-122"/>
                <a:cs typeface="Arial" pitchFamily="34" charset="-120"/>
              </a:rPr>
              <a:t>ROI case presented to Finance / CFO with 90-day actuals.</a:t>
            </a:r>
            <a:endParaRPr lang="en-US" sz="1500" dirty="0"/>
          </a:p>
        </p:txBody>
      </p:sp>
      <p:sp>
        <p:nvSpPr>
          <p:cNvPr id="42" name="Shape 40"/>
          <p:cNvSpPr/>
          <p:nvPr/>
        </p:nvSpPr>
        <p:spPr>
          <a:xfrm>
            <a:off x="12052221" y="3721418"/>
            <a:ext cx="15240" cy="552450"/>
          </a:xfrm>
          <a:prstGeom prst="rect">
            <a:avLst/>
          </a:prstGeom>
          <a:solidFill>
            <a:srgbClr val="E0D8CB"/>
          </a:solidFill>
          <a:ln/>
        </p:spPr>
      </p:sp>
      <p:sp>
        <p:nvSpPr>
          <p:cNvPr id="43" name="Text 41"/>
          <p:cNvSpPr/>
          <p:nvPr/>
        </p:nvSpPr>
        <p:spPr>
          <a:xfrm>
            <a:off x="12219861" y="3721418"/>
            <a:ext cx="5313258" cy="590550"/>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4A443B"/>
                </a:solidFill>
                <a:latin typeface="Arial" pitchFamily="34" charset="0"/>
                <a:ea typeface="Arial" pitchFamily="34" charset="-122"/>
                <a:cs typeface="Arial" pitchFamily="34" charset="-120"/>
              </a:rPr>
              <a:t>Prompt-tuning backlog based on correction_log.csv patterns.</a:t>
            </a:r>
            <a:endParaRPr lang="en-US" sz="1500" dirty="0"/>
          </a:p>
        </p:txBody>
      </p:sp>
      <p:sp>
        <p:nvSpPr>
          <p:cNvPr id="44" name="Shape 42"/>
          <p:cNvSpPr/>
          <p:nvPr/>
        </p:nvSpPr>
        <p:spPr>
          <a:xfrm>
            <a:off x="12052221" y="4388168"/>
            <a:ext cx="15240" cy="552450"/>
          </a:xfrm>
          <a:prstGeom prst="rect">
            <a:avLst/>
          </a:prstGeom>
          <a:solidFill>
            <a:srgbClr val="E0D8CB"/>
          </a:solidFill>
          <a:ln/>
        </p:spPr>
      </p:sp>
      <p:sp>
        <p:nvSpPr>
          <p:cNvPr id="45" name="Text 43"/>
          <p:cNvSpPr/>
          <p:nvPr/>
        </p:nvSpPr>
        <p:spPr>
          <a:xfrm>
            <a:off x="12219861" y="4388168"/>
            <a:ext cx="5313258" cy="590550"/>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4A443B"/>
                </a:solidFill>
                <a:latin typeface="Arial" pitchFamily="34" charset="0"/>
                <a:ea typeface="Arial" pitchFamily="34" charset="-122"/>
                <a:cs typeface="Arial" pitchFamily="34" charset="-120"/>
              </a:rPr>
              <a:t>Roadmap: supplier segmentation, auto-renewal alerts, negotiation history.</a:t>
            </a:r>
            <a:endParaRPr lang="en-US" sz="1500" dirty="0"/>
          </a:p>
        </p:txBody>
      </p:sp>
      <p:sp>
        <p:nvSpPr>
          <p:cNvPr id="46" name="Shape 44"/>
          <p:cNvSpPr/>
          <p:nvPr/>
        </p:nvSpPr>
        <p:spPr>
          <a:xfrm>
            <a:off x="12052221" y="8536781"/>
            <a:ext cx="5321261" cy="759619"/>
          </a:xfrm>
          <a:prstGeom prst="rect">
            <a:avLst/>
          </a:prstGeom>
          <a:solidFill>
            <a:srgbClr val="EEE7DA"/>
          </a:solidFill>
          <a:ln/>
        </p:spPr>
      </p:sp>
      <p:sp>
        <p:nvSpPr>
          <p:cNvPr id="47" name="Shape 45"/>
          <p:cNvSpPr/>
          <p:nvPr/>
        </p:nvSpPr>
        <p:spPr>
          <a:xfrm>
            <a:off x="12052221" y="8536781"/>
            <a:ext cx="22860" cy="759619"/>
          </a:xfrm>
          <a:prstGeom prst="rect">
            <a:avLst/>
          </a:prstGeom>
          <a:solidFill>
            <a:srgbClr val="A0957F"/>
          </a:solidFill>
          <a:ln/>
        </p:spPr>
      </p:sp>
      <p:sp>
        <p:nvSpPr>
          <p:cNvPr id="48" name="Text 46"/>
          <p:cNvSpPr/>
          <p:nvPr/>
        </p:nvSpPr>
        <p:spPr>
          <a:xfrm>
            <a:off x="12227480" y="8685372"/>
            <a:ext cx="724138" cy="205740"/>
          </a:xfrm>
          <a:prstGeom prst="rect">
            <a:avLst/>
          </a:prstGeom>
          <a:noFill/>
          <a:ln/>
        </p:spPr>
        <p:txBody>
          <a:bodyPr wrap="square" lIns="25400" tIns="25400" rIns="25400" bIns="25400" rtlCol="0" anchor="t">
            <a:normAutofit/>
          </a:bodyPr>
          <a:lstStyle/>
          <a:p>
            <a:pPr algn="l" indent="0" marL="0">
              <a:buNone/>
            </a:pPr>
            <a:r>
              <a:rPr lang="en-US" sz="1013" spc="122" kern="0" dirty="0">
                <a:solidFill>
                  <a:srgbClr val="8A7F6E"/>
                </a:solidFill>
                <a:latin typeface="Courier New" pitchFamily="34" charset="0"/>
                <a:ea typeface="Courier New" pitchFamily="34" charset="-122"/>
                <a:cs typeface="Courier New" pitchFamily="34" charset="-120"/>
              </a:rPr>
              <a:t>OUTCOME</a:t>
            </a:r>
            <a:endParaRPr lang="en-US" sz="1013" dirty="0"/>
          </a:p>
        </p:txBody>
      </p:sp>
      <p:sp>
        <p:nvSpPr>
          <p:cNvPr id="49" name="Text 47"/>
          <p:cNvSpPr/>
          <p:nvPr/>
        </p:nvSpPr>
        <p:spPr>
          <a:xfrm>
            <a:off x="12227480" y="8900636"/>
            <a:ext cx="5492960" cy="300514"/>
          </a:xfrm>
          <a:prstGeom prst="rect">
            <a:avLst/>
          </a:prstGeom>
          <a:noFill/>
          <a:ln/>
        </p:spPr>
        <p:txBody>
          <a:bodyPr wrap="square" lIns="25400" tIns="25400" rIns="25400" bIns="25400" rtlCol="0" anchor="t">
            <a:normAutofit/>
          </a:bodyPr>
          <a:lstStyle/>
          <a:p>
            <a:pPr algn="l" indent="0" marL="0">
              <a:lnSpc>
                <a:spcPct val="145000"/>
              </a:lnSpc>
              <a:buNone/>
            </a:pPr>
            <a:r>
              <a:rPr lang="en-US" sz="1425" dirty="0">
                <a:solidFill>
                  <a:srgbClr val="4A443B"/>
                </a:solidFill>
                <a:latin typeface="Arial" pitchFamily="34" charset="0"/>
                <a:ea typeface="Arial" pitchFamily="34" charset="-122"/>
                <a:cs typeface="Arial" pitchFamily="34" charset="-120"/>
              </a:rPr>
              <a:t>A tool the team owns, not one they depend on me for.</a:t>
            </a:r>
            <a:endParaRPr lang="en-US" sz="1425" dirty="0"/>
          </a:p>
        </p:txBody>
      </p:sp>
      <p:sp>
        <p:nvSpPr>
          <p:cNvPr id="50" name="Shape 48"/>
          <p:cNvSpPr/>
          <p:nvPr/>
        </p:nvSpPr>
        <p:spPr>
          <a:xfrm>
            <a:off x="914400" y="9637395"/>
            <a:ext cx="16459200" cy="9525"/>
          </a:xfrm>
          <a:prstGeom prst="rect">
            <a:avLst/>
          </a:prstGeom>
          <a:solidFill>
            <a:srgbClr val="E2DACE"/>
          </a:solidFill>
          <a:ln/>
        </p:spPr>
      </p:sp>
      <p:sp>
        <p:nvSpPr>
          <p:cNvPr id="51" name="Text 49"/>
          <p:cNvSpPr/>
          <p:nvPr/>
        </p:nvSpPr>
        <p:spPr>
          <a:xfrm>
            <a:off x="914400" y="9768840"/>
            <a:ext cx="5462575" cy="21336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A89D8E"/>
                </a:solidFill>
                <a:latin typeface="Courier New" pitchFamily="34" charset="0"/>
                <a:ea typeface="Courier New" pitchFamily="34" charset="-122"/>
                <a:cs typeface="Courier New" pitchFamily="34" charset="-120"/>
              </a:rPr>
              <a:t>STRAUSS PROCUREMENT · FDE EXERCISE · CONFIDENTIAL</a:t>
            </a:r>
            <a:endParaRPr lang="en-US" sz="1050" dirty="0"/>
          </a:p>
        </p:txBody>
      </p:sp>
      <p:sp>
        <p:nvSpPr>
          <p:cNvPr id="52" name="Text 50"/>
          <p:cNvSpPr/>
          <p:nvPr/>
        </p:nvSpPr>
        <p:spPr>
          <a:xfrm>
            <a:off x="16664107" y="9768840"/>
            <a:ext cx="785693" cy="21336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A89D8E"/>
                </a:solidFill>
                <a:latin typeface="Courier New" pitchFamily="34" charset="0"/>
                <a:ea typeface="Courier New" pitchFamily="34" charset="-122"/>
                <a:cs typeface="Courier New" pitchFamily="34" charset="-120"/>
              </a:rPr>
              <a:t>13 / 19</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EFE7"/>
        </a:solidFill>
      </p:bgPr>
    </p:bg>
    <p:spTree>
      <p:nvGrpSpPr>
        <p:cNvPr id="1" name=""/>
        <p:cNvGrpSpPr/>
        <p:nvPr/>
      </p:nvGrpSpPr>
      <p:grpSpPr>
        <a:xfrm>
          <a:off x="0" y="0"/>
          <a:ext cx="0" cy="0"/>
          <a:chOff x="0" y="0"/>
          <a:chExt cx="0" cy="0"/>
        </a:xfrm>
      </p:grpSpPr>
      <p:sp>
        <p:nvSpPr>
          <p:cNvPr id="2" name="Shape 0"/>
          <p:cNvSpPr/>
          <p:nvPr/>
        </p:nvSpPr>
        <p:spPr>
          <a:xfrm>
            <a:off x="914400" y="1749742"/>
            <a:ext cx="16459200" cy="9525"/>
          </a:xfrm>
          <a:prstGeom prst="rect">
            <a:avLst/>
          </a:prstGeom>
          <a:solidFill>
            <a:srgbClr val="D7CDBE"/>
          </a:solidFill>
          <a:ln/>
        </p:spPr>
      </p:sp>
      <p:sp>
        <p:nvSpPr>
          <p:cNvPr id="3" name="Text 1"/>
          <p:cNvSpPr/>
          <p:nvPr/>
        </p:nvSpPr>
        <p:spPr>
          <a:xfrm>
            <a:off x="914400" y="704850"/>
            <a:ext cx="18105120" cy="259080"/>
          </a:xfrm>
          <a:prstGeom prst="rect">
            <a:avLst/>
          </a:prstGeom>
          <a:noFill/>
          <a:ln/>
        </p:spPr>
        <p:txBody>
          <a:bodyPr wrap="square" lIns="25400" tIns="25400" rIns="25400" bIns="25400" rtlCol="0" anchor="t">
            <a:normAutofit/>
          </a:bodyPr>
          <a:lstStyle/>
          <a:p>
            <a:pPr algn="l" indent="0" marL="0">
              <a:buNone/>
            </a:pPr>
            <a:r>
              <a:rPr lang="en-US" sz="1350" spc="324" kern="0" dirty="0">
                <a:solidFill>
                  <a:srgbClr val="B23B26"/>
                </a:solidFill>
                <a:latin typeface="Courier New" pitchFamily="34" charset="0"/>
                <a:ea typeface="Courier New" pitchFamily="34" charset="-122"/>
                <a:cs typeface="Courier New" pitchFamily="34" charset="-120"/>
              </a:rPr>
              <a:t>14 · RISKS &amp; CHALLENGES</a:t>
            </a:r>
            <a:endParaRPr lang="en-US" sz="1350" dirty="0"/>
          </a:p>
        </p:txBody>
      </p:sp>
      <p:sp>
        <p:nvSpPr>
          <p:cNvPr id="4" name="Text 2"/>
          <p:cNvSpPr/>
          <p:nvPr/>
        </p:nvSpPr>
        <p:spPr>
          <a:xfrm>
            <a:off x="914400" y="1049655"/>
            <a:ext cx="18105120" cy="528638"/>
          </a:xfrm>
          <a:prstGeom prst="rect">
            <a:avLst/>
          </a:prstGeom>
          <a:noFill/>
          <a:ln/>
        </p:spPr>
        <p:txBody>
          <a:bodyPr wrap="square" lIns="25400" tIns="25400" rIns="25400" bIns="25400" rtlCol="0" anchor="t">
            <a:normAutofit/>
          </a:bodyPr>
          <a:lstStyle/>
          <a:p>
            <a:pPr algn="l" indent="0" marL="0">
              <a:lnSpc>
                <a:spcPct val="103000"/>
              </a:lnSpc>
              <a:buNone/>
            </a:pPr>
            <a:r>
              <a:rPr lang="en-US" sz="3750" spc="-56" kern="0" dirty="0">
                <a:solidFill>
                  <a:srgbClr val="221D17"/>
                </a:solidFill>
                <a:latin typeface="Georgia" pitchFamily="34" charset="0"/>
                <a:ea typeface="Georgia" pitchFamily="34" charset="-122"/>
                <a:cs typeface="Georgia" pitchFamily="34" charset="-120"/>
              </a:rPr>
              <a:t>What could go wrong, and how I’d handle it</a:t>
            </a:r>
            <a:endParaRPr lang="en-US" sz="3750" dirty="0"/>
          </a:p>
        </p:txBody>
      </p:sp>
      <p:sp>
        <p:nvSpPr>
          <p:cNvPr id="5" name="Shape 3"/>
          <p:cNvSpPr/>
          <p:nvPr/>
        </p:nvSpPr>
        <p:spPr>
          <a:xfrm>
            <a:off x="914400" y="2005013"/>
            <a:ext cx="8124825" cy="3540919"/>
          </a:xfrm>
          <a:prstGeom prst="roundRect">
            <a:avLst>
              <a:gd name="adj" fmla="val 1076"/>
            </a:avLst>
          </a:prstGeom>
          <a:solidFill>
            <a:srgbClr val="FBF8F2"/>
          </a:solidFill>
          <a:ln w="7620">
            <a:solidFill>
              <a:srgbClr val="DDD4C6"/>
            </a:solidFill>
            <a:prstDash val="solid"/>
          </a:ln>
        </p:spPr>
      </p:sp>
      <p:sp>
        <p:nvSpPr>
          <p:cNvPr id="6" name="Shape 4"/>
          <p:cNvSpPr/>
          <p:nvPr/>
        </p:nvSpPr>
        <p:spPr>
          <a:xfrm>
            <a:off x="1188720" y="2241233"/>
            <a:ext cx="996196" cy="217170"/>
          </a:xfrm>
          <a:prstGeom prst="roundRect">
            <a:avLst>
              <a:gd name="adj" fmla="val 13158"/>
            </a:avLst>
          </a:prstGeom>
          <a:solidFill>
            <a:srgbClr val="E7E0D2"/>
          </a:solidFill>
          <a:ln/>
        </p:spPr>
      </p:sp>
      <p:sp>
        <p:nvSpPr>
          <p:cNvPr id="7" name="Text 5"/>
          <p:cNvSpPr/>
          <p:nvPr/>
        </p:nvSpPr>
        <p:spPr>
          <a:xfrm>
            <a:off x="1274445" y="2269808"/>
            <a:ext cx="900946" cy="19812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6E6453"/>
                </a:solidFill>
                <a:latin typeface="Courier New" pitchFamily="34" charset="0"/>
                <a:ea typeface="Courier New" pitchFamily="34" charset="-122"/>
                <a:cs typeface="Courier New" pitchFamily="34" charset="-120"/>
              </a:rPr>
              <a:t>TECHNICAL</a:t>
            </a:r>
            <a:endParaRPr lang="en-US" sz="975" dirty="0"/>
          </a:p>
        </p:txBody>
      </p:sp>
      <p:sp>
        <p:nvSpPr>
          <p:cNvPr id="8" name="Text 6"/>
          <p:cNvSpPr/>
          <p:nvPr/>
        </p:nvSpPr>
        <p:spPr>
          <a:xfrm>
            <a:off x="1188720" y="2544128"/>
            <a:ext cx="8333804" cy="289560"/>
          </a:xfrm>
          <a:prstGeom prst="rect">
            <a:avLst/>
          </a:prstGeom>
          <a:noFill/>
          <a:ln/>
        </p:spPr>
        <p:txBody>
          <a:bodyPr wrap="square" lIns="25400" tIns="25400" rIns="25400" bIns="25400" rtlCol="0" anchor="t">
            <a:normAutofit/>
          </a:bodyPr>
          <a:lstStyle/>
          <a:p>
            <a:pPr algn="l" indent="0" marL="0">
              <a:lnSpc>
                <a:spcPct val="110000"/>
              </a:lnSpc>
              <a:buNone/>
            </a:pPr>
            <a:r>
              <a:rPr lang="en-US" sz="1800" dirty="0">
                <a:solidFill>
                  <a:srgbClr val="221D17"/>
                </a:solidFill>
                <a:latin typeface="Georgia" pitchFamily="34" charset="0"/>
                <a:ea typeface="Georgia" pitchFamily="34" charset="-122"/>
                <a:cs typeface="Georgia" pitchFamily="34" charset="-120"/>
              </a:rPr>
              <a:t>Extraction accuracy drift</a:t>
            </a:r>
            <a:endParaRPr lang="en-US" sz="1800" dirty="0"/>
          </a:p>
        </p:txBody>
      </p:sp>
      <p:sp>
        <p:nvSpPr>
          <p:cNvPr id="9" name="Text 7"/>
          <p:cNvSpPr/>
          <p:nvPr/>
        </p:nvSpPr>
        <p:spPr>
          <a:xfrm>
            <a:off x="1188720" y="2944178"/>
            <a:ext cx="620316" cy="213360"/>
          </a:xfrm>
          <a:prstGeom prst="rect">
            <a:avLst/>
          </a:prstGeom>
          <a:noFill/>
          <a:ln/>
        </p:spPr>
        <p:txBody>
          <a:bodyPr wrap="square" lIns="25400" tIns="25400" rIns="25400" bIns="25400" rtlCol="0" anchor="t">
            <a:normAutofit/>
          </a:bodyPr>
          <a:lstStyle/>
          <a:p>
            <a:pPr algn="l" indent="0" marL="0">
              <a:lnSpc>
                <a:spcPct val="145000"/>
              </a:lnSpc>
              <a:buNone/>
            </a:pPr>
            <a:r>
              <a:rPr lang="en-US" sz="1050" spc="84" kern="0" dirty="0">
                <a:solidFill>
                  <a:srgbClr val="B23B26"/>
                </a:solidFill>
                <a:latin typeface="Courier New" pitchFamily="34" charset="0"/>
                <a:ea typeface="Courier New" pitchFamily="34" charset="-122"/>
                <a:cs typeface="Courier New" pitchFamily="34" charset="-120"/>
              </a:rPr>
              <a:t>RISK</a:t>
            </a:r>
            <a:endParaRPr lang="en-US" sz="1050" dirty="0"/>
          </a:p>
        </p:txBody>
      </p:sp>
      <p:sp>
        <p:nvSpPr>
          <p:cNvPr id="10" name="Text 8"/>
          <p:cNvSpPr/>
          <p:nvPr/>
        </p:nvSpPr>
        <p:spPr>
          <a:xfrm>
            <a:off x="1188720" y="2906078"/>
            <a:ext cx="7439860" cy="521494"/>
          </a:xfrm>
          <a:prstGeom prst="rect">
            <a:avLst/>
          </a:prstGeom>
          <a:noFill/>
          <a:ln/>
        </p:spPr>
        <p:txBody>
          <a:bodyPr wrap="square" lIns="25400" tIns="25400" rIns="25400" bIns="25400" rtlCol="0" anchor="t">
            <a:normAutofit/>
          </a:bodyPr>
          <a:lstStyle/>
          <a:p>
            <a:pPr algn="l" indent="0" marL="0">
              <a:lnSpc>
                <a:spcPct val="145000"/>
              </a:lnSpc>
              <a:buNone/>
            </a:pPr>
            <a:r>
              <a:rPr lang="en-US" sz="1425" dirty="0">
                <a:solidFill>
                  <a:srgbClr val="8A5A4E"/>
                </a:solidFill>
                <a:latin typeface="Arial" pitchFamily="34" charset="0"/>
                <a:ea typeface="Arial" pitchFamily="34" charset="-122"/>
                <a:cs typeface="Arial" pitchFamily="34" charset="-120"/>
              </a:rPr>
              <a:t>Claude returns wrong contract terms or misses a dispute. Manager walks in with bad data.</a:t>
            </a:r>
            <a:endParaRPr lang="en-US" sz="1425" dirty="0"/>
          </a:p>
        </p:txBody>
      </p:sp>
      <p:sp>
        <p:nvSpPr>
          <p:cNvPr id="11" name="Text 9"/>
          <p:cNvSpPr/>
          <p:nvPr/>
        </p:nvSpPr>
        <p:spPr>
          <a:xfrm>
            <a:off x="1188720" y="3564255"/>
            <a:ext cx="1164431" cy="213360"/>
          </a:xfrm>
          <a:prstGeom prst="rect">
            <a:avLst/>
          </a:prstGeom>
          <a:noFill/>
          <a:ln/>
        </p:spPr>
        <p:txBody>
          <a:bodyPr wrap="square" lIns="25400" tIns="25400" rIns="25400" bIns="25400" rtlCol="0" anchor="t">
            <a:normAutofit/>
          </a:bodyPr>
          <a:lstStyle/>
          <a:p>
            <a:pPr algn="l" indent="0" marL="0">
              <a:lnSpc>
                <a:spcPct val="145000"/>
              </a:lnSpc>
              <a:buNone/>
            </a:pPr>
            <a:r>
              <a:rPr lang="en-US" sz="1050" spc="84" kern="0" dirty="0">
                <a:solidFill>
                  <a:srgbClr val="5E7350"/>
                </a:solidFill>
                <a:latin typeface="Courier New" pitchFamily="34" charset="0"/>
                <a:ea typeface="Courier New" pitchFamily="34" charset="-122"/>
                <a:cs typeface="Courier New" pitchFamily="34" charset="-120"/>
              </a:rPr>
              <a:t>MITIGATION</a:t>
            </a:r>
            <a:endParaRPr lang="en-US" sz="1050" dirty="0"/>
          </a:p>
        </p:txBody>
      </p:sp>
      <p:sp>
        <p:nvSpPr>
          <p:cNvPr id="12" name="Text 10"/>
          <p:cNvSpPr/>
          <p:nvPr/>
        </p:nvSpPr>
        <p:spPr>
          <a:xfrm>
            <a:off x="1188720" y="3526155"/>
            <a:ext cx="7325442" cy="783908"/>
          </a:xfrm>
          <a:prstGeom prst="rect">
            <a:avLst/>
          </a:prstGeom>
          <a:noFill/>
          <a:ln/>
        </p:spPr>
        <p:txBody>
          <a:bodyPr wrap="square" lIns="25400" tIns="25400" rIns="25400" bIns="25400" rtlCol="0" anchor="t">
            <a:normAutofit/>
          </a:bodyPr>
          <a:lstStyle/>
          <a:p>
            <a:pPr algn="l" indent="0" marL="0">
              <a:lnSpc>
                <a:spcPct val="145000"/>
              </a:lnSpc>
              <a:buNone/>
            </a:pPr>
            <a:r>
              <a:rPr lang="en-US" sz="1425" dirty="0">
                <a:solidFill>
                  <a:srgbClr val="3F4A38"/>
                </a:solidFill>
                <a:latin typeface="Arial" pitchFamily="34" charset="0"/>
                <a:ea typeface="Arial" pitchFamily="34" charset="-122"/>
                <a:cs typeface="Arial" pitchFamily="34" charset="-120"/>
              </a:rPr>
              <a:t>Source attribution on every field makes errors visible. The correction log tracks error rate by field and supplier. Monthly prompt-tuning cycle against correction_log.csv. Phase 1 KPI: correction rate &lt;10% by week 4.</a:t>
            </a:r>
            <a:endParaRPr lang="en-US" sz="1425" dirty="0"/>
          </a:p>
        </p:txBody>
      </p:sp>
      <p:sp>
        <p:nvSpPr>
          <p:cNvPr id="13" name="Shape 11"/>
          <p:cNvSpPr/>
          <p:nvPr/>
        </p:nvSpPr>
        <p:spPr>
          <a:xfrm>
            <a:off x="9248775" y="2005013"/>
            <a:ext cx="8124825" cy="3540919"/>
          </a:xfrm>
          <a:prstGeom prst="roundRect">
            <a:avLst>
              <a:gd name="adj" fmla="val 1076"/>
            </a:avLst>
          </a:prstGeom>
          <a:solidFill>
            <a:srgbClr val="FBF8F2"/>
          </a:solidFill>
          <a:ln w="7620">
            <a:solidFill>
              <a:srgbClr val="DDD4C6"/>
            </a:solidFill>
            <a:prstDash val="solid"/>
          </a:ln>
        </p:spPr>
      </p:sp>
      <p:sp>
        <p:nvSpPr>
          <p:cNvPr id="14" name="Shape 12"/>
          <p:cNvSpPr/>
          <p:nvPr/>
        </p:nvSpPr>
        <p:spPr>
          <a:xfrm>
            <a:off x="9523095" y="2241233"/>
            <a:ext cx="1454348" cy="217170"/>
          </a:xfrm>
          <a:prstGeom prst="roundRect">
            <a:avLst>
              <a:gd name="adj" fmla="val 13158"/>
            </a:avLst>
          </a:prstGeom>
          <a:solidFill>
            <a:srgbClr val="F2E0DB"/>
          </a:solidFill>
          <a:ln/>
        </p:spPr>
      </p:sp>
      <p:sp>
        <p:nvSpPr>
          <p:cNvPr id="15" name="Text 13"/>
          <p:cNvSpPr/>
          <p:nvPr/>
        </p:nvSpPr>
        <p:spPr>
          <a:xfrm>
            <a:off x="9608820" y="2269808"/>
            <a:ext cx="1359098" cy="19812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A0432F"/>
                </a:solidFill>
                <a:latin typeface="Courier New" pitchFamily="34" charset="0"/>
                <a:ea typeface="Courier New" pitchFamily="34" charset="-122"/>
                <a:cs typeface="Courier New" pitchFamily="34" charset="-120"/>
              </a:rPr>
              <a:t>ORGANISATIONAL</a:t>
            </a:r>
            <a:endParaRPr lang="en-US" sz="975" dirty="0"/>
          </a:p>
        </p:txBody>
      </p:sp>
      <p:sp>
        <p:nvSpPr>
          <p:cNvPr id="16" name="Text 14"/>
          <p:cNvSpPr/>
          <p:nvPr/>
        </p:nvSpPr>
        <p:spPr>
          <a:xfrm>
            <a:off x="9523095" y="2544128"/>
            <a:ext cx="8333804" cy="289560"/>
          </a:xfrm>
          <a:prstGeom prst="rect">
            <a:avLst/>
          </a:prstGeom>
          <a:noFill/>
          <a:ln/>
        </p:spPr>
        <p:txBody>
          <a:bodyPr wrap="square" lIns="25400" tIns="25400" rIns="25400" bIns="25400" rtlCol="0" anchor="t">
            <a:normAutofit/>
          </a:bodyPr>
          <a:lstStyle/>
          <a:p>
            <a:pPr algn="l" indent="0" marL="0">
              <a:lnSpc>
                <a:spcPct val="110000"/>
              </a:lnSpc>
              <a:buNone/>
            </a:pPr>
            <a:r>
              <a:rPr lang="en-US" sz="1800" dirty="0">
                <a:solidFill>
                  <a:srgbClr val="221D17"/>
                </a:solidFill>
                <a:latin typeface="Georgia" pitchFamily="34" charset="0"/>
                <a:ea typeface="Georgia" pitchFamily="34" charset="-122"/>
                <a:cs typeface="Georgia" pitchFamily="34" charset="-120"/>
              </a:rPr>
              <a:t>Losing the internal champion</a:t>
            </a:r>
            <a:endParaRPr lang="en-US" sz="1800" dirty="0"/>
          </a:p>
        </p:txBody>
      </p:sp>
      <p:sp>
        <p:nvSpPr>
          <p:cNvPr id="17" name="Text 15"/>
          <p:cNvSpPr/>
          <p:nvPr/>
        </p:nvSpPr>
        <p:spPr>
          <a:xfrm>
            <a:off x="9523095" y="2944178"/>
            <a:ext cx="620316" cy="213360"/>
          </a:xfrm>
          <a:prstGeom prst="rect">
            <a:avLst/>
          </a:prstGeom>
          <a:noFill/>
          <a:ln/>
        </p:spPr>
        <p:txBody>
          <a:bodyPr wrap="square" lIns="25400" tIns="25400" rIns="25400" bIns="25400" rtlCol="0" anchor="t">
            <a:normAutofit/>
          </a:bodyPr>
          <a:lstStyle/>
          <a:p>
            <a:pPr algn="l" indent="0" marL="0">
              <a:lnSpc>
                <a:spcPct val="145000"/>
              </a:lnSpc>
              <a:buNone/>
            </a:pPr>
            <a:r>
              <a:rPr lang="en-US" sz="1050" spc="84" kern="0" dirty="0">
                <a:solidFill>
                  <a:srgbClr val="B23B26"/>
                </a:solidFill>
                <a:latin typeface="Courier New" pitchFamily="34" charset="0"/>
                <a:ea typeface="Courier New" pitchFamily="34" charset="-122"/>
                <a:cs typeface="Courier New" pitchFamily="34" charset="-120"/>
              </a:rPr>
              <a:t>RISK</a:t>
            </a:r>
            <a:endParaRPr lang="en-US" sz="1050" dirty="0"/>
          </a:p>
        </p:txBody>
      </p:sp>
      <p:sp>
        <p:nvSpPr>
          <p:cNvPr id="18" name="Text 16"/>
          <p:cNvSpPr/>
          <p:nvPr/>
        </p:nvSpPr>
        <p:spPr>
          <a:xfrm>
            <a:off x="9523095" y="2906078"/>
            <a:ext cx="7593398" cy="521494"/>
          </a:xfrm>
          <a:prstGeom prst="rect">
            <a:avLst/>
          </a:prstGeom>
          <a:noFill/>
          <a:ln/>
        </p:spPr>
        <p:txBody>
          <a:bodyPr wrap="square" lIns="25400" tIns="25400" rIns="25400" bIns="25400" rtlCol="0" anchor="t">
            <a:normAutofit/>
          </a:bodyPr>
          <a:lstStyle/>
          <a:p>
            <a:pPr algn="l" indent="0" marL="0">
              <a:lnSpc>
                <a:spcPct val="145000"/>
              </a:lnSpc>
              <a:buNone/>
            </a:pPr>
            <a:r>
              <a:rPr lang="en-US" sz="1425" dirty="0">
                <a:solidFill>
                  <a:srgbClr val="8A5A4E"/>
                </a:solidFill>
                <a:latin typeface="Arial" pitchFamily="34" charset="0"/>
                <a:ea typeface="Arial" pitchFamily="34" charset="-122"/>
                <a:cs typeface="Arial" pitchFamily="34" charset="-120"/>
              </a:rPr>
              <a:t>Procurement Manager moves roles or loses interest. Tool loses its sponsor before Phase 2.</a:t>
            </a:r>
            <a:endParaRPr lang="en-US" sz="1425" dirty="0"/>
          </a:p>
        </p:txBody>
      </p:sp>
      <p:sp>
        <p:nvSpPr>
          <p:cNvPr id="19" name="Text 17"/>
          <p:cNvSpPr/>
          <p:nvPr/>
        </p:nvSpPr>
        <p:spPr>
          <a:xfrm>
            <a:off x="9523095" y="3564255"/>
            <a:ext cx="1164431" cy="213360"/>
          </a:xfrm>
          <a:prstGeom prst="rect">
            <a:avLst/>
          </a:prstGeom>
          <a:noFill/>
          <a:ln/>
        </p:spPr>
        <p:txBody>
          <a:bodyPr wrap="square" lIns="25400" tIns="25400" rIns="25400" bIns="25400" rtlCol="0" anchor="t">
            <a:normAutofit/>
          </a:bodyPr>
          <a:lstStyle/>
          <a:p>
            <a:pPr algn="l" indent="0" marL="0">
              <a:lnSpc>
                <a:spcPct val="145000"/>
              </a:lnSpc>
              <a:buNone/>
            </a:pPr>
            <a:r>
              <a:rPr lang="en-US" sz="1050" spc="84" kern="0" dirty="0">
                <a:solidFill>
                  <a:srgbClr val="5E7350"/>
                </a:solidFill>
                <a:latin typeface="Courier New" pitchFamily="34" charset="0"/>
                <a:ea typeface="Courier New" pitchFamily="34" charset="-122"/>
                <a:cs typeface="Courier New" pitchFamily="34" charset="-120"/>
              </a:rPr>
              <a:t>MITIGATION</a:t>
            </a:r>
            <a:endParaRPr lang="en-US" sz="1050" dirty="0"/>
          </a:p>
        </p:txBody>
      </p:sp>
      <p:sp>
        <p:nvSpPr>
          <p:cNvPr id="20" name="Text 18"/>
          <p:cNvSpPr/>
          <p:nvPr/>
        </p:nvSpPr>
        <p:spPr>
          <a:xfrm>
            <a:off x="9523095" y="3526155"/>
            <a:ext cx="7460953" cy="783908"/>
          </a:xfrm>
          <a:prstGeom prst="rect">
            <a:avLst/>
          </a:prstGeom>
          <a:noFill/>
          <a:ln/>
        </p:spPr>
        <p:txBody>
          <a:bodyPr wrap="square" lIns="25400" tIns="25400" rIns="25400" bIns="25400" rtlCol="0" anchor="t">
            <a:normAutofit/>
          </a:bodyPr>
          <a:lstStyle/>
          <a:p>
            <a:pPr algn="l" indent="0" marL="0">
              <a:lnSpc>
                <a:spcPct val="145000"/>
              </a:lnSpc>
              <a:buNone/>
            </a:pPr>
            <a:r>
              <a:rPr lang="en-US" sz="1425" dirty="0">
                <a:solidFill>
                  <a:srgbClr val="3F4A38"/>
                </a:solidFill>
                <a:latin typeface="Arial" pitchFamily="34" charset="0"/>
                <a:ea typeface="Arial" pitchFamily="34" charset="-122"/>
                <a:cs typeface="Arial" pitchFamily="34" charset="-120"/>
              </a:rPr>
              <a:t>Involve the analyst as co-owner from day one, they become the backup champion. Tie the tool to a calendar event (packet auto-sent) so it becomes habit, not a choice.</a:t>
            </a:r>
            <a:endParaRPr lang="en-US" sz="1425" dirty="0"/>
          </a:p>
        </p:txBody>
      </p:sp>
      <p:sp>
        <p:nvSpPr>
          <p:cNvPr id="21" name="Shape 19"/>
          <p:cNvSpPr/>
          <p:nvPr/>
        </p:nvSpPr>
        <p:spPr>
          <a:xfrm>
            <a:off x="914400" y="5755481"/>
            <a:ext cx="8124825" cy="3540919"/>
          </a:xfrm>
          <a:prstGeom prst="roundRect">
            <a:avLst>
              <a:gd name="adj" fmla="val 1076"/>
            </a:avLst>
          </a:prstGeom>
          <a:solidFill>
            <a:srgbClr val="FBF8F2"/>
          </a:solidFill>
          <a:ln w="7620">
            <a:solidFill>
              <a:srgbClr val="DDD4C6"/>
            </a:solidFill>
            <a:prstDash val="solid"/>
          </a:ln>
        </p:spPr>
      </p:sp>
      <p:sp>
        <p:nvSpPr>
          <p:cNvPr id="22" name="Shape 20"/>
          <p:cNvSpPr/>
          <p:nvPr/>
        </p:nvSpPr>
        <p:spPr>
          <a:xfrm>
            <a:off x="1188720" y="5991701"/>
            <a:ext cx="1454348" cy="217170"/>
          </a:xfrm>
          <a:prstGeom prst="roundRect">
            <a:avLst>
              <a:gd name="adj" fmla="val 13158"/>
            </a:avLst>
          </a:prstGeom>
          <a:solidFill>
            <a:srgbClr val="F2E0DB"/>
          </a:solidFill>
          <a:ln/>
        </p:spPr>
      </p:sp>
      <p:sp>
        <p:nvSpPr>
          <p:cNvPr id="23" name="Text 21"/>
          <p:cNvSpPr/>
          <p:nvPr/>
        </p:nvSpPr>
        <p:spPr>
          <a:xfrm>
            <a:off x="1274445" y="6020276"/>
            <a:ext cx="1359098" cy="19812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A0432F"/>
                </a:solidFill>
                <a:latin typeface="Courier New" pitchFamily="34" charset="0"/>
                <a:ea typeface="Courier New" pitchFamily="34" charset="-122"/>
                <a:cs typeface="Courier New" pitchFamily="34" charset="-120"/>
              </a:rPr>
              <a:t>ORGANISATIONAL</a:t>
            </a:r>
            <a:endParaRPr lang="en-US" sz="975" dirty="0"/>
          </a:p>
        </p:txBody>
      </p:sp>
      <p:sp>
        <p:nvSpPr>
          <p:cNvPr id="24" name="Text 22"/>
          <p:cNvSpPr/>
          <p:nvPr/>
        </p:nvSpPr>
        <p:spPr>
          <a:xfrm>
            <a:off x="1188720" y="6294597"/>
            <a:ext cx="8333804" cy="289560"/>
          </a:xfrm>
          <a:prstGeom prst="rect">
            <a:avLst/>
          </a:prstGeom>
          <a:noFill/>
          <a:ln/>
        </p:spPr>
        <p:txBody>
          <a:bodyPr wrap="square" lIns="25400" tIns="25400" rIns="25400" bIns="25400" rtlCol="0" anchor="t">
            <a:normAutofit/>
          </a:bodyPr>
          <a:lstStyle/>
          <a:p>
            <a:pPr algn="l" indent="0" marL="0">
              <a:lnSpc>
                <a:spcPct val="110000"/>
              </a:lnSpc>
              <a:buNone/>
            </a:pPr>
            <a:r>
              <a:rPr lang="en-US" sz="1800" dirty="0">
                <a:solidFill>
                  <a:srgbClr val="221D17"/>
                </a:solidFill>
                <a:latin typeface="Georgia" pitchFamily="34" charset="0"/>
                <a:ea typeface="Georgia" pitchFamily="34" charset="-122"/>
                <a:cs typeface="Georgia" pitchFamily="34" charset="-120"/>
              </a:rPr>
              <a:t>Low adoption from analysts</a:t>
            </a:r>
            <a:endParaRPr lang="en-US" sz="1800" dirty="0"/>
          </a:p>
        </p:txBody>
      </p:sp>
      <p:sp>
        <p:nvSpPr>
          <p:cNvPr id="25" name="Text 23"/>
          <p:cNvSpPr/>
          <p:nvPr/>
        </p:nvSpPr>
        <p:spPr>
          <a:xfrm>
            <a:off x="1188720" y="6694647"/>
            <a:ext cx="620316" cy="213360"/>
          </a:xfrm>
          <a:prstGeom prst="rect">
            <a:avLst/>
          </a:prstGeom>
          <a:noFill/>
          <a:ln/>
        </p:spPr>
        <p:txBody>
          <a:bodyPr wrap="square" lIns="25400" tIns="25400" rIns="25400" bIns="25400" rtlCol="0" anchor="t">
            <a:normAutofit/>
          </a:bodyPr>
          <a:lstStyle/>
          <a:p>
            <a:pPr algn="l" indent="0" marL="0">
              <a:lnSpc>
                <a:spcPct val="145000"/>
              </a:lnSpc>
              <a:buNone/>
            </a:pPr>
            <a:r>
              <a:rPr lang="en-US" sz="1050" spc="84" kern="0" dirty="0">
                <a:solidFill>
                  <a:srgbClr val="B23B26"/>
                </a:solidFill>
                <a:latin typeface="Courier New" pitchFamily="34" charset="0"/>
                <a:ea typeface="Courier New" pitchFamily="34" charset="-122"/>
                <a:cs typeface="Courier New" pitchFamily="34" charset="-120"/>
              </a:rPr>
              <a:t>RISK</a:t>
            </a:r>
            <a:endParaRPr lang="en-US" sz="1050" dirty="0"/>
          </a:p>
        </p:txBody>
      </p:sp>
      <p:sp>
        <p:nvSpPr>
          <p:cNvPr id="26" name="Text 24"/>
          <p:cNvSpPr/>
          <p:nvPr/>
        </p:nvSpPr>
        <p:spPr>
          <a:xfrm>
            <a:off x="1188720" y="6656547"/>
            <a:ext cx="7413861" cy="521494"/>
          </a:xfrm>
          <a:prstGeom prst="rect">
            <a:avLst/>
          </a:prstGeom>
          <a:noFill/>
          <a:ln/>
        </p:spPr>
        <p:txBody>
          <a:bodyPr wrap="square" lIns="25400" tIns="25400" rIns="25400" bIns="25400" rtlCol="0" anchor="t">
            <a:normAutofit/>
          </a:bodyPr>
          <a:lstStyle/>
          <a:p>
            <a:pPr algn="l" indent="0" marL="0">
              <a:lnSpc>
                <a:spcPct val="145000"/>
              </a:lnSpc>
              <a:buNone/>
            </a:pPr>
            <a:r>
              <a:rPr lang="en-US" sz="1425" dirty="0">
                <a:solidFill>
                  <a:srgbClr val="8A5A4E"/>
                </a:solidFill>
                <a:latin typeface="Arial" pitchFamily="34" charset="0"/>
                <a:ea typeface="Arial" pitchFamily="34" charset="-122"/>
                <a:cs typeface="Arial" pitchFamily="34" charset="-120"/>
              </a:rPr>
              <a:t>Analyst uses the tool but doesn’t trust it, redoes prep manually anyway. The tool adds a step instead of removing one.</a:t>
            </a:r>
            <a:endParaRPr lang="en-US" sz="1425" dirty="0"/>
          </a:p>
        </p:txBody>
      </p:sp>
      <p:sp>
        <p:nvSpPr>
          <p:cNvPr id="27" name="Text 25"/>
          <p:cNvSpPr/>
          <p:nvPr/>
        </p:nvSpPr>
        <p:spPr>
          <a:xfrm>
            <a:off x="1188720" y="7314724"/>
            <a:ext cx="1164431" cy="213360"/>
          </a:xfrm>
          <a:prstGeom prst="rect">
            <a:avLst/>
          </a:prstGeom>
          <a:noFill/>
          <a:ln/>
        </p:spPr>
        <p:txBody>
          <a:bodyPr wrap="square" lIns="25400" tIns="25400" rIns="25400" bIns="25400" rtlCol="0" anchor="t">
            <a:normAutofit/>
          </a:bodyPr>
          <a:lstStyle/>
          <a:p>
            <a:pPr algn="l" indent="0" marL="0">
              <a:lnSpc>
                <a:spcPct val="145000"/>
              </a:lnSpc>
              <a:buNone/>
            </a:pPr>
            <a:r>
              <a:rPr lang="en-US" sz="1050" spc="84" kern="0" dirty="0">
                <a:solidFill>
                  <a:srgbClr val="5E7350"/>
                </a:solidFill>
                <a:latin typeface="Courier New" pitchFamily="34" charset="0"/>
                <a:ea typeface="Courier New" pitchFamily="34" charset="-122"/>
                <a:cs typeface="Courier New" pitchFamily="34" charset="-120"/>
              </a:rPr>
              <a:t>MITIGATION</a:t>
            </a:r>
            <a:endParaRPr lang="en-US" sz="1050" dirty="0"/>
          </a:p>
        </p:txBody>
      </p:sp>
      <p:sp>
        <p:nvSpPr>
          <p:cNvPr id="28" name="Text 26"/>
          <p:cNvSpPr/>
          <p:nvPr/>
        </p:nvSpPr>
        <p:spPr>
          <a:xfrm>
            <a:off x="1188720" y="7276624"/>
            <a:ext cx="7572305" cy="783908"/>
          </a:xfrm>
          <a:prstGeom prst="rect">
            <a:avLst/>
          </a:prstGeom>
          <a:noFill/>
          <a:ln/>
        </p:spPr>
        <p:txBody>
          <a:bodyPr wrap="square" lIns="25400" tIns="25400" rIns="25400" bIns="25400" rtlCol="0" anchor="t">
            <a:normAutofit/>
          </a:bodyPr>
          <a:lstStyle/>
          <a:p>
            <a:pPr algn="l" indent="0" marL="0">
              <a:lnSpc>
                <a:spcPct val="145000"/>
              </a:lnSpc>
              <a:buNone/>
            </a:pPr>
            <a:r>
              <a:rPr lang="en-US" sz="1425" dirty="0">
                <a:solidFill>
                  <a:srgbClr val="3F4A38"/>
                </a:solidFill>
                <a:latin typeface="Arial" pitchFamily="34" charset="0"/>
                <a:ea typeface="Arial" pitchFamily="34" charset="-122"/>
                <a:cs typeface="Arial" pitchFamily="34" charset="-120"/>
              </a:rPr>
              <a:t>Frame their role as reviewer, not recipient. Make corrections visibly theirs. Track adoption, not just deployment: low correction rate = trust; still doing manual prep = investigate why.</a:t>
            </a:r>
            <a:endParaRPr lang="en-US" sz="1425" dirty="0"/>
          </a:p>
        </p:txBody>
      </p:sp>
      <p:sp>
        <p:nvSpPr>
          <p:cNvPr id="29" name="Shape 27"/>
          <p:cNvSpPr/>
          <p:nvPr/>
        </p:nvSpPr>
        <p:spPr>
          <a:xfrm>
            <a:off x="9248775" y="5755481"/>
            <a:ext cx="8124825" cy="3540919"/>
          </a:xfrm>
          <a:prstGeom prst="roundRect">
            <a:avLst>
              <a:gd name="adj" fmla="val 1076"/>
            </a:avLst>
          </a:prstGeom>
          <a:solidFill>
            <a:srgbClr val="FBF8F2"/>
          </a:solidFill>
          <a:ln w="7620">
            <a:solidFill>
              <a:srgbClr val="DDD4C6"/>
            </a:solidFill>
            <a:prstDash val="solid"/>
          </a:ln>
        </p:spPr>
      </p:sp>
      <p:sp>
        <p:nvSpPr>
          <p:cNvPr id="30" name="Shape 28"/>
          <p:cNvSpPr/>
          <p:nvPr/>
        </p:nvSpPr>
        <p:spPr>
          <a:xfrm>
            <a:off x="9523095" y="5991701"/>
            <a:ext cx="1454348" cy="217170"/>
          </a:xfrm>
          <a:prstGeom prst="roundRect">
            <a:avLst>
              <a:gd name="adj" fmla="val 13158"/>
            </a:avLst>
          </a:prstGeom>
          <a:solidFill>
            <a:srgbClr val="F2E0DB"/>
          </a:solidFill>
          <a:ln/>
        </p:spPr>
      </p:sp>
      <p:sp>
        <p:nvSpPr>
          <p:cNvPr id="31" name="Text 29"/>
          <p:cNvSpPr/>
          <p:nvPr/>
        </p:nvSpPr>
        <p:spPr>
          <a:xfrm>
            <a:off x="9608820" y="6020276"/>
            <a:ext cx="1359098" cy="19812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A0432F"/>
                </a:solidFill>
                <a:latin typeface="Courier New" pitchFamily="34" charset="0"/>
                <a:ea typeface="Courier New" pitchFamily="34" charset="-122"/>
                <a:cs typeface="Courier New" pitchFamily="34" charset="-120"/>
              </a:rPr>
              <a:t>ORGANISATIONAL</a:t>
            </a:r>
            <a:endParaRPr lang="en-US" sz="975" dirty="0"/>
          </a:p>
        </p:txBody>
      </p:sp>
      <p:sp>
        <p:nvSpPr>
          <p:cNvPr id="32" name="Text 30"/>
          <p:cNvSpPr/>
          <p:nvPr/>
        </p:nvSpPr>
        <p:spPr>
          <a:xfrm>
            <a:off x="9523095" y="6294597"/>
            <a:ext cx="8333804" cy="289560"/>
          </a:xfrm>
          <a:prstGeom prst="rect">
            <a:avLst/>
          </a:prstGeom>
          <a:noFill/>
          <a:ln/>
        </p:spPr>
        <p:txBody>
          <a:bodyPr wrap="square" lIns="25400" tIns="25400" rIns="25400" bIns="25400" rtlCol="0" anchor="t">
            <a:normAutofit/>
          </a:bodyPr>
          <a:lstStyle/>
          <a:p>
            <a:pPr algn="l" indent="0" marL="0">
              <a:lnSpc>
                <a:spcPct val="110000"/>
              </a:lnSpc>
              <a:buNone/>
            </a:pPr>
            <a:r>
              <a:rPr lang="en-US" sz="1800" dirty="0">
                <a:solidFill>
                  <a:srgbClr val="221D17"/>
                </a:solidFill>
                <a:latin typeface="Georgia" pitchFamily="34" charset="0"/>
                <a:ea typeface="Georgia" pitchFamily="34" charset="-122"/>
                <a:cs typeface="Georgia" pitchFamily="34" charset="-120"/>
              </a:rPr>
              <a:t>Scope creep pressure</a:t>
            </a:r>
            <a:endParaRPr lang="en-US" sz="1800" dirty="0"/>
          </a:p>
        </p:txBody>
      </p:sp>
      <p:sp>
        <p:nvSpPr>
          <p:cNvPr id="33" name="Text 31"/>
          <p:cNvSpPr/>
          <p:nvPr/>
        </p:nvSpPr>
        <p:spPr>
          <a:xfrm>
            <a:off x="9523095" y="6694647"/>
            <a:ext cx="620316" cy="213360"/>
          </a:xfrm>
          <a:prstGeom prst="rect">
            <a:avLst/>
          </a:prstGeom>
          <a:noFill/>
          <a:ln/>
        </p:spPr>
        <p:txBody>
          <a:bodyPr wrap="square" lIns="25400" tIns="25400" rIns="25400" bIns="25400" rtlCol="0" anchor="t">
            <a:normAutofit/>
          </a:bodyPr>
          <a:lstStyle/>
          <a:p>
            <a:pPr algn="l" indent="0" marL="0">
              <a:lnSpc>
                <a:spcPct val="145000"/>
              </a:lnSpc>
              <a:buNone/>
            </a:pPr>
            <a:r>
              <a:rPr lang="en-US" sz="1050" spc="84" kern="0" dirty="0">
                <a:solidFill>
                  <a:srgbClr val="B23B26"/>
                </a:solidFill>
                <a:latin typeface="Courier New" pitchFamily="34" charset="0"/>
                <a:ea typeface="Courier New" pitchFamily="34" charset="-122"/>
                <a:cs typeface="Courier New" pitchFamily="34" charset="-120"/>
              </a:rPr>
              <a:t>RISK</a:t>
            </a:r>
            <a:endParaRPr lang="en-US" sz="1050" dirty="0"/>
          </a:p>
        </p:txBody>
      </p:sp>
      <p:sp>
        <p:nvSpPr>
          <p:cNvPr id="34" name="Text 32"/>
          <p:cNvSpPr/>
          <p:nvPr/>
        </p:nvSpPr>
        <p:spPr>
          <a:xfrm>
            <a:off x="9523095" y="6656547"/>
            <a:ext cx="7511601" cy="521494"/>
          </a:xfrm>
          <a:prstGeom prst="rect">
            <a:avLst/>
          </a:prstGeom>
          <a:noFill/>
          <a:ln/>
        </p:spPr>
        <p:txBody>
          <a:bodyPr wrap="square" lIns="25400" tIns="25400" rIns="25400" bIns="25400" rtlCol="0" anchor="t">
            <a:normAutofit/>
          </a:bodyPr>
          <a:lstStyle/>
          <a:p>
            <a:pPr algn="l" indent="0" marL="0">
              <a:lnSpc>
                <a:spcPct val="145000"/>
              </a:lnSpc>
              <a:buNone/>
            </a:pPr>
            <a:r>
              <a:rPr lang="en-US" sz="1425" dirty="0">
                <a:solidFill>
                  <a:srgbClr val="8A5A4E"/>
                </a:solidFill>
                <a:latin typeface="Arial" pitchFamily="34" charset="0"/>
                <a:ea typeface="Arial" pitchFamily="34" charset="-122"/>
                <a:cs typeface="Arial" pitchFamily="34" charset="-120"/>
              </a:rPr>
              <a:t>“Can it also do X?” requests pile up before Phase 1 is proven. The build bloats, the trust case gets muddied.</a:t>
            </a:r>
            <a:endParaRPr lang="en-US" sz="1425" dirty="0"/>
          </a:p>
        </p:txBody>
      </p:sp>
      <p:sp>
        <p:nvSpPr>
          <p:cNvPr id="35" name="Text 33"/>
          <p:cNvSpPr/>
          <p:nvPr/>
        </p:nvSpPr>
        <p:spPr>
          <a:xfrm>
            <a:off x="9523095" y="7314724"/>
            <a:ext cx="1164431" cy="213360"/>
          </a:xfrm>
          <a:prstGeom prst="rect">
            <a:avLst/>
          </a:prstGeom>
          <a:noFill/>
          <a:ln/>
        </p:spPr>
        <p:txBody>
          <a:bodyPr wrap="square" lIns="25400" tIns="25400" rIns="25400" bIns="25400" rtlCol="0" anchor="t">
            <a:normAutofit/>
          </a:bodyPr>
          <a:lstStyle/>
          <a:p>
            <a:pPr algn="l" indent="0" marL="0">
              <a:lnSpc>
                <a:spcPct val="145000"/>
              </a:lnSpc>
              <a:buNone/>
            </a:pPr>
            <a:r>
              <a:rPr lang="en-US" sz="1050" spc="84" kern="0" dirty="0">
                <a:solidFill>
                  <a:srgbClr val="5E7350"/>
                </a:solidFill>
                <a:latin typeface="Courier New" pitchFamily="34" charset="0"/>
                <a:ea typeface="Courier New" pitchFamily="34" charset="-122"/>
                <a:cs typeface="Courier New" pitchFamily="34" charset="-120"/>
              </a:rPr>
              <a:t>MITIGATION</a:t>
            </a:r>
            <a:endParaRPr lang="en-US" sz="1050" dirty="0"/>
          </a:p>
        </p:txBody>
      </p:sp>
      <p:sp>
        <p:nvSpPr>
          <p:cNvPr id="36" name="Text 34"/>
          <p:cNvSpPr/>
          <p:nvPr/>
        </p:nvSpPr>
        <p:spPr>
          <a:xfrm>
            <a:off x="9523095" y="7276624"/>
            <a:ext cx="7739210" cy="521494"/>
          </a:xfrm>
          <a:prstGeom prst="rect">
            <a:avLst/>
          </a:prstGeom>
          <a:noFill/>
          <a:ln/>
        </p:spPr>
        <p:txBody>
          <a:bodyPr wrap="square" lIns="25400" tIns="25400" rIns="25400" bIns="25400" rtlCol="0" anchor="t">
            <a:normAutofit/>
          </a:bodyPr>
          <a:lstStyle/>
          <a:p>
            <a:pPr algn="l" indent="0" marL="0">
              <a:lnSpc>
                <a:spcPct val="145000"/>
              </a:lnSpc>
              <a:buNone/>
            </a:pPr>
            <a:r>
              <a:rPr lang="en-US" sz="1425" dirty="0">
                <a:solidFill>
                  <a:srgbClr val="3F4A38"/>
                </a:solidFill>
                <a:latin typeface="Arial" pitchFamily="34" charset="0"/>
                <a:ea typeface="Arial" pitchFamily="34" charset="-122"/>
                <a:cs typeface="Arial" pitchFamily="34" charset="-120"/>
              </a:rPr>
              <a:t>Phase-gate firmly. Every new request goes to a Phase 2 backlog. The Phase 1 answer is always: let’s prove this works first, then expand.</a:t>
            </a:r>
            <a:endParaRPr lang="en-US" sz="1425" dirty="0"/>
          </a:p>
        </p:txBody>
      </p:sp>
      <p:sp>
        <p:nvSpPr>
          <p:cNvPr id="37" name="Shape 35"/>
          <p:cNvSpPr/>
          <p:nvPr/>
        </p:nvSpPr>
        <p:spPr>
          <a:xfrm>
            <a:off x="914400" y="9637395"/>
            <a:ext cx="16459200" cy="9525"/>
          </a:xfrm>
          <a:prstGeom prst="rect">
            <a:avLst/>
          </a:prstGeom>
          <a:solidFill>
            <a:srgbClr val="E2DACE"/>
          </a:solidFill>
          <a:ln/>
        </p:spPr>
      </p:sp>
      <p:sp>
        <p:nvSpPr>
          <p:cNvPr id="38" name="Text 36"/>
          <p:cNvSpPr/>
          <p:nvPr/>
        </p:nvSpPr>
        <p:spPr>
          <a:xfrm>
            <a:off x="914400" y="9768840"/>
            <a:ext cx="5462575" cy="21336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A89D8E"/>
                </a:solidFill>
                <a:latin typeface="Courier New" pitchFamily="34" charset="0"/>
                <a:ea typeface="Courier New" pitchFamily="34" charset="-122"/>
                <a:cs typeface="Courier New" pitchFamily="34" charset="-120"/>
              </a:rPr>
              <a:t>STRAUSS PROCUREMENT · FDE EXERCISE · CONFIDENTIAL</a:t>
            </a:r>
            <a:endParaRPr lang="en-US" sz="1050" dirty="0"/>
          </a:p>
        </p:txBody>
      </p:sp>
      <p:sp>
        <p:nvSpPr>
          <p:cNvPr id="39" name="Text 37"/>
          <p:cNvSpPr/>
          <p:nvPr/>
        </p:nvSpPr>
        <p:spPr>
          <a:xfrm>
            <a:off x="16664107" y="9768840"/>
            <a:ext cx="785693" cy="21336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A89D8E"/>
                </a:solidFill>
                <a:latin typeface="Courier New" pitchFamily="34" charset="0"/>
                <a:ea typeface="Courier New" pitchFamily="34" charset="-122"/>
                <a:cs typeface="Courier New" pitchFamily="34" charset="-120"/>
              </a:rPr>
              <a:t>14 / 19</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EFE7"/>
        </a:solidFill>
      </p:bgPr>
    </p:bg>
    <p:spTree>
      <p:nvGrpSpPr>
        <p:cNvPr id="1" name=""/>
        <p:cNvGrpSpPr/>
        <p:nvPr/>
      </p:nvGrpSpPr>
      <p:grpSpPr>
        <a:xfrm>
          <a:off x="0" y="0"/>
          <a:ext cx="0" cy="0"/>
          <a:chOff x="0" y="0"/>
          <a:chExt cx="0" cy="0"/>
        </a:xfrm>
      </p:grpSpPr>
      <p:sp>
        <p:nvSpPr>
          <p:cNvPr id="2" name="Shape 0"/>
          <p:cNvSpPr/>
          <p:nvPr/>
        </p:nvSpPr>
        <p:spPr>
          <a:xfrm>
            <a:off x="914400" y="1749742"/>
            <a:ext cx="16459200" cy="9525"/>
          </a:xfrm>
          <a:prstGeom prst="rect">
            <a:avLst/>
          </a:prstGeom>
          <a:solidFill>
            <a:srgbClr val="D7CDBE"/>
          </a:solidFill>
          <a:ln/>
        </p:spPr>
      </p:sp>
      <p:sp>
        <p:nvSpPr>
          <p:cNvPr id="3" name="Text 1"/>
          <p:cNvSpPr/>
          <p:nvPr/>
        </p:nvSpPr>
        <p:spPr>
          <a:xfrm>
            <a:off x="914400" y="704850"/>
            <a:ext cx="18105120" cy="259080"/>
          </a:xfrm>
          <a:prstGeom prst="rect">
            <a:avLst/>
          </a:prstGeom>
          <a:noFill/>
          <a:ln/>
        </p:spPr>
        <p:txBody>
          <a:bodyPr wrap="square" lIns="25400" tIns="25400" rIns="25400" bIns="25400" rtlCol="0" anchor="t">
            <a:normAutofit/>
          </a:bodyPr>
          <a:lstStyle/>
          <a:p>
            <a:pPr algn="l" indent="0" marL="0">
              <a:buNone/>
            </a:pPr>
            <a:r>
              <a:rPr lang="en-US" sz="1350" spc="324" kern="0" dirty="0">
                <a:solidFill>
                  <a:srgbClr val="B23B26"/>
                </a:solidFill>
                <a:latin typeface="Courier New" pitchFamily="34" charset="0"/>
                <a:ea typeface="Courier New" pitchFamily="34" charset="-122"/>
                <a:cs typeface="Courier New" pitchFamily="34" charset="-120"/>
              </a:rPr>
              <a:t>15 · CHANGE MANAGEMENT</a:t>
            </a:r>
            <a:endParaRPr lang="en-US" sz="1350" dirty="0"/>
          </a:p>
        </p:txBody>
      </p:sp>
      <p:sp>
        <p:nvSpPr>
          <p:cNvPr id="4" name="Text 2"/>
          <p:cNvSpPr/>
          <p:nvPr/>
        </p:nvSpPr>
        <p:spPr>
          <a:xfrm>
            <a:off x="914400" y="1049655"/>
            <a:ext cx="18105120" cy="528638"/>
          </a:xfrm>
          <a:prstGeom prst="rect">
            <a:avLst/>
          </a:prstGeom>
          <a:noFill/>
          <a:ln/>
        </p:spPr>
        <p:txBody>
          <a:bodyPr wrap="square" lIns="25400" tIns="25400" rIns="25400" bIns="25400" rtlCol="0" anchor="t">
            <a:normAutofit/>
          </a:bodyPr>
          <a:lstStyle/>
          <a:p>
            <a:pPr algn="l" indent="0" marL="0">
              <a:lnSpc>
                <a:spcPct val="103000"/>
              </a:lnSpc>
              <a:buNone/>
            </a:pPr>
            <a:r>
              <a:rPr lang="en-US" sz="3750" spc="-56" kern="0" dirty="0">
                <a:solidFill>
                  <a:srgbClr val="221D17"/>
                </a:solidFill>
                <a:latin typeface="Georgia" pitchFamily="34" charset="0"/>
                <a:ea typeface="Georgia" pitchFamily="34" charset="-122"/>
                <a:cs typeface="Georgia" pitchFamily="34" charset="-120"/>
              </a:rPr>
              <a:t>Building it is 20% of the job. Adoption is the other 80%.</a:t>
            </a:r>
            <a:endParaRPr lang="en-US" sz="3750" dirty="0"/>
          </a:p>
        </p:txBody>
      </p:sp>
      <p:sp>
        <p:nvSpPr>
          <p:cNvPr id="5" name="Shape 3"/>
          <p:cNvSpPr/>
          <p:nvPr/>
        </p:nvSpPr>
        <p:spPr>
          <a:xfrm>
            <a:off x="914400" y="3376136"/>
            <a:ext cx="16459200" cy="9525"/>
          </a:xfrm>
          <a:prstGeom prst="rect">
            <a:avLst/>
          </a:prstGeom>
          <a:solidFill>
            <a:srgbClr val="DBD2C4"/>
          </a:solidFill>
          <a:ln/>
        </p:spPr>
      </p:sp>
      <p:sp>
        <p:nvSpPr>
          <p:cNvPr id="6" name="Text 4"/>
          <p:cNvSpPr/>
          <p:nvPr/>
        </p:nvSpPr>
        <p:spPr>
          <a:xfrm>
            <a:off x="914400" y="2214563"/>
            <a:ext cx="6976574" cy="367189"/>
          </a:xfrm>
          <a:prstGeom prst="rect">
            <a:avLst/>
          </a:prstGeom>
          <a:noFill/>
          <a:ln/>
        </p:spPr>
        <p:txBody>
          <a:bodyPr wrap="square" lIns="25400" tIns="25400" rIns="25400" bIns="25400" rtlCol="0" anchor="t">
            <a:normAutofit/>
          </a:bodyPr>
          <a:lstStyle/>
          <a:p>
            <a:pPr algn="l" indent="0" marL="0">
              <a:lnSpc>
                <a:spcPct val="128000"/>
              </a:lnSpc>
              <a:buNone/>
            </a:pPr>
            <a:r>
              <a:rPr lang="en-US" sz="2025" i="1" dirty="0">
                <a:solidFill>
                  <a:srgbClr val="221D17"/>
                </a:solidFill>
                <a:latin typeface="Georgia" pitchFamily="34" charset="0"/>
                <a:ea typeface="Georgia" pitchFamily="34" charset="-122"/>
                <a:cs typeface="Georgia" pitchFamily="34" charset="-120"/>
              </a:rPr>
              <a:t>“The output is wrong.”</a:t>
            </a:r>
            <a:endParaRPr lang="en-US" sz="2025" dirty="0"/>
          </a:p>
        </p:txBody>
      </p:sp>
      <p:sp>
        <p:nvSpPr>
          <p:cNvPr id="7" name="Text 5"/>
          <p:cNvSpPr/>
          <p:nvPr/>
        </p:nvSpPr>
        <p:spPr>
          <a:xfrm>
            <a:off x="914400" y="2677001"/>
            <a:ext cx="6976574" cy="220980"/>
          </a:xfrm>
          <a:prstGeom prst="rect">
            <a:avLst/>
          </a:prstGeom>
          <a:noFill/>
          <a:ln/>
        </p:spPr>
        <p:txBody>
          <a:bodyPr wrap="square" lIns="25400" tIns="25400" rIns="25400" bIns="25400" rtlCol="0" anchor="t">
            <a:normAutofit/>
          </a:bodyPr>
          <a:lstStyle/>
          <a:p>
            <a:pPr algn="l" indent="0" marL="0">
              <a:buNone/>
            </a:pPr>
            <a:r>
              <a:rPr lang="en-US" sz="1125" spc="68" kern="0" dirty="0">
                <a:solidFill>
                  <a:srgbClr val="B23B26"/>
                </a:solidFill>
                <a:latin typeface="Courier New" pitchFamily="34" charset="0"/>
                <a:ea typeface="Courier New" pitchFamily="34" charset="-122"/>
                <a:cs typeface="Courier New" pitchFamily="34" charset="-120"/>
              </a:rPr>
              <a:t>PROCUREMENT ANALYST</a:t>
            </a:r>
            <a:endParaRPr lang="en-US" sz="1125" dirty="0"/>
          </a:p>
        </p:txBody>
      </p:sp>
      <p:sp>
        <p:nvSpPr>
          <p:cNvPr id="8" name="Text 6"/>
          <p:cNvSpPr/>
          <p:nvPr/>
        </p:nvSpPr>
        <p:spPr>
          <a:xfrm>
            <a:off x="914400" y="2907506"/>
            <a:ext cx="6976574" cy="278130"/>
          </a:xfrm>
          <a:prstGeom prst="rect">
            <a:avLst/>
          </a:prstGeom>
          <a:noFill/>
          <a:ln/>
        </p:spPr>
        <p:txBody>
          <a:bodyPr wrap="square" lIns="25400" tIns="25400" rIns="25400" bIns="25400" rtlCol="0" anchor="t">
            <a:normAutofit/>
          </a:bodyPr>
          <a:lstStyle/>
          <a:p>
            <a:pPr algn="l" indent="0" marL="0">
              <a:lnSpc>
                <a:spcPct val="140000"/>
              </a:lnSpc>
              <a:buNone/>
            </a:pPr>
            <a:r>
              <a:rPr lang="en-US" sz="1350" i="1" dirty="0">
                <a:solidFill>
                  <a:srgbClr val="998E7E"/>
                </a:solidFill>
                <a:latin typeface="Arial" pitchFamily="34" charset="0"/>
                <a:ea typeface="Arial" pitchFamily="34" charset="-122"/>
                <a:cs typeface="Arial" pitchFamily="34" charset="-120"/>
              </a:rPr>
              <a:t>Highest adoption risk, feels threatened but won’t say so</a:t>
            </a:r>
            <a:endParaRPr lang="en-US" sz="1350" dirty="0"/>
          </a:p>
        </p:txBody>
      </p:sp>
      <p:sp>
        <p:nvSpPr>
          <p:cNvPr id="9" name="Text 7"/>
          <p:cNvSpPr/>
          <p:nvPr/>
        </p:nvSpPr>
        <p:spPr>
          <a:xfrm>
            <a:off x="7732990" y="2214563"/>
            <a:ext cx="9929828" cy="687705"/>
          </a:xfrm>
          <a:prstGeom prst="rect">
            <a:avLst/>
          </a:prstGeom>
          <a:noFill/>
          <a:ln/>
        </p:spPr>
        <p:txBody>
          <a:bodyPr wrap="square" lIns="25400" tIns="25400" rIns="25400" bIns="25400" rtlCol="0" anchor="t">
            <a:normAutofit/>
          </a:bodyPr>
          <a:lstStyle/>
          <a:p>
            <a:pPr algn="l" indent="0" marL="0">
              <a:lnSpc>
                <a:spcPct val="155000"/>
              </a:lnSpc>
              <a:buNone/>
            </a:pPr>
            <a:r>
              <a:rPr lang="en-US" sz="1650" dirty="0">
                <a:solidFill>
                  <a:srgbClr val="4A443B"/>
                </a:solidFill>
                <a:latin typeface="Arial" pitchFamily="34" charset="0"/>
                <a:ea typeface="Arial" pitchFamily="34" charset="-122"/>
                <a:cs typeface="Arial" pitchFamily="34" charset="-120"/>
              </a:rPr>
              <a:t>Involve them in Phase 1 QA from day one. Make the correction feature visibly theirs. Frame their role as reviewer, not recipient, the tool makes them look more prepared, not redundant.</a:t>
            </a:r>
            <a:endParaRPr lang="en-US" sz="1650" dirty="0"/>
          </a:p>
        </p:txBody>
      </p:sp>
      <p:sp>
        <p:nvSpPr>
          <p:cNvPr id="10" name="Shape 8"/>
          <p:cNvSpPr/>
          <p:nvPr/>
        </p:nvSpPr>
        <p:spPr>
          <a:xfrm>
            <a:off x="914400" y="4533900"/>
            <a:ext cx="16459200" cy="9525"/>
          </a:xfrm>
          <a:prstGeom prst="rect">
            <a:avLst/>
          </a:prstGeom>
          <a:solidFill>
            <a:srgbClr val="DBD2C4"/>
          </a:solidFill>
          <a:ln/>
        </p:spPr>
      </p:sp>
      <p:sp>
        <p:nvSpPr>
          <p:cNvPr id="11" name="Text 9"/>
          <p:cNvSpPr/>
          <p:nvPr/>
        </p:nvSpPr>
        <p:spPr>
          <a:xfrm>
            <a:off x="914400" y="3612356"/>
            <a:ext cx="6976574" cy="367189"/>
          </a:xfrm>
          <a:prstGeom prst="rect">
            <a:avLst/>
          </a:prstGeom>
          <a:noFill/>
          <a:ln/>
        </p:spPr>
        <p:txBody>
          <a:bodyPr wrap="square" lIns="25400" tIns="25400" rIns="25400" bIns="25400" rtlCol="0" anchor="t">
            <a:normAutofit/>
          </a:bodyPr>
          <a:lstStyle/>
          <a:p>
            <a:pPr algn="l" indent="0" marL="0">
              <a:lnSpc>
                <a:spcPct val="128000"/>
              </a:lnSpc>
              <a:buNone/>
            </a:pPr>
            <a:r>
              <a:rPr lang="en-US" sz="2025" i="1" dirty="0">
                <a:solidFill>
                  <a:srgbClr val="221D17"/>
                </a:solidFill>
                <a:latin typeface="Georgia" pitchFamily="34" charset="0"/>
                <a:ea typeface="Georgia" pitchFamily="34" charset="-122"/>
                <a:cs typeface="Georgia" pitchFamily="34" charset="-120"/>
              </a:rPr>
              <a:t>“I don’t trust AI to read a contract.”</a:t>
            </a:r>
            <a:endParaRPr lang="en-US" sz="2025" dirty="0"/>
          </a:p>
        </p:txBody>
      </p:sp>
      <p:sp>
        <p:nvSpPr>
          <p:cNvPr id="12" name="Text 10"/>
          <p:cNvSpPr/>
          <p:nvPr/>
        </p:nvSpPr>
        <p:spPr>
          <a:xfrm>
            <a:off x="914400" y="4074795"/>
            <a:ext cx="6976574" cy="220980"/>
          </a:xfrm>
          <a:prstGeom prst="rect">
            <a:avLst/>
          </a:prstGeom>
          <a:noFill/>
          <a:ln/>
        </p:spPr>
        <p:txBody>
          <a:bodyPr wrap="square" lIns="25400" tIns="25400" rIns="25400" bIns="25400" rtlCol="0" anchor="t">
            <a:normAutofit/>
          </a:bodyPr>
          <a:lstStyle/>
          <a:p>
            <a:pPr algn="l" indent="0" marL="0">
              <a:buNone/>
            </a:pPr>
            <a:r>
              <a:rPr lang="en-US" sz="1125" spc="68" kern="0" dirty="0">
                <a:solidFill>
                  <a:srgbClr val="B23B26"/>
                </a:solidFill>
                <a:latin typeface="Courier New" pitchFamily="34" charset="0"/>
                <a:ea typeface="Courier New" pitchFamily="34" charset="-122"/>
                <a:cs typeface="Courier New" pitchFamily="34" charset="-120"/>
              </a:rPr>
              <a:t>LEGAL / COMPLIANCE</a:t>
            </a:r>
            <a:endParaRPr lang="en-US" sz="1125" dirty="0"/>
          </a:p>
        </p:txBody>
      </p:sp>
      <p:sp>
        <p:nvSpPr>
          <p:cNvPr id="13" name="Text 11"/>
          <p:cNvSpPr/>
          <p:nvPr/>
        </p:nvSpPr>
        <p:spPr>
          <a:xfrm>
            <a:off x="7732990" y="3612356"/>
            <a:ext cx="9929828" cy="687705"/>
          </a:xfrm>
          <a:prstGeom prst="rect">
            <a:avLst/>
          </a:prstGeom>
          <a:noFill/>
          <a:ln/>
        </p:spPr>
        <p:txBody>
          <a:bodyPr wrap="square" lIns="25400" tIns="25400" rIns="25400" bIns="25400" rtlCol="0" anchor="t">
            <a:normAutofit/>
          </a:bodyPr>
          <a:lstStyle/>
          <a:p>
            <a:pPr algn="l" indent="0" marL="0">
              <a:lnSpc>
                <a:spcPct val="155000"/>
              </a:lnSpc>
              <a:buNone/>
            </a:pPr>
            <a:r>
              <a:rPr lang="en-US" sz="1650" dirty="0">
                <a:solidFill>
                  <a:srgbClr val="4A443B"/>
                </a:solidFill>
                <a:latin typeface="Arial" pitchFamily="34" charset="0"/>
                <a:ea typeface="Arial" pitchFamily="34" charset="-122"/>
                <a:cs typeface="Arial" pitchFamily="34" charset="-120"/>
              </a:rPr>
              <a:t>Every fact carries a source citation. The design surfaces facts for human review, it does not interpret and act. Show them the correction log: the system has a visible trust mechanism.</a:t>
            </a:r>
            <a:endParaRPr lang="en-US" sz="1650" dirty="0"/>
          </a:p>
        </p:txBody>
      </p:sp>
      <p:sp>
        <p:nvSpPr>
          <p:cNvPr id="14" name="Shape 12"/>
          <p:cNvSpPr/>
          <p:nvPr/>
        </p:nvSpPr>
        <p:spPr>
          <a:xfrm>
            <a:off x="914400" y="5691664"/>
            <a:ext cx="16459200" cy="9525"/>
          </a:xfrm>
          <a:prstGeom prst="rect">
            <a:avLst/>
          </a:prstGeom>
          <a:solidFill>
            <a:srgbClr val="DBD2C4"/>
          </a:solidFill>
          <a:ln/>
        </p:spPr>
      </p:sp>
      <p:sp>
        <p:nvSpPr>
          <p:cNvPr id="15" name="Text 13"/>
          <p:cNvSpPr/>
          <p:nvPr/>
        </p:nvSpPr>
        <p:spPr>
          <a:xfrm>
            <a:off x="914400" y="4770120"/>
            <a:ext cx="6976574" cy="367189"/>
          </a:xfrm>
          <a:prstGeom prst="rect">
            <a:avLst/>
          </a:prstGeom>
          <a:noFill/>
          <a:ln/>
        </p:spPr>
        <p:txBody>
          <a:bodyPr wrap="square" lIns="25400" tIns="25400" rIns="25400" bIns="25400" rtlCol="0" anchor="t">
            <a:normAutofit/>
          </a:bodyPr>
          <a:lstStyle/>
          <a:p>
            <a:pPr algn="l" indent="0" marL="0">
              <a:lnSpc>
                <a:spcPct val="128000"/>
              </a:lnSpc>
              <a:buNone/>
            </a:pPr>
            <a:r>
              <a:rPr lang="en-US" sz="2025" i="1" dirty="0">
                <a:solidFill>
                  <a:srgbClr val="221D17"/>
                </a:solidFill>
                <a:latin typeface="Georgia" pitchFamily="34" charset="0"/>
                <a:ea typeface="Georgia" pitchFamily="34" charset="-122"/>
                <a:cs typeface="Georgia" pitchFamily="34" charset="-120"/>
              </a:rPr>
              <a:t>“What does this cost, and who owns it?”</a:t>
            </a:r>
            <a:endParaRPr lang="en-US" sz="2025" dirty="0"/>
          </a:p>
        </p:txBody>
      </p:sp>
      <p:sp>
        <p:nvSpPr>
          <p:cNvPr id="16" name="Text 14"/>
          <p:cNvSpPr/>
          <p:nvPr/>
        </p:nvSpPr>
        <p:spPr>
          <a:xfrm>
            <a:off x="914400" y="5232559"/>
            <a:ext cx="6976574" cy="220980"/>
          </a:xfrm>
          <a:prstGeom prst="rect">
            <a:avLst/>
          </a:prstGeom>
          <a:noFill/>
          <a:ln/>
        </p:spPr>
        <p:txBody>
          <a:bodyPr wrap="square" lIns="25400" tIns="25400" rIns="25400" bIns="25400" rtlCol="0" anchor="t">
            <a:normAutofit/>
          </a:bodyPr>
          <a:lstStyle/>
          <a:p>
            <a:pPr algn="l" indent="0" marL="0">
              <a:buNone/>
            </a:pPr>
            <a:r>
              <a:rPr lang="en-US" sz="1125" spc="68" kern="0" dirty="0">
                <a:solidFill>
                  <a:srgbClr val="B23B26"/>
                </a:solidFill>
                <a:latin typeface="Courier New" pitchFamily="34" charset="0"/>
                <a:ea typeface="Courier New" pitchFamily="34" charset="-122"/>
                <a:cs typeface="Courier New" pitchFamily="34" charset="-120"/>
              </a:rPr>
              <a:t>FINANCE / IT</a:t>
            </a:r>
            <a:endParaRPr lang="en-US" sz="1125" dirty="0"/>
          </a:p>
        </p:txBody>
      </p:sp>
      <p:sp>
        <p:nvSpPr>
          <p:cNvPr id="17" name="Text 15"/>
          <p:cNvSpPr/>
          <p:nvPr/>
        </p:nvSpPr>
        <p:spPr>
          <a:xfrm>
            <a:off x="7732990" y="4770120"/>
            <a:ext cx="9929828" cy="687705"/>
          </a:xfrm>
          <a:prstGeom prst="rect">
            <a:avLst/>
          </a:prstGeom>
          <a:noFill/>
          <a:ln/>
        </p:spPr>
        <p:txBody>
          <a:bodyPr wrap="square" lIns="25400" tIns="25400" rIns="25400" bIns="25400" rtlCol="0" anchor="t">
            <a:normAutofit/>
          </a:bodyPr>
          <a:lstStyle/>
          <a:p>
            <a:pPr algn="l" indent="0" marL="0">
              <a:lnSpc>
                <a:spcPct val="155000"/>
              </a:lnSpc>
              <a:buNone/>
            </a:pPr>
            <a:r>
              <a:rPr lang="en-US" sz="1650" dirty="0">
                <a:solidFill>
                  <a:srgbClr val="4A443B"/>
                </a:solidFill>
                <a:latin typeface="Arial" pitchFamily="34" charset="0"/>
                <a:ea typeface="Arial" pitchFamily="34" charset="-122"/>
                <a:cs typeface="Arial" pitchFamily="34" charset="-120"/>
              </a:rPr>
              <a:t>Phase 1 cost is API calls only (~$7/month). Nothing touches live systems; the static-file architecture minimises the security surface. ROI case ready for month 3.</a:t>
            </a:r>
            <a:endParaRPr lang="en-US" sz="1650" dirty="0"/>
          </a:p>
        </p:txBody>
      </p:sp>
      <p:sp>
        <p:nvSpPr>
          <p:cNvPr id="18" name="Shape 16"/>
          <p:cNvSpPr/>
          <p:nvPr/>
        </p:nvSpPr>
        <p:spPr>
          <a:xfrm>
            <a:off x="914400" y="9637395"/>
            <a:ext cx="16459200" cy="9525"/>
          </a:xfrm>
          <a:prstGeom prst="rect">
            <a:avLst/>
          </a:prstGeom>
          <a:solidFill>
            <a:srgbClr val="E2DACE"/>
          </a:solidFill>
          <a:ln/>
        </p:spPr>
      </p:sp>
      <p:sp>
        <p:nvSpPr>
          <p:cNvPr id="19" name="Text 17"/>
          <p:cNvSpPr/>
          <p:nvPr/>
        </p:nvSpPr>
        <p:spPr>
          <a:xfrm>
            <a:off x="914400" y="9768840"/>
            <a:ext cx="5462575" cy="21336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A89D8E"/>
                </a:solidFill>
                <a:latin typeface="Courier New" pitchFamily="34" charset="0"/>
                <a:ea typeface="Courier New" pitchFamily="34" charset="-122"/>
                <a:cs typeface="Courier New" pitchFamily="34" charset="-120"/>
              </a:rPr>
              <a:t>STRAUSS PROCUREMENT · FDE EXERCISE · CONFIDENTIAL</a:t>
            </a:r>
            <a:endParaRPr lang="en-US" sz="1050" dirty="0"/>
          </a:p>
        </p:txBody>
      </p:sp>
      <p:sp>
        <p:nvSpPr>
          <p:cNvPr id="20" name="Text 18"/>
          <p:cNvSpPr/>
          <p:nvPr/>
        </p:nvSpPr>
        <p:spPr>
          <a:xfrm>
            <a:off x="16664107" y="9768840"/>
            <a:ext cx="785693" cy="21336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A89D8E"/>
                </a:solidFill>
                <a:latin typeface="Courier New" pitchFamily="34" charset="0"/>
                <a:ea typeface="Courier New" pitchFamily="34" charset="-122"/>
                <a:cs typeface="Courier New" pitchFamily="34" charset="-120"/>
              </a:rPr>
              <a:t>15 / 19</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EFE7"/>
        </a:solidFill>
      </p:bgPr>
    </p:bg>
    <p:spTree>
      <p:nvGrpSpPr>
        <p:cNvPr id="1" name=""/>
        <p:cNvGrpSpPr/>
        <p:nvPr/>
      </p:nvGrpSpPr>
      <p:grpSpPr>
        <a:xfrm>
          <a:off x="0" y="0"/>
          <a:ext cx="0" cy="0"/>
          <a:chOff x="0" y="0"/>
          <a:chExt cx="0" cy="0"/>
        </a:xfrm>
      </p:grpSpPr>
      <p:sp>
        <p:nvSpPr>
          <p:cNvPr id="2" name="Shape 0"/>
          <p:cNvSpPr/>
          <p:nvPr/>
        </p:nvSpPr>
        <p:spPr>
          <a:xfrm>
            <a:off x="914400" y="1749742"/>
            <a:ext cx="16459200" cy="9525"/>
          </a:xfrm>
          <a:prstGeom prst="rect">
            <a:avLst/>
          </a:prstGeom>
          <a:solidFill>
            <a:srgbClr val="D7CDBE"/>
          </a:solidFill>
          <a:ln/>
        </p:spPr>
      </p:sp>
      <p:sp>
        <p:nvSpPr>
          <p:cNvPr id="3" name="Text 1"/>
          <p:cNvSpPr/>
          <p:nvPr/>
        </p:nvSpPr>
        <p:spPr>
          <a:xfrm>
            <a:off x="914400" y="704850"/>
            <a:ext cx="18105120" cy="259080"/>
          </a:xfrm>
          <a:prstGeom prst="rect">
            <a:avLst/>
          </a:prstGeom>
          <a:noFill/>
          <a:ln/>
        </p:spPr>
        <p:txBody>
          <a:bodyPr wrap="square" lIns="25400" tIns="25400" rIns="25400" bIns="25400" rtlCol="0" anchor="t">
            <a:normAutofit/>
          </a:bodyPr>
          <a:lstStyle/>
          <a:p>
            <a:pPr algn="l" indent="0" marL="0">
              <a:buNone/>
            </a:pPr>
            <a:r>
              <a:rPr lang="en-US" sz="1350" spc="324" kern="0" dirty="0">
                <a:solidFill>
                  <a:srgbClr val="B23B26"/>
                </a:solidFill>
                <a:latin typeface="Courier New" pitchFamily="34" charset="0"/>
                <a:ea typeface="Courier New" pitchFamily="34" charset="-122"/>
                <a:cs typeface="Courier New" pitchFamily="34" charset="-120"/>
              </a:rPr>
              <a:t>16 · QUICK WINS + ENABLEMENT</a:t>
            </a:r>
            <a:endParaRPr lang="en-US" sz="1350" dirty="0"/>
          </a:p>
        </p:txBody>
      </p:sp>
      <p:sp>
        <p:nvSpPr>
          <p:cNvPr id="4" name="Text 2"/>
          <p:cNvSpPr/>
          <p:nvPr/>
        </p:nvSpPr>
        <p:spPr>
          <a:xfrm>
            <a:off x="914400" y="1049655"/>
            <a:ext cx="18105120" cy="528638"/>
          </a:xfrm>
          <a:prstGeom prst="rect">
            <a:avLst/>
          </a:prstGeom>
          <a:noFill/>
          <a:ln/>
        </p:spPr>
        <p:txBody>
          <a:bodyPr wrap="square" lIns="25400" tIns="25400" rIns="25400" bIns="25400" rtlCol="0" anchor="t">
            <a:normAutofit/>
          </a:bodyPr>
          <a:lstStyle/>
          <a:p>
            <a:pPr algn="l" indent="0" marL="0">
              <a:lnSpc>
                <a:spcPct val="103000"/>
              </a:lnSpc>
              <a:buNone/>
            </a:pPr>
            <a:r>
              <a:rPr lang="en-US" sz="3750" spc="-56" kern="0" dirty="0">
                <a:solidFill>
                  <a:srgbClr val="221D17"/>
                </a:solidFill>
                <a:latin typeface="Georgia" pitchFamily="34" charset="0"/>
                <a:ea typeface="Georgia" pitchFamily="34" charset="-122"/>
                <a:cs typeface="Georgia" pitchFamily="34" charset="-120"/>
              </a:rPr>
              <a:t>First 30 days, and what training actually looks like</a:t>
            </a:r>
            <a:endParaRPr lang="en-US" sz="3750" dirty="0"/>
          </a:p>
        </p:txBody>
      </p:sp>
      <p:sp>
        <p:nvSpPr>
          <p:cNvPr id="5" name="Text 3"/>
          <p:cNvSpPr/>
          <p:nvPr/>
        </p:nvSpPr>
        <p:spPr>
          <a:xfrm>
            <a:off x="914400" y="2024062"/>
            <a:ext cx="8769668" cy="220980"/>
          </a:xfrm>
          <a:prstGeom prst="rect">
            <a:avLst/>
          </a:prstGeom>
          <a:noFill/>
          <a:ln/>
        </p:spPr>
        <p:txBody>
          <a:bodyPr wrap="square" lIns="25400" tIns="25400" rIns="25400" bIns="25400" rtlCol="0" anchor="t">
            <a:normAutofit/>
          </a:bodyPr>
          <a:lstStyle/>
          <a:p>
            <a:pPr algn="l" indent="0" marL="0">
              <a:buNone/>
            </a:pPr>
            <a:r>
              <a:rPr lang="en-US" sz="1125" spc="180" kern="0" dirty="0">
                <a:solidFill>
                  <a:srgbClr val="94897A"/>
                </a:solidFill>
                <a:latin typeface="Courier New" pitchFamily="34" charset="0"/>
                <a:ea typeface="Courier New" pitchFamily="34" charset="-122"/>
                <a:cs typeface="Courier New" pitchFamily="34" charset="-120"/>
              </a:rPr>
              <a:t>QUICK WINS, FIRST 30 DAYS</a:t>
            </a:r>
            <a:endParaRPr lang="en-US" sz="1125" dirty="0"/>
          </a:p>
        </p:txBody>
      </p:sp>
      <p:sp>
        <p:nvSpPr>
          <p:cNvPr id="6" name="Text 4"/>
          <p:cNvSpPr/>
          <p:nvPr/>
        </p:nvSpPr>
        <p:spPr>
          <a:xfrm>
            <a:off x="914400" y="2458403"/>
            <a:ext cx="819150" cy="220980"/>
          </a:xfrm>
          <a:prstGeom prst="rect">
            <a:avLst/>
          </a:prstGeom>
          <a:noFill/>
          <a:ln/>
        </p:spPr>
        <p:txBody>
          <a:bodyPr wrap="square" lIns="25400" tIns="25400" rIns="25400" bIns="25400" rtlCol="0" anchor="t">
            <a:normAutofit/>
          </a:bodyPr>
          <a:lstStyle/>
          <a:p>
            <a:pPr algn="l" indent="0" marL="0">
              <a:buNone/>
            </a:pPr>
            <a:r>
              <a:rPr lang="en-US" sz="1125" spc="90" kern="0" dirty="0">
                <a:solidFill>
                  <a:srgbClr val="B23B26"/>
                </a:solidFill>
                <a:latin typeface="Courier New" pitchFamily="34" charset="0"/>
                <a:ea typeface="Courier New" pitchFamily="34" charset="-122"/>
                <a:cs typeface="Courier New" pitchFamily="34" charset="-120"/>
              </a:rPr>
              <a:t>WEEK 1</a:t>
            </a:r>
            <a:endParaRPr lang="en-US" sz="1125" dirty="0"/>
          </a:p>
        </p:txBody>
      </p:sp>
      <p:sp>
        <p:nvSpPr>
          <p:cNvPr id="7" name="Text 5"/>
          <p:cNvSpPr/>
          <p:nvPr/>
        </p:nvSpPr>
        <p:spPr>
          <a:xfrm>
            <a:off x="1828800" y="2397442"/>
            <a:ext cx="7269766" cy="89535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4A443B"/>
                </a:solidFill>
                <a:latin typeface="Arial" pitchFamily="34" charset="0"/>
                <a:ea typeface="Arial" pitchFamily="34" charset="-122"/>
                <a:cs typeface="Arial" pitchFamily="34" charset="-120"/>
              </a:rPr>
              <a:t>First real packet generated for an upcoming meeting. Manager reviews it live, one factual thing it got right that manual prep would have taken 30 minutes to find.</a:t>
            </a:r>
            <a:endParaRPr lang="en-US" sz="1500" dirty="0"/>
          </a:p>
        </p:txBody>
      </p:sp>
      <p:sp>
        <p:nvSpPr>
          <p:cNvPr id="8" name="Text 6"/>
          <p:cNvSpPr/>
          <p:nvPr/>
        </p:nvSpPr>
        <p:spPr>
          <a:xfrm>
            <a:off x="914400" y="3487103"/>
            <a:ext cx="819150" cy="220980"/>
          </a:xfrm>
          <a:prstGeom prst="rect">
            <a:avLst/>
          </a:prstGeom>
          <a:noFill/>
          <a:ln/>
        </p:spPr>
        <p:txBody>
          <a:bodyPr wrap="square" lIns="25400" tIns="25400" rIns="25400" bIns="25400" rtlCol="0" anchor="t">
            <a:normAutofit/>
          </a:bodyPr>
          <a:lstStyle/>
          <a:p>
            <a:pPr algn="l" indent="0" marL="0">
              <a:buNone/>
            </a:pPr>
            <a:r>
              <a:rPr lang="en-US" sz="1125" spc="90" kern="0" dirty="0">
                <a:solidFill>
                  <a:srgbClr val="B23B26"/>
                </a:solidFill>
                <a:latin typeface="Courier New" pitchFamily="34" charset="0"/>
                <a:ea typeface="Courier New" pitchFamily="34" charset="-122"/>
                <a:cs typeface="Courier New" pitchFamily="34" charset="-120"/>
              </a:rPr>
              <a:t>WEEK 2</a:t>
            </a:r>
            <a:endParaRPr lang="en-US" sz="1125" dirty="0"/>
          </a:p>
        </p:txBody>
      </p:sp>
      <p:sp>
        <p:nvSpPr>
          <p:cNvPr id="9" name="Text 7"/>
          <p:cNvSpPr/>
          <p:nvPr/>
        </p:nvSpPr>
        <p:spPr>
          <a:xfrm>
            <a:off x="1828800" y="3426143"/>
            <a:ext cx="7269766" cy="89535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4A443B"/>
                </a:solidFill>
                <a:latin typeface="Arial" pitchFamily="34" charset="0"/>
                <a:ea typeface="Arial" pitchFamily="34" charset="-122"/>
                <a:cs typeface="Arial" pitchFamily="34" charset="-120"/>
              </a:rPr>
              <a:t>First open issue caught that wasn’t on anyone’s radar. The Galil Dairy price-cap violation is the template. </a:t>
            </a:r>
            <a:pPr algn="l" indent="0" marL="0">
              <a:lnSpc>
                <a:spcPct val="150000"/>
              </a:lnSpc>
              <a:buNone/>
            </a:pPr>
            <a:r>
              <a:rPr lang="en-US" sz="1500" b="1" dirty="0">
                <a:solidFill>
                  <a:srgbClr val="221D17"/>
                </a:solidFill>
                <a:latin typeface="Arial" pitchFamily="34" charset="0"/>
                <a:ea typeface="Arial" pitchFamily="34" charset="-122"/>
                <a:cs typeface="Arial" pitchFamily="34" charset="-120"/>
              </a:rPr>
              <a:t>One concrete catch establishes trust faster than any demo.</a:t>
            </a:r>
            <a:endParaRPr lang="en-US" sz="1500" dirty="0"/>
          </a:p>
        </p:txBody>
      </p:sp>
      <p:sp>
        <p:nvSpPr>
          <p:cNvPr id="10" name="Text 8"/>
          <p:cNvSpPr/>
          <p:nvPr/>
        </p:nvSpPr>
        <p:spPr>
          <a:xfrm>
            <a:off x="914400" y="4515803"/>
            <a:ext cx="819150" cy="220980"/>
          </a:xfrm>
          <a:prstGeom prst="rect">
            <a:avLst/>
          </a:prstGeom>
          <a:noFill/>
          <a:ln/>
        </p:spPr>
        <p:txBody>
          <a:bodyPr wrap="square" lIns="25400" tIns="25400" rIns="25400" bIns="25400" rtlCol="0" anchor="t">
            <a:normAutofit/>
          </a:bodyPr>
          <a:lstStyle/>
          <a:p>
            <a:pPr algn="l" indent="0" marL="0">
              <a:buNone/>
            </a:pPr>
            <a:r>
              <a:rPr lang="en-US" sz="1125" spc="90" kern="0" dirty="0">
                <a:solidFill>
                  <a:srgbClr val="B23B26"/>
                </a:solidFill>
                <a:latin typeface="Courier New" pitchFamily="34" charset="0"/>
                <a:ea typeface="Courier New" pitchFamily="34" charset="-122"/>
                <a:cs typeface="Courier New" pitchFamily="34" charset="-120"/>
              </a:rPr>
              <a:t>WEEK 3</a:t>
            </a:r>
            <a:endParaRPr lang="en-US" sz="1125" dirty="0"/>
          </a:p>
        </p:txBody>
      </p:sp>
      <p:sp>
        <p:nvSpPr>
          <p:cNvPr id="11" name="Text 9"/>
          <p:cNvSpPr/>
          <p:nvPr/>
        </p:nvSpPr>
        <p:spPr>
          <a:xfrm>
            <a:off x="1828800" y="4454843"/>
            <a:ext cx="7269766" cy="60960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4A443B"/>
                </a:solidFill>
                <a:latin typeface="Arial" pitchFamily="34" charset="0"/>
                <a:ea typeface="Arial" pitchFamily="34" charset="-122"/>
                <a:cs typeface="Arial" pitchFamily="34" charset="-120"/>
              </a:rPr>
              <a:t>Correction rate below 20%. Analyst marks fewer fields wrong. Show them the trend, that number going down is the proof.</a:t>
            </a:r>
            <a:endParaRPr lang="en-US" sz="1500" dirty="0"/>
          </a:p>
        </p:txBody>
      </p:sp>
      <p:sp>
        <p:nvSpPr>
          <p:cNvPr id="12" name="Text 10"/>
          <p:cNvSpPr/>
          <p:nvPr/>
        </p:nvSpPr>
        <p:spPr>
          <a:xfrm>
            <a:off x="914400" y="5258753"/>
            <a:ext cx="819150" cy="220980"/>
          </a:xfrm>
          <a:prstGeom prst="rect">
            <a:avLst/>
          </a:prstGeom>
          <a:noFill/>
          <a:ln/>
        </p:spPr>
        <p:txBody>
          <a:bodyPr wrap="square" lIns="25400" tIns="25400" rIns="25400" bIns="25400" rtlCol="0" anchor="t">
            <a:normAutofit/>
          </a:bodyPr>
          <a:lstStyle/>
          <a:p>
            <a:pPr algn="l" indent="0" marL="0">
              <a:buNone/>
            </a:pPr>
            <a:r>
              <a:rPr lang="en-US" sz="1125" spc="90" kern="0" dirty="0">
                <a:solidFill>
                  <a:srgbClr val="B23B26"/>
                </a:solidFill>
                <a:latin typeface="Courier New" pitchFamily="34" charset="0"/>
                <a:ea typeface="Courier New" pitchFamily="34" charset="-122"/>
                <a:cs typeface="Courier New" pitchFamily="34" charset="-120"/>
              </a:rPr>
              <a:t>WEEK 4</a:t>
            </a:r>
            <a:endParaRPr lang="en-US" sz="1125" dirty="0"/>
          </a:p>
        </p:txBody>
      </p:sp>
      <p:sp>
        <p:nvSpPr>
          <p:cNvPr id="13" name="Text 11"/>
          <p:cNvSpPr/>
          <p:nvPr/>
        </p:nvSpPr>
        <p:spPr>
          <a:xfrm>
            <a:off x="1828800" y="5197793"/>
            <a:ext cx="7269766" cy="60960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4A443B"/>
                </a:solidFill>
                <a:latin typeface="Arial" pitchFamily="34" charset="0"/>
                <a:ea typeface="Arial" pitchFamily="34" charset="-122"/>
                <a:cs typeface="Arial" pitchFamily="34" charset="-120"/>
              </a:rPr>
              <a:t>Manager walks into a meeting and says they didn’t need to do any manual prep. </a:t>
            </a:r>
            <a:pPr algn="l" indent="0" marL="0">
              <a:lnSpc>
                <a:spcPct val="150000"/>
              </a:lnSpc>
              <a:buNone/>
            </a:pPr>
            <a:r>
              <a:rPr lang="en-US" sz="1500" b="1" dirty="0">
                <a:solidFill>
                  <a:srgbClr val="221D17"/>
                </a:solidFill>
                <a:latin typeface="Arial" pitchFamily="34" charset="0"/>
                <a:ea typeface="Arial" pitchFamily="34" charset="-122"/>
                <a:cs typeface="Arial" pitchFamily="34" charset="-120"/>
              </a:rPr>
              <a:t>That is the success signal.</a:t>
            </a:r>
            <a:endParaRPr lang="en-US" sz="1500" dirty="0"/>
          </a:p>
        </p:txBody>
      </p:sp>
      <p:sp>
        <p:nvSpPr>
          <p:cNvPr id="14" name="Text 12"/>
          <p:cNvSpPr/>
          <p:nvPr/>
        </p:nvSpPr>
        <p:spPr>
          <a:xfrm>
            <a:off x="9401175" y="2024062"/>
            <a:ext cx="8769668" cy="220980"/>
          </a:xfrm>
          <a:prstGeom prst="rect">
            <a:avLst/>
          </a:prstGeom>
          <a:noFill/>
          <a:ln/>
        </p:spPr>
        <p:txBody>
          <a:bodyPr wrap="square" lIns="25400" tIns="25400" rIns="25400" bIns="25400" rtlCol="0" anchor="t">
            <a:normAutofit/>
          </a:bodyPr>
          <a:lstStyle/>
          <a:p>
            <a:pPr algn="l" indent="0" marL="0">
              <a:buNone/>
            </a:pPr>
            <a:r>
              <a:rPr lang="en-US" sz="1125" spc="180" kern="0" dirty="0">
                <a:solidFill>
                  <a:srgbClr val="94897A"/>
                </a:solidFill>
                <a:latin typeface="Courier New" pitchFamily="34" charset="0"/>
                <a:ea typeface="Courier New" pitchFamily="34" charset="-122"/>
                <a:cs typeface="Courier New" pitchFamily="34" charset="-120"/>
              </a:rPr>
              <a:t>ENABLEMENT, WHAT TRAINING ACTUALLY LOOKS LIKE</a:t>
            </a:r>
            <a:endParaRPr lang="en-US" sz="1125" dirty="0"/>
          </a:p>
        </p:txBody>
      </p:sp>
      <p:sp>
        <p:nvSpPr>
          <p:cNvPr id="15" name="Text 13"/>
          <p:cNvSpPr/>
          <p:nvPr/>
        </p:nvSpPr>
        <p:spPr>
          <a:xfrm>
            <a:off x="9401175" y="2397442"/>
            <a:ext cx="8769668" cy="304800"/>
          </a:xfrm>
          <a:prstGeom prst="rect">
            <a:avLst/>
          </a:prstGeom>
          <a:noFill/>
          <a:ln/>
        </p:spPr>
        <p:txBody>
          <a:bodyPr wrap="square" lIns="25400" tIns="25400" rIns="25400" bIns="25400" rtlCol="0" anchor="t">
            <a:normAutofit/>
          </a:bodyPr>
          <a:lstStyle/>
          <a:p>
            <a:pPr algn="l" indent="0" marL="0">
              <a:buNone/>
            </a:pPr>
            <a:r>
              <a:rPr lang="en-US" sz="1800" i="1" dirty="0">
                <a:solidFill>
                  <a:srgbClr val="3D372F"/>
                </a:solidFill>
                <a:latin typeface="Georgia" pitchFamily="34" charset="0"/>
                <a:ea typeface="Georgia" pitchFamily="34" charset="-122"/>
                <a:cs typeface="Georgia" pitchFamily="34" charset="-120"/>
              </a:rPr>
              <a:t>Not a training deck. Not a webinar.</a:t>
            </a:r>
            <a:endParaRPr lang="en-US" sz="1800" dirty="0"/>
          </a:p>
        </p:txBody>
      </p:sp>
      <p:sp>
        <p:nvSpPr>
          <p:cNvPr id="16" name="Shape 14"/>
          <p:cNvSpPr/>
          <p:nvPr/>
        </p:nvSpPr>
        <p:spPr>
          <a:xfrm>
            <a:off x="9401175" y="2854643"/>
            <a:ext cx="7972425" cy="1465898"/>
          </a:xfrm>
          <a:prstGeom prst="roundRect">
            <a:avLst>
              <a:gd name="adj" fmla="val 2599"/>
            </a:avLst>
          </a:prstGeom>
          <a:solidFill>
            <a:srgbClr val="FBF8F2"/>
          </a:solidFill>
          <a:ln w="7620">
            <a:solidFill>
              <a:srgbClr val="DDD4C6"/>
            </a:solidFill>
            <a:prstDash val="solid"/>
          </a:ln>
        </p:spPr>
      </p:sp>
      <p:sp>
        <p:nvSpPr>
          <p:cNvPr id="17" name="Text 15"/>
          <p:cNvSpPr/>
          <p:nvPr/>
        </p:nvSpPr>
        <p:spPr>
          <a:xfrm>
            <a:off x="9618345" y="3033713"/>
            <a:ext cx="8291894" cy="274320"/>
          </a:xfrm>
          <a:prstGeom prst="rect">
            <a:avLst/>
          </a:prstGeom>
          <a:noFill/>
          <a:ln/>
        </p:spPr>
        <p:txBody>
          <a:bodyPr wrap="square" lIns="25400" tIns="25400" rIns="25400" bIns="25400" rtlCol="0" anchor="t">
            <a:normAutofit/>
          </a:bodyPr>
          <a:lstStyle/>
          <a:p>
            <a:pPr algn="l" indent="0" marL="0">
              <a:buNone/>
            </a:pPr>
            <a:r>
              <a:rPr lang="en-US" sz="1575" b="1" dirty="0">
                <a:solidFill>
                  <a:srgbClr val="221D17"/>
                </a:solidFill>
                <a:latin typeface="Arial" pitchFamily="34" charset="0"/>
                <a:ea typeface="Arial" pitchFamily="34" charset="-122"/>
                <a:cs typeface="Arial" pitchFamily="34" charset="-120"/>
              </a:rPr>
              <a:t>Session 1 </a:t>
            </a:r>
            <a:pPr algn="l" indent="0" marL="0">
              <a:buNone/>
            </a:pPr>
            <a:r>
              <a:rPr lang="en-US" sz="1050" dirty="0">
                <a:solidFill>
                  <a:srgbClr val="A0957F"/>
                </a:solidFill>
                <a:latin typeface="Courier New" pitchFamily="34" charset="0"/>
                <a:ea typeface="Courier New" pitchFamily="34" charset="-122"/>
                <a:cs typeface="Courier New" pitchFamily="34" charset="-120"/>
              </a:rPr>
              <a:t>· 30 min · Week 1</a:t>
            </a:r>
            <a:endParaRPr lang="en-US" sz="1575" dirty="0"/>
          </a:p>
        </p:txBody>
      </p:sp>
      <p:sp>
        <p:nvSpPr>
          <p:cNvPr id="18" name="Text 16"/>
          <p:cNvSpPr/>
          <p:nvPr/>
        </p:nvSpPr>
        <p:spPr>
          <a:xfrm>
            <a:off x="9618345" y="3327083"/>
            <a:ext cx="7764228" cy="852488"/>
          </a:xfrm>
          <a:prstGeom prst="rect">
            <a:avLst/>
          </a:prstGeom>
          <a:noFill/>
          <a:ln/>
        </p:spPr>
        <p:txBody>
          <a:bodyPr wrap="square" lIns="25400" tIns="25400" rIns="25400" bIns="25400" rtlCol="0" anchor="t">
            <a:normAutofit/>
          </a:bodyPr>
          <a:lstStyle/>
          <a:p>
            <a:pPr algn="l" indent="0" marL="0">
              <a:lnSpc>
                <a:spcPct val="150000"/>
              </a:lnSpc>
              <a:buNone/>
            </a:pPr>
            <a:r>
              <a:rPr lang="en-US" sz="1425" dirty="0">
                <a:solidFill>
                  <a:srgbClr val="4A443B"/>
                </a:solidFill>
                <a:latin typeface="Arial" pitchFamily="34" charset="0"/>
                <a:ea typeface="Arial" pitchFamily="34" charset="-122"/>
                <a:cs typeface="Arial" pitchFamily="34" charset="-120"/>
              </a:rPr>
              <a:t>Sit with the analyst. Run the tool together on a real upcoming meeting. Walk through every section. Show the “Show source” expanders and how to flag a correction. </a:t>
            </a:r>
            <a:pPr algn="l" indent="0" marL="0">
              <a:lnSpc>
                <a:spcPct val="150000"/>
              </a:lnSpc>
              <a:buNone/>
            </a:pPr>
            <a:r>
              <a:rPr lang="en-US" sz="1425" b="1" dirty="0">
                <a:solidFill>
                  <a:srgbClr val="221D17"/>
                </a:solidFill>
                <a:latin typeface="Arial" pitchFamily="34" charset="0"/>
                <a:ea typeface="Arial" pitchFamily="34" charset="-122"/>
                <a:cs typeface="Arial" pitchFamily="34" charset="-120"/>
              </a:rPr>
              <a:t>That is the entire training.</a:t>
            </a:r>
            <a:endParaRPr lang="en-US" sz="1425" dirty="0"/>
          </a:p>
        </p:txBody>
      </p:sp>
      <p:sp>
        <p:nvSpPr>
          <p:cNvPr id="19" name="Shape 17"/>
          <p:cNvSpPr/>
          <p:nvPr/>
        </p:nvSpPr>
        <p:spPr>
          <a:xfrm>
            <a:off x="9401175" y="4472940"/>
            <a:ext cx="7972425" cy="1194435"/>
          </a:xfrm>
          <a:prstGeom prst="roundRect">
            <a:avLst>
              <a:gd name="adj" fmla="val 3190"/>
            </a:avLst>
          </a:prstGeom>
          <a:solidFill>
            <a:srgbClr val="FBF8F2"/>
          </a:solidFill>
          <a:ln w="7620">
            <a:solidFill>
              <a:srgbClr val="DDD4C6"/>
            </a:solidFill>
            <a:prstDash val="solid"/>
          </a:ln>
        </p:spPr>
      </p:sp>
      <p:sp>
        <p:nvSpPr>
          <p:cNvPr id="20" name="Text 18"/>
          <p:cNvSpPr/>
          <p:nvPr/>
        </p:nvSpPr>
        <p:spPr>
          <a:xfrm>
            <a:off x="9618345" y="4652010"/>
            <a:ext cx="8291894" cy="274320"/>
          </a:xfrm>
          <a:prstGeom prst="rect">
            <a:avLst/>
          </a:prstGeom>
          <a:noFill/>
          <a:ln/>
        </p:spPr>
        <p:txBody>
          <a:bodyPr wrap="square" lIns="25400" tIns="25400" rIns="25400" bIns="25400" rtlCol="0" anchor="t">
            <a:normAutofit/>
          </a:bodyPr>
          <a:lstStyle/>
          <a:p>
            <a:pPr algn="l" indent="0" marL="0">
              <a:buNone/>
            </a:pPr>
            <a:r>
              <a:rPr lang="en-US" sz="1575" b="1" dirty="0">
                <a:solidFill>
                  <a:srgbClr val="221D17"/>
                </a:solidFill>
                <a:latin typeface="Arial" pitchFamily="34" charset="0"/>
                <a:ea typeface="Arial" pitchFamily="34" charset="-122"/>
                <a:cs typeface="Arial" pitchFamily="34" charset="-120"/>
              </a:rPr>
              <a:t>Session 2 </a:t>
            </a:r>
            <a:pPr algn="l" indent="0" marL="0">
              <a:buNone/>
            </a:pPr>
            <a:r>
              <a:rPr lang="en-US" sz="1050" dirty="0">
                <a:solidFill>
                  <a:srgbClr val="A0957F"/>
                </a:solidFill>
                <a:latin typeface="Courier New" pitchFamily="34" charset="0"/>
                <a:ea typeface="Courier New" pitchFamily="34" charset="-122"/>
                <a:cs typeface="Courier New" pitchFamily="34" charset="-120"/>
              </a:rPr>
              <a:t>· 15 min · Week 3</a:t>
            </a:r>
            <a:endParaRPr lang="en-US" sz="1575" dirty="0"/>
          </a:p>
        </p:txBody>
      </p:sp>
      <p:sp>
        <p:nvSpPr>
          <p:cNvPr id="21" name="Text 19"/>
          <p:cNvSpPr/>
          <p:nvPr/>
        </p:nvSpPr>
        <p:spPr>
          <a:xfrm>
            <a:off x="9618345" y="4945380"/>
            <a:ext cx="7764228" cy="581025"/>
          </a:xfrm>
          <a:prstGeom prst="rect">
            <a:avLst/>
          </a:prstGeom>
          <a:noFill/>
          <a:ln/>
        </p:spPr>
        <p:txBody>
          <a:bodyPr wrap="square" lIns="25400" tIns="25400" rIns="25400" bIns="25400" rtlCol="0" anchor="t">
            <a:normAutofit/>
          </a:bodyPr>
          <a:lstStyle/>
          <a:p>
            <a:pPr algn="l" indent="0" marL="0">
              <a:lnSpc>
                <a:spcPct val="150000"/>
              </a:lnSpc>
              <a:buNone/>
            </a:pPr>
            <a:r>
              <a:rPr lang="en-US" sz="1425" dirty="0">
                <a:solidFill>
                  <a:srgbClr val="4A443B"/>
                </a:solidFill>
                <a:latin typeface="Arial" pitchFamily="34" charset="0"/>
                <a:ea typeface="Arial" pitchFamily="34" charset="-122"/>
                <a:cs typeface="Arial" pitchFamily="34" charset="-120"/>
              </a:rPr>
              <a:t>Review the correction log together. Which fields did they flag? Any pattern? This is the prompt-tuning input, framed as their feedback.</a:t>
            </a:r>
            <a:endParaRPr lang="en-US" sz="1425" dirty="0"/>
          </a:p>
        </p:txBody>
      </p:sp>
      <p:sp>
        <p:nvSpPr>
          <p:cNvPr id="22" name="Shape 20"/>
          <p:cNvSpPr/>
          <p:nvPr/>
        </p:nvSpPr>
        <p:spPr>
          <a:xfrm>
            <a:off x="9401175" y="5819775"/>
            <a:ext cx="7972425" cy="1194435"/>
          </a:xfrm>
          <a:prstGeom prst="roundRect">
            <a:avLst>
              <a:gd name="adj" fmla="val 3190"/>
            </a:avLst>
          </a:prstGeom>
          <a:solidFill>
            <a:srgbClr val="FBF8F2"/>
          </a:solidFill>
          <a:ln w="7620">
            <a:solidFill>
              <a:srgbClr val="DDD4C6"/>
            </a:solidFill>
            <a:prstDash val="solid"/>
          </a:ln>
        </p:spPr>
      </p:sp>
      <p:sp>
        <p:nvSpPr>
          <p:cNvPr id="23" name="Text 21"/>
          <p:cNvSpPr/>
          <p:nvPr/>
        </p:nvSpPr>
        <p:spPr>
          <a:xfrm>
            <a:off x="9618345" y="5998845"/>
            <a:ext cx="8291894" cy="274320"/>
          </a:xfrm>
          <a:prstGeom prst="rect">
            <a:avLst/>
          </a:prstGeom>
          <a:noFill/>
          <a:ln/>
        </p:spPr>
        <p:txBody>
          <a:bodyPr wrap="square" lIns="25400" tIns="25400" rIns="25400" bIns="25400" rtlCol="0" anchor="t">
            <a:normAutofit/>
          </a:bodyPr>
          <a:lstStyle/>
          <a:p>
            <a:pPr algn="l" indent="0" marL="0">
              <a:buNone/>
            </a:pPr>
            <a:r>
              <a:rPr lang="en-US" sz="1575" b="1" dirty="0">
                <a:solidFill>
                  <a:srgbClr val="221D17"/>
                </a:solidFill>
                <a:latin typeface="Arial" pitchFamily="34" charset="0"/>
                <a:ea typeface="Arial" pitchFamily="34" charset="-122"/>
                <a:cs typeface="Arial" pitchFamily="34" charset="-120"/>
              </a:rPr>
              <a:t>Ongoing</a:t>
            </a:r>
            <a:endParaRPr lang="en-US" sz="1575" dirty="0"/>
          </a:p>
        </p:txBody>
      </p:sp>
      <p:sp>
        <p:nvSpPr>
          <p:cNvPr id="24" name="Text 22"/>
          <p:cNvSpPr/>
          <p:nvPr/>
        </p:nvSpPr>
        <p:spPr>
          <a:xfrm>
            <a:off x="9618345" y="6292215"/>
            <a:ext cx="7764228" cy="581025"/>
          </a:xfrm>
          <a:prstGeom prst="rect">
            <a:avLst/>
          </a:prstGeom>
          <a:noFill/>
          <a:ln/>
        </p:spPr>
        <p:txBody>
          <a:bodyPr wrap="square" lIns="25400" tIns="25400" rIns="25400" bIns="25400" rtlCol="0" anchor="t">
            <a:normAutofit/>
          </a:bodyPr>
          <a:lstStyle/>
          <a:p>
            <a:pPr algn="l" indent="0" marL="0">
              <a:lnSpc>
                <a:spcPct val="150000"/>
              </a:lnSpc>
              <a:buNone/>
            </a:pPr>
            <a:r>
              <a:rPr lang="en-US" sz="1425" dirty="0">
                <a:solidFill>
                  <a:srgbClr val="4A443B"/>
                </a:solidFill>
                <a:latin typeface="Arial" pitchFamily="34" charset="0"/>
                <a:ea typeface="Arial" pitchFamily="34" charset="-122"/>
                <a:cs typeface="Arial" pitchFamily="34" charset="-120"/>
              </a:rPr>
              <a:t>A one-page reference card: what each section means, when to override, who to contact if something looks wrong. Non-technical. No jargon.</a:t>
            </a:r>
            <a:endParaRPr lang="en-US" sz="1425" dirty="0"/>
          </a:p>
        </p:txBody>
      </p:sp>
      <p:sp>
        <p:nvSpPr>
          <p:cNvPr id="25" name="Shape 23"/>
          <p:cNvSpPr/>
          <p:nvPr/>
        </p:nvSpPr>
        <p:spPr>
          <a:xfrm>
            <a:off x="914400" y="9637395"/>
            <a:ext cx="16459200" cy="9525"/>
          </a:xfrm>
          <a:prstGeom prst="rect">
            <a:avLst/>
          </a:prstGeom>
          <a:solidFill>
            <a:srgbClr val="E2DACE"/>
          </a:solidFill>
          <a:ln/>
        </p:spPr>
      </p:sp>
      <p:sp>
        <p:nvSpPr>
          <p:cNvPr id="26" name="Text 24"/>
          <p:cNvSpPr/>
          <p:nvPr/>
        </p:nvSpPr>
        <p:spPr>
          <a:xfrm>
            <a:off x="914400" y="9768840"/>
            <a:ext cx="5462575" cy="21336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A89D8E"/>
                </a:solidFill>
                <a:latin typeface="Courier New" pitchFamily="34" charset="0"/>
                <a:ea typeface="Courier New" pitchFamily="34" charset="-122"/>
                <a:cs typeface="Courier New" pitchFamily="34" charset="-120"/>
              </a:rPr>
              <a:t>STRAUSS PROCUREMENT · FDE EXERCISE · CONFIDENTIAL</a:t>
            </a:r>
            <a:endParaRPr lang="en-US" sz="1050" dirty="0"/>
          </a:p>
        </p:txBody>
      </p:sp>
      <p:sp>
        <p:nvSpPr>
          <p:cNvPr id="27" name="Text 25"/>
          <p:cNvSpPr/>
          <p:nvPr/>
        </p:nvSpPr>
        <p:spPr>
          <a:xfrm>
            <a:off x="16664107" y="9768840"/>
            <a:ext cx="785693" cy="21336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A89D8E"/>
                </a:solidFill>
                <a:latin typeface="Courier New" pitchFamily="34" charset="0"/>
                <a:ea typeface="Courier New" pitchFamily="34" charset="-122"/>
                <a:cs typeface="Courier New" pitchFamily="34" charset="-120"/>
              </a:rPr>
              <a:t>16 / 19</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EFE7"/>
        </a:solidFill>
      </p:bgPr>
    </p:bg>
    <p:spTree>
      <p:nvGrpSpPr>
        <p:cNvPr id="1" name=""/>
        <p:cNvGrpSpPr/>
        <p:nvPr/>
      </p:nvGrpSpPr>
      <p:grpSpPr>
        <a:xfrm>
          <a:off x="0" y="0"/>
          <a:ext cx="0" cy="0"/>
          <a:chOff x="0" y="0"/>
          <a:chExt cx="0" cy="0"/>
        </a:xfrm>
      </p:grpSpPr>
      <p:sp>
        <p:nvSpPr>
          <p:cNvPr id="2" name="Shape 0"/>
          <p:cNvSpPr/>
          <p:nvPr/>
        </p:nvSpPr>
        <p:spPr>
          <a:xfrm>
            <a:off x="762000" y="1653302"/>
            <a:ext cx="16764000" cy="9525"/>
          </a:xfrm>
          <a:prstGeom prst="rect">
            <a:avLst/>
          </a:prstGeom>
          <a:solidFill>
            <a:srgbClr val="D7CDBE"/>
          </a:solidFill>
          <a:ln/>
        </p:spPr>
      </p:sp>
      <p:sp>
        <p:nvSpPr>
          <p:cNvPr id="3" name="Text 1"/>
          <p:cNvSpPr/>
          <p:nvPr/>
        </p:nvSpPr>
        <p:spPr>
          <a:xfrm>
            <a:off x="762000" y="704850"/>
            <a:ext cx="18440400" cy="259080"/>
          </a:xfrm>
          <a:prstGeom prst="rect">
            <a:avLst/>
          </a:prstGeom>
          <a:noFill/>
          <a:ln/>
        </p:spPr>
        <p:txBody>
          <a:bodyPr wrap="square" lIns="25400" tIns="25400" rIns="25400" bIns="25400" rtlCol="0" anchor="t">
            <a:normAutofit/>
          </a:bodyPr>
          <a:lstStyle/>
          <a:p>
            <a:pPr algn="l" indent="0" marL="0">
              <a:buNone/>
            </a:pPr>
            <a:r>
              <a:rPr lang="en-US" sz="1350" spc="324" kern="0" dirty="0">
                <a:solidFill>
                  <a:srgbClr val="B23B26"/>
                </a:solidFill>
                <a:latin typeface="Courier New" pitchFamily="34" charset="0"/>
                <a:ea typeface="Courier New" pitchFamily="34" charset="-122"/>
                <a:cs typeface="Courier New" pitchFamily="34" charset="-120"/>
              </a:rPr>
              <a:t>17 · THE ROI CASE</a:t>
            </a:r>
            <a:endParaRPr lang="en-US" sz="1350" dirty="0"/>
          </a:p>
        </p:txBody>
      </p:sp>
      <p:sp>
        <p:nvSpPr>
          <p:cNvPr id="4" name="Text 2"/>
          <p:cNvSpPr/>
          <p:nvPr/>
        </p:nvSpPr>
        <p:spPr>
          <a:xfrm>
            <a:off x="762000" y="1030605"/>
            <a:ext cx="18440400" cy="489347"/>
          </a:xfrm>
          <a:prstGeom prst="rect">
            <a:avLst/>
          </a:prstGeom>
          <a:noFill/>
          <a:ln/>
        </p:spPr>
        <p:txBody>
          <a:bodyPr wrap="square" lIns="25400" tIns="25400" rIns="25400" bIns="25400" rtlCol="0" anchor="t">
            <a:normAutofit/>
          </a:bodyPr>
          <a:lstStyle/>
          <a:p>
            <a:pPr algn="l" indent="0" marL="0">
              <a:lnSpc>
                <a:spcPct val="103000"/>
              </a:lnSpc>
              <a:buNone/>
            </a:pPr>
            <a:r>
              <a:rPr lang="en-US" sz="3450" spc="-52" kern="0" dirty="0">
                <a:solidFill>
                  <a:srgbClr val="221D17"/>
                </a:solidFill>
                <a:latin typeface="Georgia" pitchFamily="34" charset="0"/>
                <a:ea typeface="Georgia" pitchFamily="34" charset="-122"/>
                <a:cs typeface="Georgia" pitchFamily="34" charset="-120"/>
              </a:rPr>
              <a:t>Lead with what’s measurable, then the multiplier</a:t>
            </a:r>
            <a:endParaRPr lang="en-US" sz="3450" dirty="0"/>
          </a:p>
        </p:txBody>
      </p:sp>
      <p:sp>
        <p:nvSpPr>
          <p:cNvPr id="5" name="Shape 3"/>
          <p:cNvSpPr/>
          <p:nvPr/>
        </p:nvSpPr>
        <p:spPr>
          <a:xfrm>
            <a:off x="762000" y="1889522"/>
            <a:ext cx="5571411" cy="7483078"/>
          </a:xfrm>
          <a:prstGeom prst="roundRect">
            <a:avLst>
              <a:gd name="adj" fmla="val 855"/>
            </a:avLst>
          </a:prstGeom>
          <a:solidFill>
            <a:srgbClr val="FBF8F2"/>
          </a:solidFill>
          <a:ln w="7620">
            <a:solidFill>
              <a:srgbClr val="DDD4C6"/>
            </a:solidFill>
            <a:prstDash val="solid"/>
          </a:ln>
        </p:spPr>
      </p:sp>
      <p:sp>
        <p:nvSpPr>
          <p:cNvPr id="6" name="Text 4"/>
          <p:cNvSpPr/>
          <p:nvPr/>
        </p:nvSpPr>
        <p:spPr>
          <a:xfrm>
            <a:off x="1036320" y="2144792"/>
            <a:ext cx="5525048" cy="21336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5E7350"/>
                </a:solidFill>
                <a:latin typeface="Courier New" pitchFamily="34" charset="0"/>
                <a:ea typeface="Courier New" pitchFamily="34" charset="-122"/>
                <a:cs typeface="Courier New" pitchFamily="34" charset="-120"/>
              </a:rPr>
              <a:t>THE CONSERVATIVE NUMBER</a:t>
            </a:r>
            <a:endParaRPr lang="en-US" sz="1050" dirty="0"/>
          </a:p>
        </p:txBody>
      </p:sp>
      <p:sp>
        <p:nvSpPr>
          <p:cNvPr id="7" name="Text 5"/>
          <p:cNvSpPr/>
          <p:nvPr/>
        </p:nvSpPr>
        <p:spPr>
          <a:xfrm>
            <a:off x="1036320" y="2453402"/>
            <a:ext cx="5525048" cy="281940"/>
          </a:xfrm>
          <a:prstGeom prst="rect">
            <a:avLst/>
          </a:prstGeom>
          <a:noFill/>
          <a:ln/>
        </p:spPr>
        <p:txBody>
          <a:bodyPr wrap="square" lIns="25400" tIns="25400" rIns="25400" bIns="25400" rtlCol="0" anchor="t">
            <a:normAutofit/>
          </a:bodyPr>
          <a:lstStyle/>
          <a:p>
            <a:pPr algn="l" indent="0" marL="0">
              <a:buNone/>
            </a:pPr>
            <a:r>
              <a:rPr lang="en-US" sz="1650" b="1" dirty="0">
                <a:solidFill>
                  <a:srgbClr val="221D17"/>
                </a:solidFill>
                <a:latin typeface="Arial" pitchFamily="34" charset="0"/>
                <a:ea typeface="Arial" pitchFamily="34" charset="-122"/>
                <a:cs typeface="Arial" pitchFamily="34" charset="-120"/>
              </a:rPr>
              <a:t>Labor cost avoidance</a:t>
            </a:r>
            <a:endParaRPr lang="en-US" sz="1650" dirty="0"/>
          </a:p>
        </p:txBody>
      </p:sp>
      <p:sp>
        <p:nvSpPr>
          <p:cNvPr id="8" name="Shape 6"/>
          <p:cNvSpPr/>
          <p:nvPr/>
        </p:nvSpPr>
        <p:spPr>
          <a:xfrm>
            <a:off x="1036320" y="3146822"/>
            <a:ext cx="5022771" cy="9525"/>
          </a:xfrm>
          <a:prstGeom prst="rect">
            <a:avLst/>
          </a:prstGeom>
          <a:solidFill>
            <a:srgbClr val="D7CDBE"/>
          </a:solidFill>
          <a:ln/>
        </p:spPr>
      </p:sp>
      <p:sp>
        <p:nvSpPr>
          <p:cNvPr id="9" name="Text 7"/>
          <p:cNvSpPr/>
          <p:nvPr/>
        </p:nvSpPr>
        <p:spPr>
          <a:xfrm>
            <a:off x="1036320" y="2830592"/>
            <a:ext cx="3073968" cy="278130"/>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4A443B"/>
                </a:solidFill>
                <a:latin typeface="Arial" pitchFamily="34" charset="0"/>
                <a:ea typeface="Arial" pitchFamily="34" charset="-122"/>
                <a:cs typeface="Arial" pitchFamily="34" charset="-120"/>
              </a:rPr>
              <a:t>Meetings / month </a:t>
            </a:r>
            <a:pPr algn="l" indent="0" marL="0">
              <a:lnSpc>
                <a:spcPct val="140000"/>
              </a:lnSpc>
              <a:buNone/>
            </a:pPr>
            <a:r>
              <a:rPr lang="en-US" sz="1350" dirty="0">
                <a:solidFill>
                  <a:srgbClr val="998E7E"/>
                </a:solidFill>
                <a:latin typeface="Arial" pitchFamily="34" charset="0"/>
                <a:ea typeface="Arial" pitchFamily="34" charset="-122"/>
                <a:cs typeface="Arial" pitchFamily="34" charset="-120"/>
              </a:rPr>
              <a:t>(14 over 60 days)</a:t>
            </a:r>
            <a:endParaRPr lang="en-US" sz="1350" dirty="0"/>
          </a:p>
        </p:txBody>
      </p:sp>
      <p:sp>
        <p:nvSpPr>
          <p:cNvPr id="10" name="Text 8"/>
          <p:cNvSpPr/>
          <p:nvPr/>
        </p:nvSpPr>
        <p:spPr>
          <a:xfrm>
            <a:off x="5956221" y="2830592"/>
            <a:ext cx="179070" cy="278130"/>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221D17"/>
                </a:solidFill>
                <a:latin typeface="Courier New" pitchFamily="34" charset="0"/>
                <a:ea typeface="Courier New" pitchFamily="34" charset="-122"/>
                <a:cs typeface="Courier New" pitchFamily="34" charset="-120"/>
              </a:rPr>
              <a:t>7</a:t>
            </a:r>
            <a:endParaRPr lang="en-US" sz="1350" dirty="0"/>
          </a:p>
        </p:txBody>
      </p:sp>
      <p:sp>
        <p:nvSpPr>
          <p:cNvPr id="11" name="Shape 9"/>
          <p:cNvSpPr/>
          <p:nvPr/>
        </p:nvSpPr>
        <p:spPr>
          <a:xfrm>
            <a:off x="1036320" y="4161830"/>
            <a:ext cx="5022771" cy="9525"/>
          </a:xfrm>
          <a:prstGeom prst="rect">
            <a:avLst/>
          </a:prstGeom>
          <a:solidFill>
            <a:srgbClr val="D7CDBE"/>
          </a:solidFill>
          <a:ln/>
        </p:spPr>
      </p:sp>
      <p:sp>
        <p:nvSpPr>
          <p:cNvPr id="12" name="Text 10"/>
          <p:cNvSpPr/>
          <p:nvPr/>
        </p:nvSpPr>
        <p:spPr>
          <a:xfrm>
            <a:off x="1036320" y="3845600"/>
            <a:ext cx="1735860" cy="278130"/>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4A443B"/>
                </a:solidFill>
                <a:latin typeface="Arial" pitchFamily="34" charset="0"/>
                <a:ea typeface="Arial" pitchFamily="34" charset="-122"/>
                <a:cs typeface="Arial" pitchFamily="34" charset="-120"/>
              </a:rPr>
              <a:t>Prep time / meeting</a:t>
            </a:r>
            <a:endParaRPr lang="en-US" sz="1350" dirty="0"/>
          </a:p>
        </p:txBody>
      </p:sp>
      <p:sp>
        <p:nvSpPr>
          <p:cNvPr id="13" name="Text 11"/>
          <p:cNvSpPr/>
          <p:nvPr/>
        </p:nvSpPr>
        <p:spPr>
          <a:xfrm>
            <a:off x="4833223" y="3845600"/>
            <a:ext cx="1348454" cy="278130"/>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221D17"/>
                </a:solidFill>
                <a:latin typeface="Courier New" pitchFamily="34" charset="0"/>
                <a:ea typeface="Courier New" pitchFamily="34" charset="-122"/>
                <a:cs typeface="Courier New" pitchFamily="34" charset="-120"/>
              </a:rPr>
              <a:t>135 → 15 min</a:t>
            </a:r>
            <a:endParaRPr lang="en-US" sz="1350" dirty="0"/>
          </a:p>
        </p:txBody>
      </p:sp>
      <p:sp>
        <p:nvSpPr>
          <p:cNvPr id="14" name="Shape 12"/>
          <p:cNvSpPr/>
          <p:nvPr/>
        </p:nvSpPr>
        <p:spPr>
          <a:xfrm>
            <a:off x="1036320" y="5176838"/>
            <a:ext cx="5022771" cy="9525"/>
          </a:xfrm>
          <a:prstGeom prst="rect">
            <a:avLst/>
          </a:prstGeom>
          <a:solidFill>
            <a:srgbClr val="D7CDBE"/>
          </a:solidFill>
          <a:ln/>
        </p:spPr>
      </p:sp>
      <p:sp>
        <p:nvSpPr>
          <p:cNvPr id="15" name="Text 13"/>
          <p:cNvSpPr/>
          <p:nvPr/>
        </p:nvSpPr>
        <p:spPr>
          <a:xfrm>
            <a:off x="1036320" y="4860608"/>
            <a:ext cx="990719" cy="278130"/>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4A443B"/>
                </a:solidFill>
                <a:latin typeface="Arial" pitchFamily="34" charset="0"/>
                <a:ea typeface="Arial" pitchFamily="34" charset="-122"/>
                <a:cs typeface="Arial" pitchFamily="34" charset="-120"/>
              </a:rPr>
              <a:t>Time saved</a:t>
            </a:r>
            <a:endParaRPr lang="en-US" sz="1350" dirty="0"/>
          </a:p>
        </p:txBody>
      </p:sp>
      <p:sp>
        <p:nvSpPr>
          <p:cNvPr id="16" name="Text 14"/>
          <p:cNvSpPr/>
          <p:nvPr/>
        </p:nvSpPr>
        <p:spPr>
          <a:xfrm>
            <a:off x="4927521" y="4860608"/>
            <a:ext cx="1207770" cy="278130"/>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221D17"/>
                </a:solidFill>
                <a:latin typeface="Courier New" pitchFamily="34" charset="0"/>
                <a:ea typeface="Courier New" pitchFamily="34" charset="-122"/>
                <a:cs typeface="Courier New" pitchFamily="34" charset="-120"/>
              </a:rPr>
              <a:t>14 hrs / mo</a:t>
            </a:r>
            <a:endParaRPr lang="en-US" sz="1350" dirty="0"/>
          </a:p>
        </p:txBody>
      </p:sp>
      <p:sp>
        <p:nvSpPr>
          <p:cNvPr id="17" name="Shape 15"/>
          <p:cNvSpPr/>
          <p:nvPr/>
        </p:nvSpPr>
        <p:spPr>
          <a:xfrm>
            <a:off x="1036320" y="6191964"/>
            <a:ext cx="5022771" cy="9525"/>
          </a:xfrm>
          <a:prstGeom prst="rect">
            <a:avLst/>
          </a:prstGeom>
          <a:solidFill>
            <a:srgbClr val="D7CDBE"/>
          </a:solidFill>
          <a:ln/>
        </p:spPr>
      </p:sp>
      <p:sp>
        <p:nvSpPr>
          <p:cNvPr id="18" name="Text 16"/>
          <p:cNvSpPr/>
          <p:nvPr/>
        </p:nvSpPr>
        <p:spPr>
          <a:xfrm>
            <a:off x="1036320" y="5875734"/>
            <a:ext cx="2478584" cy="278130"/>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4A443B"/>
                </a:solidFill>
                <a:latin typeface="Arial" pitchFamily="34" charset="0"/>
                <a:ea typeface="Arial" pitchFamily="34" charset="-122"/>
                <a:cs typeface="Arial" pitchFamily="34" charset="-120"/>
              </a:rPr>
              <a:t>Analyst cost </a:t>
            </a:r>
            <a:pPr algn="l" indent="0" marL="0">
              <a:lnSpc>
                <a:spcPct val="140000"/>
              </a:lnSpc>
              <a:buNone/>
            </a:pPr>
            <a:r>
              <a:rPr lang="en-US" sz="1350" dirty="0">
                <a:solidFill>
                  <a:srgbClr val="998E7E"/>
                </a:solidFill>
                <a:latin typeface="Arial" pitchFamily="34" charset="0"/>
                <a:ea typeface="Arial" pitchFamily="34" charset="-122"/>
                <a:cs typeface="Arial" pitchFamily="34" charset="-120"/>
              </a:rPr>
              <a:t>[confirm w/ HR]</a:t>
            </a:r>
            <a:endParaRPr lang="en-US" sz="1350" dirty="0"/>
          </a:p>
        </p:txBody>
      </p:sp>
      <p:sp>
        <p:nvSpPr>
          <p:cNvPr id="19" name="Text 17"/>
          <p:cNvSpPr/>
          <p:nvPr/>
        </p:nvSpPr>
        <p:spPr>
          <a:xfrm>
            <a:off x="5133261" y="5875734"/>
            <a:ext cx="1002030" cy="278130"/>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221D17"/>
                </a:solidFill>
                <a:latin typeface="Courier New" pitchFamily="34" charset="0"/>
                <a:ea typeface="Courier New" pitchFamily="34" charset="-122"/>
                <a:cs typeface="Courier New" pitchFamily="34" charset="-120"/>
              </a:rPr>
              <a:t>₪200 / hr</a:t>
            </a:r>
            <a:endParaRPr lang="en-US" sz="1350" dirty="0"/>
          </a:p>
        </p:txBody>
      </p:sp>
      <p:sp>
        <p:nvSpPr>
          <p:cNvPr id="20" name="Shape 18"/>
          <p:cNvSpPr/>
          <p:nvPr/>
        </p:nvSpPr>
        <p:spPr>
          <a:xfrm>
            <a:off x="1036320" y="7206972"/>
            <a:ext cx="5022771" cy="9525"/>
          </a:xfrm>
          <a:prstGeom prst="rect">
            <a:avLst/>
          </a:prstGeom>
          <a:solidFill>
            <a:srgbClr val="D7CDBE"/>
          </a:solidFill>
          <a:ln/>
        </p:spPr>
      </p:sp>
      <p:sp>
        <p:nvSpPr>
          <p:cNvPr id="21" name="Text 19"/>
          <p:cNvSpPr/>
          <p:nvPr/>
        </p:nvSpPr>
        <p:spPr>
          <a:xfrm>
            <a:off x="1036320" y="6890742"/>
            <a:ext cx="1525000" cy="278130"/>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4A443B"/>
                </a:solidFill>
                <a:latin typeface="Arial" pitchFamily="34" charset="0"/>
                <a:ea typeface="Arial" pitchFamily="34" charset="-122"/>
                <a:cs typeface="Arial" pitchFamily="34" charset="-120"/>
              </a:rPr>
              <a:t>Analysts in scope</a:t>
            </a:r>
            <a:endParaRPr lang="en-US" sz="1350" dirty="0"/>
          </a:p>
        </p:txBody>
      </p:sp>
      <p:sp>
        <p:nvSpPr>
          <p:cNvPr id="22" name="Text 20"/>
          <p:cNvSpPr/>
          <p:nvPr/>
        </p:nvSpPr>
        <p:spPr>
          <a:xfrm>
            <a:off x="5956221" y="6890742"/>
            <a:ext cx="179070" cy="278130"/>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221D17"/>
                </a:solidFill>
                <a:latin typeface="Courier New" pitchFamily="34" charset="0"/>
                <a:ea typeface="Courier New" pitchFamily="34" charset="-122"/>
                <a:cs typeface="Courier New" pitchFamily="34" charset="-120"/>
              </a:rPr>
              <a:t>3</a:t>
            </a:r>
            <a:endParaRPr lang="en-US" sz="1350" dirty="0"/>
          </a:p>
        </p:txBody>
      </p:sp>
      <p:sp>
        <p:nvSpPr>
          <p:cNvPr id="23" name="Text 21"/>
          <p:cNvSpPr/>
          <p:nvPr/>
        </p:nvSpPr>
        <p:spPr>
          <a:xfrm>
            <a:off x="1036320" y="7905750"/>
            <a:ext cx="751999" cy="278130"/>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4A443B"/>
                </a:solidFill>
                <a:latin typeface="Arial" pitchFamily="34" charset="0"/>
                <a:ea typeface="Arial" pitchFamily="34" charset="-122"/>
                <a:cs typeface="Arial" pitchFamily="34" charset="-120"/>
              </a:rPr>
              <a:t>API cost</a:t>
            </a:r>
            <a:endParaRPr lang="en-US" sz="1350" dirty="0"/>
          </a:p>
        </p:txBody>
      </p:sp>
      <p:sp>
        <p:nvSpPr>
          <p:cNvPr id="24" name="Text 22"/>
          <p:cNvSpPr/>
          <p:nvPr/>
        </p:nvSpPr>
        <p:spPr>
          <a:xfrm>
            <a:off x="4936093" y="7905750"/>
            <a:ext cx="1199198" cy="278130"/>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998E7E"/>
                </a:solidFill>
                <a:latin typeface="Courier New" pitchFamily="34" charset="0"/>
                <a:ea typeface="Courier New" pitchFamily="34" charset="-122"/>
                <a:cs typeface="Courier New" pitchFamily="34" charset="-120"/>
              </a:rPr>
              <a:t>~$7/mo · ≈0</a:t>
            </a:r>
            <a:endParaRPr lang="en-US" sz="1350" dirty="0"/>
          </a:p>
        </p:txBody>
      </p:sp>
      <p:sp>
        <p:nvSpPr>
          <p:cNvPr id="25" name="Shape 23"/>
          <p:cNvSpPr/>
          <p:nvPr/>
        </p:nvSpPr>
        <p:spPr>
          <a:xfrm>
            <a:off x="1036320" y="8298180"/>
            <a:ext cx="5022771" cy="15240"/>
          </a:xfrm>
          <a:prstGeom prst="rect">
            <a:avLst/>
          </a:prstGeom>
          <a:solidFill>
            <a:srgbClr val="221D17"/>
          </a:solidFill>
          <a:ln/>
        </p:spPr>
      </p:sp>
      <p:sp>
        <p:nvSpPr>
          <p:cNvPr id="26" name="Text 24"/>
          <p:cNvSpPr/>
          <p:nvPr/>
        </p:nvSpPr>
        <p:spPr>
          <a:xfrm>
            <a:off x="1036320" y="8465820"/>
            <a:ext cx="5525048" cy="438150"/>
          </a:xfrm>
          <a:prstGeom prst="rect">
            <a:avLst/>
          </a:prstGeom>
          <a:noFill/>
          <a:ln/>
        </p:spPr>
        <p:txBody>
          <a:bodyPr wrap="square" lIns="25400" tIns="25400" rIns="25400" bIns="25400" rtlCol="0" anchor="t">
            <a:normAutofit/>
          </a:bodyPr>
          <a:lstStyle/>
          <a:p>
            <a:pPr algn="l" indent="0" marL="0">
              <a:lnSpc>
                <a:spcPct val="100000"/>
              </a:lnSpc>
              <a:buNone/>
            </a:pPr>
            <a:r>
              <a:rPr lang="en-US" sz="3150" dirty="0">
                <a:solidFill>
                  <a:srgbClr val="5E7350"/>
                </a:solidFill>
                <a:latin typeface="Georgia" pitchFamily="34" charset="0"/>
                <a:ea typeface="Georgia" pitchFamily="34" charset="-122"/>
                <a:cs typeface="Georgia" pitchFamily="34" charset="-120"/>
              </a:rPr>
              <a:t>₪100,000</a:t>
            </a:r>
            <a:pPr algn="l" indent="0" marL="0">
              <a:lnSpc>
                <a:spcPct val="100000"/>
              </a:lnSpc>
              <a:buNone/>
            </a:pPr>
            <a:r>
              <a:rPr lang="en-US" sz="1725" dirty="0">
                <a:solidFill>
                  <a:srgbClr val="7A8B4E"/>
                </a:solidFill>
                <a:latin typeface="Georgia" pitchFamily="34" charset="0"/>
                <a:ea typeface="Georgia" pitchFamily="34" charset="-122"/>
                <a:cs typeface="Georgia" pitchFamily="34" charset="-120"/>
              </a:rPr>
              <a:t>/ year</a:t>
            </a:r>
            <a:endParaRPr lang="en-US" sz="3150" dirty="0"/>
          </a:p>
        </p:txBody>
      </p:sp>
      <p:sp>
        <p:nvSpPr>
          <p:cNvPr id="27" name="Text 25"/>
          <p:cNvSpPr/>
          <p:nvPr/>
        </p:nvSpPr>
        <p:spPr>
          <a:xfrm>
            <a:off x="1036320" y="8903970"/>
            <a:ext cx="5525048" cy="251460"/>
          </a:xfrm>
          <a:prstGeom prst="rect">
            <a:avLst/>
          </a:prstGeom>
          <a:noFill/>
          <a:ln/>
        </p:spPr>
        <p:txBody>
          <a:bodyPr wrap="square" lIns="25400" tIns="25400" rIns="25400" bIns="25400" rtlCol="0" anchor="t">
            <a:normAutofit/>
          </a:bodyPr>
          <a:lstStyle/>
          <a:p>
            <a:pPr algn="l" indent="0" marL="0">
              <a:buNone/>
            </a:pPr>
            <a:r>
              <a:rPr lang="en-US" sz="1350" dirty="0">
                <a:solidFill>
                  <a:srgbClr val="998E7E"/>
                </a:solidFill>
                <a:latin typeface="Arial" pitchFamily="34" charset="0"/>
                <a:ea typeface="Arial" pitchFamily="34" charset="-122"/>
                <a:cs typeface="Arial" pitchFamily="34" charset="-120"/>
              </a:rPr>
              <a:t>3 analysts · 14 hrs/mo · ₪200/hr</a:t>
            </a:r>
            <a:endParaRPr lang="en-US" sz="1350" dirty="0"/>
          </a:p>
        </p:txBody>
      </p:sp>
      <p:sp>
        <p:nvSpPr>
          <p:cNvPr id="28" name="Shape 26"/>
          <p:cNvSpPr/>
          <p:nvPr/>
        </p:nvSpPr>
        <p:spPr>
          <a:xfrm>
            <a:off x="6581061" y="1889522"/>
            <a:ext cx="5571530" cy="7483078"/>
          </a:xfrm>
          <a:prstGeom prst="roundRect">
            <a:avLst>
              <a:gd name="adj" fmla="val 855"/>
            </a:avLst>
          </a:prstGeom>
          <a:solidFill>
            <a:srgbClr val="221D17"/>
          </a:solidFill>
          <a:ln/>
        </p:spPr>
      </p:sp>
      <p:sp>
        <p:nvSpPr>
          <p:cNvPr id="29" name="Text 27"/>
          <p:cNvSpPr/>
          <p:nvPr/>
        </p:nvSpPr>
        <p:spPr>
          <a:xfrm>
            <a:off x="6847761" y="2137172"/>
            <a:ext cx="5541943" cy="21336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CB5238"/>
                </a:solidFill>
                <a:latin typeface="Courier New" pitchFamily="34" charset="0"/>
                <a:ea typeface="Courier New" pitchFamily="34" charset="-122"/>
                <a:cs typeface="Courier New" pitchFamily="34" charset="-120"/>
              </a:rPr>
              <a:t>THE MULTIPLIER, THREE EXAMPLES</a:t>
            </a:r>
            <a:endParaRPr lang="en-US" sz="1050" dirty="0"/>
          </a:p>
        </p:txBody>
      </p:sp>
      <p:sp>
        <p:nvSpPr>
          <p:cNvPr id="30" name="Text 28"/>
          <p:cNvSpPr/>
          <p:nvPr/>
        </p:nvSpPr>
        <p:spPr>
          <a:xfrm>
            <a:off x="6847761" y="2464832"/>
            <a:ext cx="5541943" cy="251460"/>
          </a:xfrm>
          <a:prstGeom prst="rect">
            <a:avLst/>
          </a:prstGeom>
          <a:noFill/>
          <a:ln/>
        </p:spPr>
        <p:txBody>
          <a:bodyPr wrap="square" lIns="25400" tIns="25400" rIns="25400" bIns="25400" rtlCol="0" anchor="t">
            <a:normAutofit/>
          </a:bodyPr>
          <a:lstStyle/>
          <a:p>
            <a:pPr algn="l" indent="0" marL="0">
              <a:buNone/>
            </a:pPr>
            <a:r>
              <a:rPr lang="en-US" sz="1425" b="1" dirty="0">
                <a:solidFill>
                  <a:srgbClr val="F4EFE6"/>
                </a:solidFill>
                <a:latin typeface="Arial" pitchFamily="34" charset="0"/>
                <a:ea typeface="Arial" pitchFamily="34" charset="-122"/>
                <a:cs typeface="Arial" pitchFamily="34" charset="-120"/>
              </a:rPr>
              <a:t>1 · Contract violation · Galil Dairy</a:t>
            </a:r>
            <a:endParaRPr lang="en-US" sz="1425" dirty="0"/>
          </a:p>
        </p:txBody>
      </p:sp>
      <p:sp>
        <p:nvSpPr>
          <p:cNvPr id="31" name="Shape 29"/>
          <p:cNvSpPr/>
          <p:nvPr/>
        </p:nvSpPr>
        <p:spPr>
          <a:xfrm>
            <a:off x="6847761" y="3070622"/>
            <a:ext cx="5038130" cy="9525"/>
          </a:xfrm>
          <a:prstGeom prst="rect">
            <a:avLst/>
          </a:prstGeom>
          <a:solidFill>
            <a:srgbClr val="3A332A"/>
          </a:solidFill>
          <a:ln/>
        </p:spPr>
      </p:sp>
      <p:sp>
        <p:nvSpPr>
          <p:cNvPr id="32" name="Text 30"/>
          <p:cNvSpPr/>
          <p:nvPr/>
        </p:nvSpPr>
        <p:spPr>
          <a:xfrm>
            <a:off x="6847761" y="2773442"/>
            <a:ext cx="2226600" cy="278130"/>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C7BEAE"/>
                </a:solidFill>
                <a:latin typeface="Arial" pitchFamily="34" charset="0"/>
                <a:ea typeface="Arial" pitchFamily="34" charset="-122"/>
                <a:cs typeface="Arial" pitchFamily="34" charset="-120"/>
              </a:rPr>
              <a:t>Quoted over contract cap</a:t>
            </a:r>
            <a:endParaRPr lang="en-US" sz="1350" dirty="0"/>
          </a:p>
        </p:txBody>
      </p:sp>
      <p:sp>
        <p:nvSpPr>
          <p:cNvPr id="33" name="Text 31"/>
          <p:cNvSpPr/>
          <p:nvPr/>
        </p:nvSpPr>
        <p:spPr>
          <a:xfrm>
            <a:off x="10754320" y="2773442"/>
            <a:ext cx="1207770" cy="278130"/>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F2ECE0"/>
                </a:solidFill>
                <a:latin typeface="Courier New" pitchFamily="34" charset="0"/>
                <a:ea typeface="Courier New" pitchFamily="34" charset="-122"/>
                <a:cs typeface="Courier New" pitchFamily="34" charset="-120"/>
              </a:rPr>
              <a:t>+₪1.30 / kg</a:t>
            </a:r>
            <a:endParaRPr lang="en-US" sz="1350" dirty="0"/>
          </a:p>
        </p:txBody>
      </p:sp>
      <p:sp>
        <p:nvSpPr>
          <p:cNvPr id="34" name="Shape 32"/>
          <p:cNvSpPr/>
          <p:nvPr/>
        </p:nvSpPr>
        <p:spPr>
          <a:xfrm>
            <a:off x="6847761" y="3480197"/>
            <a:ext cx="5038130" cy="9525"/>
          </a:xfrm>
          <a:prstGeom prst="rect">
            <a:avLst/>
          </a:prstGeom>
          <a:solidFill>
            <a:srgbClr val="3A332A"/>
          </a:solidFill>
          <a:ln/>
        </p:spPr>
      </p:sp>
      <p:sp>
        <p:nvSpPr>
          <p:cNvPr id="35" name="Text 33"/>
          <p:cNvSpPr/>
          <p:nvPr/>
        </p:nvSpPr>
        <p:spPr>
          <a:xfrm>
            <a:off x="6847761" y="3183017"/>
            <a:ext cx="683657" cy="278130"/>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C7BEAE"/>
                </a:solidFill>
                <a:latin typeface="Arial" pitchFamily="34" charset="0"/>
                <a:ea typeface="Arial" pitchFamily="34" charset="-122"/>
                <a:cs typeface="Arial" pitchFamily="34" charset="-120"/>
              </a:rPr>
              <a:t>Volume</a:t>
            </a:r>
            <a:endParaRPr lang="en-US" sz="1350" dirty="0"/>
          </a:p>
        </p:txBody>
      </p:sp>
      <p:sp>
        <p:nvSpPr>
          <p:cNvPr id="36" name="Text 34"/>
          <p:cNvSpPr/>
          <p:nvPr/>
        </p:nvSpPr>
        <p:spPr>
          <a:xfrm>
            <a:off x="10651451" y="3183017"/>
            <a:ext cx="1357884" cy="278130"/>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F2ECE0"/>
                </a:solidFill>
                <a:latin typeface="Courier New" pitchFamily="34" charset="0"/>
                <a:ea typeface="Courier New" pitchFamily="34" charset="-122"/>
                <a:cs typeface="Courier New" pitchFamily="34" charset="-120"/>
              </a:rPr>
              <a:t>88 tons / yr</a:t>
            </a:r>
            <a:endParaRPr lang="en-US" sz="1350" dirty="0"/>
          </a:p>
        </p:txBody>
      </p:sp>
      <p:sp>
        <p:nvSpPr>
          <p:cNvPr id="37" name="Text 35"/>
          <p:cNvSpPr/>
          <p:nvPr/>
        </p:nvSpPr>
        <p:spPr>
          <a:xfrm>
            <a:off x="6847761" y="3592592"/>
            <a:ext cx="2363593" cy="278130"/>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C7BEAE"/>
                </a:solidFill>
                <a:latin typeface="Arial" pitchFamily="34" charset="0"/>
                <a:ea typeface="Arial" pitchFamily="34" charset="-122"/>
                <a:cs typeface="Arial" pitchFamily="34" charset="-120"/>
              </a:rPr>
              <a:t>Tool caught it, one meeting</a:t>
            </a:r>
            <a:endParaRPr lang="en-US" sz="1350" dirty="0"/>
          </a:p>
        </p:txBody>
      </p:sp>
      <p:sp>
        <p:nvSpPr>
          <p:cNvPr id="38" name="Text 36"/>
          <p:cNvSpPr/>
          <p:nvPr/>
        </p:nvSpPr>
        <p:spPr>
          <a:xfrm>
            <a:off x="11062692" y="3592592"/>
            <a:ext cx="899398" cy="278130"/>
          </a:xfrm>
          <a:prstGeom prst="rect">
            <a:avLst/>
          </a:prstGeom>
          <a:noFill/>
          <a:ln/>
        </p:spPr>
        <p:txBody>
          <a:bodyPr wrap="square" lIns="25400" tIns="25400" rIns="25400" bIns="25400" rtlCol="0" anchor="t">
            <a:normAutofit/>
          </a:bodyPr>
          <a:lstStyle/>
          <a:p>
            <a:pPr algn="l" indent="0" marL="0">
              <a:lnSpc>
                <a:spcPct val="140000"/>
              </a:lnSpc>
              <a:buNone/>
            </a:pPr>
            <a:r>
              <a:rPr lang="en-US" sz="1350" b="1" dirty="0">
                <a:solidFill>
                  <a:srgbClr val="E8A18C"/>
                </a:solidFill>
                <a:latin typeface="Courier New" pitchFamily="34" charset="0"/>
                <a:ea typeface="Courier New" pitchFamily="34" charset="-122"/>
                <a:cs typeface="Courier New" pitchFamily="34" charset="-120"/>
              </a:rPr>
              <a:t>₪114,400</a:t>
            </a:r>
            <a:endParaRPr lang="en-US" sz="1350" dirty="0"/>
          </a:p>
        </p:txBody>
      </p:sp>
      <p:sp>
        <p:nvSpPr>
          <p:cNvPr id="39" name="Text 37"/>
          <p:cNvSpPr/>
          <p:nvPr/>
        </p:nvSpPr>
        <p:spPr>
          <a:xfrm>
            <a:off x="6847761" y="4588073"/>
            <a:ext cx="5541943" cy="251460"/>
          </a:xfrm>
          <a:prstGeom prst="rect">
            <a:avLst/>
          </a:prstGeom>
          <a:noFill/>
          <a:ln/>
        </p:spPr>
        <p:txBody>
          <a:bodyPr wrap="square" lIns="25400" tIns="25400" rIns="25400" bIns="25400" rtlCol="0" anchor="t">
            <a:normAutofit/>
          </a:bodyPr>
          <a:lstStyle/>
          <a:p>
            <a:pPr algn="l" indent="0" marL="0">
              <a:buNone/>
            </a:pPr>
            <a:r>
              <a:rPr lang="en-US" sz="1425" b="1" dirty="0">
                <a:solidFill>
                  <a:srgbClr val="F4EFE6"/>
                </a:solidFill>
                <a:latin typeface="Arial" pitchFamily="34" charset="0"/>
                <a:ea typeface="Arial" pitchFamily="34" charset="-122"/>
                <a:cs typeface="Arial" pitchFamily="34" charset="-120"/>
              </a:rPr>
              <a:t>2 · Market intelligence · Cocoa</a:t>
            </a:r>
            <a:endParaRPr lang="en-US" sz="1425" dirty="0"/>
          </a:p>
        </p:txBody>
      </p:sp>
      <p:sp>
        <p:nvSpPr>
          <p:cNvPr id="40" name="Shape 38"/>
          <p:cNvSpPr/>
          <p:nvPr/>
        </p:nvSpPr>
        <p:spPr>
          <a:xfrm>
            <a:off x="6847761" y="5193864"/>
            <a:ext cx="5038130" cy="9525"/>
          </a:xfrm>
          <a:prstGeom prst="rect">
            <a:avLst/>
          </a:prstGeom>
          <a:solidFill>
            <a:srgbClr val="3A332A"/>
          </a:solidFill>
          <a:ln/>
        </p:spPr>
      </p:sp>
      <p:sp>
        <p:nvSpPr>
          <p:cNvPr id="41" name="Text 39"/>
          <p:cNvSpPr/>
          <p:nvPr/>
        </p:nvSpPr>
        <p:spPr>
          <a:xfrm>
            <a:off x="6847761" y="4896684"/>
            <a:ext cx="1262063" cy="278130"/>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C7BEAE"/>
                </a:solidFill>
                <a:latin typeface="Arial" pitchFamily="34" charset="0"/>
                <a:ea typeface="Arial" pitchFamily="34" charset="-122"/>
                <a:cs typeface="Arial" pitchFamily="34" charset="-120"/>
              </a:rPr>
              <a:t>Cocoa spot fell</a:t>
            </a:r>
            <a:endParaRPr lang="en-US" sz="1350" dirty="0"/>
          </a:p>
        </p:txBody>
      </p:sp>
      <p:sp>
        <p:nvSpPr>
          <p:cNvPr id="42" name="Text 40"/>
          <p:cNvSpPr/>
          <p:nvPr/>
        </p:nvSpPr>
        <p:spPr>
          <a:xfrm>
            <a:off x="10239970" y="4896684"/>
            <a:ext cx="1810512" cy="278130"/>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F2ECE0"/>
                </a:solidFill>
                <a:latin typeface="Courier New" pitchFamily="34" charset="0"/>
                <a:ea typeface="Courier New" pitchFamily="34" charset="-122"/>
                <a:cs typeface="Courier New" pitchFamily="34" charset="-120"/>
              </a:rPr>
              <a:t>−29% in 6 months</a:t>
            </a:r>
            <a:endParaRPr lang="en-US" sz="1350" dirty="0"/>
          </a:p>
        </p:txBody>
      </p:sp>
      <p:sp>
        <p:nvSpPr>
          <p:cNvPr id="43" name="Shape 41"/>
          <p:cNvSpPr/>
          <p:nvPr/>
        </p:nvSpPr>
        <p:spPr>
          <a:xfrm>
            <a:off x="6847761" y="5603439"/>
            <a:ext cx="5038130" cy="9525"/>
          </a:xfrm>
          <a:prstGeom prst="rect">
            <a:avLst/>
          </a:prstGeom>
          <a:solidFill>
            <a:srgbClr val="3A332A"/>
          </a:solidFill>
          <a:ln/>
        </p:spPr>
      </p:sp>
      <p:sp>
        <p:nvSpPr>
          <p:cNvPr id="44" name="Text 42"/>
          <p:cNvSpPr/>
          <p:nvPr/>
        </p:nvSpPr>
        <p:spPr>
          <a:xfrm>
            <a:off x="6847761" y="5306259"/>
            <a:ext cx="2299942" cy="278130"/>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C7BEAE"/>
                </a:solidFill>
                <a:latin typeface="Arial" pitchFamily="34" charset="0"/>
                <a:ea typeface="Arial" pitchFamily="34" charset="-122"/>
                <a:cs typeface="Arial" pitchFamily="34" charset="-120"/>
              </a:rPr>
              <a:t>Supplier quote vs contract</a:t>
            </a:r>
            <a:endParaRPr lang="en-US" sz="1350" dirty="0"/>
          </a:p>
        </p:txBody>
      </p:sp>
      <p:sp>
        <p:nvSpPr>
          <p:cNvPr id="45" name="Text 43"/>
          <p:cNvSpPr/>
          <p:nvPr/>
        </p:nvSpPr>
        <p:spPr>
          <a:xfrm>
            <a:off x="9828491" y="5306259"/>
            <a:ext cx="2263140" cy="278130"/>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F2ECE0"/>
                </a:solidFill>
                <a:latin typeface="Courier New" pitchFamily="34" charset="0"/>
                <a:ea typeface="Courier New" pitchFamily="34" charset="-122"/>
                <a:cs typeface="Courier New" pitchFamily="34" charset="-120"/>
              </a:rPr>
              <a:t>$3,050 vs $2,650/ton</a:t>
            </a:r>
            <a:endParaRPr lang="en-US" sz="1350" dirty="0"/>
          </a:p>
        </p:txBody>
      </p:sp>
      <p:sp>
        <p:nvSpPr>
          <p:cNvPr id="46" name="Text 44"/>
          <p:cNvSpPr/>
          <p:nvPr/>
        </p:nvSpPr>
        <p:spPr>
          <a:xfrm>
            <a:off x="6847761" y="5715834"/>
            <a:ext cx="2462736" cy="278130"/>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C7BEAE"/>
                </a:solidFill>
                <a:latin typeface="Arial" pitchFamily="34" charset="0"/>
                <a:ea typeface="Arial" pitchFamily="34" charset="-122"/>
                <a:cs typeface="Arial" pitchFamily="34" charset="-120"/>
              </a:rPr>
              <a:t>Held contract price · 35 tons</a:t>
            </a:r>
            <a:endParaRPr lang="en-US" sz="1350" dirty="0"/>
          </a:p>
        </p:txBody>
      </p:sp>
      <p:sp>
        <p:nvSpPr>
          <p:cNvPr id="47" name="Text 45"/>
          <p:cNvSpPr/>
          <p:nvPr/>
        </p:nvSpPr>
        <p:spPr>
          <a:xfrm>
            <a:off x="11062692" y="5715834"/>
            <a:ext cx="899398" cy="278130"/>
          </a:xfrm>
          <a:prstGeom prst="rect">
            <a:avLst/>
          </a:prstGeom>
          <a:noFill/>
          <a:ln/>
        </p:spPr>
        <p:txBody>
          <a:bodyPr wrap="square" lIns="25400" tIns="25400" rIns="25400" bIns="25400" rtlCol="0" anchor="t">
            <a:normAutofit/>
          </a:bodyPr>
          <a:lstStyle/>
          <a:p>
            <a:pPr algn="l" indent="0" marL="0">
              <a:lnSpc>
                <a:spcPct val="140000"/>
              </a:lnSpc>
              <a:buNone/>
            </a:pPr>
            <a:r>
              <a:rPr lang="en-US" sz="1350" b="1" dirty="0">
                <a:solidFill>
                  <a:srgbClr val="E8A18C"/>
                </a:solidFill>
                <a:latin typeface="Courier New" pitchFamily="34" charset="0"/>
                <a:ea typeface="Courier New" pitchFamily="34" charset="-122"/>
                <a:cs typeface="Courier New" pitchFamily="34" charset="-120"/>
              </a:rPr>
              <a:t>~₪52,000</a:t>
            </a:r>
            <a:endParaRPr lang="en-US" sz="1350" dirty="0"/>
          </a:p>
        </p:txBody>
      </p:sp>
      <p:sp>
        <p:nvSpPr>
          <p:cNvPr id="48" name="Text 46"/>
          <p:cNvSpPr/>
          <p:nvPr/>
        </p:nvSpPr>
        <p:spPr>
          <a:xfrm>
            <a:off x="6847761" y="6711315"/>
            <a:ext cx="5541943" cy="251460"/>
          </a:xfrm>
          <a:prstGeom prst="rect">
            <a:avLst/>
          </a:prstGeom>
          <a:noFill/>
          <a:ln/>
        </p:spPr>
        <p:txBody>
          <a:bodyPr wrap="square" lIns="25400" tIns="25400" rIns="25400" bIns="25400" rtlCol="0" anchor="t">
            <a:normAutofit/>
          </a:bodyPr>
          <a:lstStyle/>
          <a:p>
            <a:pPr algn="l" indent="0" marL="0">
              <a:buNone/>
            </a:pPr>
            <a:r>
              <a:rPr lang="en-US" sz="1425" b="1" dirty="0">
                <a:solidFill>
                  <a:srgbClr val="F4EFE6"/>
                </a:solidFill>
                <a:latin typeface="Arial" pitchFamily="34" charset="0"/>
                <a:ea typeface="Arial" pitchFamily="34" charset="-122"/>
                <a:cs typeface="Arial" pitchFamily="34" charset="-120"/>
              </a:rPr>
              <a:t>3 · Early-payment discount · Galil Dairy</a:t>
            </a:r>
            <a:endParaRPr lang="en-US" sz="1425" dirty="0"/>
          </a:p>
        </p:txBody>
      </p:sp>
      <p:sp>
        <p:nvSpPr>
          <p:cNvPr id="49" name="Shape 47"/>
          <p:cNvSpPr/>
          <p:nvPr/>
        </p:nvSpPr>
        <p:spPr>
          <a:xfrm>
            <a:off x="6847761" y="7317105"/>
            <a:ext cx="5038130" cy="9525"/>
          </a:xfrm>
          <a:prstGeom prst="rect">
            <a:avLst/>
          </a:prstGeom>
          <a:solidFill>
            <a:srgbClr val="3A332A"/>
          </a:solidFill>
          <a:ln/>
        </p:spPr>
      </p:sp>
      <p:sp>
        <p:nvSpPr>
          <p:cNvPr id="50" name="Text 48"/>
          <p:cNvSpPr/>
          <p:nvPr/>
        </p:nvSpPr>
        <p:spPr>
          <a:xfrm>
            <a:off x="6847761" y="7019925"/>
            <a:ext cx="1341775" cy="278130"/>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C7BEAE"/>
                </a:solidFill>
                <a:latin typeface="Arial" pitchFamily="34" charset="0"/>
                <a:ea typeface="Arial" pitchFamily="34" charset="-122"/>
                <a:cs typeface="Arial" pitchFamily="34" charset="-120"/>
              </a:rPr>
              <a:t>Discount terms</a:t>
            </a:r>
            <a:endParaRPr lang="en-US" sz="1350" dirty="0"/>
          </a:p>
        </p:txBody>
      </p:sp>
      <p:sp>
        <p:nvSpPr>
          <p:cNvPr id="51" name="Text 49"/>
          <p:cNvSpPr/>
          <p:nvPr/>
        </p:nvSpPr>
        <p:spPr>
          <a:xfrm>
            <a:off x="10239970" y="7019925"/>
            <a:ext cx="1810512" cy="278130"/>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F2ECE0"/>
                </a:solidFill>
                <a:latin typeface="Courier New" pitchFamily="34" charset="0"/>
                <a:ea typeface="Courier New" pitchFamily="34" charset="-122"/>
                <a:cs typeface="Courier New" pitchFamily="34" charset="-120"/>
              </a:rPr>
              <a:t>2% / 10 / net 45</a:t>
            </a:r>
            <a:endParaRPr lang="en-US" sz="1350" dirty="0"/>
          </a:p>
        </p:txBody>
      </p:sp>
      <p:sp>
        <p:nvSpPr>
          <p:cNvPr id="52" name="Shape 50"/>
          <p:cNvSpPr/>
          <p:nvPr/>
        </p:nvSpPr>
        <p:spPr>
          <a:xfrm>
            <a:off x="6847761" y="7726680"/>
            <a:ext cx="5038130" cy="9525"/>
          </a:xfrm>
          <a:prstGeom prst="rect">
            <a:avLst/>
          </a:prstGeom>
          <a:solidFill>
            <a:srgbClr val="3A332A"/>
          </a:solidFill>
          <a:ln/>
        </p:spPr>
      </p:sp>
      <p:sp>
        <p:nvSpPr>
          <p:cNvPr id="53" name="Text 51"/>
          <p:cNvSpPr/>
          <p:nvPr/>
        </p:nvSpPr>
        <p:spPr>
          <a:xfrm>
            <a:off x="6847761" y="7429500"/>
            <a:ext cx="2598027" cy="278130"/>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C7BEAE"/>
                </a:solidFill>
                <a:latin typeface="Arial" pitchFamily="34" charset="0"/>
                <a:ea typeface="Arial" pitchFamily="34" charset="-122"/>
                <a:cs typeface="Arial" pitchFamily="34" charset="-120"/>
              </a:rPr>
              <a:t>Implied APR vs cost of capital</a:t>
            </a:r>
            <a:endParaRPr lang="en-US" sz="1350" dirty="0"/>
          </a:p>
        </p:txBody>
      </p:sp>
      <p:sp>
        <p:nvSpPr>
          <p:cNvPr id="54" name="Text 52"/>
          <p:cNvSpPr/>
          <p:nvPr/>
        </p:nvSpPr>
        <p:spPr>
          <a:xfrm>
            <a:off x="10651451" y="7429500"/>
            <a:ext cx="1357884" cy="278130"/>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F2ECE0"/>
                </a:solidFill>
                <a:latin typeface="Courier New" pitchFamily="34" charset="0"/>
                <a:ea typeface="Courier New" pitchFamily="34" charset="-122"/>
                <a:cs typeface="Courier New" pitchFamily="34" charset="-120"/>
              </a:rPr>
              <a:t>21.3% vs ~5%</a:t>
            </a:r>
            <a:endParaRPr lang="en-US" sz="1350" dirty="0"/>
          </a:p>
        </p:txBody>
      </p:sp>
      <p:sp>
        <p:nvSpPr>
          <p:cNvPr id="55" name="Text 53"/>
          <p:cNvSpPr/>
          <p:nvPr/>
        </p:nvSpPr>
        <p:spPr>
          <a:xfrm>
            <a:off x="6847761" y="7839075"/>
            <a:ext cx="2064068" cy="278130"/>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C7BEAE"/>
                </a:solidFill>
                <a:latin typeface="Arial" pitchFamily="34" charset="0"/>
                <a:ea typeface="Arial" pitchFamily="34" charset="-122"/>
                <a:cs typeface="Arial" pitchFamily="34" charset="-120"/>
              </a:rPr>
              <a:t>On a ₪500k/qtr invoice</a:t>
            </a:r>
            <a:endParaRPr lang="en-US" sz="1350" dirty="0"/>
          </a:p>
        </p:txBody>
      </p:sp>
      <p:sp>
        <p:nvSpPr>
          <p:cNvPr id="56" name="Text 54"/>
          <p:cNvSpPr/>
          <p:nvPr/>
        </p:nvSpPr>
        <p:spPr>
          <a:xfrm>
            <a:off x="10651213" y="7839075"/>
            <a:ext cx="1358146" cy="278130"/>
          </a:xfrm>
          <a:prstGeom prst="rect">
            <a:avLst/>
          </a:prstGeom>
          <a:noFill/>
          <a:ln/>
        </p:spPr>
        <p:txBody>
          <a:bodyPr wrap="square" lIns="25400" tIns="25400" rIns="25400" bIns="25400" rtlCol="0" anchor="t">
            <a:normAutofit/>
          </a:bodyPr>
          <a:lstStyle/>
          <a:p>
            <a:pPr algn="l" indent="0" marL="0">
              <a:lnSpc>
                <a:spcPct val="140000"/>
              </a:lnSpc>
              <a:buNone/>
            </a:pPr>
            <a:r>
              <a:rPr lang="en-US" sz="1350" b="1" dirty="0">
                <a:solidFill>
                  <a:srgbClr val="E8A18C"/>
                </a:solidFill>
                <a:latin typeface="Courier New" pitchFamily="34" charset="0"/>
                <a:ea typeface="Courier New" pitchFamily="34" charset="-122"/>
                <a:cs typeface="Courier New" pitchFamily="34" charset="-120"/>
              </a:rPr>
              <a:t>~₪10,000/qtr</a:t>
            </a:r>
            <a:endParaRPr lang="en-US" sz="1350" dirty="0"/>
          </a:p>
        </p:txBody>
      </p:sp>
      <p:sp>
        <p:nvSpPr>
          <p:cNvPr id="57" name="Shape 55"/>
          <p:cNvSpPr/>
          <p:nvPr/>
        </p:nvSpPr>
        <p:spPr>
          <a:xfrm>
            <a:off x="6847761" y="8250555"/>
            <a:ext cx="5038130" cy="15240"/>
          </a:xfrm>
          <a:prstGeom prst="rect">
            <a:avLst/>
          </a:prstGeom>
          <a:solidFill>
            <a:srgbClr val="CB5238"/>
          </a:solidFill>
          <a:ln/>
        </p:spPr>
      </p:sp>
      <p:sp>
        <p:nvSpPr>
          <p:cNvPr id="58" name="Text 56"/>
          <p:cNvSpPr/>
          <p:nvPr/>
        </p:nvSpPr>
        <p:spPr>
          <a:xfrm>
            <a:off x="6847761" y="8399145"/>
            <a:ext cx="1317546" cy="304800"/>
          </a:xfrm>
          <a:prstGeom prst="rect">
            <a:avLst/>
          </a:prstGeom>
          <a:noFill/>
          <a:ln/>
        </p:spPr>
        <p:txBody>
          <a:bodyPr wrap="square" lIns="25400" tIns="25400" rIns="25400" bIns="25400" rtlCol="0" anchor="t">
            <a:normAutofit/>
          </a:bodyPr>
          <a:lstStyle/>
          <a:p>
            <a:pPr algn="l" indent="0" marL="0">
              <a:lnSpc>
                <a:spcPct val="100000"/>
              </a:lnSpc>
              <a:buNone/>
            </a:pPr>
            <a:r>
              <a:rPr lang="en-US" sz="2100" dirty="0">
                <a:solidFill>
                  <a:srgbClr val="E8A18C"/>
                </a:solidFill>
                <a:latin typeface="Georgia" pitchFamily="34" charset="0"/>
                <a:ea typeface="Georgia" pitchFamily="34" charset="-122"/>
                <a:cs typeface="Georgia" pitchFamily="34" charset="-120"/>
              </a:rPr>
              <a:t>₪114,400</a:t>
            </a:r>
            <a:endParaRPr lang="en-US" sz="2100" dirty="0"/>
          </a:p>
        </p:txBody>
      </p:sp>
      <p:sp>
        <p:nvSpPr>
          <p:cNvPr id="59" name="Text 57"/>
          <p:cNvSpPr/>
          <p:nvPr/>
        </p:nvSpPr>
        <p:spPr>
          <a:xfrm>
            <a:off x="6847761" y="8694420"/>
            <a:ext cx="1317546" cy="190500"/>
          </a:xfrm>
          <a:prstGeom prst="rect">
            <a:avLst/>
          </a:prstGeom>
          <a:noFill/>
          <a:ln/>
        </p:spPr>
        <p:txBody>
          <a:bodyPr wrap="square" lIns="25400" tIns="25400" rIns="25400" bIns="25400" rtlCol="0" anchor="t">
            <a:normAutofit/>
          </a:bodyPr>
          <a:lstStyle/>
          <a:p>
            <a:pPr algn="l" indent="0" marL="0">
              <a:buNone/>
            </a:pPr>
            <a:r>
              <a:rPr lang="en-US" sz="975" dirty="0">
                <a:solidFill>
                  <a:srgbClr val="A99E8C"/>
                </a:solidFill>
                <a:latin typeface="Arial" pitchFamily="34" charset="0"/>
                <a:ea typeface="Arial" pitchFamily="34" charset="-122"/>
                <a:cs typeface="Arial" pitchFamily="34" charset="-120"/>
              </a:rPr>
              <a:t>violation caught</a:t>
            </a:r>
            <a:endParaRPr lang="en-US" sz="975" dirty="0"/>
          </a:p>
        </p:txBody>
      </p:sp>
      <p:sp>
        <p:nvSpPr>
          <p:cNvPr id="60" name="Text 58"/>
          <p:cNvSpPr/>
          <p:nvPr/>
        </p:nvSpPr>
        <p:spPr>
          <a:xfrm>
            <a:off x="8178879" y="8572500"/>
            <a:ext cx="184785" cy="274320"/>
          </a:xfrm>
          <a:prstGeom prst="rect">
            <a:avLst/>
          </a:prstGeom>
          <a:noFill/>
          <a:ln/>
        </p:spPr>
        <p:txBody>
          <a:bodyPr wrap="square" lIns="25400" tIns="25400" rIns="25400" bIns="25400" rtlCol="0" anchor="t">
            <a:normAutofit/>
          </a:bodyPr>
          <a:lstStyle/>
          <a:p>
            <a:pPr algn="l" indent="0" marL="0">
              <a:buNone/>
            </a:pPr>
            <a:r>
              <a:rPr lang="en-US" sz="1425" dirty="0">
                <a:solidFill>
                  <a:srgbClr val="5E5247"/>
                </a:solidFill>
                <a:latin typeface="Courier New" pitchFamily="34" charset="0"/>
                <a:ea typeface="Courier New" pitchFamily="34" charset="-122"/>
                <a:cs typeface="Courier New" pitchFamily="34" charset="-120"/>
              </a:rPr>
              <a:t>+</a:t>
            </a:r>
            <a:endParaRPr lang="en-US" sz="1425" dirty="0"/>
          </a:p>
        </p:txBody>
      </p:sp>
      <p:sp>
        <p:nvSpPr>
          <p:cNvPr id="61" name="Text 59"/>
          <p:cNvSpPr/>
          <p:nvPr/>
        </p:nvSpPr>
        <p:spPr>
          <a:xfrm>
            <a:off x="8420814" y="8399145"/>
            <a:ext cx="1131451" cy="304800"/>
          </a:xfrm>
          <a:prstGeom prst="rect">
            <a:avLst/>
          </a:prstGeom>
          <a:noFill/>
          <a:ln/>
        </p:spPr>
        <p:txBody>
          <a:bodyPr wrap="square" lIns="25400" tIns="25400" rIns="25400" bIns="25400" rtlCol="0" anchor="t">
            <a:normAutofit/>
          </a:bodyPr>
          <a:lstStyle/>
          <a:p>
            <a:pPr algn="l" indent="0" marL="0">
              <a:lnSpc>
                <a:spcPct val="100000"/>
              </a:lnSpc>
              <a:buNone/>
            </a:pPr>
            <a:r>
              <a:rPr lang="en-US" sz="2100" dirty="0">
                <a:solidFill>
                  <a:srgbClr val="E8A18C"/>
                </a:solidFill>
                <a:latin typeface="Georgia" pitchFamily="34" charset="0"/>
                <a:ea typeface="Georgia" pitchFamily="34" charset="-122"/>
                <a:cs typeface="Georgia" pitchFamily="34" charset="-120"/>
              </a:rPr>
              <a:t>₪52,000</a:t>
            </a:r>
            <a:endParaRPr lang="en-US" sz="2100" dirty="0"/>
          </a:p>
        </p:txBody>
      </p:sp>
      <p:sp>
        <p:nvSpPr>
          <p:cNvPr id="62" name="Text 60"/>
          <p:cNvSpPr/>
          <p:nvPr/>
        </p:nvSpPr>
        <p:spPr>
          <a:xfrm>
            <a:off x="8420814" y="8694420"/>
            <a:ext cx="1131451" cy="190500"/>
          </a:xfrm>
          <a:prstGeom prst="rect">
            <a:avLst/>
          </a:prstGeom>
          <a:noFill/>
          <a:ln/>
        </p:spPr>
        <p:txBody>
          <a:bodyPr wrap="square" lIns="25400" tIns="25400" rIns="25400" bIns="25400" rtlCol="0" anchor="t">
            <a:normAutofit/>
          </a:bodyPr>
          <a:lstStyle/>
          <a:p>
            <a:pPr algn="l" indent="0" marL="0">
              <a:buNone/>
            </a:pPr>
            <a:r>
              <a:rPr lang="en-US" sz="975" dirty="0">
                <a:solidFill>
                  <a:srgbClr val="A99E8C"/>
                </a:solidFill>
                <a:latin typeface="Arial" pitchFamily="34" charset="0"/>
                <a:ea typeface="Arial" pitchFamily="34" charset="-122"/>
                <a:cs typeface="Arial" pitchFamily="34" charset="-120"/>
              </a:rPr>
              <a:t>benchmark armed</a:t>
            </a:r>
            <a:endParaRPr lang="en-US" sz="975" dirty="0"/>
          </a:p>
        </p:txBody>
      </p:sp>
      <p:sp>
        <p:nvSpPr>
          <p:cNvPr id="63" name="Text 61"/>
          <p:cNvSpPr/>
          <p:nvPr/>
        </p:nvSpPr>
        <p:spPr>
          <a:xfrm>
            <a:off x="9609415" y="8572500"/>
            <a:ext cx="184785" cy="274320"/>
          </a:xfrm>
          <a:prstGeom prst="rect">
            <a:avLst/>
          </a:prstGeom>
          <a:noFill/>
          <a:ln/>
        </p:spPr>
        <p:txBody>
          <a:bodyPr wrap="square" lIns="25400" tIns="25400" rIns="25400" bIns="25400" rtlCol="0" anchor="t">
            <a:normAutofit/>
          </a:bodyPr>
          <a:lstStyle/>
          <a:p>
            <a:pPr algn="l" indent="0" marL="0">
              <a:buNone/>
            </a:pPr>
            <a:r>
              <a:rPr lang="en-US" sz="1425" dirty="0">
                <a:solidFill>
                  <a:srgbClr val="5E5247"/>
                </a:solidFill>
                <a:latin typeface="Courier New" pitchFamily="34" charset="0"/>
                <a:ea typeface="Courier New" pitchFamily="34" charset="-122"/>
                <a:cs typeface="Courier New" pitchFamily="34" charset="-120"/>
              </a:rPr>
              <a:t>+</a:t>
            </a:r>
            <a:endParaRPr lang="en-US" sz="1425" dirty="0"/>
          </a:p>
        </p:txBody>
      </p:sp>
      <p:sp>
        <p:nvSpPr>
          <p:cNvPr id="64" name="Text 62"/>
          <p:cNvSpPr/>
          <p:nvPr/>
        </p:nvSpPr>
        <p:spPr>
          <a:xfrm>
            <a:off x="9851351" y="8399145"/>
            <a:ext cx="1119545" cy="304800"/>
          </a:xfrm>
          <a:prstGeom prst="rect">
            <a:avLst/>
          </a:prstGeom>
          <a:noFill/>
          <a:ln/>
        </p:spPr>
        <p:txBody>
          <a:bodyPr wrap="square" lIns="25400" tIns="25400" rIns="25400" bIns="25400" rtlCol="0" anchor="t">
            <a:normAutofit/>
          </a:bodyPr>
          <a:lstStyle/>
          <a:p>
            <a:pPr algn="l" indent="0" marL="0">
              <a:lnSpc>
                <a:spcPct val="100000"/>
              </a:lnSpc>
              <a:buNone/>
            </a:pPr>
            <a:r>
              <a:rPr lang="en-US" sz="2100" dirty="0">
                <a:solidFill>
                  <a:srgbClr val="E8A18C"/>
                </a:solidFill>
                <a:latin typeface="Georgia" pitchFamily="34" charset="0"/>
                <a:ea typeface="Georgia" pitchFamily="34" charset="-122"/>
                <a:cs typeface="Georgia" pitchFamily="34" charset="-120"/>
              </a:rPr>
              <a:t>₪10k</a:t>
            </a:r>
            <a:pPr algn="l" indent="0" marL="0">
              <a:lnSpc>
                <a:spcPct val="100000"/>
              </a:lnSpc>
              <a:buNone/>
            </a:pPr>
            <a:r>
              <a:rPr lang="en-US" sz="1125" dirty="0">
                <a:solidFill>
                  <a:srgbClr val="E8A18C"/>
                </a:solidFill>
                <a:latin typeface="Georgia" pitchFamily="34" charset="0"/>
                <a:ea typeface="Georgia" pitchFamily="34" charset="-122"/>
                <a:cs typeface="Georgia" pitchFamily="34" charset="-120"/>
              </a:rPr>
              <a:t>/qtr</a:t>
            </a:r>
            <a:endParaRPr lang="en-US" sz="2100" dirty="0"/>
          </a:p>
        </p:txBody>
      </p:sp>
      <p:sp>
        <p:nvSpPr>
          <p:cNvPr id="65" name="Text 63"/>
          <p:cNvSpPr/>
          <p:nvPr/>
        </p:nvSpPr>
        <p:spPr>
          <a:xfrm>
            <a:off x="9851351" y="8694420"/>
            <a:ext cx="1119545" cy="190500"/>
          </a:xfrm>
          <a:prstGeom prst="rect">
            <a:avLst/>
          </a:prstGeom>
          <a:noFill/>
          <a:ln/>
        </p:spPr>
        <p:txBody>
          <a:bodyPr wrap="square" lIns="25400" tIns="25400" rIns="25400" bIns="25400" rtlCol="0" anchor="t">
            <a:normAutofit/>
          </a:bodyPr>
          <a:lstStyle/>
          <a:p>
            <a:pPr algn="l" indent="0" marL="0">
              <a:buNone/>
            </a:pPr>
            <a:r>
              <a:rPr lang="en-US" sz="975" dirty="0">
                <a:solidFill>
                  <a:srgbClr val="A99E8C"/>
                </a:solidFill>
                <a:latin typeface="Arial" pitchFamily="34" charset="0"/>
                <a:ea typeface="Arial" pitchFamily="34" charset="-122"/>
                <a:cs typeface="Arial" pitchFamily="34" charset="-120"/>
              </a:rPr>
              <a:t>discount captured</a:t>
            </a:r>
            <a:endParaRPr lang="en-US" sz="975" dirty="0"/>
          </a:p>
        </p:txBody>
      </p:sp>
      <p:sp>
        <p:nvSpPr>
          <p:cNvPr id="66" name="Text 64"/>
          <p:cNvSpPr/>
          <p:nvPr/>
        </p:nvSpPr>
        <p:spPr>
          <a:xfrm>
            <a:off x="6847761" y="8942070"/>
            <a:ext cx="5541943" cy="220980"/>
          </a:xfrm>
          <a:prstGeom prst="rect">
            <a:avLst/>
          </a:prstGeom>
          <a:noFill/>
          <a:ln/>
        </p:spPr>
        <p:txBody>
          <a:bodyPr wrap="square" lIns="25400" tIns="25400" rIns="25400" bIns="25400" rtlCol="0" anchor="t">
            <a:normAutofit/>
          </a:bodyPr>
          <a:lstStyle/>
          <a:p>
            <a:pPr algn="l" indent="0" marL="0">
              <a:buNone/>
            </a:pPr>
            <a:r>
              <a:rPr lang="en-US" sz="1200" dirty="0">
                <a:solidFill>
                  <a:srgbClr val="A99E8C"/>
                </a:solidFill>
                <a:latin typeface="Arial" pitchFamily="34" charset="0"/>
                <a:ea typeface="Arial" pitchFamily="34" charset="-122"/>
                <a:cs typeface="Arial" pitchFamily="34" charset="-120"/>
              </a:rPr>
              <a:t>Three catches in a 3-day pilot. Tool cost: ~$7/mo.</a:t>
            </a:r>
            <a:endParaRPr lang="en-US" sz="1200" dirty="0"/>
          </a:p>
        </p:txBody>
      </p:sp>
      <p:sp>
        <p:nvSpPr>
          <p:cNvPr id="67" name="Text 65"/>
          <p:cNvSpPr/>
          <p:nvPr/>
        </p:nvSpPr>
        <p:spPr>
          <a:xfrm>
            <a:off x="12400241" y="1889522"/>
            <a:ext cx="5638205" cy="21336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94897A"/>
                </a:solidFill>
                <a:latin typeface="Courier New" pitchFamily="34" charset="0"/>
                <a:ea typeface="Courier New" pitchFamily="34" charset="-122"/>
                <a:cs typeface="Courier New" pitchFamily="34" charset="-120"/>
              </a:rPr>
              <a:t>WHAT TO TELL THE CFO AT MONTH 3</a:t>
            </a:r>
            <a:endParaRPr lang="en-US" sz="1050" dirty="0"/>
          </a:p>
        </p:txBody>
      </p:sp>
      <p:sp>
        <p:nvSpPr>
          <p:cNvPr id="68" name="Shape 66"/>
          <p:cNvSpPr/>
          <p:nvPr/>
        </p:nvSpPr>
        <p:spPr>
          <a:xfrm>
            <a:off x="12400241" y="2217182"/>
            <a:ext cx="15240" cy="552450"/>
          </a:xfrm>
          <a:prstGeom prst="rect">
            <a:avLst/>
          </a:prstGeom>
          <a:solidFill>
            <a:srgbClr val="5E7350"/>
          </a:solidFill>
          <a:ln/>
        </p:spPr>
      </p:sp>
      <p:sp>
        <p:nvSpPr>
          <p:cNvPr id="69" name="Text 67"/>
          <p:cNvSpPr/>
          <p:nvPr/>
        </p:nvSpPr>
        <p:spPr>
          <a:xfrm>
            <a:off x="12567881" y="2217182"/>
            <a:ext cx="5111770" cy="590550"/>
          </a:xfrm>
          <a:prstGeom prst="rect">
            <a:avLst/>
          </a:prstGeom>
          <a:noFill/>
          <a:ln/>
        </p:spPr>
        <p:txBody>
          <a:bodyPr wrap="square" lIns="25400" tIns="25400" rIns="25400" bIns="25400" rtlCol="0" anchor="t">
            <a:normAutofit/>
          </a:bodyPr>
          <a:lstStyle/>
          <a:p>
            <a:pPr algn="l" indent="0" marL="0">
              <a:lnSpc>
                <a:spcPct val="145000"/>
              </a:lnSpc>
              <a:buNone/>
            </a:pPr>
            <a:r>
              <a:rPr lang="en-US" sz="1500" b="1" dirty="0">
                <a:solidFill>
                  <a:srgbClr val="3F4A38"/>
                </a:solidFill>
                <a:latin typeface="Arial" pitchFamily="34" charset="0"/>
                <a:ea typeface="Arial" pitchFamily="34" charset="-122"/>
                <a:cs typeface="Arial" pitchFamily="34" charset="-120"/>
              </a:rPr>
              <a:t>Lead with </a:t>
            </a:r>
            <a:pPr algn="l" indent="0" marL="0">
              <a:lnSpc>
                <a:spcPct val="145000"/>
              </a:lnSpc>
              <a:buNone/>
            </a:pPr>
            <a:r>
              <a:rPr lang="en-US" sz="1500" dirty="0">
                <a:solidFill>
                  <a:srgbClr val="3F4A38"/>
                </a:solidFill>
                <a:latin typeface="Arial" pitchFamily="34" charset="0"/>
                <a:ea typeface="Arial" pitchFamily="34" charset="-122"/>
                <a:cs typeface="Arial" pitchFamily="34" charset="-120"/>
              </a:rPr>
              <a:t>₪100k/year in analyst time reclaimed (3 analysts).</a:t>
            </a:r>
            <a:endParaRPr lang="en-US" sz="1500" dirty="0"/>
          </a:p>
        </p:txBody>
      </p:sp>
      <p:sp>
        <p:nvSpPr>
          <p:cNvPr id="70" name="Shape 68"/>
          <p:cNvSpPr/>
          <p:nvPr/>
        </p:nvSpPr>
        <p:spPr>
          <a:xfrm>
            <a:off x="12400241" y="2902982"/>
            <a:ext cx="15240" cy="276225"/>
          </a:xfrm>
          <a:prstGeom prst="rect">
            <a:avLst/>
          </a:prstGeom>
          <a:solidFill>
            <a:srgbClr val="C9A99F"/>
          </a:solidFill>
          <a:ln/>
        </p:spPr>
      </p:sp>
      <p:sp>
        <p:nvSpPr>
          <p:cNvPr id="71" name="Text 69"/>
          <p:cNvSpPr/>
          <p:nvPr/>
        </p:nvSpPr>
        <p:spPr>
          <a:xfrm>
            <a:off x="12567881" y="2902982"/>
            <a:ext cx="5470565"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b="1" dirty="0">
                <a:solidFill>
                  <a:srgbClr val="8A5A4E"/>
                </a:solidFill>
                <a:latin typeface="Arial" pitchFamily="34" charset="0"/>
                <a:ea typeface="Arial" pitchFamily="34" charset="-122"/>
                <a:cs typeface="Arial" pitchFamily="34" charset="-120"/>
              </a:rPr>
              <a:t>Don’t lead with </a:t>
            </a:r>
            <a:pPr algn="l" indent="0" marL="0">
              <a:lnSpc>
                <a:spcPct val="145000"/>
              </a:lnSpc>
              <a:buNone/>
            </a:pPr>
            <a:r>
              <a:rPr lang="en-US" sz="1500" dirty="0">
                <a:solidFill>
                  <a:srgbClr val="8A5A4E"/>
                </a:solidFill>
                <a:latin typeface="Arial" pitchFamily="34" charset="0"/>
                <a:ea typeface="Arial" pitchFamily="34" charset="-122"/>
                <a:cs typeface="Arial" pitchFamily="34" charset="-120"/>
              </a:rPr>
              <a:t>speculative negotiation savings.</a:t>
            </a:r>
            <a:endParaRPr lang="en-US" sz="1500" dirty="0"/>
          </a:p>
        </p:txBody>
      </p:sp>
      <p:sp>
        <p:nvSpPr>
          <p:cNvPr id="72" name="Shape 70"/>
          <p:cNvSpPr/>
          <p:nvPr/>
        </p:nvSpPr>
        <p:spPr>
          <a:xfrm>
            <a:off x="12400241" y="3312557"/>
            <a:ext cx="15240" cy="276225"/>
          </a:xfrm>
          <a:prstGeom prst="rect">
            <a:avLst/>
          </a:prstGeom>
          <a:solidFill>
            <a:srgbClr val="E0D8CB"/>
          </a:solidFill>
          <a:ln/>
        </p:spPr>
      </p:sp>
      <p:sp>
        <p:nvSpPr>
          <p:cNvPr id="73" name="Text 71"/>
          <p:cNvSpPr/>
          <p:nvPr/>
        </p:nvSpPr>
        <p:spPr>
          <a:xfrm>
            <a:off x="12567881" y="3312557"/>
            <a:ext cx="5470565"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b="1" dirty="0">
                <a:solidFill>
                  <a:srgbClr val="4A443B"/>
                </a:solidFill>
                <a:latin typeface="Arial" pitchFamily="34" charset="0"/>
                <a:ea typeface="Arial" pitchFamily="34" charset="-122"/>
                <a:cs typeface="Arial" pitchFamily="34" charset="-120"/>
              </a:rPr>
              <a:t>Add: </a:t>
            </a:r>
            <a:pPr algn="l" indent="0" marL="0">
              <a:lnSpc>
                <a:spcPct val="145000"/>
              </a:lnSpc>
              <a:buNone/>
            </a:pPr>
            <a:r>
              <a:rPr lang="en-US" sz="1500" dirty="0">
                <a:solidFill>
                  <a:srgbClr val="4A443B"/>
                </a:solidFill>
                <a:latin typeface="Arial" pitchFamily="34" charset="0"/>
                <a:ea typeface="Arial" pitchFamily="34" charset="-122"/>
                <a:cs typeface="Arial" pitchFamily="34" charset="-120"/>
              </a:rPr>
              <a:t>correction rate trending down, trust improving.</a:t>
            </a:r>
            <a:endParaRPr lang="en-US" sz="1500" dirty="0"/>
          </a:p>
        </p:txBody>
      </p:sp>
      <p:sp>
        <p:nvSpPr>
          <p:cNvPr id="74" name="Shape 72"/>
          <p:cNvSpPr/>
          <p:nvPr/>
        </p:nvSpPr>
        <p:spPr>
          <a:xfrm>
            <a:off x="12400241" y="3722132"/>
            <a:ext cx="15240" cy="276225"/>
          </a:xfrm>
          <a:prstGeom prst="rect">
            <a:avLst/>
          </a:prstGeom>
          <a:solidFill>
            <a:srgbClr val="E0D8CB"/>
          </a:solidFill>
          <a:ln/>
        </p:spPr>
      </p:sp>
      <p:sp>
        <p:nvSpPr>
          <p:cNvPr id="75" name="Text 73"/>
          <p:cNvSpPr/>
          <p:nvPr/>
        </p:nvSpPr>
        <p:spPr>
          <a:xfrm>
            <a:off x="12567881" y="3722132"/>
            <a:ext cx="5470565"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b="1" dirty="0">
                <a:solidFill>
                  <a:srgbClr val="4A443B"/>
                </a:solidFill>
                <a:latin typeface="Arial" pitchFamily="34" charset="0"/>
                <a:ea typeface="Arial" pitchFamily="34" charset="-122"/>
                <a:cs typeface="Arial" pitchFamily="34" charset="-120"/>
              </a:rPr>
              <a:t>Add: </a:t>
            </a:r>
            <a:pPr algn="l" indent="0" marL="0">
              <a:lnSpc>
                <a:spcPct val="145000"/>
              </a:lnSpc>
              <a:buNone/>
            </a:pPr>
            <a:r>
              <a:rPr lang="en-US" sz="1500" dirty="0">
                <a:solidFill>
                  <a:srgbClr val="4A443B"/>
                </a:solidFill>
                <a:latin typeface="Arial" pitchFamily="34" charset="0"/>
                <a:ea typeface="Arial" pitchFamily="34" charset="-122"/>
                <a:cs typeface="Arial" pitchFamily="34" charset="-120"/>
              </a:rPr>
              <a:t>open issues caught before meetings, count them.</a:t>
            </a:r>
            <a:endParaRPr lang="en-US" sz="1500" dirty="0"/>
          </a:p>
        </p:txBody>
      </p:sp>
      <p:sp>
        <p:nvSpPr>
          <p:cNvPr id="76" name="Shape 74"/>
          <p:cNvSpPr/>
          <p:nvPr/>
        </p:nvSpPr>
        <p:spPr>
          <a:xfrm>
            <a:off x="12400241" y="4131707"/>
            <a:ext cx="15240" cy="552450"/>
          </a:xfrm>
          <a:prstGeom prst="rect">
            <a:avLst/>
          </a:prstGeom>
          <a:solidFill>
            <a:srgbClr val="CB5238"/>
          </a:solidFill>
          <a:ln/>
        </p:spPr>
      </p:sp>
      <p:sp>
        <p:nvSpPr>
          <p:cNvPr id="77" name="Text 75"/>
          <p:cNvSpPr/>
          <p:nvPr/>
        </p:nvSpPr>
        <p:spPr>
          <a:xfrm>
            <a:off x="12567881" y="4131707"/>
            <a:ext cx="5111770" cy="590550"/>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3F392F"/>
                </a:solidFill>
                <a:latin typeface="Arial" pitchFamily="34" charset="0"/>
                <a:ea typeface="Arial" pitchFamily="34" charset="-122"/>
                <a:cs typeface="Arial" pitchFamily="34" charset="-120"/>
              </a:rPr>
              <a:t>The ₪114k violation is the kicker, present it as </a:t>
            </a:r>
            <a:pPr algn="l" indent="0" marL="0">
              <a:lnSpc>
                <a:spcPct val="145000"/>
              </a:lnSpc>
              <a:buNone/>
            </a:pPr>
            <a:r>
              <a:rPr lang="en-US" sz="1500" i="1" dirty="0">
                <a:solidFill>
                  <a:srgbClr val="3F392F"/>
                </a:solidFill>
                <a:latin typeface="Arial" pitchFamily="34" charset="0"/>
                <a:ea typeface="Arial" pitchFamily="34" charset="-122"/>
                <a:cs typeface="Arial" pitchFamily="34" charset="-120"/>
              </a:rPr>
              <a:t>“one example already found in pilot.”</a:t>
            </a:r>
            <a:endParaRPr lang="en-US" sz="1500" dirty="0"/>
          </a:p>
        </p:txBody>
      </p:sp>
      <p:sp>
        <p:nvSpPr>
          <p:cNvPr id="78" name="Shape 76"/>
          <p:cNvSpPr/>
          <p:nvPr/>
        </p:nvSpPr>
        <p:spPr>
          <a:xfrm>
            <a:off x="762000" y="9704070"/>
            <a:ext cx="16764000" cy="9525"/>
          </a:xfrm>
          <a:prstGeom prst="rect">
            <a:avLst/>
          </a:prstGeom>
          <a:solidFill>
            <a:srgbClr val="E2DACE"/>
          </a:solidFill>
          <a:ln/>
        </p:spPr>
      </p:sp>
      <p:sp>
        <p:nvSpPr>
          <p:cNvPr id="79" name="Text 77"/>
          <p:cNvSpPr/>
          <p:nvPr/>
        </p:nvSpPr>
        <p:spPr>
          <a:xfrm>
            <a:off x="762000" y="9825990"/>
            <a:ext cx="5462575" cy="21336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A89D8E"/>
                </a:solidFill>
                <a:latin typeface="Courier New" pitchFamily="34" charset="0"/>
                <a:ea typeface="Courier New" pitchFamily="34" charset="-122"/>
                <a:cs typeface="Courier New" pitchFamily="34" charset="-120"/>
              </a:rPr>
              <a:t>STRAUSS PROCUREMENT · FDE EXERCISE · CONFIDENTIAL</a:t>
            </a:r>
            <a:endParaRPr lang="en-US" sz="1050" dirty="0"/>
          </a:p>
        </p:txBody>
      </p:sp>
      <p:sp>
        <p:nvSpPr>
          <p:cNvPr id="80" name="Text 78"/>
          <p:cNvSpPr/>
          <p:nvPr/>
        </p:nvSpPr>
        <p:spPr>
          <a:xfrm>
            <a:off x="16816507" y="9825990"/>
            <a:ext cx="785693" cy="21336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A89D8E"/>
                </a:solidFill>
                <a:latin typeface="Courier New" pitchFamily="34" charset="0"/>
                <a:ea typeface="Courier New" pitchFamily="34" charset="-122"/>
                <a:cs typeface="Courier New" pitchFamily="34" charset="-120"/>
              </a:rPr>
              <a:t>17 / 19</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F1A14"/>
        </a:solidFill>
      </p:bgPr>
    </p:bg>
    <p:spTree>
      <p:nvGrpSpPr>
        <p:cNvPr id="1" name=""/>
        <p:cNvGrpSpPr/>
        <p:nvPr/>
      </p:nvGrpSpPr>
      <p:grpSpPr>
        <a:xfrm>
          <a:off x="0" y="0"/>
          <a:ext cx="0" cy="0"/>
          <a:chOff x="0" y="0"/>
          <a:chExt cx="0" cy="0"/>
        </a:xfrm>
      </p:grpSpPr>
      <p:sp>
        <p:nvSpPr>
          <p:cNvPr id="2" name="Shape 0"/>
          <p:cNvSpPr/>
          <p:nvPr/>
        </p:nvSpPr>
        <p:spPr>
          <a:xfrm>
            <a:off x="914400" y="1749742"/>
            <a:ext cx="16459200" cy="9525"/>
          </a:xfrm>
          <a:prstGeom prst="rect">
            <a:avLst/>
          </a:prstGeom>
          <a:solidFill>
            <a:srgbClr val="3A332A"/>
          </a:solidFill>
          <a:ln/>
        </p:spPr>
      </p:sp>
      <p:sp>
        <p:nvSpPr>
          <p:cNvPr id="3" name="Text 1"/>
          <p:cNvSpPr/>
          <p:nvPr/>
        </p:nvSpPr>
        <p:spPr>
          <a:xfrm>
            <a:off x="914400" y="704850"/>
            <a:ext cx="18105120" cy="259080"/>
          </a:xfrm>
          <a:prstGeom prst="rect">
            <a:avLst/>
          </a:prstGeom>
          <a:noFill/>
          <a:ln/>
        </p:spPr>
        <p:txBody>
          <a:bodyPr wrap="square" lIns="25400" tIns="25400" rIns="25400" bIns="25400" rtlCol="0" anchor="t">
            <a:normAutofit/>
          </a:bodyPr>
          <a:lstStyle/>
          <a:p>
            <a:pPr algn="l" indent="0" marL="0">
              <a:buNone/>
            </a:pPr>
            <a:r>
              <a:rPr lang="en-US" sz="1350" spc="324" kern="0" dirty="0">
                <a:solidFill>
                  <a:srgbClr val="CB5238"/>
                </a:solidFill>
                <a:latin typeface="Courier New" pitchFamily="34" charset="0"/>
                <a:ea typeface="Courier New" pitchFamily="34" charset="-122"/>
                <a:cs typeface="Courier New" pitchFamily="34" charset="-120"/>
              </a:rPr>
              <a:t>18 · WHAT’S NEXT</a:t>
            </a:r>
            <a:endParaRPr lang="en-US" sz="1350" dirty="0"/>
          </a:p>
        </p:txBody>
      </p:sp>
      <p:sp>
        <p:nvSpPr>
          <p:cNvPr id="4" name="Text 2"/>
          <p:cNvSpPr/>
          <p:nvPr/>
        </p:nvSpPr>
        <p:spPr>
          <a:xfrm>
            <a:off x="914400" y="1049655"/>
            <a:ext cx="18105120" cy="528638"/>
          </a:xfrm>
          <a:prstGeom prst="rect">
            <a:avLst/>
          </a:prstGeom>
          <a:noFill/>
          <a:ln/>
        </p:spPr>
        <p:txBody>
          <a:bodyPr wrap="square" lIns="25400" tIns="25400" rIns="25400" bIns="25400" rtlCol="0" anchor="t">
            <a:normAutofit/>
          </a:bodyPr>
          <a:lstStyle/>
          <a:p>
            <a:pPr algn="l" indent="0" marL="0">
              <a:lnSpc>
                <a:spcPct val="103000"/>
              </a:lnSpc>
              <a:buNone/>
            </a:pPr>
            <a:r>
              <a:rPr lang="en-US" sz="3750" spc="-56" kern="0" dirty="0">
                <a:solidFill>
                  <a:srgbClr val="F6F1E8"/>
                </a:solidFill>
                <a:latin typeface="Georgia" pitchFamily="34" charset="0"/>
                <a:ea typeface="Georgia" pitchFamily="34" charset="-122"/>
                <a:cs typeface="Georgia" pitchFamily="34" charset="-120"/>
              </a:rPr>
              <a:t>What I’d prioritise in Phase 2, and what I left out</a:t>
            </a:r>
            <a:endParaRPr lang="en-US" sz="3750" dirty="0"/>
          </a:p>
        </p:txBody>
      </p:sp>
      <p:sp>
        <p:nvSpPr>
          <p:cNvPr id="5" name="Text 3"/>
          <p:cNvSpPr/>
          <p:nvPr/>
        </p:nvSpPr>
        <p:spPr>
          <a:xfrm>
            <a:off x="914400" y="2024062"/>
            <a:ext cx="9709107" cy="220980"/>
          </a:xfrm>
          <a:prstGeom prst="rect">
            <a:avLst/>
          </a:prstGeom>
          <a:noFill/>
          <a:ln/>
        </p:spPr>
        <p:txBody>
          <a:bodyPr wrap="square" lIns="25400" tIns="25400" rIns="25400" bIns="25400" rtlCol="0" anchor="t">
            <a:normAutofit/>
          </a:bodyPr>
          <a:lstStyle/>
          <a:p>
            <a:pPr algn="l" indent="0" marL="0">
              <a:buNone/>
            </a:pPr>
            <a:r>
              <a:rPr lang="en-US" sz="1125" spc="180" kern="0" dirty="0">
                <a:solidFill>
                  <a:srgbClr val="A99E8C"/>
                </a:solidFill>
                <a:latin typeface="Courier New" pitchFamily="34" charset="0"/>
                <a:ea typeface="Courier New" pitchFamily="34" charset="-122"/>
                <a:cs typeface="Courier New" pitchFamily="34" charset="-120"/>
              </a:rPr>
              <a:t>PRIORITIES</a:t>
            </a:r>
            <a:endParaRPr lang="en-US" sz="1125" dirty="0"/>
          </a:p>
        </p:txBody>
      </p:sp>
      <p:sp>
        <p:nvSpPr>
          <p:cNvPr id="6" name="Text 4"/>
          <p:cNvSpPr/>
          <p:nvPr/>
        </p:nvSpPr>
        <p:spPr>
          <a:xfrm>
            <a:off x="914400" y="2412683"/>
            <a:ext cx="400050" cy="285750"/>
          </a:xfrm>
          <a:prstGeom prst="rect">
            <a:avLst/>
          </a:prstGeom>
          <a:noFill/>
          <a:ln/>
        </p:spPr>
        <p:txBody>
          <a:bodyPr wrap="square" lIns="25400" tIns="25400" rIns="25400" bIns="25400" rtlCol="0" anchor="t">
            <a:normAutofit/>
          </a:bodyPr>
          <a:lstStyle/>
          <a:p>
            <a:pPr algn="l" indent="0" marL="0">
              <a:lnSpc>
                <a:spcPct val="100000"/>
              </a:lnSpc>
              <a:buNone/>
            </a:pPr>
            <a:r>
              <a:rPr lang="en-US" sz="1950" dirty="0">
                <a:solidFill>
                  <a:srgbClr val="CB5238"/>
                </a:solidFill>
                <a:latin typeface="Georgia" pitchFamily="34" charset="0"/>
                <a:ea typeface="Georgia" pitchFamily="34" charset="-122"/>
                <a:cs typeface="Georgia" pitchFamily="34" charset="-120"/>
              </a:rPr>
              <a:t>1</a:t>
            </a:r>
            <a:endParaRPr lang="en-US" sz="1950" dirty="0"/>
          </a:p>
        </p:txBody>
      </p:sp>
      <p:sp>
        <p:nvSpPr>
          <p:cNvPr id="7" name="Text 5"/>
          <p:cNvSpPr/>
          <p:nvPr/>
        </p:nvSpPr>
        <p:spPr>
          <a:xfrm>
            <a:off x="1390650" y="2397442"/>
            <a:ext cx="9185232" cy="281940"/>
          </a:xfrm>
          <a:prstGeom prst="rect">
            <a:avLst/>
          </a:prstGeom>
          <a:noFill/>
          <a:ln/>
        </p:spPr>
        <p:txBody>
          <a:bodyPr wrap="square" lIns="25400" tIns="25400" rIns="25400" bIns="25400" rtlCol="0" anchor="t">
            <a:normAutofit/>
          </a:bodyPr>
          <a:lstStyle/>
          <a:p>
            <a:pPr algn="l" indent="0" marL="0">
              <a:buNone/>
            </a:pPr>
            <a:r>
              <a:rPr lang="en-US" sz="1650" b="1" dirty="0">
                <a:solidFill>
                  <a:srgbClr val="F2ECE0"/>
                </a:solidFill>
                <a:latin typeface="Arial" pitchFamily="34" charset="0"/>
                <a:ea typeface="Arial" pitchFamily="34" charset="-122"/>
                <a:cs typeface="Arial" pitchFamily="34" charset="-120"/>
              </a:rPr>
              <a:t>Live email connector, Microsoft Graph</a:t>
            </a:r>
            <a:endParaRPr lang="en-US" sz="1650" dirty="0"/>
          </a:p>
        </p:txBody>
      </p:sp>
      <p:sp>
        <p:nvSpPr>
          <p:cNvPr id="8" name="Text 6"/>
          <p:cNvSpPr/>
          <p:nvPr/>
        </p:nvSpPr>
        <p:spPr>
          <a:xfrm>
            <a:off x="1390650" y="2669858"/>
            <a:ext cx="9185232" cy="300514"/>
          </a:xfrm>
          <a:prstGeom prst="rect">
            <a:avLst/>
          </a:prstGeom>
          <a:noFill/>
          <a:ln/>
        </p:spPr>
        <p:txBody>
          <a:bodyPr wrap="square" lIns="25400" tIns="25400" rIns="25400" bIns="25400" rtlCol="0" anchor="t">
            <a:normAutofit/>
          </a:bodyPr>
          <a:lstStyle/>
          <a:p>
            <a:pPr algn="l" indent="0" marL="0">
              <a:lnSpc>
                <a:spcPct val="145000"/>
              </a:lnSpc>
              <a:buNone/>
            </a:pPr>
            <a:r>
              <a:rPr lang="en-US" sz="1425" dirty="0">
                <a:solidFill>
                  <a:srgbClr val="B6AC9C"/>
                </a:solidFill>
                <a:latin typeface="Arial" pitchFamily="34" charset="0"/>
                <a:ea typeface="Arial" pitchFamily="34" charset="-122"/>
                <a:cs typeface="Arial" pitchFamily="34" charset="-120"/>
              </a:rPr>
              <a:t>Real supplier threads, no synthetic data. Scheduled pull, triggered before each meeting.</a:t>
            </a:r>
            <a:endParaRPr lang="en-US" sz="1425" dirty="0"/>
          </a:p>
        </p:txBody>
      </p:sp>
      <p:sp>
        <p:nvSpPr>
          <p:cNvPr id="9" name="Text 7"/>
          <p:cNvSpPr/>
          <p:nvPr/>
        </p:nvSpPr>
        <p:spPr>
          <a:xfrm>
            <a:off x="914400" y="3109436"/>
            <a:ext cx="400050" cy="285750"/>
          </a:xfrm>
          <a:prstGeom prst="rect">
            <a:avLst/>
          </a:prstGeom>
          <a:noFill/>
          <a:ln/>
        </p:spPr>
        <p:txBody>
          <a:bodyPr wrap="square" lIns="25400" tIns="25400" rIns="25400" bIns="25400" rtlCol="0" anchor="t">
            <a:normAutofit/>
          </a:bodyPr>
          <a:lstStyle/>
          <a:p>
            <a:pPr algn="l" indent="0" marL="0">
              <a:lnSpc>
                <a:spcPct val="100000"/>
              </a:lnSpc>
              <a:buNone/>
            </a:pPr>
            <a:r>
              <a:rPr lang="en-US" sz="1950" dirty="0">
                <a:solidFill>
                  <a:srgbClr val="CB5238"/>
                </a:solidFill>
                <a:latin typeface="Georgia" pitchFamily="34" charset="0"/>
                <a:ea typeface="Georgia" pitchFamily="34" charset="-122"/>
                <a:cs typeface="Georgia" pitchFamily="34" charset="-120"/>
              </a:rPr>
              <a:t>2</a:t>
            </a:r>
            <a:endParaRPr lang="en-US" sz="1950" dirty="0"/>
          </a:p>
        </p:txBody>
      </p:sp>
      <p:sp>
        <p:nvSpPr>
          <p:cNvPr id="10" name="Text 8"/>
          <p:cNvSpPr/>
          <p:nvPr/>
        </p:nvSpPr>
        <p:spPr>
          <a:xfrm>
            <a:off x="1390650" y="3094196"/>
            <a:ext cx="9185232" cy="281940"/>
          </a:xfrm>
          <a:prstGeom prst="rect">
            <a:avLst/>
          </a:prstGeom>
          <a:noFill/>
          <a:ln/>
        </p:spPr>
        <p:txBody>
          <a:bodyPr wrap="square" lIns="25400" tIns="25400" rIns="25400" bIns="25400" rtlCol="0" anchor="t">
            <a:normAutofit/>
          </a:bodyPr>
          <a:lstStyle/>
          <a:p>
            <a:pPr algn="l" indent="0" marL="0">
              <a:buNone/>
            </a:pPr>
            <a:r>
              <a:rPr lang="en-US" sz="1650" b="1" dirty="0">
                <a:solidFill>
                  <a:srgbClr val="F2ECE0"/>
                </a:solidFill>
                <a:latin typeface="Arial" pitchFamily="34" charset="0"/>
                <a:ea typeface="Arial" pitchFamily="34" charset="-122"/>
                <a:cs typeface="Arial" pitchFamily="34" charset="-120"/>
              </a:rPr>
              <a:t>SharePoint contract connector</a:t>
            </a:r>
            <a:endParaRPr lang="en-US" sz="1650" dirty="0"/>
          </a:p>
        </p:txBody>
      </p:sp>
      <p:sp>
        <p:nvSpPr>
          <p:cNvPr id="11" name="Text 9"/>
          <p:cNvSpPr/>
          <p:nvPr/>
        </p:nvSpPr>
        <p:spPr>
          <a:xfrm>
            <a:off x="1390650" y="3366611"/>
            <a:ext cx="9185232" cy="300514"/>
          </a:xfrm>
          <a:prstGeom prst="rect">
            <a:avLst/>
          </a:prstGeom>
          <a:noFill/>
          <a:ln/>
        </p:spPr>
        <p:txBody>
          <a:bodyPr wrap="square" lIns="25400" tIns="25400" rIns="25400" bIns="25400" rtlCol="0" anchor="t">
            <a:normAutofit/>
          </a:bodyPr>
          <a:lstStyle/>
          <a:p>
            <a:pPr algn="l" indent="0" marL="0">
              <a:lnSpc>
                <a:spcPct val="145000"/>
              </a:lnSpc>
              <a:buNone/>
            </a:pPr>
            <a:r>
              <a:rPr lang="en-US" sz="1425" dirty="0">
                <a:solidFill>
                  <a:srgbClr val="B6AC9C"/>
                </a:solidFill>
                <a:latin typeface="Arial" pitchFamily="34" charset="0"/>
                <a:ea typeface="Arial" pitchFamily="34" charset="-122"/>
                <a:cs typeface="Arial" pitchFamily="34" charset="-120"/>
              </a:rPr>
              <a:t>Always the active version, never a stale copy. OCR pipeline for scanned PDFs.</a:t>
            </a:r>
            <a:endParaRPr lang="en-US" sz="1425" dirty="0"/>
          </a:p>
        </p:txBody>
      </p:sp>
      <p:sp>
        <p:nvSpPr>
          <p:cNvPr id="12" name="Text 10"/>
          <p:cNvSpPr/>
          <p:nvPr/>
        </p:nvSpPr>
        <p:spPr>
          <a:xfrm>
            <a:off x="914400" y="3806190"/>
            <a:ext cx="400050" cy="285750"/>
          </a:xfrm>
          <a:prstGeom prst="rect">
            <a:avLst/>
          </a:prstGeom>
          <a:noFill/>
          <a:ln/>
        </p:spPr>
        <p:txBody>
          <a:bodyPr wrap="square" lIns="25400" tIns="25400" rIns="25400" bIns="25400" rtlCol="0" anchor="t">
            <a:normAutofit/>
          </a:bodyPr>
          <a:lstStyle/>
          <a:p>
            <a:pPr algn="l" indent="0" marL="0">
              <a:lnSpc>
                <a:spcPct val="100000"/>
              </a:lnSpc>
              <a:buNone/>
            </a:pPr>
            <a:r>
              <a:rPr lang="en-US" sz="1950" dirty="0">
                <a:solidFill>
                  <a:srgbClr val="CB5238"/>
                </a:solidFill>
                <a:latin typeface="Georgia" pitchFamily="34" charset="0"/>
                <a:ea typeface="Georgia" pitchFamily="34" charset="-122"/>
                <a:cs typeface="Georgia" pitchFamily="34" charset="-120"/>
              </a:rPr>
              <a:t>3</a:t>
            </a:r>
            <a:endParaRPr lang="en-US" sz="1950" dirty="0"/>
          </a:p>
        </p:txBody>
      </p:sp>
      <p:sp>
        <p:nvSpPr>
          <p:cNvPr id="13" name="Text 11"/>
          <p:cNvSpPr/>
          <p:nvPr/>
        </p:nvSpPr>
        <p:spPr>
          <a:xfrm>
            <a:off x="1390650" y="3790950"/>
            <a:ext cx="9185232" cy="281940"/>
          </a:xfrm>
          <a:prstGeom prst="rect">
            <a:avLst/>
          </a:prstGeom>
          <a:noFill/>
          <a:ln/>
        </p:spPr>
        <p:txBody>
          <a:bodyPr wrap="square" lIns="25400" tIns="25400" rIns="25400" bIns="25400" rtlCol="0" anchor="t">
            <a:normAutofit/>
          </a:bodyPr>
          <a:lstStyle/>
          <a:p>
            <a:pPr algn="l" indent="0" marL="0">
              <a:buNone/>
            </a:pPr>
            <a:r>
              <a:rPr lang="en-US" sz="1650" b="1" dirty="0">
                <a:solidFill>
                  <a:srgbClr val="F2ECE0"/>
                </a:solidFill>
                <a:latin typeface="Arial" pitchFamily="34" charset="0"/>
                <a:ea typeface="Arial" pitchFamily="34" charset="-122"/>
                <a:cs typeface="Arial" pitchFamily="34" charset="-120"/>
              </a:rPr>
              <a:t>Persist correction log → prompt-tuning cycle</a:t>
            </a:r>
            <a:endParaRPr lang="en-US" sz="1650" dirty="0"/>
          </a:p>
        </p:txBody>
      </p:sp>
      <p:sp>
        <p:nvSpPr>
          <p:cNvPr id="14" name="Text 12"/>
          <p:cNvSpPr/>
          <p:nvPr/>
        </p:nvSpPr>
        <p:spPr>
          <a:xfrm>
            <a:off x="1390650" y="4063365"/>
            <a:ext cx="8600717" cy="562928"/>
          </a:xfrm>
          <a:prstGeom prst="rect">
            <a:avLst/>
          </a:prstGeom>
          <a:noFill/>
          <a:ln/>
        </p:spPr>
        <p:txBody>
          <a:bodyPr wrap="square" lIns="25400" tIns="25400" rIns="25400" bIns="25400" rtlCol="0" anchor="t">
            <a:normAutofit/>
          </a:bodyPr>
          <a:lstStyle/>
          <a:p>
            <a:pPr algn="l" indent="0" marL="0">
              <a:lnSpc>
                <a:spcPct val="145000"/>
              </a:lnSpc>
              <a:buNone/>
            </a:pPr>
            <a:r>
              <a:rPr lang="en-US" sz="1425" dirty="0">
                <a:solidFill>
                  <a:srgbClr val="B6AC9C"/>
                </a:solidFill>
                <a:latin typeface="Arial" pitchFamily="34" charset="0"/>
                <a:ea typeface="Arial" pitchFamily="34" charset="-122"/>
                <a:cs typeface="Arial" pitchFamily="34" charset="-120"/>
              </a:rPr>
              <a:t>Monthly review: which fields and suppliers have high error rate? Update the extraction prompt accordingly.</a:t>
            </a:r>
            <a:endParaRPr lang="en-US" sz="1425" dirty="0"/>
          </a:p>
        </p:txBody>
      </p:sp>
      <p:sp>
        <p:nvSpPr>
          <p:cNvPr id="15" name="Text 13"/>
          <p:cNvSpPr/>
          <p:nvPr/>
        </p:nvSpPr>
        <p:spPr>
          <a:xfrm>
            <a:off x="914400" y="4765358"/>
            <a:ext cx="400050" cy="285750"/>
          </a:xfrm>
          <a:prstGeom prst="rect">
            <a:avLst/>
          </a:prstGeom>
          <a:noFill/>
          <a:ln/>
        </p:spPr>
        <p:txBody>
          <a:bodyPr wrap="square" lIns="25400" tIns="25400" rIns="25400" bIns="25400" rtlCol="0" anchor="t">
            <a:normAutofit/>
          </a:bodyPr>
          <a:lstStyle/>
          <a:p>
            <a:pPr algn="l" indent="0" marL="0">
              <a:lnSpc>
                <a:spcPct val="100000"/>
              </a:lnSpc>
              <a:buNone/>
            </a:pPr>
            <a:r>
              <a:rPr lang="en-US" sz="1950" dirty="0">
                <a:solidFill>
                  <a:srgbClr val="CB5238"/>
                </a:solidFill>
                <a:latin typeface="Georgia" pitchFamily="34" charset="0"/>
                <a:ea typeface="Georgia" pitchFamily="34" charset="-122"/>
                <a:cs typeface="Georgia" pitchFamily="34" charset="-120"/>
              </a:rPr>
              <a:t>4</a:t>
            </a:r>
            <a:endParaRPr lang="en-US" sz="1950" dirty="0"/>
          </a:p>
        </p:txBody>
      </p:sp>
      <p:sp>
        <p:nvSpPr>
          <p:cNvPr id="16" name="Text 14"/>
          <p:cNvSpPr/>
          <p:nvPr/>
        </p:nvSpPr>
        <p:spPr>
          <a:xfrm>
            <a:off x="1390650" y="4750118"/>
            <a:ext cx="9185232" cy="281940"/>
          </a:xfrm>
          <a:prstGeom prst="rect">
            <a:avLst/>
          </a:prstGeom>
          <a:noFill/>
          <a:ln/>
        </p:spPr>
        <p:txBody>
          <a:bodyPr wrap="square" lIns="25400" tIns="25400" rIns="25400" bIns="25400" rtlCol="0" anchor="t">
            <a:normAutofit/>
          </a:bodyPr>
          <a:lstStyle/>
          <a:p>
            <a:pPr algn="l" indent="0" marL="0">
              <a:buNone/>
            </a:pPr>
            <a:r>
              <a:rPr lang="en-US" sz="1650" b="1" dirty="0">
                <a:solidFill>
                  <a:srgbClr val="F2ECE0"/>
                </a:solidFill>
                <a:latin typeface="Arial" pitchFamily="34" charset="0"/>
                <a:ea typeface="Arial" pitchFamily="34" charset="-122"/>
                <a:cs typeface="Arial" pitchFamily="34" charset="-120"/>
              </a:rPr>
              <a:t>Supplier segmentation</a:t>
            </a:r>
            <a:endParaRPr lang="en-US" sz="1650" dirty="0"/>
          </a:p>
        </p:txBody>
      </p:sp>
      <p:sp>
        <p:nvSpPr>
          <p:cNvPr id="17" name="Text 15"/>
          <p:cNvSpPr/>
          <p:nvPr/>
        </p:nvSpPr>
        <p:spPr>
          <a:xfrm>
            <a:off x="1390650" y="5022532"/>
            <a:ext cx="8600717" cy="562928"/>
          </a:xfrm>
          <a:prstGeom prst="rect">
            <a:avLst/>
          </a:prstGeom>
          <a:noFill/>
          <a:ln/>
        </p:spPr>
        <p:txBody>
          <a:bodyPr wrap="square" lIns="25400" tIns="25400" rIns="25400" bIns="25400" rtlCol="0" anchor="t">
            <a:normAutofit/>
          </a:bodyPr>
          <a:lstStyle/>
          <a:p>
            <a:pPr algn="l" indent="0" marL="0">
              <a:lnSpc>
                <a:spcPct val="145000"/>
              </a:lnSpc>
              <a:buNone/>
            </a:pPr>
            <a:r>
              <a:rPr lang="en-US" sz="1425" dirty="0">
                <a:solidFill>
                  <a:srgbClr val="B6AC9C"/>
                </a:solidFill>
                <a:latin typeface="Arial" pitchFamily="34" charset="0"/>
                <a:ea typeface="Arial" pitchFamily="34" charset="-122"/>
                <a:cs typeface="Arial" pitchFamily="34" charset="-120"/>
              </a:rPr>
              <a:t>Flag high-risk suppliers by relationship-health score. Auto-generate prep for every meeting, not just on demand.</a:t>
            </a:r>
            <a:endParaRPr lang="en-US" sz="1425" dirty="0"/>
          </a:p>
        </p:txBody>
      </p:sp>
      <p:sp>
        <p:nvSpPr>
          <p:cNvPr id="18" name="Shape 16"/>
          <p:cNvSpPr/>
          <p:nvPr/>
        </p:nvSpPr>
        <p:spPr>
          <a:xfrm>
            <a:off x="10312360" y="2024062"/>
            <a:ext cx="9525" cy="7272338"/>
          </a:xfrm>
          <a:prstGeom prst="rect">
            <a:avLst/>
          </a:prstGeom>
          <a:solidFill>
            <a:srgbClr val="3A332A"/>
          </a:solidFill>
          <a:ln/>
        </p:spPr>
      </p:sp>
      <p:sp>
        <p:nvSpPr>
          <p:cNvPr id="19" name="Text 17"/>
          <p:cNvSpPr/>
          <p:nvPr/>
        </p:nvSpPr>
        <p:spPr>
          <a:xfrm>
            <a:off x="10834331" y="2024062"/>
            <a:ext cx="7193197" cy="220980"/>
          </a:xfrm>
          <a:prstGeom prst="rect">
            <a:avLst/>
          </a:prstGeom>
          <a:noFill/>
          <a:ln/>
        </p:spPr>
        <p:txBody>
          <a:bodyPr wrap="square" lIns="25400" tIns="25400" rIns="25400" bIns="25400" rtlCol="0" anchor="t">
            <a:normAutofit/>
          </a:bodyPr>
          <a:lstStyle/>
          <a:p>
            <a:pPr algn="l" indent="0" marL="0">
              <a:buNone/>
            </a:pPr>
            <a:r>
              <a:rPr lang="en-US" sz="1125" spc="180" kern="0" dirty="0">
                <a:solidFill>
                  <a:srgbClr val="A99E8C"/>
                </a:solidFill>
                <a:latin typeface="Courier New" pitchFamily="34" charset="0"/>
                <a:ea typeface="Courier New" pitchFamily="34" charset="-122"/>
                <a:cs typeface="Courier New" pitchFamily="34" charset="-120"/>
              </a:rPr>
              <a:t>DELIBERATELY OUT OF SCOPE</a:t>
            </a:r>
            <a:endParaRPr lang="en-US" sz="1125" dirty="0"/>
          </a:p>
        </p:txBody>
      </p:sp>
      <p:sp>
        <p:nvSpPr>
          <p:cNvPr id="20" name="Text 18"/>
          <p:cNvSpPr/>
          <p:nvPr/>
        </p:nvSpPr>
        <p:spPr>
          <a:xfrm>
            <a:off x="10834331" y="2397442"/>
            <a:ext cx="7193197" cy="274320"/>
          </a:xfrm>
          <a:prstGeom prst="rect">
            <a:avLst/>
          </a:prstGeom>
          <a:noFill/>
          <a:ln/>
        </p:spPr>
        <p:txBody>
          <a:bodyPr wrap="square" lIns="25400" tIns="25400" rIns="25400" bIns="25400" rtlCol="0" anchor="t">
            <a:normAutofit/>
          </a:bodyPr>
          <a:lstStyle/>
          <a:p>
            <a:pPr algn="l" indent="0" marL="0">
              <a:buNone/>
            </a:pPr>
            <a:r>
              <a:rPr lang="en-US" sz="1575" b="1" dirty="0">
                <a:solidFill>
                  <a:srgbClr val="9A5043"/>
                </a:solidFill>
                <a:latin typeface="Arial" pitchFamily="34" charset="0"/>
                <a:ea typeface="Arial" pitchFamily="34" charset="-122"/>
                <a:cs typeface="Arial" pitchFamily="34" charset="-120"/>
              </a:rPr>
              <a:t>× </a:t>
            </a:r>
            <a:pPr algn="l" indent="0" marL="0">
              <a:buNone/>
            </a:pPr>
            <a:r>
              <a:rPr lang="en-US" sz="1575" b="1" dirty="0">
                <a:solidFill>
                  <a:srgbClr val="E7DFD2"/>
                </a:solidFill>
                <a:latin typeface="Arial" pitchFamily="34" charset="0"/>
                <a:ea typeface="Arial" pitchFamily="34" charset="-122"/>
                <a:cs typeface="Arial" pitchFamily="34" charset="-120"/>
              </a:rPr>
              <a:t>Negotiation strategy advice</a:t>
            </a:r>
            <a:endParaRPr lang="en-US" sz="1575" dirty="0"/>
          </a:p>
        </p:txBody>
      </p:sp>
      <p:sp>
        <p:nvSpPr>
          <p:cNvPr id="21" name="Text 19"/>
          <p:cNvSpPr/>
          <p:nvPr/>
        </p:nvSpPr>
        <p:spPr>
          <a:xfrm>
            <a:off x="11072456" y="2633663"/>
            <a:ext cx="6931260" cy="278130"/>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9A8F7E"/>
                </a:solidFill>
                <a:latin typeface="Arial" pitchFamily="34" charset="0"/>
                <a:ea typeface="Arial" pitchFamily="34" charset="-122"/>
                <a:cs typeface="Arial" pitchFamily="34" charset="-120"/>
              </a:rPr>
              <a:t>Human judgment stays human.</a:t>
            </a:r>
            <a:endParaRPr lang="en-US" sz="1350" dirty="0"/>
          </a:p>
        </p:txBody>
      </p:sp>
      <p:sp>
        <p:nvSpPr>
          <p:cNvPr id="22" name="Text 20"/>
          <p:cNvSpPr/>
          <p:nvPr/>
        </p:nvSpPr>
        <p:spPr>
          <a:xfrm>
            <a:off x="10834331" y="3016568"/>
            <a:ext cx="7193197" cy="274320"/>
          </a:xfrm>
          <a:prstGeom prst="rect">
            <a:avLst/>
          </a:prstGeom>
          <a:noFill/>
          <a:ln/>
        </p:spPr>
        <p:txBody>
          <a:bodyPr wrap="square" lIns="25400" tIns="25400" rIns="25400" bIns="25400" rtlCol="0" anchor="t">
            <a:normAutofit/>
          </a:bodyPr>
          <a:lstStyle/>
          <a:p>
            <a:pPr algn="l" indent="0" marL="0">
              <a:buNone/>
            </a:pPr>
            <a:r>
              <a:rPr lang="en-US" sz="1575" b="1" dirty="0">
                <a:solidFill>
                  <a:srgbClr val="9A5043"/>
                </a:solidFill>
                <a:latin typeface="Arial" pitchFamily="34" charset="0"/>
                <a:ea typeface="Arial" pitchFamily="34" charset="-122"/>
                <a:cs typeface="Arial" pitchFamily="34" charset="-120"/>
              </a:rPr>
              <a:t>× </a:t>
            </a:r>
            <a:pPr algn="l" indent="0" marL="0">
              <a:buNone/>
            </a:pPr>
            <a:r>
              <a:rPr lang="en-US" sz="1575" b="1" dirty="0">
                <a:solidFill>
                  <a:srgbClr val="E7DFD2"/>
                </a:solidFill>
                <a:latin typeface="Arial" pitchFamily="34" charset="0"/>
                <a:ea typeface="Arial" pitchFamily="34" charset="-122"/>
                <a:cs typeface="Arial" pitchFamily="34" charset="-120"/>
              </a:rPr>
              <a:t>Full contract lifecycle management</a:t>
            </a:r>
            <a:endParaRPr lang="en-US" sz="1575" dirty="0"/>
          </a:p>
        </p:txBody>
      </p:sp>
      <p:sp>
        <p:nvSpPr>
          <p:cNvPr id="23" name="Text 21"/>
          <p:cNvSpPr/>
          <p:nvPr/>
        </p:nvSpPr>
        <p:spPr>
          <a:xfrm>
            <a:off x="11072456" y="3252788"/>
            <a:ext cx="6931260" cy="278130"/>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9A8F7E"/>
                </a:solidFill>
                <a:latin typeface="Arial" pitchFamily="34" charset="0"/>
                <a:ea typeface="Arial" pitchFamily="34" charset="-122"/>
                <a:cs typeface="Arial" pitchFamily="34" charset="-120"/>
              </a:rPr>
              <a:t>Different problem, different tool.</a:t>
            </a:r>
            <a:endParaRPr lang="en-US" sz="1350" dirty="0"/>
          </a:p>
        </p:txBody>
      </p:sp>
      <p:sp>
        <p:nvSpPr>
          <p:cNvPr id="24" name="Text 22"/>
          <p:cNvSpPr/>
          <p:nvPr/>
        </p:nvSpPr>
        <p:spPr>
          <a:xfrm>
            <a:off x="10834331" y="3635693"/>
            <a:ext cx="7193197" cy="274320"/>
          </a:xfrm>
          <a:prstGeom prst="rect">
            <a:avLst/>
          </a:prstGeom>
          <a:noFill/>
          <a:ln/>
        </p:spPr>
        <p:txBody>
          <a:bodyPr wrap="square" lIns="25400" tIns="25400" rIns="25400" bIns="25400" rtlCol="0" anchor="t">
            <a:normAutofit/>
          </a:bodyPr>
          <a:lstStyle/>
          <a:p>
            <a:pPr algn="l" indent="0" marL="0">
              <a:buNone/>
            </a:pPr>
            <a:r>
              <a:rPr lang="en-US" sz="1575" b="1" dirty="0">
                <a:solidFill>
                  <a:srgbClr val="9A5043"/>
                </a:solidFill>
                <a:latin typeface="Arial" pitchFamily="34" charset="0"/>
                <a:ea typeface="Arial" pitchFamily="34" charset="-122"/>
                <a:cs typeface="Arial" pitchFamily="34" charset="-120"/>
              </a:rPr>
              <a:t>× </a:t>
            </a:r>
            <a:pPr algn="l" indent="0" marL="0">
              <a:buNone/>
            </a:pPr>
            <a:r>
              <a:rPr lang="en-US" sz="1575" b="1" dirty="0">
                <a:solidFill>
                  <a:srgbClr val="E7DFD2"/>
                </a:solidFill>
                <a:latin typeface="Arial" pitchFamily="34" charset="0"/>
                <a:ea typeface="Arial" pitchFamily="34" charset="-122"/>
                <a:cs typeface="Arial" pitchFamily="34" charset="-120"/>
              </a:rPr>
              <a:t>Live MCP connector in prototype</a:t>
            </a:r>
            <a:endParaRPr lang="en-US" sz="1575" dirty="0"/>
          </a:p>
        </p:txBody>
      </p:sp>
      <p:sp>
        <p:nvSpPr>
          <p:cNvPr id="25" name="Text 23"/>
          <p:cNvSpPr/>
          <p:nvPr/>
        </p:nvSpPr>
        <p:spPr>
          <a:xfrm>
            <a:off x="11072456" y="3871913"/>
            <a:ext cx="6931260" cy="278130"/>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9A8F7E"/>
                </a:solidFill>
                <a:latin typeface="Arial" pitchFamily="34" charset="0"/>
                <a:ea typeface="Arial" pitchFamily="34" charset="-122"/>
                <a:cs typeface="Arial" pitchFamily="34" charset="-120"/>
              </a:rPr>
              <a:t>Demo-day network risk, documented as production path.</a:t>
            </a:r>
            <a:endParaRPr lang="en-US" sz="1350" dirty="0"/>
          </a:p>
        </p:txBody>
      </p:sp>
      <p:sp>
        <p:nvSpPr>
          <p:cNvPr id="26" name="Text 24"/>
          <p:cNvSpPr/>
          <p:nvPr/>
        </p:nvSpPr>
        <p:spPr>
          <a:xfrm>
            <a:off x="10834331" y="4254818"/>
            <a:ext cx="7193197" cy="274320"/>
          </a:xfrm>
          <a:prstGeom prst="rect">
            <a:avLst/>
          </a:prstGeom>
          <a:noFill/>
          <a:ln/>
        </p:spPr>
        <p:txBody>
          <a:bodyPr wrap="square" lIns="25400" tIns="25400" rIns="25400" bIns="25400" rtlCol="0" anchor="t">
            <a:normAutofit/>
          </a:bodyPr>
          <a:lstStyle/>
          <a:p>
            <a:pPr algn="l" indent="0" marL="0">
              <a:buNone/>
            </a:pPr>
            <a:r>
              <a:rPr lang="en-US" sz="1575" b="1" dirty="0">
                <a:solidFill>
                  <a:srgbClr val="9A5043"/>
                </a:solidFill>
                <a:latin typeface="Arial" pitchFamily="34" charset="0"/>
                <a:ea typeface="Arial" pitchFamily="34" charset="-122"/>
                <a:cs typeface="Arial" pitchFamily="34" charset="-120"/>
              </a:rPr>
              <a:t>× </a:t>
            </a:r>
            <a:pPr algn="l" indent="0" marL="0">
              <a:buNone/>
            </a:pPr>
            <a:r>
              <a:rPr lang="en-US" sz="1575" b="1" dirty="0">
                <a:solidFill>
                  <a:srgbClr val="E7DFD2"/>
                </a:solidFill>
                <a:latin typeface="Arial" pitchFamily="34" charset="0"/>
                <a:ea typeface="Arial" pitchFamily="34" charset="-122"/>
                <a:cs typeface="Arial" pitchFamily="34" charset="-120"/>
              </a:rPr>
              <a:t>Vector store in prototype</a:t>
            </a:r>
            <a:endParaRPr lang="en-US" sz="1575" dirty="0"/>
          </a:p>
        </p:txBody>
      </p:sp>
      <p:sp>
        <p:nvSpPr>
          <p:cNvPr id="27" name="Text 25"/>
          <p:cNvSpPr/>
          <p:nvPr/>
        </p:nvSpPr>
        <p:spPr>
          <a:xfrm>
            <a:off x="11072456" y="4491038"/>
            <a:ext cx="6931260" cy="278130"/>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9A8F7E"/>
                </a:solidFill>
                <a:latin typeface="Arial" pitchFamily="34" charset="0"/>
                <a:ea typeface="Arial" pitchFamily="34" charset="-122"/>
                <a:cs typeface="Arial" pitchFamily="34" charset="-120"/>
              </a:rPr>
              <a:t>Unjustified at 8 suppliers / 111 emails, right call at real scale.</a:t>
            </a:r>
            <a:endParaRPr lang="en-US" sz="1350" dirty="0"/>
          </a:p>
        </p:txBody>
      </p:sp>
      <p:sp>
        <p:nvSpPr>
          <p:cNvPr id="28" name="Text 26"/>
          <p:cNvSpPr/>
          <p:nvPr/>
        </p:nvSpPr>
        <p:spPr>
          <a:xfrm>
            <a:off x="10834331" y="4873943"/>
            <a:ext cx="7193197" cy="274320"/>
          </a:xfrm>
          <a:prstGeom prst="rect">
            <a:avLst/>
          </a:prstGeom>
          <a:noFill/>
          <a:ln/>
        </p:spPr>
        <p:txBody>
          <a:bodyPr wrap="square" lIns="25400" tIns="25400" rIns="25400" bIns="25400" rtlCol="0" anchor="t">
            <a:normAutofit/>
          </a:bodyPr>
          <a:lstStyle/>
          <a:p>
            <a:pPr algn="l" indent="0" marL="0">
              <a:buNone/>
            </a:pPr>
            <a:r>
              <a:rPr lang="en-US" sz="1575" b="1" dirty="0">
                <a:solidFill>
                  <a:srgbClr val="9A5043"/>
                </a:solidFill>
                <a:latin typeface="Arial" pitchFamily="34" charset="0"/>
                <a:ea typeface="Arial" pitchFamily="34" charset="-122"/>
                <a:cs typeface="Arial" pitchFamily="34" charset="-120"/>
              </a:rPr>
              <a:t>× </a:t>
            </a:r>
            <a:pPr algn="l" indent="0" marL="0">
              <a:buNone/>
            </a:pPr>
            <a:r>
              <a:rPr lang="en-US" sz="1575" b="1" dirty="0">
                <a:solidFill>
                  <a:srgbClr val="E7DFD2"/>
                </a:solidFill>
                <a:latin typeface="Arial" pitchFamily="34" charset="0"/>
                <a:ea typeface="Arial" pitchFamily="34" charset="-122"/>
                <a:cs typeface="Arial" pitchFamily="34" charset="-120"/>
              </a:rPr>
              <a:t>Teams / Slack integration</a:t>
            </a:r>
            <a:endParaRPr lang="en-US" sz="1575" dirty="0"/>
          </a:p>
        </p:txBody>
      </p:sp>
      <p:sp>
        <p:nvSpPr>
          <p:cNvPr id="29" name="Text 27"/>
          <p:cNvSpPr/>
          <p:nvPr/>
        </p:nvSpPr>
        <p:spPr>
          <a:xfrm>
            <a:off x="11072456" y="5110163"/>
            <a:ext cx="6931260" cy="278130"/>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9A8F7E"/>
                </a:solidFill>
                <a:latin typeface="Arial" pitchFamily="34" charset="0"/>
                <a:ea typeface="Arial" pitchFamily="34" charset="-122"/>
                <a:cs typeface="Arial" pitchFamily="34" charset="-120"/>
              </a:rPr>
              <a:t>Phase 3, after trust is established.</a:t>
            </a:r>
            <a:endParaRPr lang="en-US" sz="1350" dirty="0"/>
          </a:p>
        </p:txBody>
      </p:sp>
      <p:sp>
        <p:nvSpPr>
          <p:cNvPr id="30" name="Shape 28"/>
          <p:cNvSpPr/>
          <p:nvPr/>
        </p:nvSpPr>
        <p:spPr>
          <a:xfrm>
            <a:off x="914400" y="9637395"/>
            <a:ext cx="16459200" cy="9525"/>
          </a:xfrm>
          <a:prstGeom prst="rect">
            <a:avLst/>
          </a:prstGeom>
          <a:solidFill>
            <a:srgbClr val="3A332A"/>
          </a:solidFill>
          <a:ln/>
        </p:spPr>
      </p:sp>
      <p:sp>
        <p:nvSpPr>
          <p:cNvPr id="31" name="Text 29"/>
          <p:cNvSpPr/>
          <p:nvPr/>
        </p:nvSpPr>
        <p:spPr>
          <a:xfrm>
            <a:off x="914400" y="9768840"/>
            <a:ext cx="5462575" cy="21336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7A7165"/>
                </a:solidFill>
                <a:latin typeface="Courier New" pitchFamily="34" charset="0"/>
                <a:ea typeface="Courier New" pitchFamily="34" charset="-122"/>
                <a:cs typeface="Courier New" pitchFamily="34" charset="-120"/>
              </a:rPr>
              <a:t>STRAUSS PROCUREMENT · FDE EXERCISE · CONFIDENTIAL</a:t>
            </a:r>
            <a:endParaRPr lang="en-US" sz="1050" dirty="0"/>
          </a:p>
        </p:txBody>
      </p:sp>
      <p:sp>
        <p:nvSpPr>
          <p:cNvPr id="32" name="Text 30"/>
          <p:cNvSpPr/>
          <p:nvPr/>
        </p:nvSpPr>
        <p:spPr>
          <a:xfrm>
            <a:off x="16664107" y="9768840"/>
            <a:ext cx="785693" cy="21336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7A7165"/>
                </a:solidFill>
                <a:latin typeface="Courier New" pitchFamily="34" charset="0"/>
                <a:ea typeface="Courier New" pitchFamily="34" charset="-122"/>
                <a:cs typeface="Courier New" pitchFamily="34" charset="-120"/>
              </a:rPr>
              <a:t>18 / 19</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2026-06-28T07:03:13Z</dcterms:created>
  <dcterms:modified xsi:type="dcterms:W3CDTF">2026-06-28T07:03:13Z</dcterms:modified>
</cp:coreProperties>
</file>