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Strauss FDE home exercise — I am presenting a prototype I built in three days. The brief was: procurement spends too much time on manual meeting prep. I built one tool that solves exactly that problem. The title 'Negotiation Prep Intelligence' is deliberate — it is prep intelligence, not a negotiation advisor. The manager quote on the cover is verbatim from the brief — I am solving the problem they named, not one I invented.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runs approximately 7 supplier meetings per month — 14 over the 60-day exercise window — each needing 1.5 to 3 hours of manual prep. That is up to 21 hours per month of pure information logistics. I open with the manager's own framing — 'information logistics' — not my framing. The four failure modes are specific and concrete: wrong contract version, cold dispute threads, stale benchmark, expired contract. If asked 'how do you know these are the real pain points?' — they came from watching the process, not describing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uses this, who might resist, and my read on each. The manager is the strongest ally — they named the problem. The analyst is the highest adoption risk: they will not say they feel threatened, they will say the output is wrong. I counter by involving them as QA reviewer from day one — their corrections are the feedback loop. IT is not a blocker for the prototype but is a gating stakeholder for Phase 2. Legal's concern is addressed by source attribution on every fact. Finance does not come in until month 3 with actuals.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before touching any technology. The theme: watch the real process, not the described one. Step one is shadowing a real prep session — the stated process and the actual process are almost always different. Step three is auditing real data sources, not descriptions of them — you cannot design a robust extraction layer without seeing the raw mess. Step five is agreeing a specific meeting to demo against before building anything, so the first demo is something the manager actually cares about walking into.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tool, one job, one page per meeting. An AI-generated briefing pulling email history, contract terms and the commodity benchmark into a single view. The most important design decision is the last phrase: every claim traceable to its source. If asked why I built this instead of a pricing dashboard — that was the obvious build and solves an adjacent problem. The manager's stated pain is information logistics, not pricing accuracy. The tool is live on Streamlit.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design decision has a tradeoff — these were mine. The common thread: every cut traces back to either the specific pain point in the brief, the three-day time constraint, or live-demo reliability — not a general 'didn't think of it' gap. If asked about the commodity dashboard: it solves an adjacent problem, not the stated one. If asked why no vector store: unjustified at 8 suppliers and 111 emails — right answer at hundreds of suppliers. If asked why no live MCP connector in the prototype: a live demo depending on a third-party server in the room is unnecessary risk for zero added insight.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deliberate distinction between prototype and production — same packet logic throughout, different plumbing. The prototype runs on flat files: JSON emails, markdown contracts, a static CSV from a one-time yfinance pull. One Claude API call per supplier extracts open issues, price quotes, contract terms and commodity commentary into a fixed JSON schema. Production swaps in live connectors: Microsoft Graph for emails, SharePoint plus OCR for contracts, Bloomberg or ICE for pricing. MCP is the connector standard — swappable backend per source. The packet generator is identical in both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Instant situational awareness on load. The home page makes zero API calls — all analytics computed locally from email and contract files — so it loads in under a second even if the Anthropic API is unavailable. Stat tiles show upcoming meetings, suppliers at risk, contract issues. The full meeting calendar shows supplier, date, agenda note, geography and urgency badge. The supplier health grid gives relationship status at a glance. If asked about cost: home page has zero API cost. Only the packet generation step calls Claude.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Per-supplier relationship health, drill-down view. The health score is a composite of two signals: response-time trend and communication volume. The responsiveness trend compares early-half versus recent-half of the email window — a supplier getting slower is a warning signal before they go silent. The retention signal interprets days since last contact in plain English. The one-click shortcut to generate a prep packet closes the loop between supplier context and meeting prep. If asked about the health score: it is advisory, not a contract risk signal — the packet has the contract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product — one click, one Claude API call, returns in 10 to 15 seconds. The Galil Dairy case is the money shot for the demo: supplier quoted 15.50 shekel per kilo in email, contract section 4.2 caps at 14.20, and there is no written amendment on file. The packet surfaced this discrepancy with source attribution — the exact email date and contract section. Every field in the packet has a 'Show source' expander. The 24-hour cache means the second load is instant — no repeated API cost. If asked about accuracy: source attribution is the answer — every claim is one click from its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stops this from being trusted blindly — four concrete mechanisms, not a general disclaimer. Source attribution means nothing is presented as settled ground truth. Conflict flagging means when email and contract disagree, both surfaces — the tool never silently picks one. The Galil price discrepancy and Siam Sugar unit ambiguity are live examples in the demo. The correction mechanism is built into the UI as a first-class feature, not an afterthought — corrections feed the trust signal. The tool never acts: no emails sent, no contracts updated, every decision stays with the human.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tiers, both tracked. Tier 1 asks: is it being used? Packets generated, unique suppliers queried, generation time, daily volume, per-supplier frequency. Tier 2 asks: is it worth using? The five metrics from the metrics dictionary — response time, open issues, price delta, days to renewal, correction rate. The correction rate is the one that matters most: it is the trust signal. If it stays high, the extraction prompt needs tuning. If it drops below 10 percent, the team trusts the output.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Exactly what data each metric reads, where it comes from, and who computes it. The key architectural point: sections 1, 3 and 4 are pure Python with no API cost — date arithmetic, JSON field reads. Only section 2 (open issues) needs a Claude call. Correction rate is populated only when the manager actively saves a flag. If asked who defined these metrics: they are in a metrics dictionary at .claude/rules/metrics.md — single source of truth, not redefined inline. This matters for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prototype becomes a production system — three columns, left to right. Data sources: Microsoft Graph for emails, SharePoint plus OCR for contracts, Bloomberg or ICE for pricing. Processing layer: MCP connector per source with a swappable backend, a storage split between BigQuery for exact facts and a vector store for semantic email search. Outputs: Streamlit or Teams tab, auto-delivered 24 hours before each meeting. The metrics pipeline feeds a monthly prompt-tuning cycle. Every prototype simplification is documented: flat files instead of connectors, local extraction instead of a vector store.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phases — trust first, scale second. Phase 1 is a controlled pilot with one analyst and two or three suppliers. The success gate is not adoption rate — it is whether the packet catches one real issue the analyst would have missed. One concrete catch builds trust faster than any demo. Phase 2 expands to the full team with auto-triggering from the calendar and live data connectors. Phase 3 hands ownership to the internal champion with the 90-day ROI case for the CFO. If asked why not roll out to everyone at once: a high error rate across 14 meetings simultaneously destroys trust before it is built.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and organisational — the honest read. The technical risk is extraction accuracy drift: Claude returns wrong contract terms and the manager walks in with bad data. The source attribution and correction log are the direct mitigations — errors are visible, not silent. But most of the real risk is organisational: losing the internal champion, low analyst adoption, and scope creep. The analyst objection is the one that decides whether the tool gets used — they will not say they feel threatened, they will say the output is wrong. Involve them in QA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it is 20 percent of the job. Adoption is the other 80. Three objections I expect, who raises each, and exactly how I answer. The analyst objection — 'the output is wrong' — is the one that decides whether the tool gets used. I counter by making them the reviewer, not the recipient, from day one. Their corrections are visibly theirs. Legal's concern is addressed by source attribution: the tool surfaces for review, it does not interpret and act. Finance's question is about cost — Phase 1 API cost is approximately $5 per month, nothing touches live systems.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30 days and what training actually looks like. The enablement is deliberately not a deck or a webinar — it is two short sessions sitting next to the analyst on a real meeting. Session 1 is 30 minutes in week 1: run the tool together on a real upcoming meeting, walk through every section, show the source expanders and how to flag a correction. That is the entire training. The Galil catch in week 2 is the trust-builder — one concrete catch establishes trust faster than any demo. Week 4 success signal: manager says they did not do any manual prep.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Conservative anchor first, then two multipliers. Lead with 34,000 shekels a year in reclaimed analyst time — measurable, auditable, defensible. Then two concrete examples from the pilot: the Galil Dairy price-cap violation at 114,400 shekels, and the cocoa benchmark catch at 52,000 shekels in one quarter. Present both as examples already found, not projections. If asked about the labor cost number: it uses the manager's own prep time estimate of 1.5 to 3 hours, midpoint 2.25, across 7 meetings per month. API cost is approximately $5 per month — it is essentially zero in the ROI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would prioritise in Phase 2 — and what I deliberately left out. Live connectors first: Microsoft Graph for real emails, SharePoint for always-the-active-contract. Then the correction-to-prompt-tuning loop: monthly review of which fields and suppliers have high error rate, update the extraction prompt. Then supplier segmentation: auto-generate prep for every meeting, not just on demand. The out-of-scope column matters as much as the priorities — it shows judgment about what not to build. Teams integration is Phase 3, after trust is established. Negotiation strategy advice stays human.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1A14"/>
        </a:solidFill>
        <a:effectLst/>
      </p:bgPr>
    </p:bg>
    <p:spTree>
      <p:nvGrpSpPr>
        <p:cNvPr id="1" name=""/>
        <p:cNvGrpSpPr/>
        <p:nvPr/>
      </p:nvGrpSpPr>
      <p:grpSpPr/>
      <p:sp>
        <p:nvSpPr>
          <p:cNvPr id="2" name="TextBox 1"/>
          <p:cNvSpPr txBox="1"/>
          <p:nvPr/>
        </p:nvSpPr>
        <p:spPr>
          <a:xfrm>
            <a:off x="457200" y="411480"/>
            <a:ext cx="4572000" cy="320040"/>
          </a:xfrm>
          <a:prstGeom prst="rect">
            <a:avLst/>
          </a:prstGeom>
          <a:noFill/>
          <a:ln>
            <a:noFill/>
          </a:ln>
        </p:spPr>
        <p:txBody>
          <a:bodyPr wrap="square">
            <a:spAutoFit/>
          </a:bodyPr>
          <a:lstStyle/>
          <a:p>
            <a:pPr algn="l"/>
            <a:r>
              <a:rPr sz="1100" b="0" i="0">
                <a:solidFill>
                  <a:srgbClr val="C99A82"/>
                </a:solidFill>
                <a:latin typeface="IBM Plex Mono"/>
              </a:rPr>
              <a:t>STRAUSS GROUP</a:t>
            </a:r>
          </a:p>
        </p:txBody>
      </p:sp>
      <p:sp>
        <p:nvSpPr>
          <p:cNvPr id="3" name="TextBox 2"/>
          <p:cNvSpPr txBox="1"/>
          <p:nvPr/>
        </p:nvSpPr>
        <p:spPr>
          <a:xfrm>
            <a:off x="8686800" y="411480"/>
            <a:ext cx="3017520" cy="320040"/>
          </a:xfrm>
          <a:prstGeom prst="rect">
            <a:avLst/>
          </a:prstGeom>
          <a:noFill/>
          <a:ln>
            <a:noFill/>
          </a:ln>
        </p:spPr>
        <p:txBody>
          <a:bodyPr wrap="square">
            <a:spAutoFit/>
          </a:bodyPr>
          <a:lstStyle/>
          <a:p>
            <a:pPr algn="r"/>
            <a:r>
              <a:rPr sz="900" b="0" i="0">
                <a:solidFill>
                  <a:srgbClr val="8A8072"/>
                </a:solidFill>
                <a:latin typeface="IBM Plex Mono"/>
              </a:rPr>
              <a:t>FDE HOME EXERCISE / JUNE 2026</a:t>
            </a:r>
          </a:p>
        </p:txBody>
      </p:sp>
      <p:sp>
        <p:nvSpPr>
          <p:cNvPr id="4" name="TextBox 3"/>
          <p:cNvSpPr txBox="1"/>
          <p:nvPr/>
        </p:nvSpPr>
        <p:spPr>
          <a:xfrm>
            <a:off x="457200" y="1828800"/>
            <a:ext cx="9144000" cy="320040"/>
          </a:xfrm>
          <a:prstGeom prst="rect">
            <a:avLst/>
          </a:prstGeom>
          <a:noFill/>
          <a:ln>
            <a:noFill/>
          </a:ln>
        </p:spPr>
        <p:txBody>
          <a:bodyPr wrap="square">
            <a:spAutoFit/>
          </a:bodyPr>
          <a:lstStyle/>
          <a:p>
            <a:pPr algn="l"/>
            <a:r>
              <a:rPr sz="1000" b="0" i="0">
                <a:solidFill>
                  <a:srgbClr val="CB5238"/>
                </a:solidFill>
                <a:latin typeface="IBM Plex Mono"/>
              </a:rPr>
              <a:t>Procurement · Forward-Deployed Engineering</a:t>
            </a:r>
          </a:p>
        </p:txBody>
      </p:sp>
      <p:sp>
        <p:nvSpPr>
          <p:cNvPr id="5" name="TextBox 4"/>
          <p:cNvSpPr txBox="1"/>
          <p:nvPr/>
        </p:nvSpPr>
        <p:spPr>
          <a:xfrm>
            <a:off x="457200" y="2194560"/>
            <a:ext cx="11704320" cy="2011680"/>
          </a:xfrm>
          <a:prstGeom prst="rect">
            <a:avLst/>
          </a:prstGeom>
          <a:noFill/>
          <a:ln>
            <a:noFill/>
          </a:ln>
        </p:spPr>
        <p:txBody>
          <a:bodyPr wrap="square">
            <a:spAutoFit/>
          </a:bodyPr>
          <a:lstStyle/>
          <a:p>
            <a:pPr algn="l"/>
            <a:r>
              <a:rPr sz="7200" b="0" i="0">
                <a:solidFill>
                  <a:srgbClr val="F7F2E9"/>
                </a:solidFill>
                <a:latin typeface="Newsreader"/>
              </a:rPr>
              <a:t>Negotiation Prep
Intelligence</a:t>
            </a:r>
          </a:p>
        </p:txBody>
      </p:sp>
      <p:sp>
        <p:nvSpPr>
          <p:cNvPr id="6" name="TextBox 5"/>
          <p:cNvSpPr txBox="1"/>
          <p:nvPr/>
        </p:nvSpPr>
        <p:spPr>
          <a:xfrm>
            <a:off x="457200" y="4251960"/>
            <a:ext cx="9601200" cy="822960"/>
          </a:xfrm>
          <a:prstGeom prst="rect">
            <a:avLst/>
          </a:prstGeom>
          <a:noFill/>
          <a:ln>
            <a:noFill/>
          </a:ln>
        </p:spPr>
        <p:txBody>
          <a:bodyPr wrap="square">
            <a:spAutoFit/>
          </a:bodyPr>
          <a:lstStyle/>
          <a:p>
            <a:pPr algn="l"/>
            <a:r>
              <a:rPr sz="1600" b="0" i="0">
                <a:solidFill>
                  <a:srgbClr val="B6AC9C"/>
                </a:solidFill>
                <a:latin typeface="Libre Franklin"/>
              </a:rPr>
              <a:t>An AI briefing tool that turns hours of manual meeting prep into a one-page packet — every fact traceable to its source.</a:t>
            </a:r>
          </a:p>
        </p:txBody>
      </p:sp>
      <p:sp>
        <p:nvSpPr>
          <p:cNvPr id="7" name="Rectangle 6"/>
          <p:cNvSpPr/>
          <p:nvPr/>
        </p:nvSpPr>
        <p:spPr>
          <a:xfrm>
            <a:off x="457200" y="5212080"/>
            <a:ext cx="45720" cy="1005840"/>
          </a:xfrm>
          <a:prstGeom prst="rect">
            <a:avLst/>
          </a:prstGeom>
          <a:solidFill>
            <a:srgbClr val="CB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166360"/>
            <a:ext cx="9601200" cy="731520"/>
          </a:xfrm>
          <a:prstGeom prst="rect">
            <a:avLst/>
          </a:prstGeom>
          <a:noFill/>
          <a:ln>
            <a:noFill/>
          </a:ln>
        </p:spPr>
        <p:txBody>
          <a:bodyPr wrap="square">
            <a:spAutoFit/>
          </a:bodyPr>
          <a:lstStyle/>
          <a:p>
            <a:pPr algn="l"/>
            <a:r>
              <a:rPr sz="1800" b="0" i="1">
                <a:solidFill>
                  <a:srgbClr val="E8E1D3"/>
                </a:solidFill>
                <a:latin typeface="Newsreader"/>
              </a:rPr>
              <a:t>“I want my team spending their time on judgment and relationships. Not on logistics.”</a:t>
            </a:r>
          </a:p>
        </p:txBody>
      </p:sp>
      <p:sp>
        <p:nvSpPr>
          <p:cNvPr id="9" name="TextBox 8"/>
          <p:cNvSpPr txBox="1"/>
          <p:nvPr/>
        </p:nvSpPr>
        <p:spPr>
          <a:xfrm>
            <a:off x="640080" y="5989320"/>
            <a:ext cx="7315200" cy="274320"/>
          </a:xfrm>
          <a:prstGeom prst="rect">
            <a:avLst/>
          </a:prstGeom>
          <a:noFill/>
          <a:ln>
            <a:noFill/>
          </a:ln>
        </p:spPr>
        <p:txBody>
          <a:bodyPr wrap="square">
            <a:spAutoFit/>
          </a:bodyPr>
          <a:lstStyle/>
          <a:p>
            <a:pPr algn="l"/>
            <a:r>
              <a:rPr sz="900" b="0" i="0">
                <a:solidFill>
                  <a:srgbClr val="988E7F"/>
                </a:solidFill>
                <a:latin typeface="IBM Plex Mono"/>
              </a:rPr>
              <a:t>— STRAUSS PROCUREMENT MANAGER</a:t>
            </a:r>
          </a:p>
        </p:txBody>
      </p:sp>
      <p:sp>
        <p:nvSpPr>
          <p:cNvPr id="10" name="TextBox 9"/>
          <p:cNvSpPr txBox="1"/>
          <p:nvPr/>
        </p:nvSpPr>
        <p:spPr>
          <a:xfrm>
            <a:off x="10515600" y="5989320"/>
            <a:ext cx="1554480" cy="274320"/>
          </a:xfrm>
          <a:prstGeom prst="rect">
            <a:avLst/>
          </a:prstGeom>
          <a:noFill/>
          <a:ln>
            <a:noFill/>
          </a:ln>
        </p:spPr>
        <p:txBody>
          <a:bodyPr wrap="square">
            <a:spAutoFit/>
          </a:bodyPr>
          <a:lstStyle/>
          <a:p>
            <a:pPr algn="r"/>
            <a:r>
              <a:rPr sz="900" b="0" i="0">
                <a:solidFill>
                  <a:srgbClr val="8A8072"/>
                </a:solidFill>
                <a:latin typeface="IBM Plex Mono"/>
              </a:rPr>
              <a:t>JANNETTE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01 — THE PROBLEM</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What the procurement team is actually spending time on</a:t>
            </a:r>
          </a:p>
        </p:txBody>
      </p:sp>
      <p:sp>
        <p:nvSpPr>
          <p:cNvPr id="4" name="Rectangle 3"/>
          <p:cNvSpPr/>
          <p:nvPr/>
        </p:nvSpPr>
        <p:spPr>
          <a:xfrm>
            <a:off x="457200" y="1783080"/>
            <a:ext cx="3749039" cy="10058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10512"/>
            <a:ext cx="3474720" cy="594360"/>
          </a:xfrm>
          <a:prstGeom prst="rect">
            <a:avLst/>
          </a:prstGeom>
          <a:noFill/>
          <a:ln>
            <a:noFill/>
          </a:ln>
        </p:spPr>
        <p:txBody>
          <a:bodyPr wrap="square">
            <a:spAutoFit/>
          </a:bodyPr>
          <a:lstStyle/>
          <a:p>
            <a:pPr algn="l"/>
            <a:r>
              <a:rPr sz="3800" b="0" i="0">
                <a:solidFill>
                  <a:srgbClr val="B23B26"/>
                </a:solidFill>
                <a:latin typeface="Newsreader"/>
              </a:rPr>
              <a:t>1.5–3 hrs</a:t>
            </a:r>
          </a:p>
        </p:txBody>
      </p:sp>
      <p:sp>
        <p:nvSpPr>
          <p:cNvPr id="6" name="TextBox 5"/>
          <p:cNvSpPr txBox="1"/>
          <p:nvPr/>
        </p:nvSpPr>
        <p:spPr>
          <a:xfrm>
            <a:off x="640080" y="2450592"/>
            <a:ext cx="3474720" cy="274320"/>
          </a:xfrm>
          <a:prstGeom prst="rect">
            <a:avLst/>
          </a:prstGeom>
          <a:noFill/>
          <a:ln>
            <a:noFill/>
          </a:ln>
        </p:spPr>
        <p:txBody>
          <a:bodyPr wrap="square">
            <a:spAutoFit/>
          </a:bodyPr>
          <a:lstStyle/>
          <a:p>
            <a:pPr algn="l"/>
            <a:r>
              <a:rPr sz="1400" b="0" i="0">
                <a:solidFill>
                  <a:srgbClr val="5C5349"/>
                </a:solidFill>
                <a:latin typeface="Libre Franklin"/>
              </a:rPr>
              <a:t>of manual prep per meeting</a:t>
            </a:r>
          </a:p>
        </p:txBody>
      </p:sp>
      <p:sp>
        <p:nvSpPr>
          <p:cNvPr id="7" name="Rectangle 6"/>
          <p:cNvSpPr/>
          <p:nvPr/>
        </p:nvSpPr>
        <p:spPr>
          <a:xfrm>
            <a:off x="4343400" y="1783080"/>
            <a:ext cx="3749039" cy="10058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810512"/>
            <a:ext cx="3474720" cy="594360"/>
          </a:xfrm>
          <a:prstGeom prst="rect">
            <a:avLst/>
          </a:prstGeom>
          <a:noFill/>
          <a:ln>
            <a:noFill/>
          </a:ln>
        </p:spPr>
        <p:txBody>
          <a:bodyPr wrap="square">
            <a:spAutoFit/>
          </a:bodyPr>
          <a:lstStyle/>
          <a:p>
            <a:pPr algn="l"/>
            <a:r>
              <a:rPr sz="3800" b="0" i="0">
                <a:solidFill>
                  <a:srgbClr val="B23B26"/>
                </a:solidFill>
                <a:latin typeface="Newsreader"/>
              </a:rPr>
              <a:t>‘7</a:t>
            </a:r>
          </a:p>
        </p:txBody>
      </p:sp>
      <p:sp>
        <p:nvSpPr>
          <p:cNvPr id="9" name="TextBox 8"/>
          <p:cNvSpPr txBox="1"/>
          <p:nvPr/>
        </p:nvSpPr>
        <p:spPr>
          <a:xfrm>
            <a:off x="4526280" y="2450592"/>
            <a:ext cx="3474720" cy="274320"/>
          </a:xfrm>
          <a:prstGeom prst="rect">
            <a:avLst/>
          </a:prstGeom>
          <a:noFill/>
          <a:ln>
            <a:noFill/>
          </a:ln>
        </p:spPr>
        <p:txBody>
          <a:bodyPr wrap="square">
            <a:spAutoFit/>
          </a:bodyPr>
          <a:lstStyle/>
          <a:p>
            <a:pPr algn="l"/>
            <a:r>
              <a:rPr sz="1400" b="0" i="0">
                <a:solidFill>
                  <a:srgbClr val="5C5349"/>
                </a:solidFill>
                <a:latin typeface="Libre Franklin"/>
              </a:rPr>
              <a:t>supplier meetings per month</a:t>
            </a:r>
          </a:p>
        </p:txBody>
      </p:sp>
      <p:sp>
        <p:nvSpPr>
          <p:cNvPr id="10" name="Rectangle 9"/>
          <p:cNvSpPr/>
          <p:nvPr/>
        </p:nvSpPr>
        <p:spPr>
          <a:xfrm>
            <a:off x="8229600" y="1783080"/>
            <a:ext cx="3749039" cy="10058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810512"/>
            <a:ext cx="3474720" cy="594360"/>
          </a:xfrm>
          <a:prstGeom prst="rect">
            <a:avLst/>
          </a:prstGeom>
          <a:noFill/>
          <a:ln>
            <a:noFill/>
          </a:ln>
        </p:spPr>
        <p:txBody>
          <a:bodyPr wrap="square">
            <a:spAutoFit/>
          </a:bodyPr>
          <a:lstStyle/>
          <a:p>
            <a:pPr algn="l"/>
            <a:r>
              <a:rPr sz="3800" b="0" i="0">
                <a:solidFill>
                  <a:srgbClr val="B23B26"/>
                </a:solidFill>
                <a:latin typeface="Newsreader"/>
              </a:rPr>
              <a:t>10–21 hrs</a:t>
            </a:r>
          </a:p>
        </p:txBody>
      </p:sp>
      <p:sp>
        <p:nvSpPr>
          <p:cNvPr id="12" name="TextBox 11"/>
          <p:cNvSpPr txBox="1"/>
          <p:nvPr/>
        </p:nvSpPr>
        <p:spPr>
          <a:xfrm>
            <a:off x="8412480" y="2450592"/>
            <a:ext cx="3474720" cy="274320"/>
          </a:xfrm>
          <a:prstGeom prst="rect">
            <a:avLst/>
          </a:prstGeom>
          <a:noFill/>
          <a:ln>
            <a:noFill/>
          </a:ln>
        </p:spPr>
        <p:txBody>
          <a:bodyPr wrap="square">
            <a:spAutoFit/>
          </a:bodyPr>
          <a:lstStyle/>
          <a:p>
            <a:pPr algn="l"/>
            <a:r>
              <a:rPr sz="1400" b="0" i="0">
                <a:solidFill>
                  <a:srgbClr val="5C5349"/>
                </a:solidFill>
                <a:latin typeface="Libre Franklin"/>
              </a:rPr>
              <a:t>of information work per month, per team</a:t>
            </a:r>
          </a:p>
        </p:txBody>
      </p:sp>
      <p:sp>
        <p:nvSpPr>
          <p:cNvPr id="13" name="TextBox 12"/>
          <p:cNvSpPr txBox="1"/>
          <p:nvPr/>
        </p:nvSpPr>
        <p:spPr>
          <a:xfrm>
            <a:off x="457200" y="2926080"/>
            <a:ext cx="11430000" cy="594360"/>
          </a:xfrm>
          <a:prstGeom prst="rect">
            <a:avLst/>
          </a:prstGeom>
          <a:noFill/>
          <a:ln>
            <a:noFill/>
          </a:ln>
        </p:spPr>
        <p:txBody>
          <a:bodyPr wrap="square">
            <a:spAutoFit/>
          </a:bodyPr>
          <a:lstStyle/>
          <a:p>
            <a:pPr algn="l"/>
            <a:r>
              <a:rPr sz="1700" b="0" i="1">
                <a:solidFill>
                  <a:srgbClr val="3D372F"/>
                </a:solidFill>
                <a:latin typeface="Newsreader"/>
              </a:rPr>
              <a:t>The Procurement Manager called it “information logistics” — work that stands between the team and the judgment call they’re paid to make.</a:t>
            </a:r>
          </a:p>
        </p:txBody>
      </p:sp>
      <p:sp>
        <p:nvSpPr>
          <p:cNvPr id="14" name="TextBox 13"/>
          <p:cNvSpPr txBox="1"/>
          <p:nvPr/>
        </p:nvSpPr>
        <p:spPr>
          <a:xfrm>
            <a:off x="457200" y="3566160"/>
            <a:ext cx="10972800" cy="228600"/>
          </a:xfrm>
          <a:prstGeom prst="rect">
            <a:avLst/>
          </a:prstGeom>
          <a:noFill/>
          <a:ln>
            <a:noFill/>
          </a:ln>
        </p:spPr>
        <p:txBody>
          <a:bodyPr wrap="square">
            <a:spAutoFit/>
          </a:bodyPr>
          <a:lstStyle/>
          <a:p>
            <a:pPr algn="l"/>
            <a:r>
              <a:rPr sz="900" b="0" i="0">
                <a:solidFill>
                  <a:srgbClr val="94897A"/>
                </a:solidFill>
                <a:latin typeface="IBM Plex Mono"/>
              </a:rPr>
              <a:t>FOUR WAYS THE MANUAL PROCESS FAILS CONSISTENTLY</a:t>
            </a:r>
          </a:p>
        </p:txBody>
      </p:sp>
      <p:sp>
        <p:nvSpPr>
          <p:cNvPr id="15" name="TextBox 14"/>
          <p:cNvSpPr txBox="1"/>
          <p:nvPr/>
        </p:nvSpPr>
        <p:spPr>
          <a:xfrm>
            <a:off x="457200" y="3840480"/>
            <a:ext cx="457200" cy="502920"/>
          </a:xfrm>
          <a:prstGeom prst="rect">
            <a:avLst/>
          </a:prstGeom>
          <a:noFill/>
          <a:ln>
            <a:noFill/>
          </a:ln>
        </p:spPr>
        <p:txBody>
          <a:bodyPr wrap="square">
            <a:spAutoFit/>
          </a:bodyPr>
          <a:lstStyle/>
          <a:p>
            <a:pPr algn="l"/>
            <a:r>
              <a:rPr sz="2400" b="0" i="0">
                <a:solidFill>
                  <a:srgbClr val="B23B26"/>
                </a:solidFill>
                <a:latin typeface="Newsreader"/>
              </a:rPr>
              <a:t>01</a:t>
            </a:r>
          </a:p>
        </p:txBody>
      </p:sp>
      <p:sp>
        <p:nvSpPr>
          <p:cNvPr id="16" name="TextBox 15"/>
          <p:cNvSpPr txBox="1"/>
          <p:nvPr/>
        </p:nvSpPr>
        <p:spPr>
          <a:xfrm>
            <a:off x="960120" y="3840480"/>
            <a:ext cx="4983480" cy="256032"/>
          </a:xfrm>
          <a:prstGeom prst="rect">
            <a:avLst/>
          </a:prstGeom>
          <a:noFill/>
          <a:ln>
            <a:noFill/>
          </a:ln>
        </p:spPr>
        <p:txBody>
          <a:bodyPr wrap="square">
            <a:spAutoFit/>
          </a:bodyPr>
          <a:lstStyle/>
          <a:p>
            <a:pPr algn="l"/>
            <a:r>
              <a:rPr sz="1400" b="1" i="0">
                <a:solidFill>
                  <a:srgbClr val="221D17"/>
                </a:solidFill>
                <a:latin typeface="Libre Franklin"/>
              </a:rPr>
              <a:t>Wrong contract version pulled</a:t>
            </a:r>
          </a:p>
        </p:txBody>
      </p:sp>
      <p:sp>
        <p:nvSpPr>
          <p:cNvPr id="17" name="TextBox 16"/>
          <p:cNvSpPr txBox="1"/>
          <p:nvPr/>
        </p:nvSpPr>
        <p:spPr>
          <a:xfrm>
            <a:off x="960120" y="4133088"/>
            <a:ext cx="4983480" cy="502920"/>
          </a:xfrm>
          <a:prstGeom prst="rect">
            <a:avLst/>
          </a:prstGeom>
          <a:noFill/>
          <a:ln>
            <a:noFill/>
          </a:ln>
        </p:spPr>
        <p:txBody>
          <a:bodyPr wrap="square">
            <a:spAutoFit/>
          </a:bodyPr>
          <a:lstStyle/>
          <a:p>
            <a:pPr algn="l"/>
            <a:r>
              <a:rPr sz="1300" b="0" i="0">
                <a:solidFill>
                  <a:srgbClr val="5C5349"/>
                </a:solidFill>
                <a:latin typeface="Libre Franklin"/>
              </a:rPr>
              <a:t>Missed penalty clause before the negotiation even starts.</a:t>
            </a:r>
          </a:p>
        </p:txBody>
      </p:sp>
      <p:sp>
        <p:nvSpPr>
          <p:cNvPr id="18" name="TextBox 17"/>
          <p:cNvSpPr txBox="1"/>
          <p:nvPr/>
        </p:nvSpPr>
        <p:spPr>
          <a:xfrm>
            <a:off x="6080760" y="3840480"/>
            <a:ext cx="457200" cy="502920"/>
          </a:xfrm>
          <a:prstGeom prst="rect">
            <a:avLst/>
          </a:prstGeom>
          <a:noFill/>
          <a:ln>
            <a:noFill/>
          </a:ln>
        </p:spPr>
        <p:txBody>
          <a:bodyPr wrap="square">
            <a:spAutoFit/>
          </a:bodyPr>
          <a:lstStyle/>
          <a:p>
            <a:pPr algn="l"/>
            <a:r>
              <a:rPr sz="2400" b="0" i="0">
                <a:solidFill>
                  <a:srgbClr val="B23B26"/>
                </a:solidFill>
                <a:latin typeface="Newsreader"/>
              </a:rPr>
              <a:t>02</a:t>
            </a:r>
          </a:p>
        </p:txBody>
      </p:sp>
      <p:sp>
        <p:nvSpPr>
          <p:cNvPr id="19" name="TextBox 18"/>
          <p:cNvSpPr txBox="1"/>
          <p:nvPr/>
        </p:nvSpPr>
        <p:spPr>
          <a:xfrm>
            <a:off x="6583680" y="3840480"/>
            <a:ext cx="4983480" cy="256032"/>
          </a:xfrm>
          <a:prstGeom prst="rect">
            <a:avLst/>
          </a:prstGeom>
          <a:noFill/>
          <a:ln>
            <a:noFill/>
          </a:ln>
        </p:spPr>
        <p:txBody>
          <a:bodyPr wrap="square">
            <a:spAutoFit/>
          </a:bodyPr>
          <a:lstStyle/>
          <a:p>
            <a:pPr algn="l"/>
            <a:r>
              <a:rPr sz="1400" b="1" i="0">
                <a:solidFill>
                  <a:srgbClr val="221D17"/>
                </a:solidFill>
                <a:latin typeface="Libre Franklin"/>
              </a:rPr>
              <a:t>Open dispute threads go cold</a:t>
            </a:r>
          </a:p>
        </p:txBody>
      </p:sp>
      <p:sp>
        <p:nvSpPr>
          <p:cNvPr id="20" name="TextBox 19"/>
          <p:cNvSpPr txBox="1"/>
          <p:nvPr/>
        </p:nvSpPr>
        <p:spPr>
          <a:xfrm>
            <a:off x="6583680" y="4133088"/>
            <a:ext cx="4983480" cy="502920"/>
          </a:xfrm>
          <a:prstGeom prst="rect">
            <a:avLst/>
          </a:prstGeom>
          <a:noFill/>
          <a:ln>
            <a:noFill/>
          </a:ln>
        </p:spPr>
        <p:txBody>
          <a:bodyPr wrap="square">
            <a:spAutoFit/>
          </a:bodyPr>
          <a:lstStyle/>
          <a:p>
            <a:pPr algn="l"/>
            <a:r>
              <a:rPr sz="1300" b="0" i="0">
                <a:solidFill>
                  <a:srgbClr val="5C5349"/>
                </a:solidFill>
                <a:latin typeface="Libre Franklin"/>
              </a:rPr>
              <a:t>Unresolved delivery or quality issues forgotten by the next meeting.</a:t>
            </a:r>
          </a:p>
        </p:txBody>
      </p:sp>
      <p:sp>
        <p:nvSpPr>
          <p:cNvPr id="21" name="TextBox 20"/>
          <p:cNvSpPr txBox="1"/>
          <p:nvPr/>
        </p:nvSpPr>
        <p:spPr>
          <a:xfrm>
            <a:off x="457200" y="4754880"/>
            <a:ext cx="457200" cy="502920"/>
          </a:xfrm>
          <a:prstGeom prst="rect">
            <a:avLst/>
          </a:prstGeom>
          <a:noFill/>
          <a:ln>
            <a:noFill/>
          </a:ln>
        </p:spPr>
        <p:txBody>
          <a:bodyPr wrap="square">
            <a:spAutoFit/>
          </a:bodyPr>
          <a:lstStyle/>
          <a:p>
            <a:pPr algn="l"/>
            <a:r>
              <a:rPr sz="2400" b="0" i="0">
                <a:solidFill>
                  <a:srgbClr val="B23B26"/>
                </a:solidFill>
                <a:latin typeface="Newsreader"/>
              </a:rPr>
              <a:t>03</a:t>
            </a:r>
          </a:p>
        </p:txBody>
      </p:sp>
      <p:sp>
        <p:nvSpPr>
          <p:cNvPr id="22" name="TextBox 21"/>
          <p:cNvSpPr txBox="1"/>
          <p:nvPr/>
        </p:nvSpPr>
        <p:spPr>
          <a:xfrm>
            <a:off x="960120" y="4754880"/>
            <a:ext cx="4983480" cy="256032"/>
          </a:xfrm>
          <a:prstGeom prst="rect">
            <a:avLst/>
          </a:prstGeom>
          <a:noFill/>
          <a:ln>
            <a:noFill/>
          </a:ln>
        </p:spPr>
        <p:txBody>
          <a:bodyPr wrap="square">
            <a:spAutoFit/>
          </a:bodyPr>
          <a:lstStyle/>
          <a:p>
            <a:pPr algn="l"/>
            <a:r>
              <a:rPr sz="1400" b="1" i="0">
                <a:solidFill>
                  <a:srgbClr val="221D17"/>
                </a:solidFill>
                <a:latin typeface="Libre Franklin"/>
              </a:rPr>
              <a:t>Benchmark data goes stale</a:t>
            </a:r>
          </a:p>
        </p:txBody>
      </p:sp>
      <p:sp>
        <p:nvSpPr>
          <p:cNvPr id="23" name="TextBox 22"/>
          <p:cNvSpPr txBox="1"/>
          <p:nvPr/>
        </p:nvSpPr>
        <p:spPr>
          <a:xfrm>
            <a:off x="960120" y="5047488"/>
            <a:ext cx="4983480" cy="502920"/>
          </a:xfrm>
          <a:prstGeom prst="rect">
            <a:avLst/>
          </a:prstGeom>
          <a:noFill/>
          <a:ln>
            <a:noFill/>
          </a:ln>
        </p:spPr>
        <p:txBody>
          <a:bodyPr wrap="square">
            <a:spAutoFit/>
          </a:bodyPr>
          <a:lstStyle/>
          <a:p>
            <a:pPr algn="l"/>
            <a:r>
              <a:rPr sz="1300" b="0" i="0">
                <a:solidFill>
                  <a:srgbClr val="5C5349"/>
                </a:solidFill>
                <a:latin typeface="Libre Franklin"/>
              </a:rPr>
              <a:t>Manager walks into a cocoa or sugar negotiation blind to where the market moved.</a:t>
            </a:r>
          </a:p>
        </p:txBody>
      </p:sp>
      <p:sp>
        <p:nvSpPr>
          <p:cNvPr id="24" name="TextBox 23"/>
          <p:cNvSpPr txBox="1"/>
          <p:nvPr/>
        </p:nvSpPr>
        <p:spPr>
          <a:xfrm>
            <a:off x="6080760" y="4754880"/>
            <a:ext cx="457200" cy="502920"/>
          </a:xfrm>
          <a:prstGeom prst="rect">
            <a:avLst/>
          </a:prstGeom>
          <a:noFill/>
          <a:ln>
            <a:noFill/>
          </a:ln>
        </p:spPr>
        <p:txBody>
          <a:bodyPr wrap="square">
            <a:spAutoFit/>
          </a:bodyPr>
          <a:lstStyle/>
          <a:p>
            <a:pPr algn="l"/>
            <a:r>
              <a:rPr sz="2400" b="0" i="0">
                <a:solidFill>
                  <a:srgbClr val="B23B26"/>
                </a:solidFill>
                <a:latin typeface="Newsreader"/>
              </a:rPr>
              <a:t>04</a:t>
            </a:r>
          </a:p>
        </p:txBody>
      </p:sp>
      <p:sp>
        <p:nvSpPr>
          <p:cNvPr id="25" name="TextBox 24"/>
          <p:cNvSpPr txBox="1"/>
          <p:nvPr/>
        </p:nvSpPr>
        <p:spPr>
          <a:xfrm>
            <a:off x="6583680" y="4754880"/>
            <a:ext cx="4983480" cy="256032"/>
          </a:xfrm>
          <a:prstGeom prst="rect">
            <a:avLst/>
          </a:prstGeom>
          <a:noFill/>
          <a:ln>
            <a:noFill/>
          </a:ln>
        </p:spPr>
        <p:txBody>
          <a:bodyPr wrap="square">
            <a:spAutoFit/>
          </a:bodyPr>
          <a:lstStyle/>
          <a:p>
            <a:pPr algn="l"/>
            <a:r>
              <a:rPr sz="1400" b="1" i="0">
                <a:solidFill>
                  <a:srgbClr val="221D17"/>
                </a:solidFill>
                <a:latin typeface="Libre Franklin"/>
              </a:rPr>
              <a:t>Expired contract not flagged</a:t>
            </a:r>
          </a:p>
        </p:txBody>
      </p:sp>
      <p:sp>
        <p:nvSpPr>
          <p:cNvPr id="26" name="TextBox 25"/>
          <p:cNvSpPr txBox="1"/>
          <p:nvPr/>
        </p:nvSpPr>
        <p:spPr>
          <a:xfrm>
            <a:off x="6583680" y="5047488"/>
            <a:ext cx="4983480" cy="502920"/>
          </a:xfrm>
          <a:prstGeom prst="rect">
            <a:avLst/>
          </a:prstGeom>
          <a:noFill/>
          <a:ln>
            <a:noFill/>
          </a:ln>
        </p:spPr>
        <p:txBody>
          <a:bodyPr wrap="square">
            <a:spAutoFit/>
          </a:bodyPr>
          <a:lstStyle/>
          <a:p>
            <a:pPr algn="l"/>
            <a:r>
              <a:rPr sz="1300" b="0" i="0">
                <a:solidFill>
                  <a:srgbClr val="5C5349"/>
                </a:solidFill>
                <a:latin typeface="Libre Franklin"/>
              </a:rPr>
              <a:t>Team operates on informal terms for months before anyone notices.</a:t>
            </a:r>
          </a:p>
        </p:txBody>
      </p:sp>
      <p:sp>
        <p:nvSpPr>
          <p:cNvPr id="27" name="TextBox 26"/>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28" name="TextBox 27"/>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01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02 — STAKEHOLDER MAP</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Who uses this, who might resist, and my read on each</a:t>
            </a:r>
          </a:p>
        </p:txBody>
      </p:sp>
      <p:graphicFrame>
        <p:nvGraphicFramePr>
          <p:cNvPr id="4" name="Table 3"/>
          <p:cNvGraphicFramePr>
            <a:graphicFrameLocks noGrp="1"/>
          </p:cNvGraphicFramePr>
          <p:nvPr/>
        </p:nvGraphicFramePr>
        <p:xfrm>
          <a:off x="457200" y="1691640"/>
          <a:ext cx="11430000" cy="4572000"/>
        </p:xfrm>
        <a:graphic>
          <a:graphicData uri="http://schemas.openxmlformats.org/drawingml/2006/table">
            <a:tbl>
              <a:tblPr firstRow="1" bandRow="1">
                <a:tableStyleId>{5C22544A-7EE6-4342-B048-85BDC9FD1C3A}</a:tableStyleId>
              </a:tblPr>
              <a:tblGrid>
                <a:gridCol w="2377440"/>
                <a:gridCol w="2743200"/>
                <a:gridCol w="6309360"/>
              </a:tblGrid>
              <a:tr h="762000">
                <a:tc>
                  <a:txBody>
                    <a:bodyPr/>
                    <a:lstStyle/>
                    <a:p>
                      <a:pPr algn="l"/>
                      <a:r>
                        <a:rPr sz="900">
                          <a:solidFill>
                            <a:srgbClr val="94897A"/>
                          </a:solidFill>
                          <a:latin typeface="IBM Plex Mono"/>
                        </a:rPr>
                        <a:t>STAKEHOLDER</a:t>
                      </a:r>
                    </a:p>
                  </a:txBody>
                  <a:tcPr>
                    <a:solidFill>
                      <a:srgbClr val="221D17"/>
                    </a:solidFill>
                  </a:tcPr>
                </a:tc>
                <a:tc>
                  <a:txBody>
                    <a:bodyPr/>
                    <a:lstStyle/>
                    <a:p>
                      <a:pPr algn="l"/>
                      <a:r>
                        <a:rPr sz="900">
                          <a:solidFill>
                            <a:srgbClr val="94897A"/>
                          </a:solidFill>
                          <a:latin typeface="IBM Plex Mono"/>
                        </a:rPr>
                        <a:t>WHAT THEY NEED</a:t>
                      </a:r>
                    </a:p>
                  </a:txBody>
                  <a:tcPr>
                    <a:solidFill>
                      <a:srgbClr val="221D17"/>
                    </a:solidFill>
                  </a:tcPr>
                </a:tc>
                <a:tc>
                  <a:txBody>
                    <a:bodyPr/>
                    <a:lstStyle/>
                    <a:p>
                      <a:pPr algn="l"/>
                      <a:r>
                        <a:rPr sz="900">
                          <a:solidFill>
                            <a:srgbClr val="94897A"/>
                          </a:solidFill>
                          <a:latin typeface="IBM Plex Mono"/>
                        </a:rPr>
                        <a:t>MY READ</a:t>
                      </a:r>
                    </a:p>
                  </a:txBody>
                  <a:tcPr>
                    <a:solidFill>
                      <a:srgbClr val="221D17"/>
                    </a:solidFill>
                  </a:tcPr>
                </a:tc>
              </a:tr>
              <a:tr h="762000">
                <a:tc>
                  <a:txBody>
                    <a:bodyPr/>
                    <a:lstStyle/>
                    <a:p>
                      <a:pPr algn="l"/>
                      <a:r>
                        <a:rPr sz="1100">
                          <a:solidFill>
                            <a:srgbClr val="4A443B"/>
                          </a:solidFill>
                          <a:latin typeface="Libre Franklin"/>
                        </a:rPr>
                        <a:t>Procurement Manager</a:t>
                      </a:r>
                    </a:p>
                    <a:p>
                      <a:r>
                        <a:t>Primary user · Internal champion</a:t>
                      </a:r>
                    </a:p>
                  </a:txBody>
                  <a:tcPr>
                    <a:solidFill>
                      <a:srgbClr val="F4EFE7"/>
                    </a:solidFill>
                  </a:tcPr>
                </a:tc>
                <a:tc>
                  <a:txBody>
                    <a:bodyPr/>
                    <a:lstStyle/>
                    <a:p>
                      <a:pPr algn="l"/>
                      <a:r>
                        <a:rPr sz="1100">
                          <a:solidFill>
                            <a:srgbClr val="4A443B"/>
                          </a:solidFill>
                          <a:latin typeface="Libre Franklin"/>
                        </a:rPr>
                        <a:t>Speed + accuracy</a:t>
                      </a:r>
                    </a:p>
                    <a:p>
                      <a:r>
                        <a:t>Visible conflict flags</a:t>
                      </a:r>
                    </a:p>
                  </a:txBody>
                  <a:tcPr>
                    <a:solidFill>
                      <a:srgbClr val="F4EFE7"/>
                    </a:solidFill>
                  </a:tcPr>
                </a:tc>
                <a:tc>
                  <a:txBody>
                    <a:bodyPr/>
                    <a:lstStyle/>
                    <a:p>
                      <a:pPr algn="l"/>
                      <a:r>
                        <a:rPr sz="1100">
                          <a:solidFill>
                            <a:srgbClr val="4A443B"/>
                          </a:solidFill>
                          <a:latin typeface="Libre Franklin"/>
                        </a:rPr>
                        <a:t>Strongest ally — named the problem themselves. Will adopt fast if the first packet catches something real. Risk: one factual error in the demo and trust is hard to rebuild.</a:t>
                      </a:r>
                    </a:p>
                  </a:txBody>
                  <a:tcPr>
                    <a:solidFill>
                      <a:srgbClr val="F4EFE7"/>
                    </a:solidFill>
                  </a:tcPr>
                </a:tc>
              </a:tr>
              <a:tr h="762000">
                <a:tc>
                  <a:txBody>
                    <a:bodyPr/>
                    <a:lstStyle/>
                    <a:p>
                      <a:pPr algn="l"/>
                      <a:r>
                        <a:rPr sz="1100">
                          <a:solidFill>
                            <a:srgbClr val="4A443B"/>
                          </a:solidFill>
                          <a:latin typeface="Libre Franklin"/>
                        </a:rPr>
                        <a:t>Procurement Analyst</a:t>
                      </a:r>
                    </a:p>
                    <a:p>
                      <a:r>
                        <a:t>Day-to-day user · QA reviewer</a:t>
                      </a:r>
                    </a:p>
                  </a:txBody>
                  <a:tcPr>
                    <a:solidFill>
                      <a:srgbClr val="F8F4EE"/>
                    </a:solidFill>
                  </a:tcPr>
                </a:tc>
                <a:tc>
                  <a:txBody>
                    <a:bodyPr/>
                    <a:lstStyle/>
                    <a:p>
                      <a:pPr algn="l"/>
                      <a:r>
                        <a:rPr sz="1100">
                          <a:solidFill>
                            <a:srgbClr val="4A443B"/>
                          </a:solidFill>
                          <a:latin typeface="Libre Franklin"/>
                        </a:rPr>
                        <a:t>Less manual work</a:t>
                      </a:r>
                    </a:p>
                    <a:p>
                      <a:r>
                        <a:t>Enough trust to stake prep on it</a:t>
                      </a:r>
                    </a:p>
                  </a:txBody>
                  <a:tcPr>
                    <a:solidFill>
                      <a:srgbClr val="F8F4EE"/>
                    </a:solidFill>
                  </a:tcPr>
                </a:tc>
                <a:tc>
                  <a:txBody>
                    <a:bodyPr/>
                    <a:lstStyle/>
                    <a:p>
                      <a:pPr algn="l"/>
                      <a:r>
                        <a:rPr sz="1100">
                          <a:solidFill>
                            <a:srgbClr val="4A443B"/>
                          </a:solidFill>
                          <a:latin typeface="Libre Franklin"/>
                        </a:rPr>
                        <a:t>Highest adoption risk. Won't say they feel threatened — they'll say 'the output is wrong' or 'it adds a review step.' Counter: involve them in Phase 1 QA; make corrections visibly theirs.</a:t>
                      </a:r>
                    </a:p>
                  </a:txBody>
                  <a:tcPr>
                    <a:solidFill>
                      <a:srgbClr val="F8F4EE"/>
                    </a:solidFill>
                  </a:tcPr>
                </a:tc>
              </a:tr>
              <a:tr h="762000">
                <a:tc>
                  <a:txBody>
                    <a:bodyPr/>
                    <a:lstStyle/>
                    <a:p>
                      <a:pPr algn="l"/>
                      <a:r>
                        <a:rPr sz="1100">
                          <a:solidFill>
                            <a:srgbClr val="4A443B"/>
                          </a:solidFill>
                          <a:latin typeface="Libre Franklin"/>
                        </a:rPr>
                        <a:t>IT / Systems</a:t>
                      </a:r>
                    </a:p>
                    <a:p>
                      <a:r>
                        <a:t>Enabler for production path</a:t>
                      </a:r>
                    </a:p>
                  </a:txBody>
                  <a:tcPr>
                    <a:solidFill>
                      <a:srgbClr val="F4EFE7"/>
                    </a:solidFill>
                  </a:tcPr>
                </a:tc>
                <a:tc>
                  <a:txBody>
                    <a:bodyPr/>
                    <a:lstStyle/>
                    <a:p>
                      <a:pPr algn="l"/>
                      <a:r>
                        <a:rPr sz="1100">
                          <a:solidFill>
                            <a:srgbClr val="4A443B"/>
                          </a:solidFill>
                          <a:latin typeface="Libre Franklin"/>
                        </a:rPr>
                        <a:t>Security review</a:t>
                      </a:r>
                    </a:p>
                    <a:p>
                      <a:r>
                        <a:t>Data governance</a:t>
                      </a:r>
                    </a:p>
                    <a:p>
                      <a:r>
                        <a:t>API key management</a:t>
                      </a:r>
                    </a:p>
                  </a:txBody>
                  <a:tcPr>
                    <a:solidFill>
                      <a:srgbClr val="F4EFE7"/>
                    </a:solidFill>
                  </a:tcPr>
                </a:tc>
                <a:tc>
                  <a:txBody>
                    <a:bodyPr/>
                    <a:lstStyle/>
                    <a:p>
                      <a:pPr algn="l"/>
                      <a:r>
                        <a:rPr sz="1100">
                          <a:solidFill>
                            <a:srgbClr val="4A443B"/>
                          </a:solidFill>
                          <a:latin typeface="Libre Franklin"/>
                        </a:rPr>
                        <a:t>Not a blocker for the prototype. Critical gating stakeholder for Phase 2 — needs early visibility, not a last-minute ask.</a:t>
                      </a:r>
                    </a:p>
                  </a:txBody>
                  <a:tcPr>
                    <a:solidFill>
                      <a:srgbClr val="F4EFE7"/>
                    </a:solidFill>
                  </a:tcPr>
                </a:tc>
              </a:tr>
              <a:tr h="762000">
                <a:tc>
                  <a:txBody>
                    <a:bodyPr/>
                    <a:lstStyle/>
                    <a:p>
                      <a:pPr algn="l"/>
                      <a:r>
                        <a:rPr sz="1100">
                          <a:solidFill>
                            <a:srgbClr val="4A443B"/>
                          </a:solidFill>
                          <a:latin typeface="Libre Franklin"/>
                        </a:rPr>
                        <a:t>Legal / Compliance</a:t>
                      </a:r>
                    </a:p>
                    <a:p>
                      <a:r>
                        <a:t>Risk owner</a:t>
                      </a:r>
                    </a:p>
                  </a:txBody>
                  <a:tcPr>
                    <a:solidFill>
                      <a:srgbClr val="F8F4EE"/>
                    </a:solidFill>
                  </a:tcPr>
                </a:tc>
                <a:tc>
                  <a:txBody>
                    <a:bodyPr/>
                    <a:lstStyle/>
                    <a:p>
                      <a:pPr algn="l"/>
                      <a:r>
                        <a:rPr sz="1100">
                          <a:solidFill>
                            <a:srgbClr val="4A443B"/>
                          </a:solidFill>
                          <a:latin typeface="Libre Franklin"/>
                        </a:rPr>
                        <a:t>AI output never treated as authoritative without human review</a:t>
                      </a:r>
                    </a:p>
                  </a:txBody>
                  <a:tcPr>
                    <a:solidFill>
                      <a:srgbClr val="F8F4EE"/>
                    </a:solidFill>
                  </a:tcPr>
                </a:tc>
                <a:tc>
                  <a:txBody>
                    <a:bodyPr/>
                    <a:lstStyle/>
                    <a:p>
                      <a:pPr algn="l"/>
                      <a:r>
                        <a:rPr sz="1100">
                          <a:solidFill>
                            <a:srgbClr val="4A443B"/>
                          </a:solidFill>
                          <a:latin typeface="Libre Franklin"/>
                        </a:rPr>
                        <a:t>Potentially cautious. Frame as 'surfaces for review', not 'interprets contracts.' The correction mechanism is the direct answer to their concern.</a:t>
                      </a:r>
                    </a:p>
                  </a:txBody>
                  <a:tcPr>
                    <a:solidFill>
                      <a:srgbClr val="F8F4EE"/>
                    </a:solidFill>
                  </a:tcPr>
                </a:tc>
              </a:tr>
              <a:tr h="762000">
                <a:tc>
                  <a:txBody>
                    <a:bodyPr/>
                    <a:lstStyle/>
                    <a:p>
                      <a:pPr algn="l"/>
                      <a:r>
                        <a:rPr sz="1100">
                          <a:solidFill>
                            <a:srgbClr val="4A443B"/>
                          </a:solidFill>
                          <a:latin typeface="Libre Franklin"/>
                        </a:rPr>
                        <a:t>Finance / CFO</a:t>
                      </a:r>
                    </a:p>
                    <a:p>
                      <a:r>
                        <a:t>Cost approver</a:t>
                      </a:r>
                    </a:p>
                  </a:txBody>
                  <a:tcPr>
                    <a:solidFill>
                      <a:srgbClr val="F4EFE7"/>
                    </a:solidFill>
                  </a:tcPr>
                </a:tc>
                <a:tc>
                  <a:txBody>
                    <a:bodyPr/>
                    <a:lstStyle/>
                    <a:p>
                      <a:pPr algn="l"/>
                      <a:r>
                        <a:rPr sz="1100">
                          <a:solidFill>
                            <a:srgbClr val="4A443B"/>
                          </a:solidFill>
                          <a:latin typeface="Libre Franklin"/>
                        </a:rPr>
                        <a:t>Measurable ROI in 90 days</a:t>
                      </a:r>
                    </a:p>
                  </a:txBody>
                  <a:tcPr>
                    <a:solidFill>
                      <a:srgbClr val="F4EFE7"/>
                    </a:solidFill>
                  </a:tcPr>
                </a:tc>
                <a:tc>
                  <a:txBody>
                    <a:bodyPr/>
                    <a:lstStyle/>
                    <a:p>
                      <a:pPr algn="l"/>
                      <a:r>
                        <a:rPr sz="1100">
                          <a:solidFill>
                            <a:srgbClr val="4A443B"/>
                          </a:solidFill>
                          <a:latin typeface="Libre Franklin"/>
                        </a:rPr>
                        <a:t>Not a day-one stakeholder — bring the ROI case at month 3. Lead with labor-cost avoidance (conservative, auditable), not speculative negotiation savings.</a:t>
                      </a:r>
                    </a:p>
                  </a:txBody>
                  <a:tcPr>
                    <a:solidFill>
                      <a:srgbClr val="F4EFE7"/>
                    </a:solidFill>
                  </a:tcPr>
                </a:tc>
              </a:tr>
            </a:tbl>
          </a:graphicData>
        </a:graphic>
      </p:graphicFrame>
      <p:sp>
        <p:nvSpPr>
          <p:cNvPr id="5" name="TextBox 4"/>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6" name="TextBox 5"/>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02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03 — WEEK 1 PLAN</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Five things to do before touching any technology</a:t>
            </a:r>
          </a:p>
        </p:txBody>
      </p:sp>
      <p:sp>
        <p:nvSpPr>
          <p:cNvPr id="4" name="TextBox 3"/>
          <p:cNvSpPr txBox="1"/>
          <p:nvPr/>
        </p:nvSpPr>
        <p:spPr>
          <a:xfrm>
            <a:off x="457200" y="1783080"/>
            <a:ext cx="502920" cy="640080"/>
          </a:xfrm>
          <a:prstGeom prst="rect">
            <a:avLst/>
          </a:prstGeom>
          <a:noFill/>
          <a:ln>
            <a:noFill/>
          </a:ln>
        </p:spPr>
        <p:txBody>
          <a:bodyPr wrap="square">
            <a:spAutoFit/>
          </a:bodyPr>
          <a:lstStyle/>
          <a:p>
            <a:pPr algn="l"/>
            <a:r>
              <a:rPr sz="3200" b="0" i="0">
                <a:solidFill>
                  <a:srgbClr val="B23B26"/>
                </a:solidFill>
                <a:latin typeface="Newsreader"/>
              </a:rPr>
              <a:t>1</a:t>
            </a:r>
          </a:p>
        </p:txBody>
      </p:sp>
      <p:sp>
        <p:nvSpPr>
          <p:cNvPr id="5" name="TextBox 4"/>
          <p:cNvSpPr txBox="1"/>
          <p:nvPr/>
        </p:nvSpPr>
        <p:spPr>
          <a:xfrm>
            <a:off x="1005840" y="1783080"/>
            <a:ext cx="3474720" cy="292608"/>
          </a:xfrm>
          <a:prstGeom prst="rect">
            <a:avLst/>
          </a:prstGeom>
          <a:noFill/>
          <a:ln>
            <a:noFill/>
          </a:ln>
        </p:spPr>
        <p:txBody>
          <a:bodyPr wrap="square">
            <a:spAutoFit/>
          </a:bodyPr>
          <a:lstStyle/>
          <a:p>
            <a:pPr algn="l"/>
            <a:r>
              <a:rPr sz="1400" b="1" i="0">
                <a:solidFill>
                  <a:srgbClr val="221D17"/>
                </a:solidFill>
                <a:latin typeface="Libre Franklin"/>
              </a:rPr>
              <a:t>Shadow a prep session in real time</a:t>
            </a:r>
          </a:p>
        </p:txBody>
      </p:sp>
      <p:sp>
        <p:nvSpPr>
          <p:cNvPr id="6" name="TextBox 5"/>
          <p:cNvSpPr txBox="1"/>
          <p:nvPr/>
        </p:nvSpPr>
        <p:spPr>
          <a:xfrm>
            <a:off x="4663440" y="1783080"/>
            <a:ext cx="7315200" cy="731520"/>
          </a:xfrm>
          <a:prstGeom prst="rect">
            <a:avLst/>
          </a:prstGeom>
          <a:noFill/>
          <a:ln>
            <a:noFill/>
          </a:ln>
        </p:spPr>
        <p:txBody>
          <a:bodyPr wrap="square">
            <a:spAutoFit/>
          </a:bodyPr>
          <a:lstStyle/>
          <a:p>
            <a:pPr algn="l"/>
            <a:r>
              <a:rPr sz="1200" b="0" i="0">
                <a:solidFill>
                  <a:srgbClr val="544C42"/>
                </a:solidFill>
                <a:latin typeface="Libre Franklin"/>
              </a:rPr>
              <a:t>Sit next to an analyst preparing for a real upcoming meeting. Don’t ask them to describe the process — watch them do it. The stated process and the actual process are almost always different.</a:t>
            </a:r>
          </a:p>
        </p:txBody>
      </p:sp>
      <p:sp>
        <p:nvSpPr>
          <p:cNvPr id="7" name="TextBox 6"/>
          <p:cNvSpPr txBox="1"/>
          <p:nvPr/>
        </p:nvSpPr>
        <p:spPr>
          <a:xfrm>
            <a:off x="457200" y="2679191"/>
            <a:ext cx="502920" cy="640080"/>
          </a:xfrm>
          <a:prstGeom prst="rect">
            <a:avLst/>
          </a:prstGeom>
          <a:noFill/>
          <a:ln>
            <a:noFill/>
          </a:ln>
        </p:spPr>
        <p:txBody>
          <a:bodyPr wrap="square">
            <a:spAutoFit/>
          </a:bodyPr>
          <a:lstStyle/>
          <a:p>
            <a:pPr algn="l"/>
            <a:r>
              <a:rPr sz="3200" b="0" i="0">
                <a:solidFill>
                  <a:srgbClr val="B23B26"/>
                </a:solidFill>
                <a:latin typeface="Newsreader"/>
              </a:rPr>
              <a:t>2</a:t>
            </a:r>
          </a:p>
        </p:txBody>
      </p:sp>
      <p:sp>
        <p:nvSpPr>
          <p:cNvPr id="8" name="TextBox 7"/>
          <p:cNvSpPr txBox="1"/>
          <p:nvPr/>
        </p:nvSpPr>
        <p:spPr>
          <a:xfrm>
            <a:off x="1005840" y="2679191"/>
            <a:ext cx="3474720" cy="292608"/>
          </a:xfrm>
          <a:prstGeom prst="rect">
            <a:avLst/>
          </a:prstGeom>
          <a:noFill/>
          <a:ln>
            <a:noFill/>
          </a:ln>
        </p:spPr>
        <p:txBody>
          <a:bodyPr wrap="square">
            <a:spAutoFit/>
          </a:bodyPr>
          <a:lstStyle/>
          <a:p>
            <a:pPr algn="l"/>
            <a:r>
              <a:rPr sz="1400" b="1" i="0">
                <a:solidFill>
                  <a:srgbClr val="221D17"/>
                </a:solidFill>
                <a:latin typeface="Libre Franklin"/>
              </a:rPr>
              <a:t>Interview the Procurement Manager separately</a:t>
            </a:r>
          </a:p>
        </p:txBody>
      </p:sp>
      <p:sp>
        <p:nvSpPr>
          <p:cNvPr id="9" name="TextBox 8"/>
          <p:cNvSpPr txBox="1"/>
          <p:nvPr/>
        </p:nvSpPr>
        <p:spPr>
          <a:xfrm>
            <a:off x="4663440" y="2679191"/>
            <a:ext cx="7315200" cy="731520"/>
          </a:xfrm>
          <a:prstGeom prst="rect">
            <a:avLst/>
          </a:prstGeom>
          <a:noFill/>
          <a:ln>
            <a:noFill/>
          </a:ln>
        </p:spPr>
        <p:txBody>
          <a:bodyPr wrap="square">
            <a:spAutoFit/>
          </a:bodyPr>
          <a:lstStyle/>
          <a:p>
            <a:pPr algn="l"/>
            <a:r>
              <a:rPr sz="1200" b="0" i="0">
                <a:solidFill>
                  <a:srgbClr val="544C42"/>
                </a:solidFill>
                <a:latin typeface="Libre Franklin"/>
              </a:rPr>
              <a:t>Ask: what has gone wrong in a meeting because prep was incomplete? Which suppliers worry you most walking in? What would a perfect prep page look like?</a:t>
            </a:r>
          </a:p>
        </p:txBody>
      </p:sp>
      <p:sp>
        <p:nvSpPr>
          <p:cNvPr id="10" name="TextBox 9"/>
          <p:cNvSpPr txBox="1"/>
          <p:nvPr/>
        </p:nvSpPr>
        <p:spPr>
          <a:xfrm>
            <a:off x="457200" y="3575304"/>
            <a:ext cx="502920" cy="640080"/>
          </a:xfrm>
          <a:prstGeom prst="rect">
            <a:avLst/>
          </a:prstGeom>
          <a:noFill/>
          <a:ln>
            <a:noFill/>
          </a:ln>
        </p:spPr>
        <p:txBody>
          <a:bodyPr wrap="square">
            <a:spAutoFit/>
          </a:bodyPr>
          <a:lstStyle/>
          <a:p>
            <a:pPr algn="l"/>
            <a:r>
              <a:rPr sz="3200" b="0" i="0">
                <a:solidFill>
                  <a:srgbClr val="B23B26"/>
                </a:solidFill>
                <a:latin typeface="Newsreader"/>
              </a:rPr>
              <a:t>3</a:t>
            </a:r>
          </a:p>
        </p:txBody>
      </p:sp>
      <p:sp>
        <p:nvSpPr>
          <p:cNvPr id="11" name="TextBox 10"/>
          <p:cNvSpPr txBox="1"/>
          <p:nvPr/>
        </p:nvSpPr>
        <p:spPr>
          <a:xfrm>
            <a:off x="1005840" y="3575304"/>
            <a:ext cx="3474720" cy="292608"/>
          </a:xfrm>
          <a:prstGeom prst="rect">
            <a:avLst/>
          </a:prstGeom>
          <a:noFill/>
          <a:ln>
            <a:noFill/>
          </a:ln>
        </p:spPr>
        <p:txBody>
          <a:bodyPr wrap="square">
            <a:spAutoFit/>
          </a:bodyPr>
          <a:lstStyle/>
          <a:p>
            <a:pPr algn="l"/>
            <a:r>
              <a:rPr sz="1400" b="1" i="0">
                <a:solidFill>
                  <a:srgbClr val="221D17"/>
                </a:solidFill>
                <a:latin typeface="Libre Franklin"/>
              </a:rPr>
              <a:t>Audit the actual data sources — not descriptions of them</a:t>
            </a:r>
          </a:p>
        </p:txBody>
      </p:sp>
      <p:sp>
        <p:nvSpPr>
          <p:cNvPr id="12" name="TextBox 11"/>
          <p:cNvSpPr txBox="1"/>
          <p:nvPr/>
        </p:nvSpPr>
        <p:spPr>
          <a:xfrm>
            <a:off x="4663440" y="3575304"/>
            <a:ext cx="7315200" cy="731520"/>
          </a:xfrm>
          <a:prstGeom prst="rect">
            <a:avLst/>
          </a:prstGeom>
          <a:noFill/>
          <a:ln>
            <a:noFill/>
          </a:ln>
        </p:spPr>
        <p:txBody>
          <a:bodyPr wrap="square">
            <a:spAutoFit/>
          </a:bodyPr>
          <a:lstStyle/>
          <a:p>
            <a:pPr algn="l"/>
            <a:r>
              <a:rPr sz="1200" b="0" i="0">
                <a:solidFill>
                  <a:srgbClr val="544C42"/>
                </a:solidFill>
                <a:latin typeface="Libre Franklin"/>
              </a:rPr>
              <a:t>Request read-only access to one supplier email thread, one contract, and the price benchmark sheet. You cannot design a robust extraction layer without seeing the raw mess.</a:t>
            </a:r>
          </a:p>
        </p:txBody>
      </p:sp>
      <p:sp>
        <p:nvSpPr>
          <p:cNvPr id="13" name="TextBox 12"/>
          <p:cNvSpPr txBox="1"/>
          <p:nvPr/>
        </p:nvSpPr>
        <p:spPr>
          <a:xfrm>
            <a:off x="457200" y="4471416"/>
            <a:ext cx="502920" cy="640080"/>
          </a:xfrm>
          <a:prstGeom prst="rect">
            <a:avLst/>
          </a:prstGeom>
          <a:noFill/>
          <a:ln>
            <a:noFill/>
          </a:ln>
        </p:spPr>
        <p:txBody>
          <a:bodyPr wrap="square">
            <a:spAutoFit/>
          </a:bodyPr>
          <a:lstStyle/>
          <a:p>
            <a:pPr algn="l"/>
            <a:r>
              <a:rPr sz="3200" b="0" i="0">
                <a:solidFill>
                  <a:srgbClr val="B23B26"/>
                </a:solidFill>
                <a:latin typeface="Newsreader"/>
              </a:rPr>
              <a:t>4</a:t>
            </a:r>
          </a:p>
        </p:txBody>
      </p:sp>
      <p:sp>
        <p:nvSpPr>
          <p:cNvPr id="14" name="TextBox 13"/>
          <p:cNvSpPr txBox="1"/>
          <p:nvPr/>
        </p:nvSpPr>
        <p:spPr>
          <a:xfrm>
            <a:off x="1005840" y="4471416"/>
            <a:ext cx="3474720" cy="292608"/>
          </a:xfrm>
          <a:prstGeom prst="rect">
            <a:avLst/>
          </a:prstGeom>
          <a:noFill/>
          <a:ln>
            <a:noFill/>
          </a:ln>
        </p:spPr>
        <p:txBody>
          <a:bodyPr wrap="square">
            <a:spAutoFit/>
          </a:bodyPr>
          <a:lstStyle/>
          <a:p>
            <a:pPr algn="l"/>
            <a:r>
              <a:rPr sz="1400" b="1" i="0">
                <a:solidFill>
                  <a:srgbClr val="221D17"/>
                </a:solidFill>
                <a:latin typeface="Libre Franklin"/>
              </a:rPr>
              <a:t>Map a good packet by working backwards</a:t>
            </a:r>
          </a:p>
        </p:txBody>
      </p:sp>
      <p:sp>
        <p:nvSpPr>
          <p:cNvPr id="15" name="TextBox 14"/>
          <p:cNvSpPr txBox="1"/>
          <p:nvPr/>
        </p:nvSpPr>
        <p:spPr>
          <a:xfrm>
            <a:off x="4663440" y="4471416"/>
            <a:ext cx="7315200" cy="731520"/>
          </a:xfrm>
          <a:prstGeom prst="rect">
            <a:avLst/>
          </a:prstGeom>
          <a:noFill/>
          <a:ln>
            <a:noFill/>
          </a:ln>
        </p:spPr>
        <p:txBody>
          <a:bodyPr wrap="square">
            <a:spAutoFit/>
          </a:bodyPr>
          <a:lstStyle/>
          <a:p>
            <a:pPr algn="l"/>
            <a:r>
              <a:rPr sz="1200" b="0" i="0">
                <a:solidFill>
                  <a:srgbClr val="544C42"/>
                </a:solidFill>
                <a:latin typeface="Libre Franklin"/>
              </a:rPr>
              <a:t>Pick the three highest-stakes upcoming meetings. Ask the manager: if you had one page of perfect context walking in, what would be on it? Build to that answer, not a generic template.</a:t>
            </a:r>
          </a:p>
        </p:txBody>
      </p:sp>
      <p:sp>
        <p:nvSpPr>
          <p:cNvPr id="16" name="TextBox 15"/>
          <p:cNvSpPr txBox="1"/>
          <p:nvPr/>
        </p:nvSpPr>
        <p:spPr>
          <a:xfrm>
            <a:off x="457200" y="5367528"/>
            <a:ext cx="502920" cy="640080"/>
          </a:xfrm>
          <a:prstGeom prst="rect">
            <a:avLst/>
          </a:prstGeom>
          <a:noFill/>
          <a:ln>
            <a:noFill/>
          </a:ln>
        </p:spPr>
        <p:txBody>
          <a:bodyPr wrap="square">
            <a:spAutoFit/>
          </a:bodyPr>
          <a:lstStyle/>
          <a:p>
            <a:pPr algn="l"/>
            <a:r>
              <a:rPr sz="3200" b="0" i="0">
                <a:solidFill>
                  <a:srgbClr val="B23B26"/>
                </a:solidFill>
                <a:latin typeface="Newsreader"/>
              </a:rPr>
              <a:t>5</a:t>
            </a:r>
          </a:p>
        </p:txBody>
      </p:sp>
      <p:sp>
        <p:nvSpPr>
          <p:cNvPr id="17" name="TextBox 16"/>
          <p:cNvSpPr txBox="1"/>
          <p:nvPr/>
        </p:nvSpPr>
        <p:spPr>
          <a:xfrm>
            <a:off x="1005840" y="5367528"/>
            <a:ext cx="3474720" cy="292608"/>
          </a:xfrm>
          <a:prstGeom prst="rect">
            <a:avLst/>
          </a:prstGeom>
          <a:noFill/>
          <a:ln>
            <a:noFill/>
          </a:ln>
        </p:spPr>
        <p:txBody>
          <a:bodyPr wrap="square">
            <a:spAutoFit/>
          </a:bodyPr>
          <a:lstStyle/>
          <a:p>
            <a:pPr algn="l"/>
            <a:r>
              <a:rPr sz="1400" b="1" i="0">
                <a:solidFill>
                  <a:srgbClr val="221D17"/>
                </a:solidFill>
                <a:latin typeface="Libre Franklin"/>
              </a:rPr>
              <a:t>Identify the first real meeting to demo against</a:t>
            </a:r>
          </a:p>
        </p:txBody>
      </p:sp>
      <p:sp>
        <p:nvSpPr>
          <p:cNvPr id="18" name="TextBox 17"/>
          <p:cNvSpPr txBox="1"/>
          <p:nvPr/>
        </p:nvSpPr>
        <p:spPr>
          <a:xfrm>
            <a:off x="4663440" y="5367528"/>
            <a:ext cx="7315200" cy="731520"/>
          </a:xfrm>
          <a:prstGeom prst="rect">
            <a:avLst/>
          </a:prstGeom>
          <a:noFill/>
          <a:ln>
            <a:noFill/>
          </a:ln>
        </p:spPr>
        <p:txBody>
          <a:bodyPr wrap="square">
            <a:spAutoFit/>
          </a:bodyPr>
          <a:lstStyle/>
          <a:p>
            <a:pPr algn="l"/>
            <a:r>
              <a:rPr sz="1200" b="0" i="0">
                <a:solidFill>
                  <a:srgbClr val="544C42"/>
                </a:solidFill>
                <a:latin typeface="Libre Franklin"/>
              </a:rPr>
              <a:t>Before building anything, agree on a specific upcoming meeting as the Phase 1 success test. The first demo must be something the manager actually cares about walking into.</a:t>
            </a:r>
          </a:p>
        </p:txBody>
      </p:sp>
      <p:sp>
        <p:nvSpPr>
          <p:cNvPr id="19" name="TextBox 18"/>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20" name="TextBox 19"/>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03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04 — WHAT I BUILT</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One tool. One job. One page per meeting.</a:t>
            </a:r>
          </a:p>
        </p:txBody>
      </p:sp>
      <p:sp>
        <p:nvSpPr>
          <p:cNvPr id="4" name="TextBox 3"/>
          <p:cNvSpPr txBox="1"/>
          <p:nvPr/>
        </p:nvSpPr>
        <p:spPr>
          <a:xfrm>
            <a:off x="457200" y="1783080"/>
            <a:ext cx="11430000" cy="914400"/>
          </a:xfrm>
          <a:prstGeom prst="rect">
            <a:avLst/>
          </a:prstGeom>
          <a:noFill/>
          <a:ln>
            <a:noFill/>
          </a:ln>
        </p:spPr>
        <p:txBody>
          <a:bodyPr wrap="square">
            <a:spAutoFit/>
          </a:bodyPr>
          <a:lstStyle/>
          <a:p>
            <a:pPr algn="l"/>
            <a:r>
              <a:rPr sz="2200" b="0" i="0">
                <a:solidFill>
                  <a:srgbClr val="2A241D"/>
                </a:solidFill>
                <a:latin typeface="Newsreader"/>
              </a:rPr>
              <a:t>An AI-generated one-page briefing, produced automatically before every supplier meeting — pulling email history, contract terms and the commodity price benchmark into a single view, with every claim traceable to its source.</a:t>
            </a:r>
          </a:p>
        </p:txBody>
      </p:sp>
      <p:sp>
        <p:nvSpPr>
          <p:cNvPr id="5" name="Rectangle 4"/>
          <p:cNvSpPr/>
          <p:nvPr/>
        </p:nvSpPr>
        <p:spPr>
          <a:xfrm>
            <a:off x="457200" y="2834640"/>
            <a:ext cx="4572000" cy="384048"/>
          </a:xfrm>
          <a:prstGeom prst="rect">
            <a:avLst/>
          </a:prstGeom>
          <a:solidFill>
            <a:srgbClr val="221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880360"/>
            <a:ext cx="4389120" cy="292608"/>
          </a:xfrm>
          <a:prstGeom prst="rect">
            <a:avLst/>
          </a:prstGeom>
          <a:noFill/>
          <a:ln>
            <a:noFill/>
          </a:ln>
        </p:spPr>
        <p:txBody>
          <a:bodyPr wrap="square">
            <a:spAutoFit/>
          </a:bodyPr>
          <a:lstStyle/>
          <a:p>
            <a:pPr algn="l"/>
            <a:r>
              <a:rPr sz="1300" b="0" i="0">
                <a:solidFill>
                  <a:srgbClr val="F1ECE2"/>
                </a:solidFill>
                <a:latin typeface="IBM Plex Mono"/>
              </a:rPr>
              <a:t>▶  strauss-procurement.streamlit.app</a:t>
            </a:r>
          </a:p>
        </p:txBody>
      </p:sp>
      <p:sp>
        <p:nvSpPr>
          <p:cNvPr id="7" name="Rectangle 6"/>
          <p:cNvSpPr/>
          <p:nvPr/>
        </p:nvSpPr>
        <p:spPr>
          <a:xfrm>
            <a:off x="457200" y="3383280"/>
            <a:ext cx="3749039" cy="22860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493008"/>
            <a:ext cx="3474720" cy="256032"/>
          </a:xfrm>
          <a:prstGeom prst="rect">
            <a:avLst/>
          </a:prstGeom>
          <a:noFill/>
          <a:ln>
            <a:noFill/>
          </a:ln>
        </p:spPr>
        <p:txBody>
          <a:bodyPr wrap="square">
            <a:spAutoFit/>
          </a:bodyPr>
          <a:lstStyle/>
          <a:p>
            <a:pPr algn="l"/>
            <a:r>
              <a:rPr sz="1100" b="0" i="0">
                <a:solidFill>
                  <a:srgbClr val="B23B26"/>
                </a:solidFill>
                <a:latin typeface="IBM Plex Mono"/>
              </a:rPr>
              <a:t>EMAILS</a:t>
            </a:r>
          </a:p>
        </p:txBody>
      </p:sp>
      <p:sp>
        <p:nvSpPr>
          <p:cNvPr id="9" name="TextBox 8"/>
          <p:cNvSpPr txBox="1"/>
          <p:nvPr/>
        </p:nvSpPr>
        <p:spPr>
          <a:xfrm>
            <a:off x="640080" y="3794760"/>
            <a:ext cx="3428999" cy="1645920"/>
          </a:xfrm>
          <a:prstGeom prst="rect">
            <a:avLst/>
          </a:prstGeom>
          <a:noFill/>
          <a:ln>
            <a:noFill/>
          </a:ln>
        </p:spPr>
        <p:txBody>
          <a:bodyPr wrap="square">
            <a:spAutoFit/>
          </a:bodyPr>
          <a:lstStyle/>
          <a:p>
            <a:pPr algn="l"/>
            <a:r>
              <a:rPr sz="1400" b="0" i="0">
                <a:solidFill>
                  <a:srgbClr val="403A30"/>
                </a:solidFill>
                <a:latin typeface="Libre Franklin"/>
              </a:rPr>
              <a:t>Summarises six months of supplier threads. Flags open disputes, unanswered threads and price quotes.</a:t>
            </a:r>
          </a:p>
        </p:txBody>
      </p:sp>
      <p:sp>
        <p:nvSpPr>
          <p:cNvPr id="10" name="Rectangle 9"/>
          <p:cNvSpPr/>
          <p:nvPr/>
        </p:nvSpPr>
        <p:spPr>
          <a:xfrm>
            <a:off x="4334255" y="3383280"/>
            <a:ext cx="3749039" cy="22860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3493008"/>
            <a:ext cx="3474720" cy="256032"/>
          </a:xfrm>
          <a:prstGeom prst="rect">
            <a:avLst/>
          </a:prstGeom>
          <a:noFill/>
          <a:ln>
            <a:noFill/>
          </a:ln>
        </p:spPr>
        <p:txBody>
          <a:bodyPr wrap="square">
            <a:spAutoFit/>
          </a:bodyPr>
          <a:lstStyle/>
          <a:p>
            <a:pPr algn="l"/>
            <a:r>
              <a:rPr sz="1100" b="0" i="0">
                <a:solidFill>
                  <a:srgbClr val="B23B26"/>
                </a:solidFill>
                <a:latin typeface="IBM Plex Mono"/>
              </a:rPr>
              <a:t>CONTRACTS</a:t>
            </a:r>
          </a:p>
        </p:txBody>
      </p:sp>
      <p:sp>
        <p:nvSpPr>
          <p:cNvPr id="12" name="TextBox 11"/>
          <p:cNvSpPr txBox="1"/>
          <p:nvPr/>
        </p:nvSpPr>
        <p:spPr>
          <a:xfrm>
            <a:off x="4517136" y="3794760"/>
            <a:ext cx="3428999" cy="1645920"/>
          </a:xfrm>
          <a:prstGeom prst="rect">
            <a:avLst/>
          </a:prstGeom>
          <a:noFill/>
          <a:ln>
            <a:noFill/>
          </a:ln>
        </p:spPr>
        <p:txBody>
          <a:bodyPr wrap="square">
            <a:spAutoFit/>
          </a:bodyPr>
          <a:lstStyle/>
          <a:p>
            <a:pPr algn="l"/>
            <a:r>
              <a:rPr sz="1400" b="0" i="0">
                <a:solidFill>
                  <a:srgbClr val="403A30"/>
                </a:solidFill>
                <a:latin typeface="Libre Franklin"/>
              </a:rPr>
              <a:t>Extracts payment terms, volume commitments, penalty clauses and renewal dates from the active contract version.</a:t>
            </a:r>
          </a:p>
        </p:txBody>
      </p:sp>
      <p:sp>
        <p:nvSpPr>
          <p:cNvPr id="13" name="Rectangle 12"/>
          <p:cNvSpPr/>
          <p:nvPr/>
        </p:nvSpPr>
        <p:spPr>
          <a:xfrm>
            <a:off x="8211311" y="3383280"/>
            <a:ext cx="3749039" cy="22860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94191" y="3493008"/>
            <a:ext cx="3474720" cy="256032"/>
          </a:xfrm>
          <a:prstGeom prst="rect">
            <a:avLst/>
          </a:prstGeom>
          <a:noFill/>
          <a:ln>
            <a:noFill/>
          </a:ln>
        </p:spPr>
        <p:txBody>
          <a:bodyPr wrap="square">
            <a:spAutoFit/>
          </a:bodyPr>
          <a:lstStyle/>
          <a:p>
            <a:pPr algn="l"/>
            <a:r>
              <a:rPr sz="1100" b="0" i="0">
                <a:solidFill>
                  <a:srgbClr val="B23B26"/>
                </a:solidFill>
                <a:latin typeface="IBM Plex Mono"/>
              </a:rPr>
              <a:t>PRICES</a:t>
            </a:r>
          </a:p>
        </p:txBody>
      </p:sp>
      <p:sp>
        <p:nvSpPr>
          <p:cNvPr id="15" name="TextBox 14"/>
          <p:cNvSpPr txBox="1"/>
          <p:nvPr/>
        </p:nvSpPr>
        <p:spPr>
          <a:xfrm>
            <a:off x="8394191" y="3794760"/>
            <a:ext cx="3428999" cy="1645920"/>
          </a:xfrm>
          <a:prstGeom prst="rect">
            <a:avLst/>
          </a:prstGeom>
          <a:noFill/>
          <a:ln>
            <a:noFill/>
          </a:ln>
        </p:spPr>
        <p:txBody>
          <a:bodyPr wrap="square">
            <a:spAutoFit/>
          </a:bodyPr>
          <a:lstStyle/>
          <a:p>
            <a:pPr algn="l"/>
            <a:r>
              <a:rPr sz="1400" b="0" i="0">
                <a:solidFill>
                  <a:srgbClr val="403A30"/>
                </a:solidFill>
                <a:latin typeface="Libre Franklin"/>
              </a:rPr>
              <a:t>Adds the live commodity benchmark — cocoa, sugar, dairy — so the manager knows where the market sits before walking in.</a:t>
            </a:r>
          </a:p>
        </p:txBody>
      </p:sp>
      <p:sp>
        <p:nvSpPr>
          <p:cNvPr id="16" name="TextBox 15"/>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17" name="TextBox 16"/>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04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05 — WHAT I CONSIDERED &amp; REJECTED</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Every design decision has a tradeoff — these were mine</a:t>
            </a:r>
          </a:p>
        </p:txBody>
      </p:sp>
      <p:sp>
        <p:nvSpPr>
          <p:cNvPr id="4" name="TextBox 3"/>
          <p:cNvSpPr txBox="1"/>
          <p:nvPr/>
        </p:nvSpPr>
        <p:spPr>
          <a:xfrm>
            <a:off x="457200" y="1737360"/>
            <a:ext cx="2926080" cy="228600"/>
          </a:xfrm>
          <a:prstGeom prst="rect">
            <a:avLst/>
          </a:prstGeom>
          <a:noFill/>
          <a:ln>
            <a:noFill/>
          </a:ln>
        </p:spPr>
        <p:txBody>
          <a:bodyPr wrap="square">
            <a:spAutoFit/>
          </a:bodyPr>
          <a:lstStyle/>
          <a:p>
            <a:pPr algn="l"/>
            <a:r>
              <a:rPr sz="900" b="0" i="0">
                <a:solidFill>
                  <a:srgbClr val="94897A"/>
                </a:solidFill>
                <a:latin typeface="IBM Plex Mono"/>
              </a:rPr>
              <a:t>WHAT I CONSIDERED</a:t>
            </a:r>
          </a:p>
        </p:txBody>
      </p:sp>
      <p:sp>
        <p:nvSpPr>
          <p:cNvPr id="5" name="TextBox 4"/>
          <p:cNvSpPr txBox="1"/>
          <p:nvPr/>
        </p:nvSpPr>
        <p:spPr>
          <a:xfrm>
            <a:off x="3429000" y="1737360"/>
            <a:ext cx="4389120" cy="228600"/>
          </a:xfrm>
          <a:prstGeom prst="rect">
            <a:avLst/>
          </a:prstGeom>
          <a:noFill/>
          <a:ln>
            <a:noFill/>
          </a:ln>
        </p:spPr>
        <p:txBody>
          <a:bodyPr wrap="square">
            <a:spAutoFit/>
          </a:bodyPr>
          <a:lstStyle/>
          <a:p>
            <a:pPr algn="l"/>
            <a:r>
              <a:rPr sz="900" b="0" i="0">
                <a:solidFill>
                  <a:srgbClr val="94897A"/>
                </a:solidFill>
                <a:latin typeface="IBM Plex Mono"/>
              </a:rPr>
              <a:t>REJECTED BECAUSE</a:t>
            </a:r>
          </a:p>
        </p:txBody>
      </p:sp>
      <p:sp>
        <p:nvSpPr>
          <p:cNvPr id="6" name="TextBox 5"/>
          <p:cNvSpPr txBox="1"/>
          <p:nvPr/>
        </p:nvSpPr>
        <p:spPr>
          <a:xfrm>
            <a:off x="7863840" y="1737360"/>
            <a:ext cx="4297680" cy="228600"/>
          </a:xfrm>
          <a:prstGeom prst="rect">
            <a:avLst/>
          </a:prstGeom>
          <a:noFill/>
          <a:ln>
            <a:noFill/>
          </a:ln>
        </p:spPr>
        <p:txBody>
          <a:bodyPr wrap="square">
            <a:spAutoFit/>
          </a:bodyPr>
          <a:lstStyle/>
          <a:p>
            <a:pPr algn="l"/>
            <a:r>
              <a:rPr sz="900" b="0" i="0">
                <a:solidFill>
                  <a:srgbClr val="5E7350"/>
                </a:solidFill>
                <a:latin typeface="IBM Plex Mono"/>
              </a:rPr>
              <a:t>TRADEOFF ACCEPTED</a:t>
            </a:r>
          </a:p>
        </p:txBody>
      </p:sp>
      <p:sp>
        <p:nvSpPr>
          <p:cNvPr id="7" name="Rectangle 6"/>
          <p:cNvSpPr/>
          <p:nvPr/>
        </p:nvSpPr>
        <p:spPr>
          <a:xfrm>
            <a:off x="457200" y="1993392"/>
            <a:ext cx="11430000" cy="18288"/>
          </a:xfrm>
          <a:prstGeom prst="rect">
            <a:avLst/>
          </a:prstGeom>
          <a:solidFill>
            <a:srgbClr val="221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075688"/>
            <a:ext cx="2834640" cy="685800"/>
          </a:xfrm>
          <a:prstGeom prst="rect">
            <a:avLst/>
          </a:prstGeom>
          <a:noFill/>
          <a:ln>
            <a:noFill/>
          </a:ln>
        </p:spPr>
        <p:txBody>
          <a:bodyPr wrap="square">
            <a:spAutoFit/>
          </a:bodyPr>
          <a:lstStyle/>
          <a:p>
            <a:pPr algn="l"/>
            <a:r>
              <a:rPr sz="1500" b="1" i="0">
                <a:solidFill>
                  <a:srgbClr val="221D17"/>
                </a:solidFill>
                <a:latin typeface="Newsreader"/>
              </a:rPr>
              <a:t>Commodity pricing dashboard</a:t>
            </a:r>
          </a:p>
        </p:txBody>
      </p:sp>
      <p:sp>
        <p:nvSpPr>
          <p:cNvPr id="9" name="TextBox 8"/>
          <p:cNvSpPr txBox="1"/>
          <p:nvPr/>
        </p:nvSpPr>
        <p:spPr>
          <a:xfrm>
            <a:off x="3429000" y="2075688"/>
            <a:ext cx="4297680" cy="731520"/>
          </a:xfrm>
          <a:prstGeom prst="rect">
            <a:avLst/>
          </a:prstGeom>
          <a:noFill/>
          <a:ln>
            <a:noFill/>
          </a:ln>
        </p:spPr>
        <p:txBody>
          <a:bodyPr wrap="square">
            <a:spAutoFit/>
          </a:bodyPr>
          <a:lstStyle/>
          <a:p>
            <a:pPr algn="l"/>
            <a:r>
              <a:rPr sz="1200" b="0" i="0">
                <a:solidFill>
                  <a:srgbClr val="4A443B"/>
                </a:solidFill>
                <a:latin typeface="Libre Franklin"/>
              </a:rPr>
              <a:t>Answers an adjacent problem, not the stated pain point. The most obvious build — every candidate goes here.</a:t>
            </a:r>
          </a:p>
        </p:txBody>
      </p:sp>
      <p:sp>
        <p:nvSpPr>
          <p:cNvPr id="10" name="Rectangle 9"/>
          <p:cNvSpPr/>
          <p:nvPr/>
        </p:nvSpPr>
        <p:spPr>
          <a:xfrm>
            <a:off x="7818120" y="2075688"/>
            <a:ext cx="27432" cy="640080"/>
          </a:xfrm>
          <a:prstGeom prst="rect">
            <a:avLst/>
          </a:prstGeom>
          <a:solidFill>
            <a:srgbClr val="C3D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2075688"/>
            <a:ext cx="3977639" cy="731520"/>
          </a:xfrm>
          <a:prstGeom prst="rect">
            <a:avLst/>
          </a:prstGeom>
          <a:noFill/>
          <a:ln>
            <a:noFill/>
          </a:ln>
        </p:spPr>
        <p:txBody>
          <a:bodyPr wrap="square">
            <a:spAutoFit/>
          </a:bodyPr>
          <a:lstStyle/>
          <a:p>
            <a:pPr algn="l"/>
            <a:r>
              <a:rPr sz="1200" b="0" i="0">
                <a:solidFill>
                  <a:srgbClr val="3F4A38"/>
                </a:solidFill>
                <a:latin typeface="Libre Franklin"/>
              </a:rPr>
              <a:t>Pricing folded in as one input to the packet, not the centrepiece.</a:t>
            </a:r>
          </a:p>
        </p:txBody>
      </p:sp>
      <p:sp>
        <p:nvSpPr>
          <p:cNvPr id="12" name="Rectangle 11"/>
          <p:cNvSpPr/>
          <p:nvPr/>
        </p:nvSpPr>
        <p:spPr>
          <a:xfrm>
            <a:off x="457200" y="2871216"/>
            <a:ext cx="11430000" cy="9144"/>
          </a:xfrm>
          <a:prstGeom prst="rect">
            <a:avLst/>
          </a:prstGeom>
          <a:solidFill>
            <a:srgbClr val="DBD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916936"/>
            <a:ext cx="2834640" cy="685800"/>
          </a:xfrm>
          <a:prstGeom prst="rect">
            <a:avLst/>
          </a:prstGeom>
          <a:noFill/>
          <a:ln>
            <a:noFill/>
          </a:ln>
        </p:spPr>
        <p:txBody>
          <a:bodyPr wrap="square">
            <a:spAutoFit/>
          </a:bodyPr>
          <a:lstStyle/>
          <a:p>
            <a:pPr algn="l"/>
            <a:r>
              <a:rPr sz="1500" b="1" i="0">
                <a:solidFill>
                  <a:srgbClr val="221D17"/>
                </a:solidFill>
                <a:latin typeface="Newsreader"/>
              </a:rPr>
              <a:t>General ‘what was agreed’ tracking layer</a:t>
            </a:r>
          </a:p>
        </p:txBody>
      </p:sp>
      <p:sp>
        <p:nvSpPr>
          <p:cNvPr id="14" name="TextBox 13"/>
          <p:cNvSpPr txBox="1"/>
          <p:nvPr/>
        </p:nvSpPr>
        <p:spPr>
          <a:xfrm>
            <a:off x="3429000" y="2916936"/>
            <a:ext cx="4297680" cy="731520"/>
          </a:xfrm>
          <a:prstGeom prst="rect">
            <a:avLst/>
          </a:prstGeom>
          <a:noFill/>
          <a:ln>
            <a:noFill/>
          </a:ln>
        </p:spPr>
        <p:txBody>
          <a:bodyPr wrap="square">
            <a:spAutoFit/>
          </a:bodyPr>
          <a:lstStyle/>
          <a:p>
            <a:pPr algn="l"/>
            <a:r>
              <a:rPr sz="1200" b="0" i="0">
                <a:solidFill>
                  <a:srgbClr val="4A443B"/>
                </a:solidFill>
                <a:latin typeface="Libre Franklin"/>
              </a:rPr>
              <a:t>A system-of-record problem, not an AI problem. Better solved by a database than a model.</a:t>
            </a:r>
          </a:p>
        </p:txBody>
      </p:sp>
      <p:sp>
        <p:nvSpPr>
          <p:cNvPr id="15" name="Rectangle 14"/>
          <p:cNvSpPr/>
          <p:nvPr/>
        </p:nvSpPr>
        <p:spPr>
          <a:xfrm>
            <a:off x="7818120" y="2916936"/>
            <a:ext cx="27432" cy="640080"/>
          </a:xfrm>
          <a:prstGeom prst="rect">
            <a:avLst/>
          </a:prstGeom>
          <a:solidFill>
            <a:srgbClr val="C3D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2916936"/>
            <a:ext cx="3977639" cy="731520"/>
          </a:xfrm>
          <a:prstGeom prst="rect">
            <a:avLst/>
          </a:prstGeom>
          <a:noFill/>
          <a:ln>
            <a:noFill/>
          </a:ln>
        </p:spPr>
        <p:txBody>
          <a:bodyPr wrap="square">
            <a:spAutoFit/>
          </a:bodyPr>
          <a:lstStyle/>
          <a:p>
            <a:pPr algn="l"/>
            <a:r>
              <a:rPr sz="1200" b="0" i="0">
                <a:solidFill>
                  <a:srgbClr val="3F4A38"/>
                </a:solidFill>
                <a:latin typeface="Libre Franklin"/>
              </a:rPr>
              <a:t>Solved indirectly: the packet pulls from accurate, current contract terms.</a:t>
            </a:r>
          </a:p>
        </p:txBody>
      </p:sp>
      <p:sp>
        <p:nvSpPr>
          <p:cNvPr id="17" name="Rectangle 16"/>
          <p:cNvSpPr/>
          <p:nvPr/>
        </p:nvSpPr>
        <p:spPr>
          <a:xfrm>
            <a:off x="457200" y="3712464"/>
            <a:ext cx="11430000" cy="9144"/>
          </a:xfrm>
          <a:prstGeom prst="rect">
            <a:avLst/>
          </a:prstGeom>
          <a:solidFill>
            <a:srgbClr val="DBD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758184"/>
            <a:ext cx="2834640" cy="685800"/>
          </a:xfrm>
          <a:prstGeom prst="rect">
            <a:avLst/>
          </a:prstGeom>
          <a:noFill/>
          <a:ln>
            <a:noFill/>
          </a:ln>
        </p:spPr>
        <p:txBody>
          <a:bodyPr wrap="square">
            <a:spAutoFit/>
          </a:bodyPr>
          <a:lstStyle/>
          <a:p>
            <a:pPr algn="l"/>
            <a:r>
              <a:rPr sz="1500" b="1" i="0">
                <a:solidFill>
                  <a:srgbClr val="221D17"/>
                </a:solidFill>
                <a:latin typeface="Newsreader"/>
              </a:rPr>
              <a:t>Live MCP connector for pricing in the prototype</a:t>
            </a:r>
          </a:p>
        </p:txBody>
      </p:sp>
      <p:sp>
        <p:nvSpPr>
          <p:cNvPr id="19" name="TextBox 18"/>
          <p:cNvSpPr txBox="1"/>
          <p:nvPr/>
        </p:nvSpPr>
        <p:spPr>
          <a:xfrm>
            <a:off x="3429000" y="3758184"/>
            <a:ext cx="4297680" cy="731520"/>
          </a:xfrm>
          <a:prstGeom prst="rect">
            <a:avLst/>
          </a:prstGeom>
          <a:noFill/>
          <a:ln>
            <a:noFill/>
          </a:ln>
        </p:spPr>
        <p:txBody>
          <a:bodyPr wrap="square">
            <a:spAutoFit/>
          </a:bodyPr>
          <a:lstStyle/>
          <a:p>
            <a:pPr algn="l"/>
            <a:r>
              <a:rPr sz="1200" b="0" i="0">
                <a:solidFill>
                  <a:srgbClr val="4A443B"/>
                </a:solidFill>
                <a:latin typeface="Libre Franklin"/>
              </a:rPr>
              <a:t>A live demo depending on a third-party server responding correctly in the room. Unnecessary risk for zero added insight.</a:t>
            </a:r>
          </a:p>
        </p:txBody>
      </p:sp>
      <p:sp>
        <p:nvSpPr>
          <p:cNvPr id="20" name="Rectangle 19"/>
          <p:cNvSpPr/>
          <p:nvPr/>
        </p:nvSpPr>
        <p:spPr>
          <a:xfrm>
            <a:off x="7818120" y="3758184"/>
            <a:ext cx="27432" cy="640080"/>
          </a:xfrm>
          <a:prstGeom prst="rect">
            <a:avLst/>
          </a:prstGeom>
          <a:solidFill>
            <a:srgbClr val="C3D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3758184"/>
            <a:ext cx="3977639" cy="731520"/>
          </a:xfrm>
          <a:prstGeom prst="rect">
            <a:avLst/>
          </a:prstGeom>
          <a:noFill/>
          <a:ln>
            <a:noFill/>
          </a:ln>
        </p:spPr>
        <p:txBody>
          <a:bodyPr wrap="square">
            <a:spAutoFit/>
          </a:bodyPr>
          <a:lstStyle/>
          <a:p>
            <a:pPr algn="l"/>
            <a:r>
              <a:rPr sz="1200" b="0" i="0">
                <a:solidFill>
                  <a:srgbClr val="3F4A38"/>
                </a:solidFill>
                <a:latin typeface="Libre Franklin"/>
              </a:rPr>
              <a:t>One-time static CSV pull. MCP documented as the production path, not built into the prototype.</a:t>
            </a:r>
          </a:p>
        </p:txBody>
      </p:sp>
      <p:sp>
        <p:nvSpPr>
          <p:cNvPr id="22" name="Rectangle 21"/>
          <p:cNvSpPr/>
          <p:nvPr/>
        </p:nvSpPr>
        <p:spPr>
          <a:xfrm>
            <a:off x="457200" y="4553712"/>
            <a:ext cx="11430000" cy="9144"/>
          </a:xfrm>
          <a:prstGeom prst="rect">
            <a:avLst/>
          </a:prstGeom>
          <a:solidFill>
            <a:srgbClr val="DBD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599432"/>
            <a:ext cx="2834640" cy="685800"/>
          </a:xfrm>
          <a:prstGeom prst="rect">
            <a:avLst/>
          </a:prstGeom>
          <a:noFill/>
          <a:ln>
            <a:noFill/>
          </a:ln>
        </p:spPr>
        <p:txBody>
          <a:bodyPr wrap="square">
            <a:spAutoFit/>
          </a:bodyPr>
          <a:lstStyle/>
          <a:p>
            <a:pPr algn="l"/>
            <a:r>
              <a:rPr sz="1500" b="1" i="0">
                <a:solidFill>
                  <a:srgbClr val="221D17"/>
                </a:solidFill>
                <a:latin typeface="Newsreader"/>
              </a:rPr>
              <a:t>Vector store + live connectors</a:t>
            </a:r>
          </a:p>
        </p:txBody>
      </p:sp>
      <p:sp>
        <p:nvSpPr>
          <p:cNvPr id="24" name="TextBox 23"/>
          <p:cNvSpPr txBox="1"/>
          <p:nvPr/>
        </p:nvSpPr>
        <p:spPr>
          <a:xfrm>
            <a:off x="3429000" y="4599432"/>
            <a:ext cx="4297680" cy="731520"/>
          </a:xfrm>
          <a:prstGeom prst="rect">
            <a:avLst/>
          </a:prstGeom>
          <a:noFill/>
          <a:ln>
            <a:noFill/>
          </a:ln>
        </p:spPr>
        <p:txBody>
          <a:bodyPr wrap="square">
            <a:spAutoFit/>
          </a:bodyPr>
          <a:lstStyle/>
          <a:p>
            <a:pPr algn="l"/>
            <a:r>
              <a:rPr sz="1200" b="0" i="0">
                <a:solidFill>
                  <a:srgbClr val="4A443B"/>
                </a:solidFill>
                <a:latin typeface="Libre Franklin"/>
              </a:rPr>
              <a:t>Premature at this data volume: 8 suppliers, ~111 emails. Real value arrives at hundreds of suppliers, thousands of emails.</a:t>
            </a:r>
          </a:p>
        </p:txBody>
      </p:sp>
      <p:sp>
        <p:nvSpPr>
          <p:cNvPr id="25" name="Rectangle 24"/>
          <p:cNvSpPr/>
          <p:nvPr/>
        </p:nvSpPr>
        <p:spPr>
          <a:xfrm>
            <a:off x="7818120" y="4599432"/>
            <a:ext cx="27432" cy="640080"/>
          </a:xfrm>
          <a:prstGeom prst="rect">
            <a:avLst/>
          </a:prstGeom>
          <a:solidFill>
            <a:srgbClr val="C3D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9560" y="4599432"/>
            <a:ext cx="3977639" cy="731520"/>
          </a:xfrm>
          <a:prstGeom prst="rect">
            <a:avLst/>
          </a:prstGeom>
          <a:noFill/>
          <a:ln>
            <a:noFill/>
          </a:ln>
        </p:spPr>
        <p:txBody>
          <a:bodyPr wrap="square">
            <a:spAutoFit/>
          </a:bodyPr>
          <a:lstStyle/>
          <a:p>
            <a:pPr algn="l"/>
            <a:r>
              <a:rPr sz="1200" b="0" i="0">
                <a:solidFill>
                  <a:srgbClr val="3F4A38"/>
                </a:solidFill>
                <a:latin typeface="Libre Franklin"/>
              </a:rPr>
              <a:t>Local extraction against flat files. Vector store called out explicitly as the production-scale answer.</a:t>
            </a:r>
          </a:p>
        </p:txBody>
      </p:sp>
      <p:sp>
        <p:nvSpPr>
          <p:cNvPr id="27" name="Rectangle 26"/>
          <p:cNvSpPr/>
          <p:nvPr/>
        </p:nvSpPr>
        <p:spPr>
          <a:xfrm>
            <a:off x="457200" y="5394960"/>
            <a:ext cx="11430000" cy="9144"/>
          </a:xfrm>
          <a:prstGeom prst="rect">
            <a:avLst/>
          </a:prstGeom>
          <a:solidFill>
            <a:srgbClr val="DBD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440680"/>
            <a:ext cx="2834640" cy="685800"/>
          </a:xfrm>
          <a:prstGeom prst="rect">
            <a:avLst/>
          </a:prstGeom>
          <a:noFill/>
          <a:ln>
            <a:noFill/>
          </a:ln>
        </p:spPr>
        <p:txBody>
          <a:bodyPr wrap="square">
            <a:spAutoFit/>
          </a:bodyPr>
          <a:lstStyle/>
          <a:p>
            <a:pPr algn="l"/>
            <a:r>
              <a:rPr sz="1500" b="1" i="0">
                <a:solidFill>
                  <a:srgbClr val="221D17"/>
                </a:solidFill>
                <a:latin typeface="Newsreader"/>
              </a:rPr>
              <a:t>Full contract lifecycle management</a:t>
            </a:r>
          </a:p>
        </p:txBody>
      </p:sp>
      <p:sp>
        <p:nvSpPr>
          <p:cNvPr id="29" name="TextBox 28"/>
          <p:cNvSpPr txBox="1"/>
          <p:nvPr/>
        </p:nvSpPr>
        <p:spPr>
          <a:xfrm>
            <a:off x="3429000" y="5440680"/>
            <a:ext cx="4297680" cy="731520"/>
          </a:xfrm>
          <a:prstGeom prst="rect">
            <a:avLst/>
          </a:prstGeom>
          <a:noFill/>
          <a:ln>
            <a:noFill/>
          </a:ln>
        </p:spPr>
        <p:txBody>
          <a:bodyPr wrap="square">
            <a:spAutoFit/>
          </a:bodyPr>
          <a:lstStyle/>
          <a:p>
            <a:pPr algn="l"/>
            <a:r>
              <a:rPr sz="1200" b="0" i="0">
                <a:solidFill>
                  <a:srgbClr val="4A443B"/>
                </a:solidFill>
                <a:latin typeface="Libre Franklin"/>
              </a:rPr>
              <a:t>Too broad a problem for the time available — and not the time-sink the brief describes.</a:t>
            </a:r>
          </a:p>
        </p:txBody>
      </p:sp>
      <p:sp>
        <p:nvSpPr>
          <p:cNvPr id="30" name="Rectangle 29"/>
          <p:cNvSpPr/>
          <p:nvPr/>
        </p:nvSpPr>
        <p:spPr>
          <a:xfrm>
            <a:off x="7818120" y="5440680"/>
            <a:ext cx="27432" cy="640080"/>
          </a:xfrm>
          <a:prstGeom prst="rect">
            <a:avLst/>
          </a:prstGeom>
          <a:solidFill>
            <a:srgbClr val="C3D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60" y="5440680"/>
            <a:ext cx="3977639" cy="731520"/>
          </a:xfrm>
          <a:prstGeom prst="rect">
            <a:avLst/>
          </a:prstGeom>
          <a:noFill/>
          <a:ln>
            <a:noFill/>
          </a:ln>
        </p:spPr>
        <p:txBody>
          <a:bodyPr wrap="square">
            <a:spAutoFit/>
          </a:bodyPr>
          <a:lstStyle/>
          <a:p>
            <a:pPr algn="l"/>
            <a:r>
              <a:rPr sz="1200" b="0" i="0">
                <a:solidFill>
                  <a:srgbClr val="3F4A38"/>
                </a:solidFill>
                <a:latin typeface="Libre Franklin"/>
              </a:rPr>
              <a:t>Contract terms are read and surfaced, not managed end to end.</a:t>
            </a:r>
          </a:p>
        </p:txBody>
      </p:sp>
      <p:sp>
        <p:nvSpPr>
          <p:cNvPr id="32" name="TextBox 31"/>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33" name="TextBox 32"/>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05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06 — HOW IT WORKS</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Prototype vs. production — a deliberate distinction</a:t>
            </a:r>
          </a:p>
        </p:txBody>
      </p:sp>
      <p:sp>
        <p:nvSpPr>
          <p:cNvPr id="4" name="Rectangle 3"/>
          <p:cNvSpPr/>
          <p:nvPr/>
        </p:nvSpPr>
        <p:spPr>
          <a:xfrm>
            <a:off x="457200" y="1691640"/>
            <a:ext cx="5486400" cy="484632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10512"/>
            <a:ext cx="3200400" cy="256032"/>
          </a:xfrm>
          <a:prstGeom prst="rect">
            <a:avLst/>
          </a:prstGeom>
          <a:noFill/>
          <a:ln>
            <a:noFill/>
          </a:ln>
        </p:spPr>
        <p:txBody>
          <a:bodyPr wrap="square">
            <a:spAutoFit/>
          </a:bodyPr>
          <a:lstStyle/>
          <a:p>
            <a:pPr algn="l"/>
            <a:r>
              <a:rPr sz="1200" b="1" i="0">
                <a:solidFill>
                  <a:srgbClr val="221D17"/>
                </a:solidFill>
                <a:latin typeface="IBM Plex Mono"/>
              </a:rPr>
              <a:t>PROTOTYPE</a:t>
            </a:r>
          </a:p>
        </p:txBody>
      </p:sp>
      <p:sp>
        <p:nvSpPr>
          <p:cNvPr id="6" name="TextBox 5"/>
          <p:cNvSpPr txBox="1"/>
          <p:nvPr/>
        </p:nvSpPr>
        <p:spPr>
          <a:xfrm>
            <a:off x="2148840" y="1828800"/>
            <a:ext cx="3200400" cy="228600"/>
          </a:xfrm>
          <a:prstGeom prst="rect">
            <a:avLst/>
          </a:prstGeom>
          <a:noFill/>
          <a:ln>
            <a:noFill/>
          </a:ln>
        </p:spPr>
        <p:txBody>
          <a:bodyPr wrap="square">
            <a:spAutoFit/>
          </a:bodyPr>
          <a:lstStyle/>
          <a:p>
            <a:pPr algn="l"/>
            <a:r>
              <a:rPr sz="1100" b="0" i="1">
                <a:solidFill>
                  <a:srgbClr val="998E7E"/>
                </a:solidFill>
                <a:latin typeface="Libre Franklin"/>
              </a:rPr>
              <a:t>what you're seeing today</a:t>
            </a:r>
          </a:p>
        </p:txBody>
      </p:sp>
      <p:sp>
        <p:nvSpPr>
          <p:cNvPr id="7" name="TextBox 6"/>
          <p:cNvSpPr txBox="1"/>
          <p:nvPr/>
        </p:nvSpPr>
        <p:spPr>
          <a:xfrm>
            <a:off x="640080" y="2176272"/>
            <a:ext cx="5166360" cy="384048"/>
          </a:xfrm>
          <a:prstGeom prst="rect">
            <a:avLst/>
          </a:prstGeom>
          <a:noFill/>
          <a:ln>
            <a:noFill/>
          </a:ln>
        </p:spPr>
        <p:txBody>
          <a:bodyPr wrap="square">
            <a:spAutoFit/>
          </a:bodyPr>
          <a:lstStyle/>
          <a:p>
            <a:pPr algn="l"/>
            <a:r>
              <a:rPr sz="1100" b="0" i="0">
                <a:solidFill>
                  <a:srgbClr val="B23B26"/>
                </a:solidFill>
                <a:latin typeface="IBM Plex Mono"/>
              </a:rPr>
              <a:t>SOURCES</a:t>
            </a:r>
          </a:p>
        </p:txBody>
      </p:sp>
      <p:sp>
        <p:nvSpPr>
          <p:cNvPr id="8" name="TextBox 7"/>
          <p:cNvSpPr txBox="1"/>
          <p:nvPr/>
        </p:nvSpPr>
        <p:spPr>
          <a:xfrm>
            <a:off x="640080" y="2688336"/>
            <a:ext cx="5166360" cy="384048"/>
          </a:xfrm>
          <a:prstGeom prst="rect">
            <a:avLst/>
          </a:prstGeom>
          <a:noFill/>
          <a:ln>
            <a:noFill/>
          </a:ln>
        </p:spPr>
        <p:txBody>
          <a:bodyPr wrap="square">
            <a:spAutoFit/>
          </a:bodyPr>
          <a:lstStyle/>
          <a:p>
            <a:pPr algn="l"/>
            <a:r>
              <a:rPr sz="1200" b="0" i="0">
                <a:solidFill>
                  <a:srgbClr val="4A443B"/>
                </a:solidFill>
                <a:latin typeface="Libre Franklin"/>
              </a:rPr>
              <a:t>Emails → JSON files (synthetic, ~111) · Contracts → Markdown (10) · Prices → static CSV (yfinance, one-time)</a:t>
            </a:r>
          </a:p>
        </p:txBody>
      </p:sp>
      <p:sp>
        <p:nvSpPr>
          <p:cNvPr id="9" name="TextBox 8"/>
          <p:cNvSpPr txBox="1"/>
          <p:nvPr/>
        </p:nvSpPr>
        <p:spPr>
          <a:xfrm>
            <a:off x="640080" y="3200400"/>
            <a:ext cx="5166360" cy="384048"/>
          </a:xfrm>
          <a:prstGeom prst="rect">
            <a:avLst/>
          </a:prstGeom>
          <a:noFill/>
          <a:ln>
            <a:noFill/>
          </a:ln>
        </p:spPr>
        <p:txBody>
          <a:bodyPr wrap="square">
            <a:spAutoFit/>
          </a:bodyPr>
          <a:lstStyle/>
          <a:p>
            <a:pPr algn="l"/>
            <a:r>
              <a:rPr sz="1600" b="0" i="0">
                <a:solidFill>
                  <a:srgbClr val="B6AB99"/>
                </a:solidFill>
                <a:latin typeface="IBM Plex Mono"/>
              </a:rPr>
              <a:t>↓</a:t>
            </a:r>
          </a:p>
        </p:txBody>
      </p:sp>
      <p:sp>
        <p:nvSpPr>
          <p:cNvPr id="10" name="TextBox 9"/>
          <p:cNvSpPr txBox="1"/>
          <p:nvPr/>
        </p:nvSpPr>
        <p:spPr>
          <a:xfrm>
            <a:off x="640080" y="3712464"/>
            <a:ext cx="5166360" cy="384048"/>
          </a:xfrm>
          <a:prstGeom prst="rect">
            <a:avLst/>
          </a:prstGeom>
          <a:noFill/>
          <a:ln>
            <a:noFill/>
          </a:ln>
        </p:spPr>
        <p:txBody>
          <a:bodyPr wrap="square">
            <a:spAutoFit/>
          </a:bodyPr>
          <a:lstStyle/>
          <a:p>
            <a:pPr algn="l"/>
            <a:r>
              <a:rPr sz="1200" b="0" i="0">
                <a:solidFill>
                  <a:srgbClr val="4A443B"/>
                </a:solidFill>
                <a:latin typeface="Libre Franklin"/>
              </a:rPr>
              <a:t>extraction.py  — One Claude API call per supplier — extracts open issues, price quotes, contract terms, commodity commentary</a:t>
            </a:r>
          </a:p>
        </p:txBody>
      </p:sp>
      <p:sp>
        <p:nvSpPr>
          <p:cNvPr id="11" name="TextBox 10"/>
          <p:cNvSpPr txBox="1"/>
          <p:nvPr/>
        </p:nvSpPr>
        <p:spPr>
          <a:xfrm>
            <a:off x="640080" y="4224528"/>
            <a:ext cx="5166360" cy="384048"/>
          </a:xfrm>
          <a:prstGeom prst="rect">
            <a:avLst/>
          </a:prstGeom>
          <a:noFill/>
          <a:ln>
            <a:noFill/>
          </a:ln>
        </p:spPr>
        <p:txBody>
          <a:bodyPr wrap="square">
            <a:spAutoFit/>
          </a:bodyPr>
          <a:lstStyle/>
          <a:p>
            <a:pPr algn="l"/>
            <a:r>
              <a:rPr sz="1600" b="0" i="0">
                <a:solidFill>
                  <a:srgbClr val="B6AB99"/>
                </a:solidFill>
                <a:latin typeface="IBM Plex Mono"/>
              </a:rPr>
              <a:t>↓</a:t>
            </a:r>
          </a:p>
        </p:txBody>
      </p:sp>
      <p:sp>
        <p:nvSpPr>
          <p:cNvPr id="12" name="TextBox 11"/>
          <p:cNvSpPr txBox="1"/>
          <p:nvPr/>
        </p:nvSpPr>
        <p:spPr>
          <a:xfrm>
            <a:off x="640080" y="4736592"/>
            <a:ext cx="5166360" cy="384048"/>
          </a:xfrm>
          <a:prstGeom prst="rect">
            <a:avLst/>
          </a:prstGeom>
          <a:noFill/>
          <a:ln>
            <a:noFill/>
          </a:ln>
        </p:spPr>
        <p:txBody>
          <a:bodyPr wrap="square">
            <a:spAutoFit/>
          </a:bodyPr>
          <a:lstStyle/>
          <a:p>
            <a:pPr algn="l"/>
            <a:r>
              <a:rPr sz="1200" b="0" i="0">
                <a:solidFill>
                  <a:srgbClr val="4A443B"/>
                </a:solidFill>
                <a:latin typeface="Libre Franklin"/>
              </a:rPr>
              <a:t>packet_generator.py  — Assembles packet per meeting ID · computes KPIs locally (no API)</a:t>
            </a:r>
          </a:p>
        </p:txBody>
      </p:sp>
      <p:sp>
        <p:nvSpPr>
          <p:cNvPr id="13" name="TextBox 12"/>
          <p:cNvSpPr txBox="1"/>
          <p:nvPr/>
        </p:nvSpPr>
        <p:spPr>
          <a:xfrm>
            <a:off x="640080" y="5248656"/>
            <a:ext cx="5166360" cy="384048"/>
          </a:xfrm>
          <a:prstGeom prst="rect">
            <a:avLst/>
          </a:prstGeom>
          <a:noFill/>
          <a:ln>
            <a:noFill/>
          </a:ln>
        </p:spPr>
        <p:txBody>
          <a:bodyPr wrap="square">
            <a:spAutoFit/>
          </a:bodyPr>
          <a:lstStyle/>
          <a:p>
            <a:pPr algn="l"/>
            <a:r>
              <a:rPr sz="1600" b="0" i="0">
                <a:solidFill>
                  <a:srgbClr val="B6AB99"/>
                </a:solidFill>
                <a:latin typeface="IBM Plex Mono"/>
              </a:rPr>
              <a:t>↓</a:t>
            </a:r>
          </a:p>
        </p:txBody>
      </p:sp>
      <p:sp>
        <p:nvSpPr>
          <p:cNvPr id="14" name="TextBox 13"/>
          <p:cNvSpPr txBox="1"/>
          <p:nvPr/>
        </p:nvSpPr>
        <p:spPr>
          <a:xfrm>
            <a:off x="640080" y="5760720"/>
            <a:ext cx="5166360" cy="384048"/>
          </a:xfrm>
          <a:prstGeom prst="rect">
            <a:avLst/>
          </a:prstGeom>
          <a:noFill/>
          <a:ln>
            <a:noFill/>
          </a:ln>
        </p:spPr>
        <p:txBody>
          <a:bodyPr wrap="square">
            <a:spAutoFit/>
          </a:bodyPr>
          <a:lstStyle/>
          <a:p>
            <a:pPr algn="l"/>
            <a:r>
              <a:rPr sz="1200" b="0" i="0">
                <a:solidFill>
                  <a:srgbClr val="4A443B"/>
                </a:solidFill>
                <a:latin typeface="Libre Franklin"/>
              </a:rPr>
              <a:t>Streamlit UI  — Home · Suppliers · Meeting Prep</a:t>
            </a:r>
          </a:p>
        </p:txBody>
      </p:sp>
      <p:sp>
        <p:nvSpPr>
          <p:cNvPr id="15" name="Rectangle 14"/>
          <p:cNvSpPr/>
          <p:nvPr/>
        </p:nvSpPr>
        <p:spPr>
          <a:xfrm>
            <a:off x="6217920" y="1691640"/>
            <a:ext cx="5532120" cy="4846320"/>
          </a:xfrm>
          <a:prstGeom prst="rect">
            <a:avLst/>
          </a:prstGeom>
          <a:solidFill>
            <a:srgbClr val="221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810512"/>
            <a:ext cx="3200400" cy="256032"/>
          </a:xfrm>
          <a:prstGeom prst="rect">
            <a:avLst/>
          </a:prstGeom>
          <a:noFill/>
          <a:ln>
            <a:noFill/>
          </a:ln>
        </p:spPr>
        <p:txBody>
          <a:bodyPr wrap="square">
            <a:spAutoFit/>
          </a:bodyPr>
          <a:lstStyle/>
          <a:p>
            <a:pPr algn="l"/>
            <a:r>
              <a:rPr sz="1200" b="1" i="0">
                <a:solidFill>
                  <a:srgbClr val="F2ECE0"/>
                </a:solidFill>
                <a:latin typeface="IBM Plex Mono"/>
              </a:rPr>
              <a:t>PRODUCTION</a:t>
            </a:r>
          </a:p>
        </p:txBody>
      </p:sp>
      <p:sp>
        <p:nvSpPr>
          <p:cNvPr id="17" name="TextBox 16"/>
          <p:cNvSpPr txBox="1"/>
          <p:nvPr/>
        </p:nvSpPr>
        <p:spPr>
          <a:xfrm>
            <a:off x="8092440" y="1828800"/>
            <a:ext cx="3200400" cy="228600"/>
          </a:xfrm>
          <a:prstGeom prst="rect">
            <a:avLst/>
          </a:prstGeom>
          <a:noFill/>
          <a:ln>
            <a:noFill/>
          </a:ln>
        </p:spPr>
        <p:txBody>
          <a:bodyPr wrap="square">
            <a:spAutoFit/>
          </a:bodyPr>
          <a:lstStyle/>
          <a:p>
            <a:pPr algn="l"/>
            <a:r>
              <a:rPr sz="1100" b="0" i="1">
                <a:solidFill>
                  <a:srgbClr val="A99E8C"/>
                </a:solidFill>
                <a:latin typeface="Libre Franklin"/>
              </a:rPr>
              <a:t>Phase 2 architecture</a:t>
            </a:r>
          </a:p>
        </p:txBody>
      </p:sp>
      <p:sp>
        <p:nvSpPr>
          <p:cNvPr id="18" name="TextBox 17"/>
          <p:cNvSpPr txBox="1"/>
          <p:nvPr/>
        </p:nvSpPr>
        <p:spPr>
          <a:xfrm>
            <a:off x="6400800" y="2176272"/>
            <a:ext cx="5166360" cy="384048"/>
          </a:xfrm>
          <a:prstGeom prst="rect">
            <a:avLst/>
          </a:prstGeom>
          <a:noFill/>
          <a:ln>
            <a:noFill/>
          </a:ln>
        </p:spPr>
        <p:txBody>
          <a:bodyPr wrap="square">
            <a:spAutoFit/>
          </a:bodyPr>
          <a:lstStyle/>
          <a:p>
            <a:pPr algn="l"/>
            <a:r>
              <a:rPr sz="1100" b="0" i="0">
                <a:solidFill>
                  <a:srgbClr val="CB5238"/>
                </a:solidFill>
                <a:latin typeface="IBM Plex Mono"/>
              </a:rPr>
              <a:t>SOURCES</a:t>
            </a:r>
          </a:p>
        </p:txBody>
      </p:sp>
      <p:sp>
        <p:nvSpPr>
          <p:cNvPr id="19" name="TextBox 18"/>
          <p:cNvSpPr txBox="1"/>
          <p:nvPr/>
        </p:nvSpPr>
        <p:spPr>
          <a:xfrm>
            <a:off x="6400800" y="2688336"/>
            <a:ext cx="5166360" cy="384048"/>
          </a:xfrm>
          <a:prstGeom prst="rect">
            <a:avLst/>
          </a:prstGeom>
          <a:noFill/>
          <a:ln>
            <a:noFill/>
          </a:ln>
        </p:spPr>
        <p:txBody>
          <a:bodyPr wrap="square">
            <a:spAutoFit/>
          </a:bodyPr>
          <a:lstStyle/>
          <a:p>
            <a:pPr algn="l"/>
            <a:r>
              <a:rPr sz="1200" b="0" i="0">
                <a:solidFill>
                  <a:srgbClr val="CBC2B2"/>
                </a:solidFill>
                <a:latin typeface="Libre Franklin"/>
              </a:rPr>
              <a:t>Emails → Microsoft Graph (Outlook) · Contracts → SharePoint + OCR · Prices → Bloomberg / ICE live feed</a:t>
            </a:r>
          </a:p>
        </p:txBody>
      </p:sp>
      <p:sp>
        <p:nvSpPr>
          <p:cNvPr id="20" name="TextBox 19"/>
          <p:cNvSpPr txBox="1"/>
          <p:nvPr/>
        </p:nvSpPr>
        <p:spPr>
          <a:xfrm>
            <a:off x="6400800" y="3200400"/>
            <a:ext cx="5166360" cy="384048"/>
          </a:xfrm>
          <a:prstGeom prst="rect">
            <a:avLst/>
          </a:prstGeom>
          <a:noFill/>
          <a:ln>
            <a:noFill/>
          </a:ln>
        </p:spPr>
        <p:txBody>
          <a:bodyPr wrap="square">
            <a:spAutoFit/>
          </a:bodyPr>
          <a:lstStyle/>
          <a:p>
            <a:pPr algn="l"/>
            <a:r>
              <a:rPr sz="1600" b="0" i="0">
                <a:solidFill>
                  <a:srgbClr val="6E6557"/>
                </a:solidFill>
                <a:latin typeface="IBM Plex Mono"/>
              </a:rPr>
              <a:t>↓</a:t>
            </a:r>
          </a:p>
        </p:txBody>
      </p:sp>
      <p:sp>
        <p:nvSpPr>
          <p:cNvPr id="21" name="TextBox 20"/>
          <p:cNvSpPr txBox="1"/>
          <p:nvPr/>
        </p:nvSpPr>
        <p:spPr>
          <a:xfrm>
            <a:off x="6400800" y="3712464"/>
            <a:ext cx="5166360" cy="384048"/>
          </a:xfrm>
          <a:prstGeom prst="rect">
            <a:avLst/>
          </a:prstGeom>
          <a:noFill/>
          <a:ln>
            <a:noFill/>
          </a:ln>
        </p:spPr>
        <p:txBody>
          <a:bodyPr wrap="square">
            <a:spAutoFit/>
          </a:bodyPr>
          <a:lstStyle/>
          <a:p>
            <a:pPr algn="l"/>
            <a:r>
              <a:rPr sz="1200" b="0" i="0">
                <a:solidFill>
                  <a:srgbClr val="CBC2B2"/>
                </a:solidFill>
                <a:latin typeface="Libre Franklin"/>
              </a:rPr>
              <a:t>Connector layer  — MCP per source — swappable backend</a:t>
            </a:r>
          </a:p>
        </p:txBody>
      </p:sp>
      <p:sp>
        <p:nvSpPr>
          <p:cNvPr id="22" name="TextBox 21"/>
          <p:cNvSpPr txBox="1"/>
          <p:nvPr/>
        </p:nvSpPr>
        <p:spPr>
          <a:xfrm>
            <a:off x="6400800" y="4224528"/>
            <a:ext cx="5166360" cy="384048"/>
          </a:xfrm>
          <a:prstGeom prst="rect">
            <a:avLst/>
          </a:prstGeom>
          <a:noFill/>
          <a:ln>
            <a:noFill/>
          </a:ln>
        </p:spPr>
        <p:txBody>
          <a:bodyPr wrap="square">
            <a:spAutoFit/>
          </a:bodyPr>
          <a:lstStyle/>
          <a:p>
            <a:pPr algn="l"/>
            <a:r>
              <a:rPr sz="1600" b="0" i="0">
                <a:solidFill>
                  <a:srgbClr val="6E6557"/>
                </a:solidFill>
                <a:latin typeface="IBM Plex Mono"/>
              </a:rPr>
              <a:t>↓</a:t>
            </a:r>
          </a:p>
        </p:txBody>
      </p:sp>
      <p:sp>
        <p:nvSpPr>
          <p:cNvPr id="23" name="TextBox 22"/>
          <p:cNvSpPr txBox="1"/>
          <p:nvPr/>
        </p:nvSpPr>
        <p:spPr>
          <a:xfrm>
            <a:off x="6400800" y="4736592"/>
            <a:ext cx="5166360" cy="384048"/>
          </a:xfrm>
          <a:prstGeom prst="rect">
            <a:avLst/>
          </a:prstGeom>
          <a:noFill/>
          <a:ln>
            <a:noFill/>
          </a:ln>
        </p:spPr>
        <p:txBody>
          <a:bodyPr wrap="square">
            <a:spAutoFit/>
          </a:bodyPr>
          <a:lstStyle/>
          <a:p>
            <a:pPr algn="l"/>
            <a:r>
              <a:rPr sz="1200" b="0" i="0">
                <a:solidFill>
                  <a:srgbClr val="CBC2B2"/>
                </a:solidFill>
                <a:latin typeface="Libre Franklin"/>
              </a:rPr>
              <a:t>Storage split  — Structured store (BigQuery): exact facts · Vector store: semantic email search</a:t>
            </a:r>
          </a:p>
        </p:txBody>
      </p:sp>
      <p:sp>
        <p:nvSpPr>
          <p:cNvPr id="24" name="TextBox 23"/>
          <p:cNvSpPr txBox="1"/>
          <p:nvPr/>
        </p:nvSpPr>
        <p:spPr>
          <a:xfrm>
            <a:off x="6400800" y="5248656"/>
            <a:ext cx="5166360" cy="384048"/>
          </a:xfrm>
          <a:prstGeom prst="rect">
            <a:avLst/>
          </a:prstGeom>
          <a:noFill/>
          <a:ln>
            <a:noFill/>
          </a:ln>
        </p:spPr>
        <p:txBody>
          <a:bodyPr wrap="square">
            <a:spAutoFit/>
          </a:bodyPr>
          <a:lstStyle/>
          <a:p>
            <a:pPr algn="l"/>
            <a:r>
              <a:rPr sz="1600" b="0" i="0">
                <a:solidFill>
                  <a:srgbClr val="6E6557"/>
                </a:solidFill>
                <a:latin typeface="IBM Plex Mono"/>
              </a:rPr>
              <a:t>↓</a:t>
            </a:r>
          </a:p>
        </p:txBody>
      </p:sp>
      <p:sp>
        <p:nvSpPr>
          <p:cNvPr id="25" name="TextBox 24"/>
          <p:cNvSpPr txBox="1"/>
          <p:nvPr/>
        </p:nvSpPr>
        <p:spPr>
          <a:xfrm>
            <a:off x="6400800" y="5760720"/>
            <a:ext cx="5166360" cy="384048"/>
          </a:xfrm>
          <a:prstGeom prst="rect">
            <a:avLst/>
          </a:prstGeom>
          <a:noFill/>
          <a:ln>
            <a:noFill/>
          </a:ln>
        </p:spPr>
        <p:txBody>
          <a:bodyPr wrap="square">
            <a:spAutoFit/>
          </a:bodyPr>
          <a:lstStyle/>
          <a:p>
            <a:pPr algn="l"/>
            <a:r>
              <a:rPr sz="1200" b="0" i="0">
                <a:solidFill>
                  <a:srgbClr val="CBC2B2"/>
                </a:solidFill>
                <a:latin typeface="Libre Franklin"/>
              </a:rPr>
              <a:t>Packet Generator  — Same logic, real-time data · triggered by calendar event → auto-delivered</a:t>
            </a:r>
          </a:p>
        </p:txBody>
      </p:sp>
      <p:sp>
        <p:nvSpPr>
          <p:cNvPr id="26" name="TextBox 25"/>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27" name="TextBox 26"/>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06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07 — DEMO · HOME DASHBOARD</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Instant situational awareness</a:t>
            </a:r>
          </a:p>
        </p:txBody>
      </p:sp>
      <p:sp>
        <p:nvSpPr>
          <p:cNvPr id="4" name="TextBox 3"/>
          <p:cNvSpPr txBox="1"/>
          <p:nvPr/>
        </p:nvSpPr>
        <p:spPr>
          <a:xfrm>
            <a:off x="8686800" y="804672"/>
            <a:ext cx="3200400" cy="274320"/>
          </a:xfrm>
          <a:prstGeom prst="rect">
            <a:avLst/>
          </a:prstGeom>
          <a:noFill/>
          <a:ln>
            <a:noFill/>
          </a:ln>
        </p:spPr>
        <p:txBody>
          <a:bodyPr wrap="square">
            <a:spAutoFit/>
          </a:bodyPr>
          <a:lstStyle/>
          <a:p>
            <a:pPr algn="r"/>
            <a:r>
              <a:rPr sz="1100" b="0" i="0">
                <a:solidFill>
                  <a:srgbClr val="5E7350"/>
                </a:solidFill>
                <a:latin typeface="IBM Plex Mono"/>
              </a:rPr>
              <a:t>no API calls · loads in &lt;1s</a:t>
            </a:r>
          </a:p>
        </p:txBody>
      </p:sp>
      <p:sp>
        <p:nvSpPr>
          <p:cNvPr id="5" name="TextBox 4"/>
          <p:cNvSpPr txBox="1"/>
          <p:nvPr/>
        </p:nvSpPr>
        <p:spPr>
          <a:xfrm>
            <a:off x="457200" y="1783080"/>
            <a:ext cx="5577840" cy="438912"/>
          </a:xfrm>
          <a:prstGeom prst="rect">
            <a:avLst/>
          </a:prstGeom>
          <a:noFill/>
          <a:ln>
            <a:noFill/>
          </a:ln>
        </p:spPr>
        <p:txBody>
          <a:bodyPr wrap="square">
            <a:spAutoFit/>
          </a:bodyPr>
          <a:lstStyle/>
          <a:p>
            <a:pPr algn="l"/>
            <a:r>
              <a:rPr sz="1300" b="0" i="0">
                <a:solidFill>
                  <a:srgbClr val="4A443B"/>
                </a:solidFill>
                <a:latin typeface="Libre Franklin"/>
              </a:rPr>
              <a:t>•  Stat tiles — upcoming meetings, meetings this week, suppliers at risk, contract issues.</a:t>
            </a:r>
          </a:p>
        </p:txBody>
      </p:sp>
      <p:sp>
        <p:nvSpPr>
          <p:cNvPr id="6" name="TextBox 5"/>
          <p:cNvSpPr txBox="1"/>
          <p:nvPr/>
        </p:nvSpPr>
        <p:spPr>
          <a:xfrm>
            <a:off x="457200" y="2258568"/>
            <a:ext cx="5577840" cy="438912"/>
          </a:xfrm>
          <a:prstGeom prst="rect">
            <a:avLst/>
          </a:prstGeom>
          <a:noFill/>
          <a:ln>
            <a:noFill/>
          </a:ln>
        </p:spPr>
        <p:txBody>
          <a:bodyPr wrap="square">
            <a:spAutoFit/>
          </a:bodyPr>
          <a:lstStyle/>
          <a:p>
            <a:pPr algn="l"/>
            <a:r>
              <a:rPr sz="1300" b="0" i="0">
                <a:solidFill>
                  <a:srgbClr val="4A443B"/>
                </a:solidFill>
                <a:latin typeface="Libre Franklin"/>
              </a:rPr>
              <a:t>•  Full meeting calendar — supplier, date, agenda note, geography, urgency badge.</a:t>
            </a:r>
          </a:p>
        </p:txBody>
      </p:sp>
      <p:sp>
        <p:nvSpPr>
          <p:cNvPr id="7" name="TextBox 6"/>
          <p:cNvSpPr txBox="1"/>
          <p:nvPr/>
        </p:nvSpPr>
        <p:spPr>
          <a:xfrm>
            <a:off x="457200" y="2734056"/>
            <a:ext cx="5577840" cy="438912"/>
          </a:xfrm>
          <a:prstGeom prst="rect">
            <a:avLst/>
          </a:prstGeom>
          <a:noFill/>
          <a:ln>
            <a:noFill/>
          </a:ln>
        </p:spPr>
        <p:txBody>
          <a:bodyPr wrap="square">
            <a:spAutoFit/>
          </a:bodyPr>
          <a:lstStyle/>
          <a:p>
            <a:pPr algn="l"/>
            <a:r>
              <a:rPr sz="1300" b="0" i="0">
                <a:solidFill>
                  <a:srgbClr val="4A443B"/>
                </a:solidFill>
                <a:latin typeface="Libre Franklin"/>
              </a:rPr>
              <a:t>•  Supplier health grid — relationship status at a glance across all 8 suppliers.</a:t>
            </a:r>
          </a:p>
        </p:txBody>
      </p:sp>
      <p:sp>
        <p:nvSpPr>
          <p:cNvPr id="8" name="TextBox 7"/>
          <p:cNvSpPr txBox="1"/>
          <p:nvPr/>
        </p:nvSpPr>
        <p:spPr>
          <a:xfrm>
            <a:off x="457200" y="3209544"/>
            <a:ext cx="5577840" cy="438912"/>
          </a:xfrm>
          <a:prstGeom prst="rect">
            <a:avLst/>
          </a:prstGeom>
          <a:noFill/>
          <a:ln>
            <a:noFill/>
          </a:ln>
        </p:spPr>
        <p:txBody>
          <a:bodyPr wrap="square">
            <a:spAutoFit/>
          </a:bodyPr>
          <a:lstStyle/>
          <a:p>
            <a:pPr algn="l"/>
            <a:r>
              <a:rPr sz="1300" b="0" i="0">
                <a:solidFill>
                  <a:srgbClr val="4A443B"/>
                </a:solidFill>
                <a:latin typeface="Libre Franklin"/>
              </a:rPr>
              <a:t>•  Latest discussions — most recent email per supplier with inline preview.</a:t>
            </a:r>
          </a:p>
        </p:txBody>
      </p:sp>
      <p:sp>
        <p:nvSpPr>
          <p:cNvPr id="9" name="Rectangle 8"/>
          <p:cNvSpPr/>
          <p:nvPr/>
        </p:nvSpPr>
        <p:spPr>
          <a:xfrm>
            <a:off x="457200" y="3840480"/>
            <a:ext cx="5577840" cy="1280160"/>
          </a:xfrm>
          <a:prstGeom prst="rect">
            <a:avLst/>
          </a:prstGeom>
          <a:solidFill>
            <a:srgbClr val="EE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3840480"/>
            <a:ext cx="45720" cy="1280160"/>
          </a:xfrm>
          <a:prstGeom prst="rect">
            <a:avLst/>
          </a:prstGeom>
          <a:solidFill>
            <a:srgbClr val="5E7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904487"/>
            <a:ext cx="5029200" cy="228600"/>
          </a:xfrm>
          <a:prstGeom prst="rect">
            <a:avLst/>
          </a:prstGeom>
          <a:noFill/>
          <a:ln>
            <a:noFill/>
          </a:ln>
        </p:spPr>
        <p:txBody>
          <a:bodyPr wrap="square">
            <a:spAutoFit/>
          </a:bodyPr>
          <a:lstStyle/>
          <a:p>
            <a:pPr algn="l"/>
            <a:r>
              <a:rPr sz="900" b="0" i="0">
                <a:solidFill>
                  <a:srgbClr val="5E7350"/>
                </a:solidFill>
                <a:latin typeface="IBM Plex Mono"/>
              </a:rPr>
              <a:t>DESIGN DECISION</a:t>
            </a:r>
          </a:p>
        </p:txBody>
      </p:sp>
      <p:sp>
        <p:nvSpPr>
          <p:cNvPr id="12" name="TextBox 11"/>
          <p:cNvSpPr txBox="1"/>
          <p:nvPr/>
        </p:nvSpPr>
        <p:spPr>
          <a:xfrm>
            <a:off x="594360" y="4160520"/>
            <a:ext cx="5303520" cy="868680"/>
          </a:xfrm>
          <a:prstGeom prst="rect">
            <a:avLst/>
          </a:prstGeom>
          <a:noFill/>
          <a:ln>
            <a:noFill/>
          </a:ln>
        </p:spPr>
        <p:txBody>
          <a:bodyPr wrap="square">
            <a:spAutoFit/>
          </a:bodyPr>
          <a:lstStyle/>
          <a:p>
            <a:pPr algn="l"/>
            <a:r>
              <a:rPr sz="1200" b="0" i="0">
                <a:solidFill>
                  <a:srgbClr val="3F392F"/>
                </a:solidFill>
                <a:latin typeface="Libre Franklin"/>
              </a:rPr>
              <a:t>The home page makes ZERO API CALLS. All analytics are computed locally from email and contract files — so the manager can load the dashboard anytime, including five minutes before a meeting, with no cost or latency.</a:t>
            </a:r>
          </a:p>
        </p:txBody>
      </p:sp>
      <p:sp>
        <p:nvSpPr>
          <p:cNvPr id="13" name="Rectangle 12"/>
          <p:cNvSpPr/>
          <p:nvPr/>
        </p:nvSpPr>
        <p:spPr>
          <a:xfrm>
            <a:off x="6217920" y="1691640"/>
            <a:ext cx="5532120" cy="4389120"/>
          </a:xfrm>
          <a:prstGeom prst="rect">
            <a:avLst/>
          </a:prstGeom>
          <a:solidFill>
            <a:srgbClr val="E8E2D8"/>
          </a:solidFill>
          <a:ln w="12700">
            <a:solidFill>
              <a:srgbClr val="C8BE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3474720"/>
            <a:ext cx="4206240" cy="914400"/>
          </a:xfrm>
          <a:prstGeom prst="rect">
            <a:avLst/>
          </a:prstGeom>
          <a:noFill/>
          <a:ln>
            <a:noFill/>
          </a:ln>
        </p:spPr>
        <p:txBody>
          <a:bodyPr wrap="square">
            <a:spAutoFit/>
          </a:bodyPr>
          <a:lstStyle/>
          <a:p>
            <a:pPr algn="ctr"/>
            <a:r>
              <a:rPr sz="1200" b="0" i="0">
                <a:solidFill>
                  <a:srgbClr val="A89D8E"/>
                </a:solidFill>
                <a:latin typeface="IBM Plex Mono"/>
              </a:rPr>
              <a:t>[Home dashboard screenshot
— drag in screenshot]</a:t>
            </a:r>
          </a:p>
        </p:txBody>
      </p:sp>
      <p:sp>
        <p:nvSpPr>
          <p:cNvPr id="15" name="TextBox 14"/>
          <p:cNvSpPr txBox="1"/>
          <p:nvPr/>
        </p:nvSpPr>
        <p:spPr>
          <a:xfrm>
            <a:off x="6217920" y="6144768"/>
            <a:ext cx="5532120" cy="256032"/>
          </a:xfrm>
          <a:prstGeom prst="rect">
            <a:avLst/>
          </a:prstGeom>
          <a:noFill/>
          <a:ln>
            <a:noFill/>
          </a:ln>
        </p:spPr>
        <p:txBody>
          <a:bodyPr wrap="square">
            <a:spAutoFit/>
          </a:bodyPr>
          <a:lstStyle/>
          <a:p>
            <a:pPr algn="l"/>
            <a:r>
              <a:rPr sz="1000" b="0" i="0">
                <a:solidFill>
                  <a:srgbClr val="A0957F"/>
                </a:solidFill>
                <a:latin typeface="IBM Plex Mono"/>
              </a:rPr>
              <a:t>▶ strauss-procurement.streamlit.app · live demo</a:t>
            </a:r>
          </a:p>
        </p:txBody>
      </p:sp>
      <p:sp>
        <p:nvSpPr>
          <p:cNvPr id="16" name="TextBox 15"/>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17" name="TextBox 16"/>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07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08 — DEMO · SUPPLIER PROFILE</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Relationship health, supplier by supplier</a:t>
            </a:r>
          </a:p>
        </p:txBody>
      </p:sp>
      <p:sp>
        <p:nvSpPr>
          <p:cNvPr id="4" name="TextBox 3"/>
          <p:cNvSpPr txBox="1"/>
          <p:nvPr/>
        </p:nvSpPr>
        <p:spPr>
          <a:xfrm>
            <a:off x="457200" y="1755648"/>
            <a:ext cx="5577840" cy="457200"/>
          </a:xfrm>
          <a:prstGeom prst="rect">
            <a:avLst/>
          </a:prstGeom>
          <a:noFill/>
          <a:ln>
            <a:noFill/>
          </a:ln>
        </p:spPr>
        <p:txBody>
          <a:bodyPr wrap="square">
            <a:spAutoFit/>
          </a:bodyPr>
          <a:lstStyle/>
          <a:p>
            <a:pPr algn="l"/>
            <a:r>
              <a:rPr sz="1300" b="0" i="0">
                <a:solidFill>
                  <a:srgbClr val="4A443B"/>
                </a:solidFill>
                <a:latin typeface="Libre Franklin"/>
              </a:rPr>
              <a:t>•  Searchable directory — filter by name, category or geography.</a:t>
            </a:r>
          </a:p>
        </p:txBody>
      </p:sp>
      <p:sp>
        <p:nvSpPr>
          <p:cNvPr id="5" name="TextBox 4"/>
          <p:cNvSpPr txBox="1"/>
          <p:nvPr/>
        </p:nvSpPr>
        <p:spPr>
          <a:xfrm>
            <a:off x="457200" y="2258568"/>
            <a:ext cx="5577840" cy="457200"/>
          </a:xfrm>
          <a:prstGeom prst="rect">
            <a:avLst/>
          </a:prstGeom>
          <a:noFill/>
          <a:ln>
            <a:noFill/>
          </a:ln>
        </p:spPr>
        <p:txBody>
          <a:bodyPr wrap="square">
            <a:spAutoFit/>
          </a:bodyPr>
          <a:lstStyle/>
          <a:p>
            <a:pPr algn="l"/>
            <a:r>
              <a:rPr sz="1300" b="0" i="0">
                <a:solidFill>
                  <a:srgbClr val="4A443B"/>
                </a:solidFill>
                <a:latin typeface="Libre Franklin"/>
              </a:rPr>
              <a:t>•  Relationship health score — composite of response-time trend + communication volume.</a:t>
            </a:r>
          </a:p>
        </p:txBody>
      </p:sp>
      <p:sp>
        <p:nvSpPr>
          <p:cNvPr id="6" name="TextBox 5"/>
          <p:cNvSpPr txBox="1"/>
          <p:nvPr/>
        </p:nvSpPr>
        <p:spPr>
          <a:xfrm>
            <a:off x="457200" y="2761487"/>
            <a:ext cx="5577840" cy="457200"/>
          </a:xfrm>
          <a:prstGeom prst="rect">
            <a:avLst/>
          </a:prstGeom>
          <a:noFill/>
          <a:ln>
            <a:noFill/>
          </a:ln>
        </p:spPr>
        <p:txBody>
          <a:bodyPr wrap="square">
            <a:spAutoFit/>
          </a:bodyPr>
          <a:lstStyle/>
          <a:p>
            <a:pPr algn="l"/>
            <a:r>
              <a:rPr sz="1300" b="0" i="0">
                <a:solidFill>
                  <a:srgbClr val="4A443B"/>
                </a:solidFill>
                <a:latin typeface="Libre Franklin"/>
              </a:rPr>
              <a:t>•  Email activity chart — emails per month across the last 12 months.</a:t>
            </a:r>
          </a:p>
        </p:txBody>
      </p:sp>
      <p:sp>
        <p:nvSpPr>
          <p:cNvPr id="7" name="TextBox 6"/>
          <p:cNvSpPr txBox="1"/>
          <p:nvPr/>
        </p:nvSpPr>
        <p:spPr>
          <a:xfrm>
            <a:off x="457200" y="3264407"/>
            <a:ext cx="5577840" cy="457200"/>
          </a:xfrm>
          <a:prstGeom prst="rect">
            <a:avLst/>
          </a:prstGeom>
          <a:noFill/>
          <a:ln>
            <a:noFill/>
          </a:ln>
        </p:spPr>
        <p:txBody>
          <a:bodyPr wrap="square">
            <a:spAutoFit/>
          </a:bodyPr>
          <a:lstStyle/>
          <a:p>
            <a:pPr algn="l"/>
            <a:r>
              <a:rPr sz="1300" b="0" i="0">
                <a:solidFill>
                  <a:srgbClr val="4A443B"/>
                </a:solidFill>
                <a:latin typeface="Libre Franklin"/>
              </a:rPr>
              <a:t>•  Responsiveness trend — early-half vs recent-half response time; getting slower is a warning.</a:t>
            </a:r>
          </a:p>
        </p:txBody>
      </p:sp>
      <p:sp>
        <p:nvSpPr>
          <p:cNvPr id="8" name="TextBox 7"/>
          <p:cNvSpPr txBox="1"/>
          <p:nvPr/>
        </p:nvSpPr>
        <p:spPr>
          <a:xfrm>
            <a:off x="457200" y="3767327"/>
            <a:ext cx="5577840" cy="457200"/>
          </a:xfrm>
          <a:prstGeom prst="rect">
            <a:avLst/>
          </a:prstGeom>
          <a:noFill/>
          <a:ln>
            <a:noFill/>
          </a:ln>
        </p:spPr>
        <p:txBody>
          <a:bodyPr wrap="square">
            <a:spAutoFit/>
          </a:bodyPr>
          <a:lstStyle/>
          <a:p>
            <a:pPr algn="l"/>
            <a:r>
              <a:rPr sz="1300" b="0" i="0">
                <a:solidFill>
                  <a:srgbClr val="4A443B"/>
                </a:solidFill>
                <a:latin typeface="Libre Franklin"/>
              </a:rPr>
              <a:t>•  Retention signal — volume trend, days since last contact, interpreted in plain English.</a:t>
            </a:r>
          </a:p>
        </p:txBody>
      </p:sp>
      <p:sp>
        <p:nvSpPr>
          <p:cNvPr id="9" name="TextBox 8"/>
          <p:cNvSpPr txBox="1"/>
          <p:nvPr/>
        </p:nvSpPr>
        <p:spPr>
          <a:xfrm>
            <a:off x="457200" y="4270247"/>
            <a:ext cx="5577840" cy="457200"/>
          </a:xfrm>
          <a:prstGeom prst="rect">
            <a:avLst/>
          </a:prstGeom>
          <a:noFill/>
          <a:ln>
            <a:noFill/>
          </a:ln>
        </p:spPr>
        <p:txBody>
          <a:bodyPr wrap="square">
            <a:spAutoFit/>
          </a:bodyPr>
          <a:lstStyle/>
          <a:p>
            <a:pPr algn="l"/>
            <a:r>
              <a:rPr sz="1300" b="0" i="0">
                <a:solidFill>
                  <a:srgbClr val="4A443B"/>
                </a:solidFill>
                <a:latin typeface="Libre Franklin"/>
              </a:rPr>
              <a:t>•  Latest discussion preview — most recent thread with inline read.</a:t>
            </a:r>
          </a:p>
        </p:txBody>
      </p:sp>
      <p:sp>
        <p:nvSpPr>
          <p:cNvPr id="10" name="TextBox 9"/>
          <p:cNvSpPr txBox="1"/>
          <p:nvPr/>
        </p:nvSpPr>
        <p:spPr>
          <a:xfrm>
            <a:off x="457200" y="4773167"/>
            <a:ext cx="5577840" cy="457200"/>
          </a:xfrm>
          <a:prstGeom prst="rect">
            <a:avLst/>
          </a:prstGeom>
          <a:noFill/>
          <a:ln>
            <a:noFill/>
          </a:ln>
        </p:spPr>
        <p:txBody>
          <a:bodyPr wrap="square">
            <a:spAutoFit/>
          </a:bodyPr>
          <a:lstStyle/>
          <a:p>
            <a:pPr algn="l"/>
            <a:r>
              <a:rPr sz="1300" b="0" i="0">
                <a:solidFill>
                  <a:srgbClr val="4A443B"/>
                </a:solidFill>
                <a:latin typeface="Libre Franklin"/>
              </a:rPr>
              <a:t>•  One-click shortcut to generate the meeting prep packet for this supplier.</a:t>
            </a:r>
          </a:p>
        </p:txBody>
      </p:sp>
      <p:sp>
        <p:nvSpPr>
          <p:cNvPr id="11" name="Rectangle 10"/>
          <p:cNvSpPr/>
          <p:nvPr/>
        </p:nvSpPr>
        <p:spPr>
          <a:xfrm>
            <a:off x="6217920" y="1691640"/>
            <a:ext cx="5532120" cy="4572000"/>
          </a:xfrm>
          <a:prstGeom prst="rect">
            <a:avLst/>
          </a:prstGeom>
          <a:solidFill>
            <a:srgbClr val="E8E2D8"/>
          </a:solidFill>
          <a:ln w="12700">
            <a:solidFill>
              <a:srgbClr val="C8BE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3657600"/>
            <a:ext cx="4206240" cy="914400"/>
          </a:xfrm>
          <a:prstGeom prst="rect">
            <a:avLst/>
          </a:prstGeom>
          <a:noFill/>
          <a:ln>
            <a:noFill/>
          </a:ln>
        </p:spPr>
        <p:txBody>
          <a:bodyPr wrap="square">
            <a:spAutoFit/>
          </a:bodyPr>
          <a:lstStyle/>
          <a:p>
            <a:pPr algn="ctr"/>
            <a:r>
              <a:rPr sz="1200" b="0" i="0">
                <a:solidFill>
                  <a:srgbClr val="A89D8E"/>
                </a:solidFill>
                <a:latin typeface="IBM Plex Mono"/>
              </a:rPr>
              <a:t>[Supplier profile screenshot
— drag in screenshot]</a:t>
            </a:r>
          </a:p>
        </p:txBody>
      </p:sp>
      <p:sp>
        <p:nvSpPr>
          <p:cNvPr id="13" name="TextBox 12"/>
          <p:cNvSpPr txBox="1"/>
          <p:nvPr/>
        </p:nvSpPr>
        <p:spPr>
          <a:xfrm>
            <a:off x="6217920" y="6327648"/>
            <a:ext cx="5532120" cy="256032"/>
          </a:xfrm>
          <a:prstGeom prst="rect">
            <a:avLst/>
          </a:prstGeom>
          <a:noFill/>
          <a:ln>
            <a:noFill/>
          </a:ln>
        </p:spPr>
        <p:txBody>
          <a:bodyPr wrap="square">
            <a:spAutoFit/>
          </a:bodyPr>
          <a:lstStyle/>
          <a:p>
            <a:pPr algn="l"/>
            <a:r>
              <a:rPr sz="1000" b="0" i="0">
                <a:solidFill>
                  <a:srgbClr val="A0957F"/>
                </a:solidFill>
                <a:latin typeface="IBM Plex Mono"/>
              </a:rPr>
              <a:t>▶ live demo · searchable per-supplier depth</a:t>
            </a:r>
          </a:p>
        </p:txBody>
      </p:sp>
      <p:sp>
        <p:nvSpPr>
          <p:cNvPr id="14" name="TextBox 13"/>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15" name="TextBox 14"/>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08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09 — DEMO · MEETING PREP PACKET</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The core product — one click, one page, everything the manager needs</a:t>
            </a:r>
          </a:p>
        </p:txBody>
      </p:sp>
      <p:sp>
        <p:nvSpPr>
          <p:cNvPr id="4" name="Rectangle 3"/>
          <p:cNvSpPr/>
          <p:nvPr/>
        </p:nvSpPr>
        <p:spPr>
          <a:xfrm>
            <a:off x="457200" y="1719072"/>
            <a:ext cx="5577840" cy="594360"/>
          </a:xfrm>
          <a:prstGeom prst="rect">
            <a:avLst/>
          </a:prstGeom>
          <a:solidFill>
            <a:srgbClr val="221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764792"/>
            <a:ext cx="5303520" cy="256032"/>
          </a:xfrm>
          <a:prstGeom prst="rect">
            <a:avLst/>
          </a:prstGeom>
          <a:noFill/>
          <a:ln>
            <a:noFill/>
          </a:ln>
        </p:spPr>
        <p:txBody>
          <a:bodyPr wrap="square">
            <a:spAutoFit/>
          </a:bodyPr>
          <a:lstStyle/>
          <a:p>
            <a:pPr algn="l"/>
            <a:r>
              <a:rPr sz="1400" b="1" i="0">
                <a:solidFill>
                  <a:srgbClr val="F1ECE2"/>
                </a:solidFill>
                <a:latin typeface="Libre Franklin"/>
              </a:rPr>
              <a:t>⚡  Select meeting → Generate Packet</a:t>
            </a:r>
          </a:p>
        </p:txBody>
      </p:sp>
      <p:sp>
        <p:nvSpPr>
          <p:cNvPr id="6" name="TextBox 5"/>
          <p:cNvSpPr txBox="1"/>
          <p:nvPr/>
        </p:nvSpPr>
        <p:spPr>
          <a:xfrm>
            <a:off x="594360" y="2029968"/>
            <a:ext cx="5303520" cy="228600"/>
          </a:xfrm>
          <a:prstGeom prst="rect">
            <a:avLst/>
          </a:prstGeom>
          <a:noFill/>
          <a:ln>
            <a:noFill/>
          </a:ln>
        </p:spPr>
        <p:txBody>
          <a:bodyPr wrap="square">
            <a:spAutoFit/>
          </a:bodyPr>
          <a:lstStyle/>
          <a:p>
            <a:pPr algn="l"/>
            <a:r>
              <a:rPr sz="1100" b="0" i="0">
                <a:solidFill>
                  <a:srgbClr val="B6AC9C"/>
                </a:solidFill>
                <a:latin typeface="Libre Franklin"/>
              </a:rPr>
              <a:t>One Claude API call per supplier · returns in ~10–15s</a:t>
            </a:r>
          </a:p>
        </p:txBody>
      </p:sp>
      <p:sp>
        <p:nvSpPr>
          <p:cNvPr id="7" name="TextBox 6"/>
          <p:cNvSpPr txBox="1"/>
          <p:nvPr/>
        </p:nvSpPr>
        <p:spPr>
          <a:xfrm>
            <a:off x="457200" y="2423160"/>
            <a:ext cx="5486400" cy="228600"/>
          </a:xfrm>
          <a:prstGeom prst="rect">
            <a:avLst/>
          </a:prstGeom>
          <a:noFill/>
          <a:ln>
            <a:noFill/>
          </a:ln>
        </p:spPr>
        <p:txBody>
          <a:bodyPr wrap="square">
            <a:spAutoFit/>
          </a:bodyPr>
          <a:lstStyle/>
          <a:p>
            <a:pPr algn="l"/>
            <a:r>
              <a:rPr sz="900" b="0" i="0">
                <a:solidFill>
                  <a:srgbClr val="94897A"/>
                </a:solidFill>
                <a:latin typeface="IBM Plex Mono"/>
              </a:rPr>
              <a:t>THE PACKET CONTAINS</a:t>
            </a:r>
          </a:p>
        </p:txBody>
      </p:sp>
      <p:sp>
        <p:nvSpPr>
          <p:cNvPr id="8" name="TextBox 7"/>
          <p:cNvSpPr txBox="1"/>
          <p:nvPr/>
        </p:nvSpPr>
        <p:spPr>
          <a:xfrm>
            <a:off x="457200" y="2697480"/>
            <a:ext cx="2651760" cy="411480"/>
          </a:xfrm>
          <a:prstGeom prst="rect">
            <a:avLst/>
          </a:prstGeom>
          <a:noFill/>
          <a:ln>
            <a:noFill/>
          </a:ln>
        </p:spPr>
        <p:txBody>
          <a:bodyPr wrap="square">
            <a:spAutoFit/>
          </a:bodyPr>
          <a:lstStyle/>
          <a:p>
            <a:pPr algn="l"/>
            <a:r>
              <a:rPr sz="1200" b="0" i="0">
                <a:solidFill>
                  <a:srgbClr val="4A443B"/>
                </a:solidFill>
                <a:latin typeface="Libre Franklin"/>
              </a:rPr>
              <a:t>Heads-up alert — most critical issue</a:t>
            </a:r>
          </a:p>
        </p:txBody>
      </p:sp>
      <p:sp>
        <p:nvSpPr>
          <p:cNvPr id="9" name="TextBox 8"/>
          <p:cNvSpPr txBox="1"/>
          <p:nvPr/>
        </p:nvSpPr>
        <p:spPr>
          <a:xfrm>
            <a:off x="3246120" y="2697480"/>
            <a:ext cx="2651760" cy="411480"/>
          </a:xfrm>
          <a:prstGeom prst="rect">
            <a:avLst/>
          </a:prstGeom>
          <a:noFill/>
          <a:ln>
            <a:noFill/>
          </a:ln>
        </p:spPr>
        <p:txBody>
          <a:bodyPr wrap="square">
            <a:spAutoFit/>
          </a:bodyPr>
          <a:lstStyle/>
          <a:p>
            <a:pPr algn="l"/>
            <a:r>
              <a:rPr sz="1200" b="0" i="0">
                <a:solidFill>
                  <a:srgbClr val="4A443B"/>
                </a:solidFill>
                <a:latin typeface="Libre Franklin"/>
              </a:rPr>
              <a:t>4 KPI tiles</a:t>
            </a:r>
          </a:p>
        </p:txBody>
      </p:sp>
      <p:sp>
        <p:nvSpPr>
          <p:cNvPr id="10" name="TextBox 9"/>
          <p:cNvSpPr txBox="1"/>
          <p:nvPr/>
        </p:nvSpPr>
        <p:spPr>
          <a:xfrm>
            <a:off x="457200" y="3200400"/>
            <a:ext cx="2651760" cy="411480"/>
          </a:xfrm>
          <a:prstGeom prst="rect">
            <a:avLst/>
          </a:prstGeom>
          <a:noFill/>
          <a:ln>
            <a:noFill/>
          </a:ln>
        </p:spPr>
        <p:txBody>
          <a:bodyPr wrap="square">
            <a:spAutoFit/>
          </a:bodyPr>
          <a:lstStyle/>
          <a:p>
            <a:pPr algn="l"/>
            <a:r>
              <a:rPr sz="1200" b="0" i="0">
                <a:solidFill>
                  <a:srgbClr val="4A443B"/>
                </a:solidFill>
                <a:latin typeface="Libre Franklin"/>
              </a:rPr>
              <a:t>Open issues — severity-coded</a:t>
            </a:r>
          </a:p>
        </p:txBody>
      </p:sp>
      <p:sp>
        <p:nvSpPr>
          <p:cNvPr id="11" name="TextBox 10"/>
          <p:cNvSpPr txBox="1"/>
          <p:nvPr/>
        </p:nvSpPr>
        <p:spPr>
          <a:xfrm>
            <a:off x="3246120" y="3200400"/>
            <a:ext cx="2651760" cy="411480"/>
          </a:xfrm>
          <a:prstGeom prst="rect">
            <a:avLst/>
          </a:prstGeom>
          <a:noFill/>
          <a:ln>
            <a:noFill/>
          </a:ln>
        </p:spPr>
        <p:txBody>
          <a:bodyPr wrap="square">
            <a:spAutoFit/>
          </a:bodyPr>
          <a:lstStyle/>
          <a:p>
            <a:pPr algn="l"/>
            <a:r>
              <a:rPr sz="1200" b="0" i="0">
                <a:solidFill>
                  <a:srgbClr val="4A443B"/>
                </a:solidFill>
                <a:latin typeface="Libre Franklin"/>
              </a:rPr>
              <a:t>Email thread summary</a:t>
            </a:r>
          </a:p>
        </p:txBody>
      </p:sp>
      <p:sp>
        <p:nvSpPr>
          <p:cNvPr id="12" name="TextBox 11"/>
          <p:cNvSpPr txBox="1"/>
          <p:nvPr/>
        </p:nvSpPr>
        <p:spPr>
          <a:xfrm>
            <a:off x="457200" y="3703320"/>
            <a:ext cx="2651760" cy="411480"/>
          </a:xfrm>
          <a:prstGeom prst="rect">
            <a:avLst/>
          </a:prstGeom>
          <a:noFill/>
          <a:ln>
            <a:noFill/>
          </a:ln>
        </p:spPr>
        <p:txBody>
          <a:bodyPr wrap="square">
            <a:spAutoFit/>
          </a:bodyPr>
          <a:lstStyle/>
          <a:p>
            <a:pPr algn="l"/>
            <a:r>
              <a:rPr sz="1200" b="0" i="0">
                <a:solidFill>
                  <a:srgbClr val="4A443B"/>
                </a:solidFill>
                <a:latin typeface="Libre Franklin"/>
              </a:rPr>
              <a:t>Contract at a glance</a:t>
            </a:r>
          </a:p>
        </p:txBody>
      </p:sp>
      <p:sp>
        <p:nvSpPr>
          <p:cNvPr id="13" name="TextBox 12"/>
          <p:cNvSpPr txBox="1"/>
          <p:nvPr/>
        </p:nvSpPr>
        <p:spPr>
          <a:xfrm>
            <a:off x="3246120" y="3703320"/>
            <a:ext cx="2651760" cy="411480"/>
          </a:xfrm>
          <a:prstGeom prst="rect">
            <a:avLst/>
          </a:prstGeom>
          <a:noFill/>
          <a:ln>
            <a:noFill/>
          </a:ln>
        </p:spPr>
        <p:txBody>
          <a:bodyPr wrap="square">
            <a:spAutoFit/>
          </a:bodyPr>
          <a:lstStyle/>
          <a:p>
            <a:pPr algn="l"/>
            <a:r>
              <a:rPr sz="1200" b="0" i="0">
                <a:solidFill>
                  <a:srgbClr val="4A443B"/>
                </a:solidFill>
                <a:latin typeface="Libre Franklin"/>
              </a:rPr>
              <a:t>Pricing + delta calc</a:t>
            </a:r>
          </a:p>
        </p:txBody>
      </p:sp>
      <p:sp>
        <p:nvSpPr>
          <p:cNvPr id="14" name="TextBox 13"/>
          <p:cNvSpPr txBox="1"/>
          <p:nvPr/>
        </p:nvSpPr>
        <p:spPr>
          <a:xfrm>
            <a:off x="457200" y="4206240"/>
            <a:ext cx="2651760" cy="411480"/>
          </a:xfrm>
          <a:prstGeom prst="rect">
            <a:avLst/>
          </a:prstGeom>
          <a:noFill/>
          <a:ln>
            <a:noFill/>
          </a:ln>
        </p:spPr>
        <p:txBody>
          <a:bodyPr wrap="square">
            <a:spAutoFit/>
          </a:bodyPr>
          <a:lstStyle/>
          <a:p>
            <a:pPr algn="l"/>
            <a:r>
              <a:rPr sz="1200" b="0" i="0">
                <a:solidFill>
                  <a:srgbClr val="4A443B"/>
                </a:solidFill>
                <a:latin typeface="Libre Franklin"/>
              </a:rPr>
              <a:t>Commodity benchmark — 6-month change</a:t>
            </a:r>
          </a:p>
        </p:txBody>
      </p:sp>
      <p:sp>
        <p:nvSpPr>
          <p:cNvPr id="15" name="TextBox 14"/>
          <p:cNvSpPr txBox="1"/>
          <p:nvPr/>
        </p:nvSpPr>
        <p:spPr>
          <a:xfrm>
            <a:off x="3246120" y="4206240"/>
            <a:ext cx="2651760" cy="411480"/>
          </a:xfrm>
          <a:prstGeom prst="rect">
            <a:avLst/>
          </a:prstGeom>
          <a:noFill/>
          <a:ln>
            <a:noFill/>
          </a:ln>
        </p:spPr>
        <p:txBody>
          <a:bodyPr wrap="square">
            <a:spAutoFit/>
          </a:bodyPr>
          <a:lstStyle/>
          <a:p>
            <a:pPr algn="l"/>
            <a:r>
              <a:rPr sz="1200" b="0" i="0">
                <a:solidFill>
                  <a:srgbClr val="4A443B"/>
                </a:solidFill>
                <a:latin typeface="Libre Franklin"/>
              </a:rPr>
              <a:t>“Show source” on every fact</a:t>
            </a:r>
          </a:p>
        </p:txBody>
      </p:sp>
      <p:sp>
        <p:nvSpPr>
          <p:cNvPr id="16" name="Rectangle 15"/>
          <p:cNvSpPr/>
          <p:nvPr/>
        </p:nvSpPr>
        <p:spPr>
          <a:xfrm>
            <a:off x="6217920" y="1691640"/>
            <a:ext cx="5532120" cy="484632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810512"/>
            <a:ext cx="3657600" cy="292608"/>
          </a:xfrm>
          <a:prstGeom prst="rect">
            <a:avLst/>
          </a:prstGeom>
          <a:noFill/>
          <a:ln>
            <a:noFill/>
          </a:ln>
        </p:spPr>
        <p:txBody>
          <a:bodyPr wrap="square">
            <a:spAutoFit/>
          </a:bodyPr>
          <a:lstStyle/>
          <a:p>
            <a:pPr algn="l"/>
            <a:r>
              <a:rPr sz="1800" b="1" i="0">
                <a:solidFill>
                  <a:srgbClr val="221D17"/>
                </a:solidFill>
                <a:latin typeface="Newsreader"/>
              </a:rPr>
              <a:t>Demo case · Galil Dairy</a:t>
            </a:r>
          </a:p>
        </p:txBody>
      </p:sp>
      <p:sp>
        <p:nvSpPr>
          <p:cNvPr id="18" name="TextBox 17"/>
          <p:cNvSpPr txBox="1"/>
          <p:nvPr/>
        </p:nvSpPr>
        <p:spPr>
          <a:xfrm>
            <a:off x="9418320" y="1847088"/>
            <a:ext cx="2103120" cy="228600"/>
          </a:xfrm>
          <a:prstGeom prst="rect">
            <a:avLst/>
          </a:prstGeom>
          <a:noFill/>
          <a:ln>
            <a:noFill/>
          </a:ln>
        </p:spPr>
        <p:txBody>
          <a:bodyPr wrap="square">
            <a:spAutoFit/>
          </a:bodyPr>
          <a:lstStyle/>
          <a:p>
            <a:pPr algn="r"/>
            <a:r>
              <a:rPr sz="900" b="0" i="0">
                <a:solidFill>
                  <a:srgbClr val="A0957F"/>
                </a:solidFill>
                <a:latin typeface="IBM Plex Mono"/>
              </a:rPr>
              <a:t>GENERATED PACKET</a:t>
            </a:r>
          </a:p>
        </p:txBody>
      </p:sp>
      <p:sp>
        <p:nvSpPr>
          <p:cNvPr id="19" name="Rectangle 18"/>
          <p:cNvSpPr/>
          <p:nvPr/>
        </p:nvSpPr>
        <p:spPr>
          <a:xfrm>
            <a:off x="6309360" y="2194560"/>
            <a:ext cx="5349240" cy="1097280"/>
          </a:xfrm>
          <a:prstGeom prst="rect">
            <a:avLst/>
          </a:prstGeom>
          <a:solidFill>
            <a:srgbClr val="F7ECE9"/>
          </a:solidFill>
          <a:ln w="12700">
            <a:solidFill>
              <a:srgbClr val="E6C7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2258568"/>
            <a:ext cx="5029200" cy="256032"/>
          </a:xfrm>
          <a:prstGeom prst="rect">
            <a:avLst/>
          </a:prstGeom>
          <a:noFill/>
          <a:ln>
            <a:noFill/>
          </a:ln>
        </p:spPr>
        <p:txBody>
          <a:bodyPr wrap="square">
            <a:spAutoFit/>
          </a:bodyPr>
          <a:lstStyle/>
          <a:p>
            <a:pPr algn="l"/>
            <a:r>
              <a:rPr sz="1300" b="1" i="0">
                <a:solidFill>
                  <a:srgbClr val="9A2E1C"/>
                </a:solidFill>
                <a:latin typeface="Libre Franklin"/>
              </a:rPr>
              <a:t>•  Price discrepancy flagged</a:t>
            </a:r>
          </a:p>
        </p:txBody>
      </p:sp>
      <p:sp>
        <p:nvSpPr>
          <p:cNvPr id="21" name="TextBox 20"/>
          <p:cNvSpPr txBox="1"/>
          <p:nvPr/>
        </p:nvSpPr>
        <p:spPr>
          <a:xfrm>
            <a:off x="6446520" y="2532888"/>
            <a:ext cx="5029200" cy="658368"/>
          </a:xfrm>
          <a:prstGeom prst="rect">
            <a:avLst/>
          </a:prstGeom>
          <a:noFill/>
          <a:ln>
            <a:noFill/>
          </a:ln>
        </p:spPr>
        <p:txBody>
          <a:bodyPr wrap="square">
            <a:spAutoFit/>
          </a:bodyPr>
          <a:lstStyle/>
          <a:p>
            <a:pPr algn="l"/>
            <a:r>
              <a:rPr sz="1200" b="0" i="0">
                <a:solidFill>
                  <a:srgbClr val="4A443B"/>
                </a:solidFill>
                <a:latin typeface="Libre Franklin"/>
              </a:rPr>
              <a:t>Supplier quoted ₪15.50/kg in email; contract §4.2 caps at ₪14.20/kg. No written amendment exists.  Delta +₪1.30/kg (+9.2%)</a:t>
            </a:r>
          </a:p>
        </p:txBody>
      </p:sp>
      <p:sp>
        <p:nvSpPr>
          <p:cNvPr id="22" name="Rectangle 21"/>
          <p:cNvSpPr/>
          <p:nvPr/>
        </p:nvSpPr>
        <p:spPr>
          <a:xfrm>
            <a:off x="6309360" y="3364992"/>
            <a:ext cx="5349240" cy="1005840"/>
          </a:xfrm>
          <a:prstGeom prst="rect">
            <a:avLst/>
          </a:prstGeom>
          <a:solidFill>
            <a:srgbClr val="FAF2E2"/>
          </a:solidFill>
          <a:ln w="12700">
            <a:solidFill>
              <a:srgbClr val="EAD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3429000"/>
            <a:ext cx="5029200" cy="256032"/>
          </a:xfrm>
          <a:prstGeom prst="rect">
            <a:avLst/>
          </a:prstGeom>
          <a:noFill/>
          <a:ln>
            <a:noFill/>
          </a:ln>
        </p:spPr>
        <p:txBody>
          <a:bodyPr wrap="square">
            <a:spAutoFit/>
          </a:bodyPr>
          <a:lstStyle/>
          <a:p>
            <a:pPr algn="l"/>
            <a:r>
              <a:rPr sz="1300" b="1" i="0">
                <a:solidFill>
                  <a:srgbClr val="8A6212"/>
                </a:solidFill>
                <a:latin typeface="Libre Franklin"/>
              </a:rPr>
              <a:t>•  Unanswered thread flagged</a:t>
            </a:r>
          </a:p>
        </p:txBody>
      </p:sp>
      <p:sp>
        <p:nvSpPr>
          <p:cNvPr id="24" name="TextBox 23"/>
          <p:cNvSpPr txBox="1"/>
          <p:nvPr/>
        </p:nvSpPr>
        <p:spPr>
          <a:xfrm>
            <a:off x="6446520" y="3703320"/>
            <a:ext cx="5029200" cy="548640"/>
          </a:xfrm>
          <a:prstGeom prst="rect">
            <a:avLst/>
          </a:prstGeom>
          <a:noFill/>
          <a:ln>
            <a:noFill/>
          </a:ln>
        </p:spPr>
        <p:txBody>
          <a:bodyPr wrap="square">
            <a:spAutoFit/>
          </a:bodyPr>
          <a:lstStyle/>
          <a:p>
            <a:pPr algn="l"/>
            <a:r>
              <a:rPr sz="1200" b="0" i="0">
                <a:solidFill>
                  <a:srgbClr val="4A443B"/>
                </a:solidFill>
                <a:latin typeface="Libre Franklin"/>
              </a:rPr>
              <a:t>Yael Shapira requested alignment; David Cohen proposed a call — no documented outcome.</a:t>
            </a:r>
          </a:p>
        </p:txBody>
      </p:sp>
      <p:sp>
        <p:nvSpPr>
          <p:cNvPr id="25" name="TextBox 24"/>
          <p:cNvSpPr txBox="1"/>
          <p:nvPr/>
        </p:nvSpPr>
        <p:spPr>
          <a:xfrm>
            <a:off x="6400800" y="4462272"/>
            <a:ext cx="5212080" cy="594360"/>
          </a:xfrm>
          <a:prstGeom prst="rect">
            <a:avLst/>
          </a:prstGeom>
          <a:noFill/>
          <a:ln>
            <a:noFill/>
          </a:ln>
        </p:spPr>
        <p:txBody>
          <a:bodyPr wrap="square">
            <a:spAutoFit/>
          </a:bodyPr>
          <a:lstStyle/>
          <a:p>
            <a:pPr algn="l"/>
            <a:r>
              <a:rPr sz="1200" b="0" i="0">
                <a:solidFill>
                  <a:srgbClr val="544C42"/>
                </a:solidFill>
                <a:latin typeface="Libre Franklin"/>
              </a:rPr>
              <a:t>📎  Every fact carries a “Show source” expander pointing to the exact email or contract section.</a:t>
            </a:r>
          </a:p>
        </p:txBody>
      </p:sp>
      <p:sp>
        <p:nvSpPr>
          <p:cNvPr id="26" name="TextBox 25"/>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27" name="TextBox 26"/>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09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10 — THE HUMAN IN THE LOOP</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What stops this from being trusted blindly</a:t>
            </a:r>
          </a:p>
        </p:txBody>
      </p:sp>
      <p:sp>
        <p:nvSpPr>
          <p:cNvPr id="4" name="Rectangle 3"/>
          <p:cNvSpPr/>
          <p:nvPr/>
        </p:nvSpPr>
        <p:spPr>
          <a:xfrm>
            <a:off x="457200" y="1691640"/>
            <a:ext cx="5623560" cy="233172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56232"/>
            <a:ext cx="457200" cy="274320"/>
          </a:xfrm>
          <a:prstGeom prst="rect">
            <a:avLst/>
          </a:prstGeom>
          <a:noFill/>
          <a:ln>
            <a:noFill/>
          </a:ln>
        </p:spPr>
        <p:txBody>
          <a:bodyPr wrap="square">
            <a:spAutoFit/>
          </a:bodyPr>
          <a:lstStyle/>
          <a:p>
            <a:pPr algn="l"/>
            <a:r>
              <a:rPr sz="1300" b="0" i="0">
                <a:solidFill>
                  <a:srgbClr val="B23B26"/>
                </a:solidFill>
                <a:latin typeface="IBM Plex Mono"/>
              </a:rPr>
              <a:t>01</a:t>
            </a:r>
          </a:p>
        </p:txBody>
      </p:sp>
      <p:sp>
        <p:nvSpPr>
          <p:cNvPr id="6" name="TextBox 5"/>
          <p:cNvSpPr txBox="1"/>
          <p:nvPr/>
        </p:nvSpPr>
        <p:spPr>
          <a:xfrm>
            <a:off x="1143000" y="1828800"/>
            <a:ext cx="4800600" cy="320040"/>
          </a:xfrm>
          <a:prstGeom prst="rect">
            <a:avLst/>
          </a:prstGeom>
          <a:noFill/>
          <a:ln>
            <a:noFill/>
          </a:ln>
        </p:spPr>
        <p:txBody>
          <a:bodyPr wrap="square">
            <a:spAutoFit/>
          </a:bodyPr>
          <a:lstStyle/>
          <a:p>
            <a:pPr algn="l"/>
            <a:r>
              <a:rPr sz="1800" b="1" i="0">
                <a:solidFill>
                  <a:srgbClr val="221D17"/>
                </a:solidFill>
                <a:latin typeface="Newsreader"/>
              </a:rPr>
              <a:t>Source attribution on every field</a:t>
            </a:r>
          </a:p>
        </p:txBody>
      </p:sp>
      <p:sp>
        <p:nvSpPr>
          <p:cNvPr id="7" name="TextBox 6"/>
          <p:cNvSpPr txBox="1"/>
          <p:nvPr/>
        </p:nvSpPr>
        <p:spPr>
          <a:xfrm>
            <a:off x="640080" y="2240280"/>
            <a:ext cx="5303520" cy="1645919"/>
          </a:xfrm>
          <a:prstGeom prst="rect">
            <a:avLst/>
          </a:prstGeom>
          <a:noFill/>
          <a:ln>
            <a:noFill/>
          </a:ln>
        </p:spPr>
        <p:txBody>
          <a:bodyPr wrap="square">
            <a:spAutoFit/>
          </a:bodyPr>
          <a:lstStyle/>
          <a:p>
            <a:pPr algn="l"/>
            <a:r>
              <a:rPr sz="1300" b="0" i="0">
                <a:solidFill>
                  <a:srgbClr val="4A443B"/>
                </a:solidFill>
                <a:latin typeface="Libre Franklin"/>
              </a:rPr>
              <a:t>Every number, date and clause cites exactly where it came from — email date + sender, or contract section. One click to verify. Nothing is presented as settled ground truth.</a:t>
            </a:r>
          </a:p>
        </p:txBody>
      </p:sp>
      <p:sp>
        <p:nvSpPr>
          <p:cNvPr id="8" name="Rectangle 7"/>
          <p:cNvSpPr/>
          <p:nvPr/>
        </p:nvSpPr>
        <p:spPr>
          <a:xfrm>
            <a:off x="6126480" y="1691640"/>
            <a:ext cx="5623560" cy="233172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856232"/>
            <a:ext cx="457200" cy="274320"/>
          </a:xfrm>
          <a:prstGeom prst="rect">
            <a:avLst/>
          </a:prstGeom>
          <a:noFill/>
          <a:ln>
            <a:noFill/>
          </a:ln>
        </p:spPr>
        <p:txBody>
          <a:bodyPr wrap="square">
            <a:spAutoFit/>
          </a:bodyPr>
          <a:lstStyle/>
          <a:p>
            <a:pPr algn="l"/>
            <a:r>
              <a:rPr sz="1300" b="0" i="0">
                <a:solidFill>
                  <a:srgbClr val="B23B26"/>
                </a:solidFill>
                <a:latin typeface="IBM Plex Mono"/>
              </a:rPr>
              <a:t>02</a:t>
            </a:r>
          </a:p>
        </p:txBody>
      </p:sp>
      <p:sp>
        <p:nvSpPr>
          <p:cNvPr id="10" name="TextBox 9"/>
          <p:cNvSpPr txBox="1"/>
          <p:nvPr/>
        </p:nvSpPr>
        <p:spPr>
          <a:xfrm>
            <a:off x="6812280" y="1828800"/>
            <a:ext cx="4800600" cy="320040"/>
          </a:xfrm>
          <a:prstGeom prst="rect">
            <a:avLst/>
          </a:prstGeom>
          <a:noFill/>
          <a:ln>
            <a:noFill/>
          </a:ln>
        </p:spPr>
        <p:txBody>
          <a:bodyPr wrap="square">
            <a:spAutoFit/>
          </a:bodyPr>
          <a:lstStyle/>
          <a:p>
            <a:pPr algn="l"/>
            <a:r>
              <a:rPr sz="1800" b="1" i="0">
                <a:solidFill>
                  <a:srgbClr val="221D17"/>
                </a:solidFill>
                <a:latin typeface="Newsreader"/>
              </a:rPr>
              <a:t>Explicit conflict flagging</a:t>
            </a:r>
          </a:p>
        </p:txBody>
      </p:sp>
      <p:sp>
        <p:nvSpPr>
          <p:cNvPr id="11" name="TextBox 10"/>
          <p:cNvSpPr txBox="1"/>
          <p:nvPr/>
        </p:nvSpPr>
        <p:spPr>
          <a:xfrm>
            <a:off x="6309360" y="2240280"/>
            <a:ext cx="5303520" cy="1645919"/>
          </a:xfrm>
          <a:prstGeom prst="rect">
            <a:avLst/>
          </a:prstGeom>
          <a:noFill/>
          <a:ln>
            <a:noFill/>
          </a:ln>
        </p:spPr>
        <p:txBody>
          <a:bodyPr wrap="square">
            <a:spAutoFit/>
          </a:bodyPr>
          <a:lstStyle/>
          <a:p>
            <a:pPr algn="l"/>
            <a:r>
              <a:rPr sz="1300" b="0" i="0">
                <a:solidFill>
                  <a:srgbClr val="4A443B"/>
                </a:solidFill>
                <a:latin typeface="Libre Franklin"/>
              </a:rPr>
              <a:t>When email and contract disagree, the packet surfaces both and flags the conflict — it never silently picks one. The Galil price discrepancy and Siam Sugar unit ambiguity are live examples in the demo.</a:t>
            </a:r>
          </a:p>
        </p:txBody>
      </p:sp>
      <p:sp>
        <p:nvSpPr>
          <p:cNvPr id="12" name="Rectangle 11"/>
          <p:cNvSpPr/>
          <p:nvPr/>
        </p:nvSpPr>
        <p:spPr>
          <a:xfrm>
            <a:off x="457200" y="4114800"/>
            <a:ext cx="5623560" cy="233172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79392"/>
            <a:ext cx="457200" cy="274320"/>
          </a:xfrm>
          <a:prstGeom prst="rect">
            <a:avLst/>
          </a:prstGeom>
          <a:noFill/>
          <a:ln>
            <a:noFill/>
          </a:ln>
        </p:spPr>
        <p:txBody>
          <a:bodyPr wrap="square">
            <a:spAutoFit/>
          </a:bodyPr>
          <a:lstStyle/>
          <a:p>
            <a:pPr algn="l"/>
            <a:r>
              <a:rPr sz="1300" b="0" i="0">
                <a:solidFill>
                  <a:srgbClr val="B23B26"/>
                </a:solidFill>
                <a:latin typeface="IBM Plex Mono"/>
              </a:rPr>
              <a:t>03</a:t>
            </a:r>
          </a:p>
        </p:txBody>
      </p:sp>
      <p:sp>
        <p:nvSpPr>
          <p:cNvPr id="14" name="TextBox 13"/>
          <p:cNvSpPr txBox="1"/>
          <p:nvPr/>
        </p:nvSpPr>
        <p:spPr>
          <a:xfrm>
            <a:off x="1143000" y="4251960"/>
            <a:ext cx="4800600" cy="320040"/>
          </a:xfrm>
          <a:prstGeom prst="rect">
            <a:avLst/>
          </a:prstGeom>
          <a:noFill/>
          <a:ln>
            <a:noFill/>
          </a:ln>
        </p:spPr>
        <p:txBody>
          <a:bodyPr wrap="square">
            <a:spAutoFit/>
          </a:bodyPr>
          <a:lstStyle/>
          <a:p>
            <a:pPr algn="l"/>
            <a:r>
              <a:rPr sz="1800" b="1" i="0">
                <a:solidFill>
                  <a:srgbClr val="221D17"/>
                </a:solidFill>
                <a:latin typeface="Newsreader"/>
              </a:rPr>
              <a:t>Correction tracking built in</a:t>
            </a:r>
          </a:p>
        </p:txBody>
      </p:sp>
      <p:sp>
        <p:nvSpPr>
          <p:cNvPr id="15" name="TextBox 14"/>
          <p:cNvSpPr txBox="1"/>
          <p:nvPr/>
        </p:nvSpPr>
        <p:spPr>
          <a:xfrm>
            <a:off x="640080" y="4663440"/>
            <a:ext cx="5303520" cy="1645919"/>
          </a:xfrm>
          <a:prstGeom prst="rect">
            <a:avLst/>
          </a:prstGeom>
          <a:noFill/>
          <a:ln>
            <a:noFill/>
          </a:ln>
        </p:spPr>
        <p:txBody>
          <a:bodyPr wrap="square">
            <a:spAutoFit/>
          </a:bodyPr>
          <a:lstStyle/>
          <a:p>
            <a:pPr algn="l"/>
            <a:r>
              <a:rPr sz="1300" b="0" i="0">
                <a:solidFill>
                  <a:srgbClr val="4A443B"/>
                </a:solidFill>
                <a:latin typeface="Libre Franklin"/>
              </a:rPr>
              <a:t>The manager can flag any field as wrong directly in the packet view. Corrections save to a log correction_log.csv — the extraction-quality feedback loop.</a:t>
            </a:r>
          </a:p>
        </p:txBody>
      </p:sp>
      <p:sp>
        <p:nvSpPr>
          <p:cNvPr id="16" name="Rectangle 15"/>
          <p:cNvSpPr/>
          <p:nvPr/>
        </p:nvSpPr>
        <p:spPr>
          <a:xfrm>
            <a:off x="6126480" y="4114800"/>
            <a:ext cx="5623560" cy="2331720"/>
          </a:xfrm>
          <a:prstGeom prst="rect">
            <a:avLst/>
          </a:prstGeom>
          <a:solidFill>
            <a:srgbClr val="221D17"/>
          </a:solidFill>
          <a:ln w="12700">
            <a:solidFill>
              <a:srgbClr val="221D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4279392"/>
            <a:ext cx="457200" cy="274320"/>
          </a:xfrm>
          <a:prstGeom prst="rect">
            <a:avLst/>
          </a:prstGeom>
          <a:noFill/>
          <a:ln>
            <a:noFill/>
          </a:ln>
        </p:spPr>
        <p:txBody>
          <a:bodyPr wrap="square">
            <a:spAutoFit/>
          </a:bodyPr>
          <a:lstStyle/>
          <a:p>
            <a:pPr algn="l"/>
            <a:r>
              <a:rPr sz="1300" b="0" i="0">
                <a:solidFill>
                  <a:srgbClr val="CB5238"/>
                </a:solidFill>
                <a:latin typeface="IBM Plex Mono"/>
              </a:rPr>
              <a:t>04</a:t>
            </a:r>
          </a:p>
        </p:txBody>
      </p:sp>
      <p:sp>
        <p:nvSpPr>
          <p:cNvPr id="18" name="TextBox 17"/>
          <p:cNvSpPr txBox="1"/>
          <p:nvPr/>
        </p:nvSpPr>
        <p:spPr>
          <a:xfrm>
            <a:off x="6812280" y="4251960"/>
            <a:ext cx="4800600" cy="320040"/>
          </a:xfrm>
          <a:prstGeom prst="rect">
            <a:avLst/>
          </a:prstGeom>
          <a:noFill/>
          <a:ln>
            <a:noFill/>
          </a:ln>
        </p:spPr>
        <p:txBody>
          <a:bodyPr wrap="square">
            <a:spAutoFit/>
          </a:bodyPr>
          <a:lstStyle/>
          <a:p>
            <a:pPr algn="l"/>
            <a:r>
              <a:rPr sz="1800" b="1" i="0">
                <a:solidFill>
                  <a:srgbClr val="F5F0E6"/>
                </a:solidFill>
                <a:latin typeface="Newsreader"/>
              </a:rPr>
              <a:t>The tool never acts</a:t>
            </a:r>
          </a:p>
        </p:txBody>
      </p:sp>
      <p:sp>
        <p:nvSpPr>
          <p:cNvPr id="19" name="TextBox 18"/>
          <p:cNvSpPr txBox="1"/>
          <p:nvPr/>
        </p:nvSpPr>
        <p:spPr>
          <a:xfrm>
            <a:off x="6309360" y="4663440"/>
            <a:ext cx="5303520" cy="1645919"/>
          </a:xfrm>
          <a:prstGeom prst="rect">
            <a:avLst/>
          </a:prstGeom>
          <a:noFill/>
          <a:ln>
            <a:noFill/>
          </a:ln>
        </p:spPr>
        <p:txBody>
          <a:bodyPr wrap="square">
            <a:spAutoFit/>
          </a:bodyPr>
          <a:lstStyle/>
          <a:p>
            <a:pPr algn="l"/>
            <a:r>
              <a:rPr sz="1300" b="0" i="0">
                <a:solidFill>
                  <a:srgbClr val="C7BEAE"/>
                </a:solidFill>
                <a:latin typeface="Libre Franklin"/>
              </a:rPr>
              <a:t>No emails sent, no contracts updated, no decisions taken. Every action stays with the human. The tool removes the assembly work in front of the judgment call — it does not replace the judgment call.</a:t>
            </a:r>
          </a:p>
        </p:txBody>
      </p:sp>
      <p:sp>
        <p:nvSpPr>
          <p:cNvPr id="20" name="TextBox 19"/>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21" name="TextBox 20"/>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10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11 — KPIs</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Two tiers, both tracked — adoption, then quality</a:t>
            </a:r>
          </a:p>
        </p:txBody>
      </p:sp>
      <p:sp>
        <p:nvSpPr>
          <p:cNvPr id="4" name="TextBox 3"/>
          <p:cNvSpPr txBox="1"/>
          <p:nvPr/>
        </p:nvSpPr>
        <p:spPr>
          <a:xfrm>
            <a:off x="457200" y="1719072"/>
            <a:ext cx="3200400" cy="228600"/>
          </a:xfrm>
          <a:prstGeom prst="rect">
            <a:avLst/>
          </a:prstGeom>
          <a:noFill/>
          <a:ln>
            <a:noFill/>
          </a:ln>
        </p:spPr>
        <p:txBody>
          <a:bodyPr wrap="square">
            <a:spAutoFit/>
          </a:bodyPr>
          <a:lstStyle/>
          <a:p>
            <a:pPr algn="l"/>
            <a:r>
              <a:rPr sz="1000" b="1" i="0">
                <a:solidFill>
                  <a:srgbClr val="221D17"/>
                </a:solidFill>
                <a:latin typeface="IBM Plex Mono"/>
              </a:rPr>
              <a:t>TIER 1 · ADOPTION</a:t>
            </a:r>
          </a:p>
        </p:txBody>
      </p:sp>
      <p:sp>
        <p:nvSpPr>
          <p:cNvPr id="5" name="TextBox 4"/>
          <p:cNvSpPr txBox="1"/>
          <p:nvPr/>
        </p:nvSpPr>
        <p:spPr>
          <a:xfrm>
            <a:off x="3520440" y="1737360"/>
            <a:ext cx="2743200" cy="201168"/>
          </a:xfrm>
          <a:prstGeom prst="rect">
            <a:avLst/>
          </a:prstGeom>
          <a:noFill/>
          <a:ln>
            <a:noFill/>
          </a:ln>
        </p:spPr>
        <p:txBody>
          <a:bodyPr wrap="square">
            <a:spAutoFit/>
          </a:bodyPr>
          <a:lstStyle/>
          <a:p>
            <a:pPr algn="l"/>
            <a:r>
              <a:rPr sz="1100" b="0" i="1">
                <a:solidFill>
                  <a:srgbClr val="998E7E"/>
                </a:solidFill>
                <a:latin typeface="Libre Franklin"/>
              </a:rPr>
              <a:t>is it being used?</a:t>
            </a:r>
          </a:p>
        </p:txBody>
      </p:sp>
      <p:sp>
        <p:nvSpPr>
          <p:cNvPr id="6" name="Rectangle 5"/>
          <p:cNvSpPr/>
          <p:nvPr/>
        </p:nvSpPr>
        <p:spPr>
          <a:xfrm>
            <a:off x="457200" y="1993392"/>
            <a:ext cx="2240280" cy="150876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057400"/>
            <a:ext cx="2011680" cy="347472"/>
          </a:xfrm>
          <a:prstGeom prst="rect">
            <a:avLst/>
          </a:prstGeom>
          <a:noFill/>
          <a:ln>
            <a:noFill/>
          </a:ln>
        </p:spPr>
        <p:txBody>
          <a:bodyPr wrap="square">
            <a:spAutoFit/>
          </a:bodyPr>
          <a:lstStyle/>
          <a:p>
            <a:pPr algn="l"/>
            <a:r>
              <a:rPr sz="1200" b="1" i="0">
                <a:solidFill>
                  <a:srgbClr val="221D17"/>
                </a:solidFill>
                <a:latin typeface="Libre Franklin"/>
              </a:rPr>
              <a:t>Packets generated</a:t>
            </a:r>
          </a:p>
        </p:txBody>
      </p:sp>
      <p:sp>
        <p:nvSpPr>
          <p:cNvPr id="8" name="TextBox 7"/>
          <p:cNvSpPr txBox="1"/>
          <p:nvPr/>
        </p:nvSpPr>
        <p:spPr>
          <a:xfrm>
            <a:off x="594360" y="2423160"/>
            <a:ext cx="2011680" cy="777240"/>
          </a:xfrm>
          <a:prstGeom prst="rect">
            <a:avLst/>
          </a:prstGeom>
          <a:noFill/>
          <a:ln>
            <a:noFill/>
          </a:ln>
        </p:spPr>
        <p:txBody>
          <a:bodyPr wrap="square">
            <a:spAutoFit/>
          </a:bodyPr>
          <a:lstStyle/>
          <a:p>
            <a:pPr algn="l"/>
            <a:r>
              <a:rPr sz="1000" b="0" i="0">
                <a:solidFill>
                  <a:srgbClr val="5C5349"/>
                </a:solidFill>
                <a:latin typeface="Libre Franklin"/>
              </a:rPr>
              <a:t>Total prep packets produced. The primary adoption signal — zero means the tool isn’t being used.</a:t>
            </a:r>
          </a:p>
        </p:txBody>
      </p:sp>
      <p:sp>
        <p:nvSpPr>
          <p:cNvPr id="9" name="TextBox 8"/>
          <p:cNvSpPr txBox="1"/>
          <p:nvPr/>
        </p:nvSpPr>
        <p:spPr>
          <a:xfrm>
            <a:off x="594360" y="3310128"/>
            <a:ext cx="2011680" cy="182880"/>
          </a:xfrm>
          <a:prstGeom prst="rect">
            <a:avLst/>
          </a:prstGeom>
          <a:noFill/>
          <a:ln>
            <a:noFill/>
          </a:ln>
        </p:spPr>
        <p:txBody>
          <a:bodyPr wrap="square">
            <a:spAutoFit/>
          </a:bodyPr>
          <a:lstStyle/>
          <a:p>
            <a:pPr algn="l"/>
            <a:r>
              <a:rPr sz="800" b="0" i="0">
                <a:solidFill>
                  <a:srgbClr val="A0957F"/>
                </a:solidFill>
                <a:latin typeface="IBM Plex Mono"/>
              </a:rPr>
              <a:t>total_packets</a:t>
            </a:r>
          </a:p>
        </p:txBody>
      </p:sp>
      <p:sp>
        <p:nvSpPr>
          <p:cNvPr id="10" name="Rectangle 9"/>
          <p:cNvSpPr/>
          <p:nvPr/>
        </p:nvSpPr>
        <p:spPr>
          <a:xfrm>
            <a:off x="2807208" y="1993392"/>
            <a:ext cx="2240280" cy="150876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44368" y="2057400"/>
            <a:ext cx="2011680" cy="347472"/>
          </a:xfrm>
          <a:prstGeom prst="rect">
            <a:avLst/>
          </a:prstGeom>
          <a:noFill/>
          <a:ln>
            <a:noFill/>
          </a:ln>
        </p:spPr>
        <p:txBody>
          <a:bodyPr wrap="square">
            <a:spAutoFit/>
          </a:bodyPr>
          <a:lstStyle/>
          <a:p>
            <a:pPr algn="l"/>
            <a:r>
              <a:rPr sz="1200" b="1" i="0">
                <a:solidFill>
                  <a:srgbClr val="221D17"/>
                </a:solidFill>
                <a:latin typeface="Libre Franklin"/>
              </a:rPr>
              <a:t>Unique suppliers queried</a:t>
            </a:r>
          </a:p>
        </p:txBody>
      </p:sp>
      <p:sp>
        <p:nvSpPr>
          <p:cNvPr id="12" name="TextBox 11"/>
          <p:cNvSpPr txBox="1"/>
          <p:nvPr/>
        </p:nvSpPr>
        <p:spPr>
          <a:xfrm>
            <a:off x="2944368" y="2423160"/>
            <a:ext cx="2011680" cy="777240"/>
          </a:xfrm>
          <a:prstGeom prst="rect">
            <a:avLst/>
          </a:prstGeom>
          <a:noFill/>
          <a:ln>
            <a:noFill/>
          </a:ln>
        </p:spPr>
        <p:txBody>
          <a:bodyPr wrap="square">
            <a:spAutoFit/>
          </a:bodyPr>
          <a:lstStyle/>
          <a:p>
            <a:pPr algn="l"/>
            <a:r>
              <a:rPr sz="1000" b="0" i="0">
                <a:solidFill>
                  <a:srgbClr val="5C5349"/>
                </a:solidFill>
                <a:latin typeface="Libre Franklin"/>
              </a:rPr>
              <a:t>Distinct suppliers with a packet generated. Breadth of adoption across the roster.</a:t>
            </a:r>
          </a:p>
        </p:txBody>
      </p:sp>
      <p:sp>
        <p:nvSpPr>
          <p:cNvPr id="13" name="TextBox 12"/>
          <p:cNvSpPr txBox="1"/>
          <p:nvPr/>
        </p:nvSpPr>
        <p:spPr>
          <a:xfrm>
            <a:off x="2944368" y="3310128"/>
            <a:ext cx="2011680" cy="182880"/>
          </a:xfrm>
          <a:prstGeom prst="rect">
            <a:avLst/>
          </a:prstGeom>
          <a:noFill/>
          <a:ln>
            <a:noFill/>
          </a:ln>
        </p:spPr>
        <p:txBody>
          <a:bodyPr wrap="square">
            <a:spAutoFit/>
          </a:bodyPr>
          <a:lstStyle/>
          <a:p>
            <a:pPr algn="l"/>
            <a:r>
              <a:rPr sz="800" b="0" i="0">
                <a:solidFill>
                  <a:srgbClr val="A0957F"/>
                </a:solidFill>
                <a:latin typeface="IBM Plex Mono"/>
              </a:rPr>
              <a:t>unique_suppliers</a:t>
            </a:r>
          </a:p>
        </p:txBody>
      </p:sp>
      <p:sp>
        <p:nvSpPr>
          <p:cNvPr id="14" name="Rectangle 13"/>
          <p:cNvSpPr/>
          <p:nvPr/>
        </p:nvSpPr>
        <p:spPr>
          <a:xfrm>
            <a:off x="5157216" y="1993392"/>
            <a:ext cx="2240280" cy="150876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94376" y="2057400"/>
            <a:ext cx="2011680" cy="347472"/>
          </a:xfrm>
          <a:prstGeom prst="rect">
            <a:avLst/>
          </a:prstGeom>
          <a:noFill/>
          <a:ln>
            <a:noFill/>
          </a:ln>
        </p:spPr>
        <p:txBody>
          <a:bodyPr wrap="square">
            <a:spAutoFit/>
          </a:bodyPr>
          <a:lstStyle/>
          <a:p>
            <a:pPr algn="l"/>
            <a:r>
              <a:rPr sz="1200" b="1" i="0">
                <a:solidFill>
                  <a:srgbClr val="221D17"/>
                </a:solidFill>
                <a:latin typeface="Libre Franklin"/>
              </a:rPr>
              <a:t>Avg generation time</a:t>
            </a:r>
          </a:p>
        </p:txBody>
      </p:sp>
      <p:sp>
        <p:nvSpPr>
          <p:cNvPr id="16" name="TextBox 15"/>
          <p:cNvSpPr txBox="1"/>
          <p:nvPr/>
        </p:nvSpPr>
        <p:spPr>
          <a:xfrm>
            <a:off x="5294376" y="2423160"/>
            <a:ext cx="2011680" cy="777240"/>
          </a:xfrm>
          <a:prstGeom prst="rect">
            <a:avLst/>
          </a:prstGeom>
          <a:noFill/>
          <a:ln>
            <a:noFill/>
          </a:ln>
        </p:spPr>
        <p:txBody>
          <a:bodyPr wrap="square">
            <a:spAutoFit/>
          </a:bodyPr>
          <a:lstStyle/>
          <a:p>
            <a:pPr algn="l"/>
            <a:r>
              <a:rPr sz="1000" b="0" i="0">
                <a:solidFill>
                  <a:srgbClr val="5C5349"/>
                </a:solidFill>
                <a:latin typeface="Libre Franklin"/>
              </a:rPr>
              <a:t>Seconds per packet. Tracks performance — target &lt;15s; a regression signal if it grows.</a:t>
            </a:r>
          </a:p>
        </p:txBody>
      </p:sp>
      <p:sp>
        <p:nvSpPr>
          <p:cNvPr id="17" name="TextBox 16"/>
          <p:cNvSpPr txBox="1"/>
          <p:nvPr/>
        </p:nvSpPr>
        <p:spPr>
          <a:xfrm>
            <a:off x="5294376" y="3310128"/>
            <a:ext cx="2011680" cy="182880"/>
          </a:xfrm>
          <a:prstGeom prst="rect">
            <a:avLst/>
          </a:prstGeom>
          <a:noFill/>
          <a:ln>
            <a:noFill/>
          </a:ln>
        </p:spPr>
        <p:txBody>
          <a:bodyPr wrap="square">
            <a:spAutoFit/>
          </a:bodyPr>
          <a:lstStyle/>
          <a:p>
            <a:pPr algn="l"/>
            <a:r>
              <a:rPr sz="800" b="0" i="0">
                <a:solidFill>
                  <a:srgbClr val="A0957F"/>
                </a:solidFill>
                <a:latin typeface="IBM Plex Mono"/>
              </a:rPr>
              <a:t>avg_duration_sec</a:t>
            </a:r>
          </a:p>
        </p:txBody>
      </p:sp>
      <p:sp>
        <p:nvSpPr>
          <p:cNvPr id="18" name="Rectangle 17"/>
          <p:cNvSpPr/>
          <p:nvPr/>
        </p:nvSpPr>
        <p:spPr>
          <a:xfrm>
            <a:off x="7507224" y="1993392"/>
            <a:ext cx="2240280" cy="150876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44384" y="2057400"/>
            <a:ext cx="2011680" cy="347472"/>
          </a:xfrm>
          <a:prstGeom prst="rect">
            <a:avLst/>
          </a:prstGeom>
          <a:noFill/>
          <a:ln>
            <a:noFill/>
          </a:ln>
        </p:spPr>
        <p:txBody>
          <a:bodyPr wrap="square">
            <a:spAutoFit/>
          </a:bodyPr>
          <a:lstStyle/>
          <a:p>
            <a:pPr algn="l"/>
            <a:r>
              <a:rPr sz="1200" b="1" i="0">
                <a:solidFill>
                  <a:srgbClr val="221D17"/>
                </a:solidFill>
                <a:latin typeface="Libre Franklin"/>
              </a:rPr>
              <a:t>Daily generation volume</a:t>
            </a:r>
          </a:p>
        </p:txBody>
      </p:sp>
      <p:sp>
        <p:nvSpPr>
          <p:cNvPr id="20" name="TextBox 19"/>
          <p:cNvSpPr txBox="1"/>
          <p:nvPr/>
        </p:nvSpPr>
        <p:spPr>
          <a:xfrm>
            <a:off x="7644384" y="2423160"/>
            <a:ext cx="2011680" cy="777240"/>
          </a:xfrm>
          <a:prstGeom prst="rect">
            <a:avLst/>
          </a:prstGeom>
          <a:noFill/>
          <a:ln>
            <a:noFill/>
          </a:ln>
        </p:spPr>
        <p:txBody>
          <a:bodyPr wrap="square">
            <a:spAutoFit/>
          </a:bodyPr>
          <a:lstStyle/>
          <a:p>
            <a:pPr algn="l"/>
            <a:r>
              <a:rPr sz="1000" b="0" i="0">
                <a:solidFill>
                  <a:srgbClr val="5C5349"/>
                </a:solidFill>
                <a:latin typeface="Libre Franklin"/>
              </a:rPr>
              <a:t>Packets/day over a rolling 30 days. Shows whether use is growing, flat, or fading after curiosity.</a:t>
            </a:r>
          </a:p>
        </p:txBody>
      </p:sp>
      <p:sp>
        <p:nvSpPr>
          <p:cNvPr id="21" name="TextBox 20"/>
          <p:cNvSpPr txBox="1"/>
          <p:nvPr/>
        </p:nvSpPr>
        <p:spPr>
          <a:xfrm>
            <a:off x="7644384" y="3310128"/>
            <a:ext cx="2011680" cy="182880"/>
          </a:xfrm>
          <a:prstGeom prst="rect">
            <a:avLst/>
          </a:prstGeom>
          <a:noFill/>
          <a:ln>
            <a:noFill/>
          </a:ln>
        </p:spPr>
        <p:txBody>
          <a:bodyPr wrap="square">
            <a:spAutoFit/>
          </a:bodyPr>
          <a:lstStyle/>
          <a:p>
            <a:pPr algn="l"/>
            <a:r>
              <a:rPr sz="800" b="0" i="0">
                <a:solidFill>
                  <a:srgbClr val="A0957F"/>
                </a:solidFill>
                <a:latin typeface="IBM Plex Mono"/>
              </a:rPr>
              <a:t>daily_breakdown</a:t>
            </a:r>
          </a:p>
        </p:txBody>
      </p:sp>
      <p:sp>
        <p:nvSpPr>
          <p:cNvPr id="22" name="Rectangle 21"/>
          <p:cNvSpPr/>
          <p:nvPr/>
        </p:nvSpPr>
        <p:spPr>
          <a:xfrm>
            <a:off x="9857232" y="1993392"/>
            <a:ext cx="2240280" cy="150876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94392" y="2057400"/>
            <a:ext cx="2011680" cy="347472"/>
          </a:xfrm>
          <a:prstGeom prst="rect">
            <a:avLst/>
          </a:prstGeom>
          <a:noFill/>
          <a:ln>
            <a:noFill/>
          </a:ln>
        </p:spPr>
        <p:txBody>
          <a:bodyPr wrap="square">
            <a:spAutoFit/>
          </a:bodyPr>
          <a:lstStyle/>
          <a:p>
            <a:pPr algn="l"/>
            <a:r>
              <a:rPr sz="1200" b="1" i="0">
                <a:solidFill>
                  <a:srgbClr val="221D17"/>
                </a:solidFill>
                <a:latin typeface="Libre Franklin"/>
              </a:rPr>
              <a:t>Per-supplier frequency</a:t>
            </a:r>
          </a:p>
        </p:txBody>
      </p:sp>
      <p:sp>
        <p:nvSpPr>
          <p:cNvPr id="24" name="TextBox 23"/>
          <p:cNvSpPr txBox="1"/>
          <p:nvPr/>
        </p:nvSpPr>
        <p:spPr>
          <a:xfrm>
            <a:off x="9994392" y="2423160"/>
            <a:ext cx="2011680" cy="777240"/>
          </a:xfrm>
          <a:prstGeom prst="rect">
            <a:avLst/>
          </a:prstGeom>
          <a:noFill/>
          <a:ln>
            <a:noFill/>
          </a:ln>
        </p:spPr>
        <p:txBody>
          <a:bodyPr wrap="square">
            <a:spAutoFit/>
          </a:bodyPr>
          <a:lstStyle/>
          <a:p>
            <a:pPr algn="l"/>
            <a:r>
              <a:rPr sz="1000" b="0" i="0">
                <a:solidFill>
                  <a:srgbClr val="5C5349"/>
                </a:solidFill>
                <a:latin typeface="Libre Franklin"/>
              </a:rPr>
              <a:t>Which suppliers get prepped most. Low frequency on a high-risk supplier = an adoption gap.</a:t>
            </a:r>
          </a:p>
        </p:txBody>
      </p:sp>
      <p:sp>
        <p:nvSpPr>
          <p:cNvPr id="25" name="TextBox 24"/>
          <p:cNvSpPr txBox="1"/>
          <p:nvPr/>
        </p:nvSpPr>
        <p:spPr>
          <a:xfrm>
            <a:off x="9994392" y="3310128"/>
            <a:ext cx="2011680" cy="182880"/>
          </a:xfrm>
          <a:prstGeom prst="rect">
            <a:avLst/>
          </a:prstGeom>
          <a:noFill/>
          <a:ln>
            <a:noFill/>
          </a:ln>
        </p:spPr>
        <p:txBody>
          <a:bodyPr wrap="square">
            <a:spAutoFit/>
          </a:bodyPr>
          <a:lstStyle/>
          <a:p>
            <a:pPr algn="l"/>
            <a:r>
              <a:rPr sz="800" b="0" i="0">
                <a:solidFill>
                  <a:srgbClr val="A0957F"/>
                </a:solidFill>
                <a:latin typeface="IBM Plex Mono"/>
              </a:rPr>
              <a:t>supplier_breakdown</a:t>
            </a:r>
          </a:p>
        </p:txBody>
      </p:sp>
      <p:sp>
        <p:nvSpPr>
          <p:cNvPr id="26" name="TextBox 25"/>
          <p:cNvSpPr txBox="1"/>
          <p:nvPr/>
        </p:nvSpPr>
        <p:spPr>
          <a:xfrm>
            <a:off x="457200" y="3703320"/>
            <a:ext cx="4572000" cy="228600"/>
          </a:xfrm>
          <a:prstGeom prst="rect">
            <a:avLst/>
          </a:prstGeom>
          <a:noFill/>
          <a:ln>
            <a:noFill/>
          </a:ln>
        </p:spPr>
        <p:txBody>
          <a:bodyPr wrap="square">
            <a:spAutoFit/>
          </a:bodyPr>
          <a:lstStyle/>
          <a:p>
            <a:pPr algn="l"/>
            <a:r>
              <a:rPr sz="1000" b="1" i="0">
                <a:solidFill>
                  <a:srgbClr val="B23B26"/>
                </a:solidFill>
                <a:latin typeface="IBM Plex Mono"/>
              </a:rPr>
              <a:t>TIER 2 · EXTRACTION QUALITY</a:t>
            </a:r>
          </a:p>
        </p:txBody>
      </p:sp>
      <p:sp>
        <p:nvSpPr>
          <p:cNvPr id="27" name="TextBox 26"/>
          <p:cNvSpPr txBox="1"/>
          <p:nvPr/>
        </p:nvSpPr>
        <p:spPr>
          <a:xfrm>
            <a:off x="4846320" y="3721608"/>
            <a:ext cx="2743200" cy="201168"/>
          </a:xfrm>
          <a:prstGeom prst="rect">
            <a:avLst/>
          </a:prstGeom>
          <a:noFill/>
          <a:ln>
            <a:noFill/>
          </a:ln>
        </p:spPr>
        <p:txBody>
          <a:bodyPr wrap="square">
            <a:spAutoFit/>
          </a:bodyPr>
          <a:lstStyle/>
          <a:p>
            <a:pPr algn="l"/>
            <a:r>
              <a:rPr sz="1100" b="0" i="1">
                <a:solidFill>
                  <a:srgbClr val="998E7E"/>
                </a:solidFill>
                <a:latin typeface="Libre Franklin"/>
              </a:rPr>
              <a:t>is it worth using?</a:t>
            </a:r>
          </a:p>
        </p:txBody>
      </p:sp>
      <p:sp>
        <p:nvSpPr>
          <p:cNvPr id="28" name="Rectangle 27"/>
          <p:cNvSpPr/>
          <p:nvPr/>
        </p:nvSpPr>
        <p:spPr>
          <a:xfrm>
            <a:off x="457200" y="3977639"/>
            <a:ext cx="2240280" cy="21488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977639"/>
            <a:ext cx="2240280" cy="54864"/>
          </a:xfrm>
          <a:prstGeom prst="rect">
            <a:avLst/>
          </a:prstGeom>
          <a:solidFill>
            <a:srgbClr val="B23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4069080"/>
            <a:ext cx="2011680" cy="365760"/>
          </a:xfrm>
          <a:prstGeom prst="rect">
            <a:avLst/>
          </a:prstGeom>
          <a:noFill/>
          <a:ln>
            <a:noFill/>
          </a:ln>
        </p:spPr>
        <p:txBody>
          <a:bodyPr wrap="square">
            <a:spAutoFit/>
          </a:bodyPr>
          <a:lstStyle/>
          <a:p>
            <a:pPr algn="l"/>
            <a:r>
              <a:rPr sz="1200" b="1" i="0">
                <a:solidFill>
                  <a:srgbClr val="221D17"/>
                </a:solidFill>
                <a:latin typeface="Libre Franklin"/>
              </a:rPr>
              <a:t>§1  Response Time</a:t>
            </a:r>
          </a:p>
        </p:txBody>
      </p:sp>
      <p:sp>
        <p:nvSpPr>
          <p:cNvPr id="31" name="TextBox 30"/>
          <p:cNvSpPr txBox="1"/>
          <p:nvPr/>
        </p:nvSpPr>
        <p:spPr>
          <a:xfrm>
            <a:off x="594360" y="4480560"/>
            <a:ext cx="2011680" cy="777240"/>
          </a:xfrm>
          <a:prstGeom prst="rect">
            <a:avLst/>
          </a:prstGeom>
          <a:noFill/>
          <a:ln>
            <a:noFill/>
          </a:ln>
        </p:spPr>
        <p:txBody>
          <a:bodyPr wrap="square">
            <a:spAutoFit/>
          </a:bodyPr>
          <a:lstStyle/>
          <a:p>
            <a:pPr algn="l"/>
            <a:r>
              <a:rPr sz="1000" b="0" i="0">
                <a:solidFill>
                  <a:srgbClr val="5C5349"/>
                </a:solidFill>
                <a:latin typeface="Libre Franklin"/>
              </a:rPr>
              <a:t>Avg days from Strauss outbound to the first supplier reply.</a:t>
            </a:r>
          </a:p>
        </p:txBody>
      </p:sp>
      <p:sp>
        <p:nvSpPr>
          <p:cNvPr id="32" name="TextBox 31"/>
          <p:cNvSpPr txBox="1"/>
          <p:nvPr/>
        </p:nvSpPr>
        <p:spPr>
          <a:xfrm>
            <a:off x="594360" y="5321808"/>
            <a:ext cx="2011680" cy="365760"/>
          </a:xfrm>
          <a:prstGeom prst="rect">
            <a:avLst/>
          </a:prstGeom>
          <a:noFill/>
          <a:ln>
            <a:noFill/>
          </a:ln>
        </p:spPr>
        <p:txBody>
          <a:bodyPr wrap="square">
            <a:spAutoFit/>
          </a:bodyPr>
          <a:lstStyle/>
          <a:p>
            <a:pPr algn="l"/>
            <a:r>
              <a:rPr sz="1000" b="0" i="0">
                <a:solidFill>
                  <a:srgbClr val="7A6E2E"/>
                </a:solidFill>
                <a:latin typeface="Libre Franklin"/>
              </a:rPr>
              <a:t>&lt;5d healthy · &gt;14d = relationship risk</a:t>
            </a:r>
          </a:p>
        </p:txBody>
      </p:sp>
      <p:sp>
        <p:nvSpPr>
          <p:cNvPr id="33" name="TextBox 32"/>
          <p:cNvSpPr txBox="1"/>
          <p:nvPr/>
        </p:nvSpPr>
        <p:spPr>
          <a:xfrm>
            <a:off x="594360" y="5806440"/>
            <a:ext cx="2011680" cy="182880"/>
          </a:xfrm>
          <a:prstGeom prst="rect">
            <a:avLst/>
          </a:prstGeom>
          <a:noFill/>
          <a:ln>
            <a:noFill/>
          </a:ln>
        </p:spPr>
        <p:txBody>
          <a:bodyPr wrap="square">
            <a:spAutoFit/>
          </a:bodyPr>
          <a:lstStyle/>
          <a:p>
            <a:pPr algn="l"/>
            <a:r>
              <a:rPr sz="800" b="0" i="0">
                <a:solidFill>
                  <a:srgbClr val="A0957F"/>
                </a:solidFill>
                <a:latin typeface="IBM Plex Mono"/>
              </a:rPr>
              <a:t>response_time_days</a:t>
            </a:r>
          </a:p>
        </p:txBody>
      </p:sp>
      <p:sp>
        <p:nvSpPr>
          <p:cNvPr id="34" name="Rectangle 33"/>
          <p:cNvSpPr/>
          <p:nvPr/>
        </p:nvSpPr>
        <p:spPr>
          <a:xfrm>
            <a:off x="2807208" y="3977639"/>
            <a:ext cx="2240280" cy="21488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807208" y="3977639"/>
            <a:ext cx="2240280" cy="54864"/>
          </a:xfrm>
          <a:prstGeom prst="rect">
            <a:avLst/>
          </a:prstGeom>
          <a:solidFill>
            <a:srgbClr val="B23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44368" y="4069080"/>
            <a:ext cx="2011680" cy="365760"/>
          </a:xfrm>
          <a:prstGeom prst="rect">
            <a:avLst/>
          </a:prstGeom>
          <a:noFill/>
          <a:ln>
            <a:noFill/>
          </a:ln>
        </p:spPr>
        <p:txBody>
          <a:bodyPr wrap="square">
            <a:spAutoFit/>
          </a:bodyPr>
          <a:lstStyle/>
          <a:p>
            <a:pPr algn="l"/>
            <a:r>
              <a:rPr sz="1200" b="1" i="0">
                <a:solidFill>
                  <a:srgbClr val="221D17"/>
                </a:solidFill>
                <a:latin typeface="Libre Franklin"/>
              </a:rPr>
              <a:t>§2  Open Issues</a:t>
            </a:r>
          </a:p>
        </p:txBody>
      </p:sp>
      <p:sp>
        <p:nvSpPr>
          <p:cNvPr id="37" name="TextBox 36"/>
          <p:cNvSpPr txBox="1"/>
          <p:nvPr/>
        </p:nvSpPr>
        <p:spPr>
          <a:xfrm>
            <a:off x="2944368" y="4480560"/>
            <a:ext cx="2011680" cy="777240"/>
          </a:xfrm>
          <a:prstGeom prst="rect">
            <a:avLst/>
          </a:prstGeom>
          <a:noFill/>
          <a:ln>
            <a:noFill/>
          </a:ln>
        </p:spPr>
        <p:txBody>
          <a:bodyPr wrap="square">
            <a:spAutoFit/>
          </a:bodyPr>
          <a:lstStyle/>
          <a:p>
            <a:pPr algn="l"/>
            <a:r>
              <a:rPr sz="1000" b="0" i="0">
                <a:solidFill>
                  <a:srgbClr val="5C5349"/>
                </a:solidFill>
                <a:latin typeface="Libre Franklin"/>
              </a:rPr>
              <a:t>Unresolved disputes, threads and contract gaps per supplier.</a:t>
            </a:r>
          </a:p>
        </p:txBody>
      </p:sp>
      <p:sp>
        <p:nvSpPr>
          <p:cNvPr id="38" name="TextBox 37"/>
          <p:cNvSpPr txBox="1"/>
          <p:nvPr/>
        </p:nvSpPr>
        <p:spPr>
          <a:xfrm>
            <a:off x="2944368" y="5321808"/>
            <a:ext cx="2011680" cy="365760"/>
          </a:xfrm>
          <a:prstGeom prst="rect">
            <a:avLst/>
          </a:prstGeom>
          <a:noFill/>
          <a:ln>
            <a:noFill/>
          </a:ln>
        </p:spPr>
        <p:txBody>
          <a:bodyPr wrap="square">
            <a:spAutoFit/>
          </a:bodyPr>
          <a:lstStyle/>
          <a:p>
            <a:pPr algn="l"/>
            <a:r>
              <a:rPr sz="1000" b="0" i="0">
                <a:solidFill>
                  <a:srgbClr val="7A6E2E"/>
                </a:solidFill>
                <a:latin typeface="Libre Franklin"/>
              </a:rPr>
              <a:t>Target 0 — each one costs prep time</a:t>
            </a:r>
          </a:p>
        </p:txBody>
      </p:sp>
      <p:sp>
        <p:nvSpPr>
          <p:cNvPr id="39" name="TextBox 38"/>
          <p:cNvSpPr txBox="1"/>
          <p:nvPr/>
        </p:nvSpPr>
        <p:spPr>
          <a:xfrm>
            <a:off x="2944368" y="5806440"/>
            <a:ext cx="2011680" cy="182880"/>
          </a:xfrm>
          <a:prstGeom prst="rect">
            <a:avLst/>
          </a:prstGeom>
          <a:noFill/>
          <a:ln>
            <a:noFill/>
          </a:ln>
        </p:spPr>
        <p:txBody>
          <a:bodyPr wrap="square">
            <a:spAutoFit/>
          </a:bodyPr>
          <a:lstStyle/>
          <a:p>
            <a:pPr algn="l"/>
            <a:r>
              <a:rPr sz="800" b="0" i="0">
                <a:solidFill>
                  <a:srgbClr val="A0957F"/>
                </a:solidFill>
                <a:latin typeface="IBM Plex Mono"/>
              </a:rPr>
              <a:t>open_issues_count</a:t>
            </a:r>
          </a:p>
        </p:txBody>
      </p:sp>
      <p:sp>
        <p:nvSpPr>
          <p:cNvPr id="40" name="Rectangle 39"/>
          <p:cNvSpPr/>
          <p:nvPr/>
        </p:nvSpPr>
        <p:spPr>
          <a:xfrm>
            <a:off x="5157216" y="3977639"/>
            <a:ext cx="2240280" cy="21488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157216" y="3977639"/>
            <a:ext cx="2240280" cy="54864"/>
          </a:xfrm>
          <a:prstGeom prst="rect">
            <a:avLst/>
          </a:prstGeom>
          <a:solidFill>
            <a:srgbClr val="B23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94376" y="4069080"/>
            <a:ext cx="2011680" cy="365760"/>
          </a:xfrm>
          <a:prstGeom prst="rect">
            <a:avLst/>
          </a:prstGeom>
          <a:noFill/>
          <a:ln>
            <a:noFill/>
          </a:ln>
        </p:spPr>
        <p:txBody>
          <a:bodyPr wrap="square">
            <a:spAutoFit/>
          </a:bodyPr>
          <a:lstStyle/>
          <a:p>
            <a:pPr algn="l"/>
            <a:r>
              <a:rPr sz="1200" b="1" i="0">
                <a:solidFill>
                  <a:srgbClr val="221D17"/>
                </a:solidFill>
                <a:latin typeface="Libre Franklin"/>
              </a:rPr>
              <a:t>§3  Price Delta</a:t>
            </a:r>
          </a:p>
        </p:txBody>
      </p:sp>
      <p:sp>
        <p:nvSpPr>
          <p:cNvPr id="43" name="TextBox 42"/>
          <p:cNvSpPr txBox="1"/>
          <p:nvPr/>
        </p:nvSpPr>
        <p:spPr>
          <a:xfrm>
            <a:off x="5294376" y="4480560"/>
            <a:ext cx="2011680" cy="777240"/>
          </a:xfrm>
          <a:prstGeom prst="rect">
            <a:avLst/>
          </a:prstGeom>
          <a:noFill/>
          <a:ln>
            <a:noFill/>
          </a:ln>
        </p:spPr>
        <p:txBody>
          <a:bodyPr wrap="square">
            <a:spAutoFit/>
          </a:bodyPr>
          <a:lstStyle/>
          <a:p>
            <a:pPr algn="l"/>
            <a:r>
              <a:rPr sz="1000" b="0" i="0">
                <a:solidFill>
                  <a:srgbClr val="5C5349"/>
                </a:solidFill>
                <a:latin typeface="Libre Franklin"/>
              </a:rPr>
              <a:t>Latest email quote vs contract base price — % and absolute.</a:t>
            </a:r>
          </a:p>
        </p:txBody>
      </p:sp>
      <p:sp>
        <p:nvSpPr>
          <p:cNvPr id="44" name="TextBox 43"/>
          <p:cNvSpPr txBox="1"/>
          <p:nvPr/>
        </p:nvSpPr>
        <p:spPr>
          <a:xfrm>
            <a:off x="5294376" y="5321808"/>
            <a:ext cx="2011680" cy="365760"/>
          </a:xfrm>
          <a:prstGeom prst="rect">
            <a:avLst/>
          </a:prstGeom>
          <a:noFill/>
          <a:ln>
            <a:noFill/>
          </a:ln>
        </p:spPr>
        <p:txBody>
          <a:bodyPr wrap="square">
            <a:spAutoFit/>
          </a:bodyPr>
          <a:lstStyle/>
          <a:p>
            <a:pPr algn="l"/>
            <a:r>
              <a:rPr sz="1000" b="0" i="0">
                <a:solidFill>
                  <a:srgbClr val="7A6E2E"/>
                </a:solidFill>
                <a:latin typeface="Libre Franklin"/>
              </a:rPr>
              <a:t>Alert if &gt;0% without a written amendment</a:t>
            </a:r>
          </a:p>
        </p:txBody>
      </p:sp>
      <p:sp>
        <p:nvSpPr>
          <p:cNvPr id="45" name="TextBox 44"/>
          <p:cNvSpPr txBox="1"/>
          <p:nvPr/>
        </p:nvSpPr>
        <p:spPr>
          <a:xfrm>
            <a:off x="5294376" y="5806440"/>
            <a:ext cx="2011680" cy="182880"/>
          </a:xfrm>
          <a:prstGeom prst="rect">
            <a:avLst/>
          </a:prstGeom>
          <a:noFill/>
          <a:ln>
            <a:noFill/>
          </a:ln>
        </p:spPr>
        <p:txBody>
          <a:bodyPr wrap="square">
            <a:spAutoFit/>
          </a:bodyPr>
          <a:lstStyle/>
          <a:p>
            <a:pPr algn="l"/>
            <a:r>
              <a:rPr sz="800" b="0" i="0">
                <a:solidFill>
                  <a:srgbClr val="A0957F"/>
                </a:solidFill>
                <a:latin typeface="IBM Plex Mono"/>
              </a:rPr>
              <a:t>price_delta_pct</a:t>
            </a:r>
          </a:p>
        </p:txBody>
      </p:sp>
      <p:sp>
        <p:nvSpPr>
          <p:cNvPr id="46" name="Rectangle 45"/>
          <p:cNvSpPr/>
          <p:nvPr/>
        </p:nvSpPr>
        <p:spPr>
          <a:xfrm>
            <a:off x="7507224" y="3977639"/>
            <a:ext cx="2240280" cy="21488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507224" y="3977639"/>
            <a:ext cx="2240280" cy="54864"/>
          </a:xfrm>
          <a:prstGeom prst="rect">
            <a:avLst/>
          </a:prstGeom>
          <a:solidFill>
            <a:srgbClr val="B23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44384" y="4069080"/>
            <a:ext cx="2011680" cy="365760"/>
          </a:xfrm>
          <a:prstGeom prst="rect">
            <a:avLst/>
          </a:prstGeom>
          <a:noFill/>
          <a:ln>
            <a:noFill/>
          </a:ln>
        </p:spPr>
        <p:txBody>
          <a:bodyPr wrap="square">
            <a:spAutoFit/>
          </a:bodyPr>
          <a:lstStyle/>
          <a:p>
            <a:pPr algn="l"/>
            <a:r>
              <a:rPr sz="1200" b="1" i="0">
                <a:solidFill>
                  <a:srgbClr val="221D17"/>
                </a:solidFill>
                <a:latin typeface="Libre Franklin"/>
              </a:rPr>
              <a:t>§4  Days to Renewal</a:t>
            </a:r>
          </a:p>
        </p:txBody>
      </p:sp>
      <p:sp>
        <p:nvSpPr>
          <p:cNvPr id="49" name="TextBox 48"/>
          <p:cNvSpPr txBox="1"/>
          <p:nvPr/>
        </p:nvSpPr>
        <p:spPr>
          <a:xfrm>
            <a:off x="7644384" y="4480560"/>
            <a:ext cx="2011680" cy="777240"/>
          </a:xfrm>
          <a:prstGeom prst="rect">
            <a:avLst/>
          </a:prstGeom>
          <a:noFill/>
          <a:ln>
            <a:noFill/>
          </a:ln>
        </p:spPr>
        <p:txBody>
          <a:bodyPr wrap="square">
            <a:spAutoFit/>
          </a:bodyPr>
          <a:lstStyle/>
          <a:p>
            <a:pPr algn="l"/>
            <a:r>
              <a:rPr sz="1000" b="0" i="0">
                <a:solidFill>
                  <a:srgbClr val="5C5349"/>
                </a:solidFill>
                <a:latin typeface="Libre Franklin"/>
              </a:rPr>
              <a:t>Calendar days to the contract renewal date.</a:t>
            </a:r>
          </a:p>
        </p:txBody>
      </p:sp>
      <p:sp>
        <p:nvSpPr>
          <p:cNvPr id="50" name="TextBox 49"/>
          <p:cNvSpPr txBox="1"/>
          <p:nvPr/>
        </p:nvSpPr>
        <p:spPr>
          <a:xfrm>
            <a:off x="7644384" y="5321808"/>
            <a:ext cx="2011680" cy="365760"/>
          </a:xfrm>
          <a:prstGeom prst="rect">
            <a:avLst/>
          </a:prstGeom>
          <a:noFill/>
          <a:ln>
            <a:noFill/>
          </a:ln>
        </p:spPr>
        <p:txBody>
          <a:bodyPr wrap="square">
            <a:spAutoFit/>
          </a:bodyPr>
          <a:lstStyle/>
          <a:p>
            <a:pPr algn="l"/>
            <a:r>
              <a:rPr sz="1000" b="0" i="0">
                <a:solidFill>
                  <a:srgbClr val="7A6E2E"/>
                </a:solidFill>
                <a:latin typeface="Libre Franklin"/>
              </a:rPr>
              <a:t>Red &lt;30d · amber 30–90d</a:t>
            </a:r>
          </a:p>
        </p:txBody>
      </p:sp>
      <p:sp>
        <p:nvSpPr>
          <p:cNvPr id="51" name="TextBox 50"/>
          <p:cNvSpPr txBox="1"/>
          <p:nvPr/>
        </p:nvSpPr>
        <p:spPr>
          <a:xfrm>
            <a:off x="7644384" y="5806440"/>
            <a:ext cx="2011680" cy="182880"/>
          </a:xfrm>
          <a:prstGeom prst="rect">
            <a:avLst/>
          </a:prstGeom>
          <a:noFill/>
          <a:ln>
            <a:noFill/>
          </a:ln>
        </p:spPr>
        <p:txBody>
          <a:bodyPr wrap="square">
            <a:spAutoFit/>
          </a:bodyPr>
          <a:lstStyle/>
          <a:p>
            <a:pPr algn="l"/>
            <a:r>
              <a:rPr sz="800" b="0" i="0">
                <a:solidFill>
                  <a:srgbClr val="A0957F"/>
                </a:solidFill>
                <a:latin typeface="IBM Plex Mono"/>
              </a:rPr>
              <a:t>days_to_renewal</a:t>
            </a:r>
          </a:p>
        </p:txBody>
      </p:sp>
      <p:sp>
        <p:nvSpPr>
          <p:cNvPr id="52" name="Rectangle 51"/>
          <p:cNvSpPr/>
          <p:nvPr/>
        </p:nvSpPr>
        <p:spPr>
          <a:xfrm>
            <a:off x="9857232" y="3977639"/>
            <a:ext cx="2240280" cy="21488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857232" y="3977639"/>
            <a:ext cx="2240280" cy="54864"/>
          </a:xfrm>
          <a:prstGeom prst="rect">
            <a:avLst/>
          </a:prstGeom>
          <a:solidFill>
            <a:srgbClr val="B23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94392" y="4069080"/>
            <a:ext cx="2011680" cy="365760"/>
          </a:xfrm>
          <a:prstGeom prst="rect">
            <a:avLst/>
          </a:prstGeom>
          <a:noFill/>
          <a:ln>
            <a:noFill/>
          </a:ln>
        </p:spPr>
        <p:txBody>
          <a:bodyPr wrap="square">
            <a:spAutoFit/>
          </a:bodyPr>
          <a:lstStyle/>
          <a:p>
            <a:pPr algn="l"/>
            <a:r>
              <a:rPr sz="1200" b="1" i="0">
                <a:solidFill>
                  <a:srgbClr val="221D17"/>
                </a:solidFill>
                <a:latin typeface="Libre Franklin"/>
              </a:rPr>
              <a:t>§5  Correction Rate</a:t>
            </a:r>
          </a:p>
        </p:txBody>
      </p:sp>
      <p:sp>
        <p:nvSpPr>
          <p:cNvPr id="55" name="TextBox 54"/>
          <p:cNvSpPr txBox="1"/>
          <p:nvPr/>
        </p:nvSpPr>
        <p:spPr>
          <a:xfrm>
            <a:off x="9994392" y="4480560"/>
            <a:ext cx="2011680" cy="777240"/>
          </a:xfrm>
          <a:prstGeom prst="rect">
            <a:avLst/>
          </a:prstGeom>
          <a:noFill/>
          <a:ln>
            <a:noFill/>
          </a:ln>
        </p:spPr>
        <p:txBody>
          <a:bodyPr wrap="square">
            <a:spAutoFit/>
          </a:bodyPr>
          <a:lstStyle/>
          <a:p>
            <a:pPr algn="l"/>
            <a:r>
              <a:rPr sz="1000" b="0" i="0">
                <a:solidFill>
                  <a:srgbClr val="5C5349"/>
                </a:solidFill>
                <a:latin typeface="Libre Franklin"/>
              </a:rPr>
              <a:t>% of AI fields the manager flags wrong per packet.</a:t>
            </a:r>
          </a:p>
        </p:txBody>
      </p:sp>
      <p:sp>
        <p:nvSpPr>
          <p:cNvPr id="56" name="TextBox 55"/>
          <p:cNvSpPr txBox="1"/>
          <p:nvPr/>
        </p:nvSpPr>
        <p:spPr>
          <a:xfrm>
            <a:off x="9994392" y="5321808"/>
            <a:ext cx="2011680" cy="365760"/>
          </a:xfrm>
          <a:prstGeom prst="rect">
            <a:avLst/>
          </a:prstGeom>
          <a:noFill/>
          <a:ln>
            <a:noFill/>
          </a:ln>
        </p:spPr>
        <p:txBody>
          <a:bodyPr wrap="square">
            <a:spAutoFit/>
          </a:bodyPr>
          <a:lstStyle/>
          <a:p>
            <a:pPr algn="l"/>
            <a:r>
              <a:rPr sz="1000" b="0" i="0">
                <a:solidFill>
                  <a:srgbClr val="7A6E2E"/>
                </a:solidFill>
                <a:latin typeface="Libre Franklin"/>
              </a:rPr>
              <a:t>Target &lt;10% by day 90 · high = retune prompt</a:t>
            </a:r>
          </a:p>
        </p:txBody>
      </p:sp>
      <p:sp>
        <p:nvSpPr>
          <p:cNvPr id="57" name="TextBox 56"/>
          <p:cNvSpPr txBox="1"/>
          <p:nvPr/>
        </p:nvSpPr>
        <p:spPr>
          <a:xfrm>
            <a:off x="9994392" y="5806440"/>
            <a:ext cx="2011680" cy="182880"/>
          </a:xfrm>
          <a:prstGeom prst="rect">
            <a:avLst/>
          </a:prstGeom>
          <a:noFill/>
          <a:ln>
            <a:noFill/>
          </a:ln>
        </p:spPr>
        <p:txBody>
          <a:bodyPr wrap="square">
            <a:spAutoFit/>
          </a:bodyPr>
          <a:lstStyle/>
          <a:p>
            <a:pPr algn="l"/>
            <a:r>
              <a:rPr sz="800" b="0" i="0">
                <a:solidFill>
                  <a:srgbClr val="A0957F"/>
                </a:solidFill>
                <a:latin typeface="IBM Plex Mono"/>
              </a:rPr>
              <a:t>correction_rate_pct</a:t>
            </a:r>
          </a:p>
        </p:txBody>
      </p:sp>
      <p:sp>
        <p:nvSpPr>
          <p:cNvPr id="58" name="TextBox 57"/>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59" name="TextBox 58"/>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11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12 — KPI DATA INPUTS</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What each metric reads, where it comes from, who computes it</a:t>
            </a:r>
          </a:p>
        </p:txBody>
      </p:sp>
      <p:graphicFrame>
        <p:nvGraphicFramePr>
          <p:cNvPr id="4" name="Table 3"/>
          <p:cNvGraphicFramePr>
            <a:graphicFrameLocks noGrp="1"/>
          </p:cNvGraphicFramePr>
          <p:nvPr/>
        </p:nvGraphicFramePr>
        <p:xfrm>
          <a:off x="457200" y="1828800"/>
          <a:ext cx="11430000" cy="4114800"/>
        </p:xfrm>
        <a:graphic>
          <a:graphicData uri="http://schemas.openxmlformats.org/drawingml/2006/table">
            <a:tbl>
              <a:tblPr firstRow="1" bandRow="1">
                <a:tableStyleId>{5C22544A-7EE6-4342-B048-85BDC9FD1C3A}</a:tableStyleId>
              </a:tblPr>
              <a:tblGrid>
                <a:gridCol w="1828800"/>
                <a:gridCol w="2926080"/>
                <a:gridCol w="3474720"/>
                <a:gridCol w="3200400"/>
              </a:tblGrid>
              <a:tr h="685800">
                <a:tc>
                  <a:txBody>
                    <a:bodyPr/>
                    <a:lstStyle/>
                    <a:p>
                      <a:pPr algn="l"/>
                      <a:r>
                        <a:rPr sz="900">
                          <a:solidFill>
                            <a:srgbClr val="94897A"/>
                          </a:solidFill>
                          <a:latin typeface="IBM Plex Mono"/>
                        </a:rPr>
                        <a:t>KPI</a:t>
                      </a:r>
                    </a:p>
                  </a:txBody>
                  <a:tcPr>
                    <a:solidFill>
                      <a:srgbClr val="221D17"/>
                    </a:solidFill>
                  </a:tcPr>
                </a:tc>
                <a:tc>
                  <a:txBody>
                    <a:bodyPr/>
                    <a:lstStyle/>
                    <a:p>
                      <a:pPr algn="l"/>
                      <a:r>
                        <a:rPr sz="900">
                          <a:solidFill>
                            <a:srgbClr val="94897A"/>
                          </a:solidFill>
                          <a:latin typeface="IBM Plex Mono"/>
                        </a:rPr>
                        <a:t>INPUT FIELDS</a:t>
                      </a:r>
                    </a:p>
                  </a:txBody>
                  <a:tcPr>
                    <a:solidFill>
                      <a:srgbClr val="221D17"/>
                    </a:solidFill>
                  </a:tcPr>
                </a:tc>
                <a:tc>
                  <a:txBody>
                    <a:bodyPr/>
                    <a:lstStyle/>
                    <a:p>
                      <a:pPr algn="l"/>
                      <a:r>
                        <a:rPr sz="900">
                          <a:solidFill>
                            <a:srgbClr val="94897A"/>
                          </a:solidFill>
                          <a:latin typeface="IBM Plex Mono"/>
                        </a:rPr>
                        <a:t>SOURCE SYSTEM (PROTOTYPE)</a:t>
                      </a:r>
                    </a:p>
                  </a:txBody>
                  <a:tcPr>
                    <a:solidFill>
                      <a:srgbClr val="221D17"/>
                    </a:solidFill>
                  </a:tcPr>
                </a:tc>
                <a:tc>
                  <a:txBody>
                    <a:bodyPr/>
                    <a:lstStyle/>
                    <a:p>
                      <a:pPr algn="l"/>
                      <a:r>
                        <a:rPr sz="900">
                          <a:solidFill>
                            <a:srgbClr val="94897A"/>
                          </a:solidFill>
                          <a:latin typeface="IBM Plex Mono"/>
                        </a:rPr>
                        <a:t>WHO COMPUTES IT</a:t>
                      </a:r>
                    </a:p>
                  </a:txBody>
                  <a:tcPr>
                    <a:solidFill>
                      <a:srgbClr val="221D17"/>
                    </a:solidFill>
                  </a:tcPr>
                </a:tc>
              </a:tr>
              <a:tr h="685800">
                <a:tc>
                  <a:txBody>
                    <a:bodyPr/>
                    <a:lstStyle/>
                    <a:p>
                      <a:pPr algn="l"/>
                      <a:r>
                        <a:rPr sz="1100">
                          <a:solidFill>
                            <a:srgbClr val="4A443B"/>
                          </a:solidFill>
                          <a:latin typeface="Libre Franklin"/>
                        </a:rPr>
                        <a:t>§1  Response Time</a:t>
                      </a:r>
                    </a:p>
                  </a:txBody>
                  <a:tcPr>
                    <a:solidFill>
                      <a:srgbClr val="F4EFE7"/>
                    </a:solidFill>
                  </a:tcPr>
                </a:tc>
                <a:tc>
                  <a:txBody>
                    <a:bodyPr/>
                    <a:lstStyle/>
                    <a:p>
                      <a:pPr algn="l"/>
                      <a:r>
                        <a:rPr sz="1100">
                          <a:solidFill>
                            <a:srgbClr val="4A443B"/>
                          </a:solidFill>
                          <a:latin typeface="Libre Franklin"/>
                        </a:rPr>
                        <a:t>email.date · email.from · subject</a:t>
                      </a:r>
                    </a:p>
                  </a:txBody>
                  <a:tcPr>
                    <a:solidFill>
                      <a:srgbClr val="F4EFE7"/>
                    </a:solidFill>
                  </a:tcPr>
                </a:tc>
                <a:tc>
                  <a:txBody>
                    <a:bodyPr/>
                    <a:lstStyle/>
                    <a:p>
                      <a:pPr algn="l"/>
                      <a:r>
                        <a:rPr sz="1100">
                          <a:solidFill>
                            <a:srgbClr val="4A443B"/>
                          </a:solidFill>
                          <a:latin typeface="Libre Franklin"/>
                        </a:rPr>
                        <a:t>data/emails/&lt;supplier&gt;.json — 111 emails</a:t>
                      </a:r>
                    </a:p>
                  </a:txBody>
                  <a:tcPr>
                    <a:solidFill>
                      <a:srgbClr val="F4EFE7"/>
                    </a:solidFill>
                  </a:tcPr>
                </a:tc>
                <a:tc>
                  <a:txBody>
                    <a:bodyPr/>
                    <a:lstStyle/>
                    <a:p>
                      <a:pPr algn="l"/>
                      <a:r>
                        <a:rPr sz="1100">
                          <a:solidFill>
                            <a:srgbClr val="4A443B"/>
                          </a:solidFill>
                          <a:latin typeface="Libre Franklin"/>
                        </a:rPr>
                        <a:t>Python (local) · no API · supplier_analytics.py</a:t>
                      </a:r>
                    </a:p>
                  </a:txBody>
                  <a:tcPr>
                    <a:solidFill>
                      <a:srgbClr val="F4EFE7"/>
                    </a:solidFill>
                  </a:tcPr>
                </a:tc>
              </a:tr>
              <a:tr h="685800">
                <a:tc>
                  <a:txBody>
                    <a:bodyPr/>
                    <a:lstStyle/>
                    <a:p>
                      <a:pPr algn="l"/>
                      <a:r>
                        <a:rPr sz="1100">
                          <a:solidFill>
                            <a:srgbClr val="4A443B"/>
                          </a:solidFill>
                          <a:latin typeface="Libre Franklin"/>
                        </a:rPr>
                        <a:t>§2  Open Issues</a:t>
                      </a:r>
                    </a:p>
                  </a:txBody>
                  <a:tcPr>
                    <a:solidFill>
                      <a:srgbClr val="F8F4EE"/>
                    </a:solidFill>
                  </a:tcPr>
                </a:tc>
                <a:tc>
                  <a:txBody>
                    <a:bodyPr/>
                    <a:lstStyle/>
                    <a:p>
                      <a:pPr algn="l"/>
                      <a:r>
                        <a:rPr sz="1100">
                          <a:solidFill>
                            <a:srgbClr val="4A443B"/>
                          </a:solidFill>
                          <a:latin typeface="Libre Franklin"/>
                        </a:rPr>
                        <a:t>Full email body · contract clause text · issue type / status</a:t>
                      </a:r>
                    </a:p>
                  </a:txBody>
                  <a:tcPr>
                    <a:solidFill>
                      <a:srgbClr val="F8F4EE"/>
                    </a:solidFill>
                  </a:tcPr>
                </a:tc>
                <a:tc>
                  <a:txBody>
                    <a:bodyPr/>
                    <a:lstStyle/>
                    <a:p>
                      <a:pPr algn="l"/>
                      <a:r>
                        <a:rPr sz="1100">
                          <a:solidFill>
                            <a:srgbClr val="4A443B"/>
                          </a:solidFill>
                          <a:latin typeface="Libre Franklin"/>
                        </a:rPr>
                        <a:t>Same email JSONs + data/contracts/*.md, fed to Claude</a:t>
                      </a:r>
                    </a:p>
                  </a:txBody>
                  <a:tcPr>
                    <a:solidFill>
                      <a:srgbClr val="F8F4EE"/>
                    </a:solidFill>
                  </a:tcPr>
                </a:tc>
                <a:tc>
                  <a:txBody>
                    <a:bodyPr/>
                    <a:lstStyle/>
                    <a:p>
                      <a:pPr algn="l"/>
                      <a:r>
                        <a:rPr sz="1100">
                          <a:solidFill>
                            <a:srgbClr val="4A443B"/>
                          </a:solidFill>
                          <a:latin typeface="Libre Franklin"/>
                        </a:rPr>
                        <a:t>Claude API · extraction.py · structured JSON</a:t>
                      </a:r>
                    </a:p>
                  </a:txBody>
                  <a:tcPr>
                    <a:solidFill>
                      <a:srgbClr val="F8F4EE"/>
                    </a:solidFill>
                  </a:tcPr>
                </a:tc>
              </a:tr>
              <a:tr h="685800">
                <a:tc>
                  <a:txBody>
                    <a:bodyPr/>
                    <a:lstStyle/>
                    <a:p>
                      <a:pPr algn="l"/>
                      <a:r>
                        <a:rPr sz="1100">
                          <a:solidFill>
                            <a:srgbClr val="4A443B"/>
                          </a:solidFill>
                          <a:latin typeface="Libre Franklin"/>
                        </a:rPr>
                        <a:t>§3  Price Delta</a:t>
                      </a:r>
                    </a:p>
                  </a:txBody>
                  <a:tcPr>
                    <a:solidFill>
                      <a:srgbClr val="F4EFE7"/>
                    </a:solidFill>
                  </a:tcPr>
                </a:tc>
                <a:tc>
                  <a:txBody>
                    <a:bodyPr/>
                    <a:lstStyle/>
                    <a:p>
                      <a:pPr algn="l"/>
                      <a:r>
                        <a:rPr sz="1100">
                          <a:solidFill>
                            <a:srgbClr val="4A443B"/>
                          </a:solidFill>
                          <a:latin typeface="Libre Franklin"/>
                        </a:rPr>
                        <a:t>latest_price_quoted.value / .unit · contract_base_price_numeric</a:t>
                      </a:r>
                    </a:p>
                  </a:txBody>
                  <a:tcPr>
                    <a:solidFill>
                      <a:srgbClr val="F4EFE7"/>
                    </a:solidFill>
                  </a:tcPr>
                </a:tc>
                <a:tc>
                  <a:txBody>
                    <a:bodyPr/>
                    <a:lstStyle/>
                    <a:p>
                      <a:pPr algn="l"/>
                      <a:r>
                        <a:rPr sz="1100">
                          <a:solidFill>
                            <a:srgbClr val="4A443B"/>
                          </a:solidFill>
                          <a:latin typeface="Libre Franklin"/>
                        </a:rPr>
                        <a:t>Price: Claude extraction · Base: contract Pricing section</a:t>
                      </a:r>
                    </a:p>
                  </a:txBody>
                  <a:tcPr>
                    <a:solidFill>
                      <a:srgbClr val="F4EFE7"/>
                    </a:solidFill>
                  </a:tcPr>
                </a:tc>
                <a:tc>
                  <a:txBody>
                    <a:bodyPr/>
                    <a:lstStyle/>
                    <a:p>
                      <a:pPr algn="l"/>
                      <a:r>
                        <a:rPr sz="1100">
                          <a:solidFill>
                            <a:srgbClr val="4A443B"/>
                          </a:solidFill>
                          <a:latin typeface="Libre Franklin"/>
                        </a:rPr>
                        <a:t>Claude (price) + Python delta calc · packet_generator.py</a:t>
                      </a:r>
                    </a:p>
                  </a:txBody>
                  <a:tcPr>
                    <a:solidFill>
                      <a:srgbClr val="F4EFE7"/>
                    </a:solidFill>
                  </a:tcPr>
                </a:tc>
              </a:tr>
              <a:tr h="685800">
                <a:tc>
                  <a:txBody>
                    <a:bodyPr/>
                    <a:lstStyle/>
                    <a:p>
                      <a:pPr algn="l"/>
                      <a:r>
                        <a:rPr sz="1100">
                          <a:solidFill>
                            <a:srgbClr val="4A443B"/>
                          </a:solidFill>
                          <a:latin typeface="Libre Franklin"/>
                        </a:rPr>
                        <a:t>§4  Days to Renewal</a:t>
                      </a:r>
                    </a:p>
                  </a:txBody>
                  <a:tcPr>
                    <a:solidFill>
                      <a:srgbClr val="F8F4EE"/>
                    </a:solidFill>
                  </a:tcPr>
                </a:tc>
                <a:tc>
                  <a:txBody>
                    <a:bodyPr/>
                    <a:lstStyle/>
                    <a:p>
                      <a:pPr algn="l"/>
                      <a:r>
                        <a:rPr sz="1100">
                          <a:solidFill>
                            <a:srgbClr val="4A443B"/>
                          </a:solidFill>
                          <a:latin typeface="Libre Franklin"/>
                        </a:rPr>
                        <a:t>contract.renewal_date · system date · contract.status</a:t>
                      </a:r>
                    </a:p>
                  </a:txBody>
                  <a:tcPr>
                    <a:solidFill>
                      <a:srgbClr val="F8F4EE"/>
                    </a:solidFill>
                  </a:tcPr>
                </a:tc>
                <a:tc>
                  <a:txBody>
                    <a:bodyPr/>
                    <a:lstStyle/>
                    <a:p>
                      <a:pPr algn="l"/>
                      <a:r>
                        <a:rPr sz="1100">
                          <a:solidFill>
                            <a:srgbClr val="4A443B"/>
                          </a:solidFill>
                          <a:latin typeface="Libre Franklin"/>
                        </a:rPr>
                        <a:t>data/contracts/*.md — Renewal Date field</a:t>
                      </a:r>
                    </a:p>
                  </a:txBody>
                  <a:tcPr>
                    <a:solidFill>
                      <a:srgbClr val="F8F4EE"/>
                    </a:solidFill>
                  </a:tcPr>
                </a:tc>
                <a:tc>
                  <a:txBody>
                    <a:bodyPr/>
                    <a:lstStyle/>
                    <a:p>
                      <a:pPr algn="l"/>
                      <a:r>
                        <a:rPr sz="1100">
                          <a:solidFill>
                            <a:srgbClr val="4A443B"/>
                          </a:solidFill>
                          <a:latin typeface="Libre Franklin"/>
                        </a:rPr>
                        <a:t>Python (local) · date arithmetic only · no API</a:t>
                      </a:r>
                    </a:p>
                  </a:txBody>
                  <a:tcPr>
                    <a:solidFill>
                      <a:srgbClr val="F8F4EE"/>
                    </a:solidFill>
                  </a:tcPr>
                </a:tc>
              </a:tr>
              <a:tr h="685800">
                <a:tc>
                  <a:txBody>
                    <a:bodyPr/>
                    <a:lstStyle/>
                    <a:p>
                      <a:pPr algn="l"/>
                      <a:r>
                        <a:rPr sz="1100">
                          <a:solidFill>
                            <a:srgbClr val="4A443B"/>
                          </a:solidFill>
                          <a:latin typeface="Libre Franklin"/>
                        </a:rPr>
                        <a:t>§5  Correction Rate</a:t>
                      </a:r>
                    </a:p>
                  </a:txBody>
                  <a:tcPr>
                    <a:solidFill>
                      <a:srgbClr val="F4EFE7"/>
                    </a:solidFill>
                  </a:tcPr>
                </a:tc>
                <a:tc>
                  <a:txBody>
                    <a:bodyPr/>
                    <a:lstStyle/>
                    <a:p>
                      <a:pPr algn="l"/>
                      <a:r>
                        <a:rPr sz="1100">
                          <a:solidFill>
                            <a:srgbClr val="4A443B"/>
                          </a:solidFill>
                          <a:latin typeface="Libre Franklin"/>
                        </a:rPr>
                        <a:t>Checkbox state per field · 8 trackable fields / packet</a:t>
                      </a:r>
                    </a:p>
                  </a:txBody>
                  <a:tcPr>
                    <a:solidFill>
                      <a:srgbClr val="F4EFE7"/>
                    </a:solidFill>
                  </a:tcPr>
                </a:tc>
                <a:tc>
                  <a:txBody>
                    <a:bodyPr/>
                    <a:lstStyle/>
                    <a:p>
                      <a:pPr algn="l"/>
                      <a:r>
                        <a:rPr sz="1100">
                          <a:solidFill>
                            <a:srgbClr val="4A443B"/>
                          </a:solidFill>
                          <a:latin typeface="Libre Franklin"/>
                        </a:rPr>
                        <a:t>Streamlit session state → correction_log.csv</a:t>
                      </a:r>
                    </a:p>
                  </a:txBody>
                  <a:tcPr>
                    <a:solidFill>
                      <a:srgbClr val="F4EFE7"/>
                    </a:solidFill>
                  </a:tcPr>
                </a:tc>
                <a:tc>
                  <a:txBody>
                    <a:bodyPr/>
                    <a:lstStyle/>
                    <a:p>
                      <a:pPr algn="l"/>
                      <a:r>
                        <a:rPr sz="1100">
                          <a:solidFill>
                            <a:srgbClr val="4A443B"/>
                          </a:solidFill>
                          <a:latin typeface="Libre Franklin"/>
                        </a:rPr>
                        <a:t>UI interaction + Python writes log · no model</a:t>
                      </a:r>
                    </a:p>
                  </a:txBody>
                  <a:tcPr>
                    <a:solidFill>
                      <a:srgbClr val="F4EFE7"/>
                    </a:solidFill>
                  </a:tcPr>
                </a:tc>
              </a:tr>
            </a:tbl>
          </a:graphicData>
        </a:graphic>
      </p:graphicFrame>
      <p:sp>
        <p:nvSpPr>
          <p:cNvPr id="5" name="TextBox 4"/>
          <p:cNvSpPr txBox="1"/>
          <p:nvPr/>
        </p:nvSpPr>
        <p:spPr>
          <a:xfrm>
            <a:off x="457200" y="6035040"/>
            <a:ext cx="11430000" cy="411480"/>
          </a:xfrm>
          <a:prstGeom prst="rect">
            <a:avLst/>
          </a:prstGeom>
          <a:noFill/>
          <a:ln>
            <a:noFill/>
          </a:ln>
        </p:spPr>
        <p:txBody>
          <a:bodyPr wrap="square">
            <a:spAutoFit/>
          </a:bodyPr>
          <a:lstStyle/>
          <a:p>
            <a:pPr algn="l"/>
            <a:r>
              <a:rPr sz="1200" b="0" i="0">
                <a:solidFill>
                  <a:srgbClr val="544C42"/>
                </a:solidFill>
                <a:latin typeface="Libre Franklin"/>
              </a:rPr>
              <a:t>NOTE  §1, §3, §4 are pure Python (no API cost). §2 is the only metric that needs a Claude call. §5 is populated only when the manager actively saves corrections.</a:t>
            </a:r>
          </a:p>
        </p:txBody>
      </p:sp>
      <p:sp>
        <p:nvSpPr>
          <p:cNvPr id="6" name="TextBox 5"/>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7" name="TextBox 6"/>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12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13 — PRODUCTION ARCHITECTURE</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How the prototype becomes a production system</a:t>
            </a:r>
          </a:p>
        </p:txBody>
      </p:sp>
      <p:sp>
        <p:nvSpPr>
          <p:cNvPr id="4" name="TextBox 3"/>
          <p:cNvSpPr txBox="1"/>
          <p:nvPr/>
        </p:nvSpPr>
        <p:spPr>
          <a:xfrm>
            <a:off x="457200" y="1719072"/>
            <a:ext cx="3566160" cy="201168"/>
          </a:xfrm>
          <a:prstGeom prst="rect">
            <a:avLst/>
          </a:prstGeom>
          <a:noFill/>
          <a:ln>
            <a:noFill/>
          </a:ln>
        </p:spPr>
        <p:txBody>
          <a:bodyPr wrap="square">
            <a:spAutoFit/>
          </a:bodyPr>
          <a:lstStyle/>
          <a:p>
            <a:pPr algn="l"/>
            <a:r>
              <a:rPr sz="900" b="0" i="0">
                <a:solidFill>
                  <a:srgbClr val="94897A"/>
                </a:solidFill>
                <a:latin typeface="IBM Plex Mono"/>
              </a:rPr>
              <a:t>DATA SOURCES</a:t>
            </a:r>
          </a:p>
        </p:txBody>
      </p:sp>
      <p:sp>
        <p:nvSpPr>
          <p:cNvPr id="5" name="TextBox 4"/>
          <p:cNvSpPr txBox="1"/>
          <p:nvPr/>
        </p:nvSpPr>
        <p:spPr>
          <a:xfrm>
            <a:off x="4434840" y="1719072"/>
            <a:ext cx="3566160" cy="201168"/>
          </a:xfrm>
          <a:prstGeom prst="rect">
            <a:avLst/>
          </a:prstGeom>
          <a:noFill/>
          <a:ln>
            <a:noFill/>
          </a:ln>
        </p:spPr>
        <p:txBody>
          <a:bodyPr wrap="square">
            <a:spAutoFit/>
          </a:bodyPr>
          <a:lstStyle/>
          <a:p>
            <a:pPr algn="l"/>
            <a:r>
              <a:rPr sz="900" b="0" i="0">
                <a:solidFill>
                  <a:srgbClr val="94897A"/>
                </a:solidFill>
                <a:latin typeface="IBM Plex Mono"/>
              </a:rPr>
              <a:t>PROCESSING LAYER</a:t>
            </a:r>
          </a:p>
        </p:txBody>
      </p:sp>
      <p:sp>
        <p:nvSpPr>
          <p:cNvPr id="6" name="TextBox 5"/>
          <p:cNvSpPr txBox="1"/>
          <p:nvPr/>
        </p:nvSpPr>
        <p:spPr>
          <a:xfrm>
            <a:off x="8412480" y="1719072"/>
            <a:ext cx="3566160" cy="201168"/>
          </a:xfrm>
          <a:prstGeom prst="rect">
            <a:avLst/>
          </a:prstGeom>
          <a:noFill/>
          <a:ln>
            <a:noFill/>
          </a:ln>
        </p:spPr>
        <p:txBody>
          <a:bodyPr wrap="square">
            <a:spAutoFit/>
          </a:bodyPr>
          <a:lstStyle/>
          <a:p>
            <a:pPr algn="l"/>
            <a:r>
              <a:rPr sz="900" b="0" i="0">
                <a:solidFill>
                  <a:srgbClr val="94897A"/>
                </a:solidFill>
                <a:latin typeface="IBM Plex Mono"/>
              </a:rPr>
              <a:t>OUTPUTS + MONITORING</a:t>
            </a:r>
          </a:p>
        </p:txBody>
      </p:sp>
      <p:sp>
        <p:nvSpPr>
          <p:cNvPr id="7" name="TextBox 6"/>
          <p:cNvSpPr txBox="1"/>
          <p:nvPr/>
        </p:nvSpPr>
        <p:spPr>
          <a:xfrm>
            <a:off x="4160520" y="3291840"/>
            <a:ext cx="274320" cy="365760"/>
          </a:xfrm>
          <a:prstGeom prst="rect">
            <a:avLst/>
          </a:prstGeom>
          <a:noFill/>
          <a:ln>
            <a:noFill/>
          </a:ln>
        </p:spPr>
        <p:txBody>
          <a:bodyPr wrap="square">
            <a:spAutoFit/>
          </a:bodyPr>
          <a:lstStyle/>
          <a:p>
            <a:pPr algn="l"/>
            <a:r>
              <a:rPr sz="2200" b="0" i="0">
                <a:solidFill>
                  <a:srgbClr val="C0B6A4"/>
                </a:solidFill>
                <a:latin typeface="IBM Plex Mono"/>
              </a:rPr>
              <a:t>→</a:t>
            </a:r>
          </a:p>
        </p:txBody>
      </p:sp>
      <p:sp>
        <p:nvSpPr>
          <p:cNvPr id="8" name="TextBox 7"/>
          <p:cNvSpPr txBox="1"/>
          <p:nvPr/>
        </p:nvSpPr>
        <p:spPr>
          <a:xfrm>
            <a:off x="8138160" y="3291840"/>
            <a:ext cx="274320" cy="365760"/>
          </a:xfrm>
          <a:prstGeom prst="rect">
            <a:avLst/>
          </a:prstGeom>
          <a:noFill/>
          <a:ln>
            <a:noFill/>
          </a:ln>
        </p:spPr>
        <p:txBody>
          <a:bodyPr wrap="square">
            <a:spAutoFit/>
          </a:bodyPr>
          <a:lstStyle/>
          <a:p>
            <a:pPr algn="l"/>
            <a:r>
              <a:rPr sz="2200" b="0" i="0">
                <a:solidFill>
                  <a:srgbClr val="C0B6A4"/>
                </a:solidFill>
                <a:latin typeface="IBM Plex Mono"/>
              </a:rPr>
              <a:t>→</a:t>
            </a:r>
          </a:p>
        </p:txBody>
      </p:sp>
      <p:sp>
        <p:nvSpPr>
          <p:cNvPr id="9" name="Rectangle 8"/>
          <p:cNvSpPr/>
          <p:nvPr/>
        </p:nvSpPr>
        <p:spPr>
          <a:xfrm>
            <a:off x="457200" y="1993392"/>
            <a:ext cx="3566160" cy="13716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084832"/>
            <a:ext cx="3337560" cy="256032"/>
          </a:xfrm>
          <a:prstGeom prst="rect">
            <a:avLst/>
          </a:prstGeom>
          <a:noFill/>
          <a:ln>
            <a:noFill/>
          </a:ln>
        </p:spPr>
        <p:txBody>
          <a:bodyPr wrap="square">
            <a:spAutoFit/>
          </a:bodyPr>
          <a:lstStyle/>
          <a:p>
            <a:pPr algn="l"/>
            <a:r>
              <a:rPr sz="1300" b="1" i="0">
                <a:solidFill>
                  <a:srgbClr val="221D17"/>
                </a:solidFill>
                <a:latin typeface="Libre Franklin"/>
              </a:rPr>
              <a:t>Emails</a:t>
            </a:r>
          </a:p>
        </p:txBody>
      </p:sp>
      <p:sp>
        <p:nvSpPr>
          <p:cNvPr id="11" name="TextBox 10"/>
          <p:cNvSpPr txBox="1"/>
          <p:nvPr/>
        </p:nvSpPr>
        <p:spPr>
          <a:xfrm>
            <a:off x="621792" y="2377440"/>
            <a:ext cx="3337560" cy="868680"/>
          </a:xfrm>
          <a:prstGeom prst="rect">
            <a:avLst/>
          </a:prstGeom>
          <a:noFill/>
          <a:ln>
            <a:noFill/>
          </a:ln>
        </p:spPr>
        <p:txBody>
          <a:bodyPr wrap="square">
            <a:spAutoFit/>
          </a:bodyPr>
          <a:lstStyle/>
          <a:p>
            <a:pPr algn="l"/>
            <a:r>
              <a:rPr sz="1100" b="0" i="0">
                <a:solidFill>
                  <a:srgbClr val="544C42"/>
                </a:solidFill>
                <a:latin typeface="Libre Franklin"/>
              </a:rPr>
              <a:t>Microsoft Graph API · Outlook / Exchange · shared procurement mailbox · push subscription on new mail</a:t>
            </a:r>
          </a:p>
        </p:txBody>
      </p:sp>
      <p:sp>
        <p:nvSpPr>
          <p:cNvPr id="12" name="Rectangle 11"/>
          <p:cNvSpPr/>
          <p:nvPr/>
        </p:nvSpPr>
        <p:spPr>
          <a:xfrm>
            <a:off x="457200" y="3456432"/>
            <a:ext cx="3566160" cy="13716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3547872"/>
            <a:ext cx="3337560" cy="256032"/>
          </a:xfrm>
          <a:prstGeom prst="rect">
            <a:avLst/>
          </a:prstGeom>
          <a:noFill/>
          <a:ln>
            <a:noFill/>
          </a:ln>
        </p:spPr>
        <p:txBody>
          <a:bodyPr wrap="square">
            <a:spAutoFit/>
          </a:bodyPr>
          <a:lstStyle/>
          <a:p>
            <a:pPr algn="l"/>
            <a:r>
              <a:rPr sz="1300" b="1" i="0">
                <a:solidFill>
                  <a:srgbClr val="221D17"/>
                </a:solidFill>
                <a:latin typeface="Libre Franklin"/>
              </a:rPr>
              <a:t>Contracts</a:t>
            </a:r>
          </a:p>
        </p:txBody>
      </p:sp>
      <p:sp>
        <p:nvSpPr>
          <p:cNvPr id="14" name="TextBox 13"/>
          <p:cNvSpPr txBox="1"/>
          <p:nvPr/>
        </p:nvSpPr>
        <p:spPr>
          <a:xfrm>
            <a:off x="621792" y="3840480"/>
            <a:ext cx="3337560" cy="868680"/>
          </a:xfrm>
          <a:prstGeom prst="rect">
            <a:avLst/>
          </a:prstGeom>
          <a:noFill/>
          <a:ln>
            <a:noFill/>
          </a:ln>
        </p:spPr>
        <p:txBody>
          <a:bodyPr wrap="square">
            <a:spAutoFit/>
          </a:bodyPr>
          <a:lstStyle/>
          <a:p>
            <a:pPr algn="l"/>
            <a:r>
              <a:rPr sz="1100" b="0" i="0">
                <a:solidFill>
                  <a:srgbClr val="544C42"/>
                </a:solidFill>
                <a:latin typeface="Libre Franklin"/>
              </a:rPr>
              <a:t>SharePoint connector · PDF extraction + OCR · version detection (active vs draft)</a:t>
            </a:r>
          </a:p>
        </p:txBody>
      </p:sp>
      <p:sp>
        <p:nvSpPr>
          <p:cNvPr id="15" name="Rectangle 14"/>
          <p:cNvSpPr/>
          <p:nvPr/>
        </p:nvSpPr>
        <p:spPr>
          <a:xfrm>
            <a:off x="457200" y="4919472"/>
            <a:ext cx="3566160" cy="13716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5010912"/>
            <a:ext cx="3337560" cy="256032"/>
          </a:xfrm>
          <a:prstGeom prst="rect">
            <a:avLst/>
          </a:prstGeom>
          <a:noFill/>
          <a:ln>
            <a:noFill/>
          </a:ln>
        </p:spPr>
        <p:txBody>
          <a:bodyPr wrap="square">
            <a:spAutoFit/>
          </a:bodyPr>
          <a:lstStyle/>
          <a:p>
            <a:pPr algn="l"/>
            <a:r>
              <a:rPr sz="1300" b="1" i="0">
                <a:solidFill>
                  <a:srgbClr val="221D17"/>
                </a:solidFill>
                <a:latin typeface="Libre Franklin"/>
              </a:rPr>
              <a:t>Prices</a:t>
            </a:r>
          </a:p>
        </p:txBody>
      </p:sp>
      <p:sp>
        <p:nvSpPr>
          <p:cNvPr id="17" name="TextBox 16"/>
          <p:cNvSpPr txBox="1"/>
          <p:nvPr/>
        </p:nvSpPr>
        <p:spPr>
          <a:xfrm>
            <a:off x="621792" y="5303520"/>
            <a:ext cx="3337560" cy="868680"/>
          </a:xfrm>
          <a:prstGeom prst="rect">
            <a:avLst/>
          </a:prstGeom>
          <a:noFill/>
          <a:ln>
            <a:noFill/>
          </a:ln>
        </p:spPr>
        <p:txBody>
          <a:bodyPr wrap="square">
            <a:spAutoFit/>
          </a:bodyPr>
          <a:lstStyle/>
          <a:p>
            <a:pPr algn="l"/>
            <a:r>
              <a:rPr sz="1100" b="0" i="0">
                <a:solidFill>
                  <a:srgbClr val="544C42"/>
                </a:solidFill>
                <a:latin typeface="Libre Franklin"/>
              </a:rPr>
              <a:t>Bloomberg / ICE / Refinitiv · structured time-series feed · normalised to a common schema</a:t>
            </a:r>
          </a:p>
        </p:txBody>
      </p:sp>
      <p:sp>
        <p:nvSpPr>
          <p:cNvPr id="18" name="Rectangle 17"/>
          <p:cNvSpPr/>
          <p:nvPr/>
        </p:nvSpPr>
        <p:spPr>
          <a:xfrm>
            <a:off x="4434840" y="1993392"/>
            <a:ext cx="3566160" cy="13716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2" y="2084832"/>
            <a:ext cx="3337560" cy="256032"/>
          </a:xfrm>
          <a:prstGeom prst="rect">
            <a:avLst/>
          </a:prstGeom>
          <a:noFill/>
          <a:ln>
            <a:noFill/>
          </a:ln>
        </p:spPr>
        <p:txBody>
          <a:bodyPr wrap="square">
            <a:spAutoFit/>
          </a:bodyPr>
          <a:lstStyle/>
          <a:p>
            <a:pPr algn="l"/>
            <a:r>
              <a:rPr sz="1300" b="1" i="0">
                <a:solidFill>
                  <a:srgbClr val="221D17"/>
                </a:solidFill>
                <a:latin typeface="Libre Franklin"/>
              </a:rPr>
              <a:t>MCP connector layer</a:t>
            </a:r>
          </a:p>
        </p:txBody>
      </p:sp>
      <p:sp>
        <p:nvSpPr>
          <p:cNvPr id="20" name="TextBox 19"/>
          <p:cNvSpPr txBox="1"/>
          <p:nvPr/>
        </p:nvSpPr>
        <p:spPr>
          <a:xfrm>
            <a:off x="4599432" y="2377440"/>
            <a:ext cx="3337560" cy="868680"/>
          </a:xfrm>
          <a:prstGeom prst="rect">
            <a:avLst/>
          </a:prstGeom>
          <a:noFill/>
          <a:ln>
            <a:noFill/>
          </a:ln>
        </p:spPr>
        <p:txBody>
          <a:bodyPr wrap="square">
            <a:spAutoFit/>
          </a:bodyPr>
          <a:lstStyle/>
          <a:p>
            <a:pPr algn="l"/>
            <a:r>
              <a:rPr sz="1100" b="0" i="0">
                <a:solidFill>
                  <a:srgbClr val="544C42"/>
                </a:solidFill>
                <a:latin typeface="Libre Franklin"/>
              </a:rPr>
              <a:t>Standardised tool interface · swappable backend per source</a:t>
            </a:r>
          </a:p>
        </p:txBody>
      </p:sp>
      <p:sp>
        <p:nvSpPr>
          <p:cNvPr id="21" name="Rectangle 20"/>
          <p:cNvSpPr/>
          <p:nvPr/>
        </p:nvSpPr>
        <p:spPr>
          <a:xfrm>
            <a:off x="4434840" y="3456432"/>
            <a:ext cx="3566160" cy="13716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9432" y="3547872"/>
            <a:ext cx="3337560" cy="256032"/>
          </a:xfrm>
          <a:prstGeom prst="rect">
            <a:avLst/>
          </a:prstGeom>
          <a:noFill/>
          <a:ln>
            <a:noFill/>
          </a:ln>
        </p:spPr>
        <p:txBody>
          <a:bodyPr wrap="square">
            <a:spAutoFit/>
          </a:bodyPr>
          <a:lstStyle/>
          <a:p>
            <a:pPr algn="l"/>
            <a:r>
              <a:rPr sz="1300" b="1" i="0">
                <a:solidFill>
                  <a:srgbClr val="221D17"/>
                </a:solidFill>
                <a:latin typeface="Libre Franklin"/>
              </a:rPr>
              <a:t>Storage split</a:t>
            </a:r>
          </a:p>
        </p:txBody>
      </p:sp>
      <p:sp>
        <p:nvSpPr>
          <p:cNvPr id="23" name="TextBox 22"/>
          <p:cNvSpPr txBox="1"/>
          <p:nvPr/>
        </p:nvSpPr>
        <p:spPr>
          <a:xfrm>
            <a:off x="4599432" y="3840480"/>
            <a:ext cx="3337560" cy="868680"/>
          </a:xfrm>
          <a:prstGeom prst="rect">
            <a:avLst/>
          </a:prstGeom>
          <a:noFill/>
          <a:ln>
            <a:noFill/>
          </a:ln>
        </p:spPr>
        <p:txBody>
          <a:bodyPr wrap="square">
            <a:spAutoFit/>
          </a:bodyPr>
          <a:lstStyle/>
          <a:p>
            <a:pPr algn="l"/>
            <a:r>
              <a:rPr sz="1100" b="0" i="0">
                <a:solidFill>
                  <a:srgbClr val="544C42"/>
                </a:solidFill>
                <a:latin typeface="Libre Franklin"/>
              </a:rPr>
              <a:t>Structured (BigQuery): exact facts — contract terms, KPI values, price points.
Vector (Vertex / Pinecone): chunked emails + clause language, semantic search at scale.</a:t>
            </a:r>
          </a:p>
        </p:txBody>
      </p:sp>
      <p:sp>
        <p:nvSpPr>
          <p:cNvPr id="24" name="Rectangle 23"/>
          <p:cNvSpPr/>
          <p:nvPr/>
        </p:nvSpPr>
        <p:spPr>
          <a:xfrm>
            <a:off x="4434840" y="4919472"/>
            <a:ext cx="3566160" cy="13716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99432" y="5010912"/>
            <a:ext cx="3337560" cy="256032"/>
          </a:xfrm>
          <a:prstGeom prst="rect">
            <a:avLst/>
          </a:prstGeom>
          <a:noFill/>
          <a:ln>
            <a:noFill/>
          </a:ln>
        </p:spPr>
        <p:txBody>
          <a:bodyPr wrap="square">
            <a:spAutoFit/>
          </a:bodyPr>
          <a:lstStyle/>
          <a:p>
            <a:pPr algn="l"/>
            <a:r>
              <a:rPr sz="1300" b="1" i="0">
                <a:solidFill>
                  <a:srgbClr val="221D17"/>
                </a:solidFill>
                <a:latin typeface="Libre Franklin"/>
              </a:rPr>
              <a:t>Packet Generator</a:t>
            </a:r>
          </a:p>
        </p:txBody>
      </p:sp>
      <p:sp>
        <p:nvSpPr>
          <p:cNvPr id="26" name="TextBox 25"/>
          <p:cNvSpPr txBox="1"/>
          <p:nvPr/>
        </p:nvSpPr>
        <p:spPr>
          <a:xfrm>
            <a:off x="4599432" y="5303520"/>
            <a:ext cx="3337560" cy="868680"/>
          </a:xfrm>
          <a:prstGeom prst="rect">
            <a:avLst/>
          </a:prstGeom>
          <a:noFill/>
          <a:ln>
            <a:noFill/>
          </a:ln>
        </p:spPr>
        <p:txBody>
          <a:bodyPr wrap="square">
            <a:spAutoFit/>
          </a:bodyPr>
          <a:lstStyle/>
          <a:p>
            <a:pPr algn="l"/>
            <a:r>
              <a:rPr sz="1100" b="0" i="0">
                <a:solidFill>
                  <a:srgbClr val="544C42"/>
                </a:solidFill>
                <a:latin typeface="Libre Franklin"/>
              </a:rPr>
              <a:t>Same logic as the prototype · triggered by calendar event 24h before each meeting</a:t>
            </a:r>
          </a:p>
        </p:txBody>
      </p:sp>
      <p:sp>
        <p:nvSpPr>
          <p:cNvPr id="27" name="Rectangle 26"/>
          <p:cNvSpPr/>
          <p:nvPr/>
        </p:nvSpPr>
        <p:spPr>
          <a:xfrm>
            <a:off x="8412480" y="1993392"/>
            <a:ext cx="3566160" cy="13716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77072" y="2084832"/>
            <a:ext cx="3337560" cy="256032"/>
          </a:xfrm>
          <a:prstGeom prst="rect">
            <a:avLst/>
          </a:prstGeom>
          <a:noFill/>
          <a:ln>
            <a:noFill/>
          </a:ln>
        </p:spPr>
        <p:txBody>
          <a:bodyPr wrap="square">
            <a:spAutoFit/>
          </a:bodyPr>
          <a:lstStyle/>
          <a:p>
            <a:pPr algn="l"/>
            <a:r>
              <a:rPr sz="1300" b="1" i="0">
                <a:solidFill>
                  <a:srgbClr val="221D17"/>
                </a:solidFill>
                <a:latin typeface="Libre Franklin"/>
              </a:rPr>
              <a:t>Procurement Manager UI</a:t>
            </a:r>
          </a:p>
        </p:txBody>
      </p:sp>
      <p:sp>
        <p:nvSpPr>
          <p:cNvPr id="29" name="TextBox 28"/>
          <p:cNvSpPr txBox="1"/>
          <p:nvPr/>
        </p:nvSpPr>
        <p:spPr>
          <a:xfrm>
            <a:off x="8577072" y="2377440"/>
            <a:ext cx="3337560" cy="868680"/>
          </a:xfrm>
          <a:prstGeom prst="rect">
            <a:avLst/>
          </a:prstGeom>
          <a:noFill/>
          <a:ln>
            <a:noFill/>
          </a:ln>
        </p:spPr>
        <p:txBody>
          <a:bodyPr wrap="square">
            <a:spAutoFit/>
          </a:bodyPr>
          <a:lstStyle/>
          <a:p>
            <a:pPr algn="l"/>
            <a:r>
              <a:rPr sz="1100" b="0" i="0">
                <a:solidFill>
                  <a:srgbClr val="544C42"/>
                </a:solidFill>
                <a:latin typeface="Libre Franklin"/>
              </a:rPr>
              <a:t>Streamlit or Teams tab · packet auto-delivered · source attribution + conflict flags</a:t>
            </a:r>
          </a:p>
        </p:txBody>
      </p:sp>
      <p:sp>
        <p:nvSpPr>
          <p:cNvPr id="30" name="Rectangle 29"/>
          <p:cNvSpPr/>
          <p:nvPr/>
        </p:nvSpPr>
        <p:spPr>
          <a:xfrm>
            <a:off x="8412480" y="3456432"/>
            <a:ext cx="3566160" cy="1371600"/>
          </a:xfrm>
          <a:prstGeom prst="rect">
            <a:avLst/>
          </a:prstGeom>
          <a:solidFill>
            <a:srgbClr val="221D17"/>
          </a:solidFill>
          <a:ln w="12700">
            <a:solidFill>
              <a:srgbClr val="221D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77072" y="3547872"/>
            <a:ext cx="3337560" cy="256032"/>
          </a:xfrm>
          <a:prstGeom prst="rect">
            <a:avLst/>
          </a:prstGeom>
          <a:noFill/>
          <a:ln>
            <a:noFill/>
          </a:ln>
        </p:spPr>
        <p:txBody>
          <a:bodyPr wrap="square">
            <a:spAutoFit/>
          </a:bodyPr>
          <a:lstStyle/>
          <a:p>
            <a:pPr algn="l"/>
            <a:r>
              <a:rPr sz="1300" b="1" i="0">
                <a:solidFill>
                  <a:srgbClr val="F2ECE0"/>
                </a:solidFill>
                <a:latin typeface="Libre Franklin"/>
              </a:rPr>
              <a:t>FDE Metrics Pipeline</a:t>
            </a:r>
          </a:p>
        </p:txBody>
      </p:sp>
      <p:sp>
        <p:nvSpPr>
          <p:cNvPr id="32" name="TextBox 31"/>
          <p:cNvSpPr txBox="1"/>
          <p:nvPr/>
        </p:nvSpPr>
        <p:spPr>
          <a:xfrm>
            <a:off x="8577072" y="3840480"/>
            <a:ext cx="3337560" cy="868680"/>
          </a:xfrm>
          <a:prstGeom prst="rect">
            <a:avLst/>
          </a:prstGeom>
          <a:noFill/>
          <a:ln>
            <a:noFill/>
          </a:ln>
        </p:spPr>
        <p:txBody>
          <a:bodyPr wrap="square">
            <a:spAutoFit/>
          </a:bodyPr>
          <a:lstStyle/>
          <a:p>
            <a:pPr algn="l"/>
            <a:r>
              <a:rPr sz="1100" b="0" i="0">
                <a:solidFill>
                  <a:srgbClr val="CBC2B2"/>
                </a:solidFill>
                <a:latin typeface="Libre Franklin"/>
              </a:rPr>
              <a:t>Generation events Pub/Sub → BigQuery events table · KPI values per packet stored · correction log aggregated · Looker dashboard</a:t>
            </a:r>
          </a:p>
        </p:txBody>
      </p:sp>
      <p:sp>
        <p:nvSpPr>
          <p:cNvPr id="33" name="Rectangle 32"/>
          <p:cNvSpPr/>
          <p:nvPr/>
        </p:nvSpPr>
        <p:spPr>
          <a:xfrm>
            <a:off x="8412480" y="4919472"/>
            <a:ext cx="3566160" cy="13716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77072" y="5010912"/>
            <a:ext cx="3337560" cy="256032"/>
          </a:xfrm>
          <a:prstGeom prst="rect">
            <a:avLst/>
          </a:prstGeom>
          <a:noFill/>
          <a:ln>
            <a:noFill/>
          </a:ln>
        </p:spPr>
        <p:txBody>
          <a:bodyPr wrap="square">
            <a:spAutoFit/>
          </a:bodyPr>
          <a:lstStyle/>
          <a:p>
            <a:pPr algn="l"/>
            <a:r>
              <a:rPr sz="1300" b="1" i="0">
                <a:solidFill>
                  <a:srgbClr val="221D17"/>
                </a:solidFill>
                <a:latin typeface="Libre Franklin"/>
              </a:rPr>
              <a:t>Prompt tuning cycle</a:t>
            </a:r>
          </a:p>
        </p:txBody>
      </p:sp>
      <p:sp>
        <p:nvSpPr>
          <p:cNvPr id="35" name="TextBox 34"/>
          <p:cNvSpPr txBox="1"/>
          <p:nvPr/>
        </p:nvSpPr>
        <p:spPr>
          <a:xfrm>
            <a:off x="8577072" y="5303520"/>
            <a:ext cx="3337560" cy="868680"/>
          </a:xfrm>
          <a:prstGeom prst="rect">
            <a:avLst/>
          </a:prstGeom>
          <a:noFill/>
          <a:ln>
            <a:noFill/>
          </a:ln>
        </p:spPr>
        <p:txBody>
          <a:bodyPr wrap="square">
            <a:spAutoFit/>
          </a:bodyPr>
          <a:lstStyle/>
          <a:p>
            <a:pPr algn="l"/>
            <a:r>
              <a:rPr sz="1100" b="0" i="0">
                <a:solidFill>
                  <a:srgbClr val="544C42"/>
                </a:solidFill>
                <a:latin typeface="Libre Franklin"/>
              </a:rPr>
              <a:t>Monthly: correction_log patterns → extraction prompt update → re-run accuracy benchmark</a:t>
            </a:r>
          </a:p>
        </p:txBody>
      </p:sp>
      <p:sp>
        <p:nvSpPr>
          <p:cNvPr id="36" name="TextBox 35"/>
          <p:cNvSpPr txBox="1"/>
          <p:nvPr/>
        </p:nvSpPr>
        <p:spPr>
          <a:xfrm>
            <a:off x="457200" y="6291072"/>
            <a:ext cx="11430000" cy="347472"/>
          </a:xfrm>
          <a:prstGeom prst="rect">
            <a:avLst/>
          </a:prstGeom>
          <a:noFill/>
          <a:ln>
            <a:noFill/>
          </a:ln>
        </p:spPr>
        <p:txBody>
          <a:bodyPr wrap="square">
            <a:spAutoFit/>
          </a:bodyPr>
          <a:lstStyle/>
          <a:p>
            <a:pPr algn="l"/>
            <a:r>
              <a:rPr sz="900" b="0" i="0">
                <a:solidFill>
                  <a:srgbClr val="94897A"/>
                </a:solidFill>
                <a:latin typeface="IBM Plex Mono"/>
              </a:rPr>
              <a:t>PROTOTYPE DELTA: Flat JSON files instead of connectors · local extraction instead of a vector store · SQLite instead of BigQuery. Every simplification is documented and justified.</a:t>
            </a:r>
          </a:p>
        </p:txBody>
      </p:sp>
      <p:sp>
        <p:nvSpPr>
          <p:cNvPr id="37" name="TextBox 36"/>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38" name="TextBox 37"/>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13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14 — ROLLOUT PLAN</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Three phases — trust first, scale second</a:t>
            </a:r>
          </a:p>
        </p:txBody>
      </p:sp>
      <p:sp>
        <p:nvSpPr>
          <p:cNvPr id="4" name="TextBox 3"/>
          <p:cNvSpPr txBox="1"/>
          <p:nvPr/>
        </p:nvSpPr>
        <p:spPr>
          <a:xfrm>
            <a:off x="457200" y="1737360"/>
            <a:ext cx="3657600" cy="274320"/>
          </a:xfrm>
          <a:prstGeom prst="rect">
            <a:avLst/>
          </a:prstGeom>
          <a:noFill/>
          <a:ln>
            <a:noFill/>
          </a:ln>
        </p:spPr>
        <p:txBody>
          <a:bodyPr wrap="square">
            <a:spAutoFit/>
          </a:bodyPr>
          <a:lstStyle/>
          <a:p>
            <a:pPr algn="l"/>
            <a:r>
              <a:rPr sz="1200" b="1" i="0">
                <a:solidFill>
                  <a:srgbClr val="B23B26"/>
                </a:solidFill>
                <a:latin typeface="IBM Plex Mono"/>
              </a:rPr>
              <a:t>PHASE 1</a:t>
            </a:r>
          </a:p>
        </p:txBody>
      </p:sp>
      <p:sp>
        <p:nvSpPr>
          <p:cNvPr id="5" name="TextBox 4"/>
          <p:cNvSpPr txBox="1"/>
          <p:nvPr/>
        </p:nvSpPr>
        <p:spPr>
          <a:xfrm>
            <a:off x="457200" y="2029968"/>
            <a:ext cx="3657600" cy="228600"/>
          </a:xfrm>
          <a:prstGeom prst="rect">
            <a:avLst/>
          </a:prstGeom>
          <a:noFill/>
          <a:ln>
            <a:noFill/>
          </a:ln>
        </p:spPr>
        <p:txBody>
          <a:bodyPr wrap="square">
            <a:spAutoFit/>
          </a:bodyPr>
          <a:lstStyle/>
          <a:p>
            <a:pPr algn="l"/>
            <a:r>
              <a:rPr sz="1000" b="0" i="0">
                <a:solidFill>
                  <a:srgbClr val="94897A"/>
                </a:solidFill>
                <a:latin typeface="IBM Plex Mono"/>
              </a:rPr>
              <a:t>Weeks 1–4</a:t>
            </a:r>
          </a:p>
        </p:txBody>
      </p:sp>
      <p:sp>
        <p:nvSpPr>
          <p:cNvPr id="6" name="TextBox 5"/>
          <p:cNvSpPr txBox="1"/>
          <p:nvPr/>
        </p:nvSpPr>
        <p:spPr>
          <a:xfrm>
            <a:off x="457200" y="2304288"/>
            <a:ext cx="3657600" cy="256032"/>
          </a:xfrm>
          <a:prstGeom prst="rect">
            <a:avLst/>
          </a:prstGeom>
          <a:noFill/>
          <a:ln>
            <a:noFill/>
          </a:ln>
        </p:spPr>
        <p:txBody>
          <a:bodyPr wrap="square">
            <a:spAutoFit/>
          </a:bodyPr>
          <a:lstStyle/>
          <a:p>
            <a:pPr algn="l"/>
            <a:r>
              <a:rPr sz="1600" b="0" i="0">
                <a:solidFill>
                  <a:srgbClr val="221D17"/>
                </a:solidFill>
                <a:latin typeface="Newsreader"/>
              </a:rPr>
              <a:t>Controlled pilot</a:t>
            </a:r>
          </a:p>
        </p:txBody>
      </p:sp>
      <p:sp>
        <p:nvSpPr>
          <p:cNvPr id="7" name="Rectangle 6"/>
          <p:cNvSpPr/>
          <p:nvPr/>
        </p:nvSpPr>
        <p:spPr>
          <a:xfrm>
            <a:off x="457200" y="2633472"/>
            <a:ext cx="3657600" cy="3749039"/>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743200"/>
            <a:ext cx="3429000" cy="548640"/>
          </a:xfrm>
          <a:prstGeom prst="rect">
            <a:avLst/>
          </a:prstGeom>
          <a:noFill/>
          <a:ln>
            <a:noFill/>
          </a:ln>
        </p:spPr>
        <p:txBody>
          <a:bodyPr wrap="square">
            <a:spAutoFit/>
          </a:bodyPr>
          <a:lstStyle/>
          <a:p>
            <a:pPr algn="l"/>
            <a:r>
              <a:rPr sz="1200" b="0" i="0">
                <a:solidFill>
                  <a:srgbClr val="4A443B"/>
                </a:solidFill>
                <a:latin typeface="Libre Franklin"/>
              </a:rPr>
              <a:t>•  2–3 upcoming meetings with one analyst as primary user.</a:t>
            </a:r>
          </a:p>
        </p:txBody>
      </p:sp>
      <p:sp>
        <p:nvSpPr>
          <p:cNvPr id="9" name="TextBox 8"/>
          <p:cNvSpPr txBox="1"/>
          <p:nvPr/>
        </p:nvSpPr>
        <p:spPr>
          <a:xfrm>
            <a:off x="594360" y="3401568"/>
            <a:ext cx="3429000" cy="548640"/>
          </a:xfrm>
          <a:prstGeom prst="rect">
            <a:avLst/>
          </a:prstGeom>
          <a:noFill/>
          <a:ln>
            <a:noFill/>
          </a:ln>
        </p:spPr>
        <p:txBody>
          <a:bodyPr wrap="square">
            <a:spAutoFit/>
          </a:bodyPr>
          <a:lstStyle/>
          <a:p>
            <a:pPr algn="l"/>
            <a:r>
              <a:rPr sz="1200" b="0" i="0">
                <a:solidFill>
                  <a:srgbClr val="4A443B"/>
                </a:solidFill>
                <a:latin typeface="Libre Franklin"/>
              </a:rPr>
              <a:t>•  Analyst runs the tool, reviews output, flags corrections.</a:t>
            </a:r>
          </a:p>
        </p:txBody>
      </p:sp>
      <p:sp>
        <p:nvSpPr>
          <p:cNvPr id="10" name="TextBox 9"/>
          <p:cNvSpPr txBox="1"/>
          <p:nvPr/>
        </p:nvSpPr>
        <p:spPr>
          <a:xfrm>
            <a:off x="594360" y="4059935"/>
            <a:ext cx="3429000" cy="548640"/>
          </a:xfrm>
          <a:prstGeom prst="rect">
            <a:avLst/>
          </a:prstGeom>
          <a:noFill/>
          <a:ln>
            <a:noFill/>
          </a:ln>
        </p:spPr>
        <p:txBody>
          <a:bodyPr wrap="square">
            <a:spAutoFit/>
          </a:bodyPr>
          <a:lstStyle/>
          <a:p>
            <a:pPr algn="l"/>
            <a:r>
              <a:rPr sz="1200" b="0" i="0">
                <a:solidFill>
                  <a:srgbClr val="4A443B"/>
                </a:solidFill>
                <a:latin typeface="Libre Franklin"/>
              </a:rPr>
              <a:t>•  Track correction rate weekly — target &lt;20% by week 4.</a:t>
            </a:r>
          </a:p>
        </p:txBody>
      </p:sp>
      <p:sp>
        <p:nvSpPr>
          <p:cNvPr id="11" name="TextBox 10"/>
          <p:cNvSpPr txBox="1"/>
          <p:nvPr/>
        </p:nvSpPr>
        <p:spPr>
          <a:xfrm>
            <a:off x="594360" y="4718303"/>
            <a:ext cx="3429000" cy="548640"/>
          </a:xfrm>
          <a:prstGeom prst="rect">
            <a:avLst/>
          </a:prstGeom>
          <a:noFill/>
          <a:ln>
            <a:noFill/>
          </a:ln>
        </p:spPr>
        <p:txBody>
          <a:bodyPr wrap="square">
            <a:spAutoFit/>
          </a:bodyPr>
          <a:lstStyle/>
          <a:p>
            <a:pPr algn="l"/>
            <a:r>
              <a:rPr sz="1200" b="0" i="0">
                <a:solidFill>
                  <a:srgbClr val="4A443B"/>
                </a:solidFill>
                <a:latin typeface="Libre Franklin"/>
              </a:rPr>
              <a:t>•  One structured debrief after each meeting: what did the packet get right?</a:t>
            </a:r>
          </a:p>
        </p:txBody>
      </p:sp>
      <p:sp>
        <p:nvSpPr>
          <p:cNvPr id="12" name="TextBox 11"/>
          <p:cNvSpPr txBox="1"/>
          <p:nvPr/>
        </p:nvSpPr>
        <p:spPr>
          <a:xfrm>
            <a:off x="594360" y="5376671"/>
            <a:ext cx="3429000" cy="548640"/>
          </a:xfrm>
          <a:prstGeom prst="rect">
            <a:avLst/>
          </a:prstGeom>
          <a:noFill/>
          <a:ln>
            <a:noFill/>
          </a:ln>
        </p:spPr>
        <p:txBody>
          <a:bodyPr wrap="square">
            <a:spAutoFit/>
          </a:bodyPr>
          <a:lstStyle/>
          <a:p>
            <a:pPr algn="l"/>
            <a:r>
              <a:rPr sz="1200" b="0" i="0">
                <a:solidFill>
                  <a:srgbClr val="4A443B"/>
                </a:solidFill>
                <a:latin typeface="Libre Franklin"/>
              </a:rPr>
              <a:t>•  Success gate: Packet catches one real issue the analyst would have missed.</a:t>
            </a:r>
          </a:p>
        </p:txBody>
      </p:sp>
      <p:sp>
        <p:nvSpPr>
          <p:cNvPr id="13" name="TextBox 12"/>
          <p:cNvSpPr txBox="1"/>
          <p:nvPr/>
        </p:nvSpPr>
        <p:spPr>
          <a:xfrm>
            <a:off x="4370832" y="1737360"/>
            <a:ext cx="3657600" cy="274320"/>
          </a:xfrm>
          <a:prstGeom prst="rect">
            <a:avLst/>
          </a:prstGeom>
          <a:noFill/>
          <a:ln>
            <a:noFill/>
          </a:ln>
        </p:spPr>
        <p:txBody>
          <a:bodyPr wrap="square">
            <a:spAutoFit/>
          </a:bodyPr>
          <a:lstStyle/>
          <a:p>
            <a:pPr algn="l"/>
            <a:r>
              <a:rPr sz="1200" b="1" i="0">
                <a:solidFill>
                  <a:srgbClr val="B23B26"/>
                </a:solidFill>
                <a:latin typeface="IBM Plex Mono"/>
              </a:rPr>
              <a:t>PHASE 2</a:t>
            </a:r>
          </a:p>
        </p:txBody>
      </p:sp>
      <p:sp>
        <p:nvSpPr>
          <p:cNvPr id="14" name="TextBox 13"/>
          <p:cNvSpPr txBox="1"/>
          <p:nvPr/>
        </p:nvSpPr>
        <p:spPr>
          <a:xfrm>
            <a:off x="4370832" y="2029968"/>
            <a:ext cx="3657600" cy="228600"/>
          </a:xfrm>
          <a:prstGeom prst="rect">
            <a:avLst/>
          </a:prstGeom>
          <a:noFill/>
          <a:ln>
            <a:noFill/>
          </a:ln>
        </p:spPr>
        <p:txBody>
          <a:bodyPr wrap="square">
            <a:spAutoFit/>
          </a:bodyPr>
          <a:lstStyle/>
          <a:p>
            <a:pPr algn="l"/>
            <a:r>
              <a:rPr sz="1000" b="0" i="0">
                <a:solidFill>
                  <a:srgbClr val="94897A"/>
                </a:solidFill>
                <a:latin typeface="IBM Plex Mono"/>
              </a:rPr>
              <a:t>Weeks 5–8</a:t>
            </a:r>
          </a:p>
        </p:txBody>
      </p:sp>
      <p:sp>
        <p:nvSpPr>
          <p:cNvPr id="15" name="TextBox 14"/>
          <p:cNvSpPr txBox="1"/>
          <p:nvPr/>
        </p:nvSpPr>
        <p:spPr>
          <a:xfrm>
            <a:off x="4370832" y="2304288"/>
            <a:ext cx="3657600" cy="256032"/>
          </a:xfrm>
          <a:prstGeom prst="rect">
            <a:avLst/>
          </a:prstGeom>
          <a:noFill/>
          <a:ln>
            <a:noFill/>
          </a:ln>
        </p:spPr>
        <p:txBody>
          <a:bodyPr wrap="square">
            <a:spAutoFit/>
          </a:bodyPr>
          <a:lstStyle/>
          <a:p>
            <a:pPr algn="l"/>
            <a:r>
              <a:rPr sz="1600" b="0" i="0">
                <a:solidFill>
                  <a:srgbClr val="221D17"/>
                </a:solidFill>
                <a:latin typeface="Newsreader"/>
              </a:rPr>
              <a:t>Expanded pilot</a:t>
            </a:r>
          </a:p>
        </p:txBody>
      </p:sp>
      <p:sp>
        <p:nvSpPr>
          <p:cNvPr id="16" name="Rectangle 15"/>
          <p:cNvSpPr/>
          <p:nvPr/>
        </p:nvSpPr>
        <p:spPr>
          <a:xfrm>
            <a:off x="4370832" y="2633472"/>
            <a:ext cx="3657600" cy="3749039"/>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2743200"/>
            <a:ext cx="3429000" cy="548640"/>
          </a:xfrm>
          <a:prstGeom prst="rect">
            <a:avLst/>
          </a:prstGeom>
          <a:noFill/>
          <a:ln>
            <a:noFill/>
          </a:ln>
        </p:spPr>
        <p:txBody>
          <a:bodyPr wrap="square">
            <a:spAutoFit/>
          </a:bodyPr>
          <a:lstStyle/>
          <a:p>
            <a:pPr algn="l"/>
            <a:r>
              <a:rPr sz="1200" b="0" i="0">
                <a:solidFill>
                  <a:srgbClr val="4A443B"/>
                </a:solidFill>
                <a:latin typeface="Libre Franklin"/>
              </a:rPr>
              <a:t>•  All 8 suppliers in scope; full procurement team using it.</a:t>
            </a:r>
          </a:p>
        </p:txBody>
      </p:sp>
      <p:sp>
        <p:nvSpPr>
          <p:cNvPr id="18" name="TextBox 17"/>
          <p:cNvSpPr txBox="1"/>
          <p:nvPr/>
        </p:nvSpPr>
        <p:spPr>
          <a:xfrm>
            <a:off x="4507992" y="3401568"/>
            <a:ext cx="3429000" cy="548640"/>
          </a:xfrm>
          <a:prstGeom prst="rect">
            <a:avLst/>
          </a:prstGeom>
          <a:noFill/>
          <a:ln>
            <a:noFill/>
          </a:ln>
        </p:spPr>
        <p:txBody>
          <a:bodyPr wrap="square">
            <a:spAutoFit/>
          </a:bodyPr>
          <a:lstStyle/>
          <a:p>
            <a:pPr algn="l"/>
            <a:r>
              <a:rPr sz="1200" b="0" i="0">
                <a:solidFill>
                  <a:srgbClr val="4A443B"/>
                </a:solidFill>
                <a:latin typeface="Libre Franklin"/>
              </a:rPr>
              <a:t>•  IT review: security, data access, API key governance.</a:t>
            </a:r>
          </a:p>
        </p:txBody>
      </p:sp>
      <p:sp>
        <p:nvSpPr>
          <p:cNvPr id="19" name="TextBox 18"/>
          <p:cNvSpPr txBox="1"/>
          <p:nvPr/>
        </p:nvSpPr>
        <p:spPr>
          <a:xfrm>
            <a:off x="4507992" y="4059935"/>
            <a:ext cx="3429000" cy="548640"/>
          </a:xfrm>
          <a:prstGeom prst="rect">
            <a:avLst/>
          </a:prstGeom>
          <a:noFill/>
          <a:ln>
            <a:noFill/>
          </a:ln>
        </p:spPr>
        <p:txBody>
          <a:bodyPr wrap="square">
            <a:spAutoFit/>
          </a:bodyPr>
          <a:lstStyle/>
          <a:p>
            <a:pPr algn="l"/>
            <a:r>
              <a:rPr sz="1200" b="0" i="0">
                <a:solidFill>
                  <a:srgbClr val="4A443B"/>
                </a:solidFill>
                <a:latin typeface="Libre Franklin"/>
              </a:rPr>
              <a:t>•  Calendar integration auto-triggers packet generation 24h before each meeting.</a:t>
            </a:r>
          </a:p>
        </p:txBody>
      </p:sp>
      <p:sp>
        <p:nvSpPr>
          <p:cNvPr id="20" name="TextBox 19"/>
          <p:cNvSpPr txBox="1"/>
          <p:nvPr/>
        </p:nvSpPr>
        <p:spPr>
          <a:xfrm>
            <a:off x="4507992" y="4718303"/>
            <a:ext cx="3429000" cy="548640"/>
          </a:xfrm>
          <a:prstGeom prst="rect">
            <a:avLst/>
          </a:prstGeom>
          <a:noFill/>
          <a:ln>
            <a:noFill/>
          </a:ln>
        </p:spPr>
        <p:txBody>
          <a:bodyPr wrap="square">
            <a:spAutoFit/>
          </a:bodyPr>
          <a:lstStyle/>
          <a:p>
            <a:pPr algn="l"/>
            <a:r>
              <a:rPr sz="1200" b="0" i="0">
                <a:solidFill>
                  <a:srgbClr val="4A443B"/>
                </a:solidFill>
                <a:latin typeface="Libre Franklin"/>
              </a:rPr>
              <a:t>•  Add live sources: Graph API for emails, SharePoint for contracts.</a:t>
            </a:r>
          </a:p>
        </p:txBody>
      </p:sp>
      <p:sp>
        <p:nvSpPr>
          <p:cNvPr id="21" name="TextBox 20"/>
          <p:cNvSpPr txBox="1"/>
          <p:nvPr/>
        </p:nvSpPr>
        <p:spPr>
          <a:xfrm>
            <a:off x="4507992" y="5376671"/>
            <a:ext cx="3429000" cy="548640"/>
          </a:xfrm>
          <a:prstGeom prst="rect">
            <a:avLst/>
          </a:prstGeom>
          <a:noFill/>
          <a:ln>
            <a:noFill/>
          </a:ln>
        </p:spPr>
        <p:txBody>
          <a:bodyPr wrap="square">
            <a:spAutoFit/>
          </a:bodyPr>
          <a:lstStyle/>
          <a:p>
            <a:pPr algn="l"/>
            <a:r>
              <a:rPr sz="1200" b="0" i="0">
                <a:solidFill>
                  <a:srgbClr val="4A443B"/>
                </a:solidFill>
                <a:latin typeface="Libre Franklin"/>
              </a:rPr>
              <a:t>•  Success gate: Team uses the packet without being reminded; correction rate &lt;10%.</a:t>
            </a:r>
          </a:p>
        </p:txBody>
      </p:sp>
      <p:sp>
        <p:nvSpPr>
          <p:cNvPr id="22" name="TextBox 21"/>
          <p:cNvSpPr txBox="1"/>
          <p:nvPr/>
        </p:nvSpPr>
        <p:spPr>
          <a:xfrm>
            <a:off x="8284464" y="1737360"/>
            <a:ext cx="3657600" cy="274320"/>
          </a:xfrm>
          <a:prstGeom prst="rect">
            <a:avLst/>
          </a:prstGeom>
          <a:noFill/>
          <a:ln>
            <a:noFill/>
          </a:ln>
        </p:spPr>
        <p:txBody>
          <a:bodyPr wrap="square">
            <a:spAutoFit/>
          </a:bodyPr>
          <a:lstStyle/>
          <a:p>
            <a:pPr algn="l"/>
            <a:r>
              <a:rPr sz="1200" b="1" i="0">
                <a:solidFill>
                  <a:srgbClr val="B23B26"/>
                </a:solidFill>
                <a:latin typeface="IBM Plex Mono"/>
              </a:rPr>
              <a:t>PHASE 3</a:t>
            </a:r>
          </a:p>
        </p:txBody>
      </p:sp>
      <p:sp>
        <p:nvSpPr>
          <p:cNvPr id="23" name="TextBox 22"/>
          <p:cNvSpPr txBox="1"/>
          <p:nvPr/>
        </p:nvSpPr>
        <p:spPr>
          <a:xfrm>
            <a:off x="8284464" y="2029968"/>
            <a:ext cx="3657600" cy="228600"/>
          </a:xfrm>
          <a:prstGeom prst="rect">
            <a:avLst/>
          </a:prstGeom>
          <a:noFill/>
          <a:ln>
            <a:noFill/>
          </a:ln>
        </p:spPr>
        <p:txBody>
          <a:bodyPr wrap="square">
            <a:spAutoFit/>
          </a:bodyPr>
          <a:lstStyle/>
          <a:p>
            <a:pPr algn="l"/>
            <a:r>
              <a:rPr sz="1000" b="0" i="0">
                <a:solidFill>
                  <a:srgbClr val="94897A"/>
                </a:solidFill>
                <a:latin typeface="IBM Plex Mono"/>
              </a:rPr>
              <a:t>Weeks 9–12</a:t>
            </a:r>
          </a:p>
        </p:txBody>
      </p:sp>
      <p:sp>
        <p:nvSpPr>
          <p:cNvPr id="24" name="TextBox 23"/>
          <p:cNvSpPr txBox="1"/>
          <p:nvPr/>
        </p:nvSpPr>
        <p:spPr>
          <a:xfrm>
            <a:off x="8284464" y="2304288"/>
            <a:ext cx="3657600" cy="256032"/>
          </a:xfrm>
          <a:prstGeom prst="rect">
            <a:avLst/>
          </a:prstGeom>
          <a:noFill/>
          <a:ln>
            <a:noFill/>
          </a:ln>
        </p:spPr>
        <p:txBody>
          <a:bodyPr wrap="square">
            <a:spAutoFit/>
          </a:bodyPr>
          <a:lstStyle/>
          <a:p>
            <a:pPr algn="l"/>
            <a:r>
              <a:rPr sz="1600" b="0" i="0">
                <a:solidFill>
                  <a:srgbClr val="221D17"/>
                </a:solidFill>
                <a:latin typeface="Newsreader"/>
              </a:rPr>
              <a:t>Handover</a:t>
            </a:r>
          </a:p>
        </p:txBody>
      </p:sp>
      <p:sp>
        <p:nvSpPr>
          <p:cNvPr id="25" name="Rectangle 24"/>
          <p:cNvSpPr/>
          <p:nvPr/>
        </p:nvSpPr>
        <p:spPr>
          <a:xfrm>
            <a:off x="8284464" y="2633472"/>
            <a:ext cx="3657600" cy="3749039"/>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21624" y="2743200"/>
            <a:ext cx="3429000" cy="548640"/>
          </a:xfrm>
          <a:prstGeom prst="rect">
            <a:avLst/>
          </a:prstGeom>
          <a:noFill/>
          <a:ln>
            <a:noFill/>
          </a:ln>
        </p:spPr>
        <p:txBody>
          <a:bodyPr wrap="square">
            <a:spAutoFit/>
          </a:bodyPr>
          <a:lstStyle/>
          <a:p>
            <a:pPr algn="l"/>
            <a:r>
              <a:rPr sz="1200" b="0" i="0">
                <a:solidFill>
                  <a:srgbClr val="4A443B"/>
                </a:solidFill>
                <a:latin typeface="Libre Franklin"/>
              </a:rPr>
              <a:t>•  Ownership transferred to the internal champion (Procurement Manager).</a:t>
            </a:r>
          </a:p>
        </p:txBody>
      </p:sp>
      <p:sp>
        <p:nvSpPr>
          <p:cNvPr id="27" name="TextBox 26"/>
          <p:cNvSpPr txBox="1"/>
          <p:nvPr/>
        </p:nvSpPr>
        <p:spPr>
          <a:xfrm>
            <a:off x="8421624" y="3401568"/>
            <a:ext cx="3429000" cy="548640"/>
          </a:xfrm>
          <a:prstGeom prst="rect">
            <a:avLst/>
          </a:prstGeom>
          <a:noFill/>
          <a:ln>
            <a:noFill/>
          </a:ln>
        </p:spPr>
        <p:txBody>
          <a:bodyPr wrap="square">
            <a:spAutoFit/>
          </a:bodyPr>
          <a:lstStyle/>
          <a:p>
            <a:pPr algn="l"/>
            <a:r>
              <a:rPr sz="1200" b="0" i="0">
                <a:solidFill>
                  <a:srgbClr val="4A443B"/>
                </a:solidFill>
                <a:latin typeface="Libre Franklin"/>
              </a:rPr>
              <a:t>•  ROI case presented to Finance / CFO with 90-day actuals.</a:t>
            </a:r>
          </a:p>
        </p:txBody>
      </p:sp>
      <p:sp>
        <p:nvSpPr>
          <p:cNvPr id="28" name="TextBox 27"/>
          <p:cNvSpPr txBox="1"/>
          <p:nvPr/>
        </p:nvSpPr>
        <p:spPr>
          <a:xfrm>
            <a:off x="8421624" y="4059935"/>
            <a:ext cx="3429000" cy="548640"/>
          </a:xfrm>
          <a:prstGeom prst="rect">
            <a:avLst/>
          </a:prstGeom>
          <a:noFill/>
          <a:ln>
            <a:noFill/>
          </a:ln>
        </p:spPr>
        <p:txBody>
          <a:bodyPr wrap="square">
            <a:spAutoFit/>
          </a:bodyPr>
          <a:lstStyle/>
          <a:p>
            <a:pPr algn="l"/>
            <a:r>
              <a:rPr sz="1200" b="0" i="0">
                <a:solidFill>
                  <a:srgbClr val="4A443B"/>
                </a:solidFill>
                <a:latin typeface="Libre Franklin"/>
              </a:rPr>
              <a:t>•  Prompt-tuning backlog based on correction_log.csv patterns.</a:t>
            </a:r>
          </a:p>
        </p:txBody>
      </p:sp>
      <p:sp>
        <p:nvSpPr>
          <p:cNvPr id="29" name="TextBox 28"/>
          <p:cNvSpPr txBox="1"/>
          <p:nvPr/>
        </p:nvSpPr>
        <p:spPr>
          <a:xfrm>
            <a:off x="8421624" y="4718303"/>
            <a:ext cx="3429000" cy="548640"/>
          </a:xfrm>
          <a:prstGeom prst="rect">
            <a:avLst/>
          </a:prstGeom>
          <a:noFill/>
          <a:ln>
            <a:noFill/>
          </a:ln>
        </p:spPr>
        <p:txBody>
          <a:bodyPr wrap="square">
            <a:spAutoFit/>
          </a:bodyPr>
          <a:lstStyle/>
          <a:p>
            <a:pPr algn="l"/>
            <a:r>
              <a:rPr sz="1200" b="0" i="0">
                <a:solidFill>
                  <a:srgbClr val="4A443B"/>
                </a:solidFill>
                <a:latin typeface="Libre Franklin"/>
              </a:rPr>
              <a:t>•  Roadmap: supplier segmentation, auto-renewal alerts, negotiation history.</a:t>
            </a:r>
          </a:p>
        </p:txBody>
      </p:sp>
      <p:sp>
        <p:nvSpPr>
          <p:cNvPr id="30" name="TextBox 29"/>
          <p:cNvSpPr txBox="1"/>
          <p:nvPr/>
        </p:nvSpPr>
        <p:spPr>
          <a:xfrm>
            <a:off x="8421624" y="5376671"/>
            <a:ext cx="3429000" cy="548640"/>
          </a:xfrm>
          <a:prstGeom prst="rect">
            <a:avLst/>
          </a:prstGeom>
          <a:noFill/>
          <a:ln>
            <a:noFill/>
          </a:ln>
        </p:spPr>
        <p:txBody>
          <a:bodyPr wrap="square">
            <a:spAutoFit/>
          </a:bodyPr>
          <a:lstStyle/>
          <a:p>
            <a:pPr algn="l"/>
            <a:r>
              <a:rPr sz="1200" b="0" i="0">
                <a:solidFill>
                  <a:srgbClr val="4A443B"/>
                </a:solidFill>
                <a:latin typeface="Libre Franklin"/>
              </a:rPr>
              <a:t>•  Outcome: A tool the team owns — not one they depend on me for.</a:t>
            </a:r>
          </a:p>
        </p:txBody>
      </p:sp>
      <p:sp>
        <p:nvSpPr>
          <p:cNvPr id="31" name="TextBox 30"/>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32" name="TextBox 31"/>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14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15 — RISKS &amp; CHALLENGES</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What could go wrong — and how I’d handle it</a:t>
            </a:r>
          </a:p>
        </p:txBody>
      </p:sp>
      <p:sp>
        <p:nvSpPr>
          <p:cNvPr id="4" name="Rectangle 3"/>
          <p:cNvSpPr/>
          <p:nvPr/>
        </p:nvSpPr>
        <p:spPr>
          <a:xfrm>
            <a:off x="457200" y="1691640"/>
            <a:ext cx="5623560" cy="23774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01368"/>
            <a:ext cx="5349240" cy="201168"/>
          </a:xfrm>
          <a:prstGeom prst="rect">
            <a:avLst/>
          </a:prstGeom>
          <a:noFill/>
          <a:ln>
            <a:noFill/>
          </a:ln>
        </p:spPr>
        <p:txBody>
          <a:bodyPr wrap="square">
            <a:spAutoFit/>
          </a:bodyPr>
          <a:lstStyle/>
          <a:p>
            <a:pPr algn="l"/>
            <a:r>
              <a:rPr sz="900" b="0" i="0">
                <a:solidFill>
                  <a:srgbClr val="94897A"/>
                </a:solidFill>
                <a:latin typeface="IBM Plex Mono"/>
              </a:rPr>
              <a:t>TECHNICAL</a:t>
            </a:r>
          </a:p>
        </p:txBody>
      </p:sp>
      <p:sp>
        <p:nvSpPr>
          <p:cNvPr id="6" name="TextBox 5"/>
          <p:cNvSpPr txBox="1"/>
          <p:nvPr/>
        </p:nvSpPr>
        <p:spPr>
          <a:xfrm>
            <a:off x="640080" y="2020824"/>
            <a:ext cx="5349240" cy="292608"/>
          </a:xfrm>
          <a:prstGeom prst="rect">
            <a:avLst/>
          </a:prstGeom>
          <a:noFill/>
          <a:ln>
            <a:noFill/>
          </a:ln>
        </p:spPr>
        <p:txBody>
          <a:bodyPr wrap="square">
            <a:spAutoFit/>
          </a:bodyPr>
          <a:lstStyle/>
          <a:p>
            <a:pPr algn="l"/>
            <a:r>
              <a:rPr sz="1700" b="1" i="0">
                <a:solidFill>
                  <a:srgbClr val="221D17"/>
                </a:solidFill>
                <a:latin typeface="Newsreader"/>
              </a:rPr>
              <a:t>Extraction accuracy drift</a:t>
            </a:r>
          </a:p>
        </p:txBody>
      </p:sp>
      <p:sp>
        <p:nvSpPr>
          <p:cNvPr id="7" name="TextBox 6"/>
          <p:cNvSpPr txBox="1"/>
          <p:nvPr/>
        </p:nvSpPr>
        <p:spPr>
          <a:xfrm>
            <a:off x="640080" y="2350008"/>
            <a:ext cx="5349240" cy="594360"/>
          </a:xfrm>
          <a:prstGeom prst="rect">
            <a:avLst/>
          </a:prstGeom>
          <a:noFill/>
          <a:ln>
            <a:noFill/>
          </a:ln>
        </p:spPr>
        <p:txBody>
          <a:bodyPr wrap="square">
            <a:spAutoFit/>
          </a:bodyPr>
          <a:lstStyle/>
          <a:p>
            <a:pPr algn="l"/>
            <a:r>
              <a:rPr sz="1100" b="0" i="0">
                <a:solidFill>
                  <a:srgbClr val="9A2E1C"/>
                </a:solidFill>
                <a:latin typeface="Libre Franklin"/>
              </a:rPr>
              <a:t>RISK: Claude returns wrong contract terms or misses a dispute. Manager walks in with bad data.</a:t>
            </a:r>
          </a:p>
        </p:txBody>
      </p:sp>
      <p:sp>
        <p:nvSpPr>
          <p:cNvPr id="8" name="TextBox 7"/>
          <p:cNvSpPr txBox="1"/>
          <p:nvPr/>
        </p:nvSpPr>
        <p:spPr>
          <a:xfrm>
            <a:off x="640080" y="2990088"/>
            <a:ext cx="5349240" cy="960120"/>
          </a:xfrm>
          <a:prstGeom prst="rect">
            <a:avLst/>
          </a:prstGeom>
          <a:noFill/>
          <a:ln>
            <a:noFill/>
          </a:ln>
        </p:spPr>
        <p:txBody>
          <a:bodyPr wrap="square">
            <a:spAutoFit/>
          </a:bodyPr>
          <a:lstStyle/>
          <a:p>
            <a:pPr algn="l"/>
            <a:r>
              <a:rPr sz="1100" b="0" i="0">
                <a:solidFill>
                  <a:srgbClr val="4A443B"/>
                </a:solidFill>
                <a:latin typeface="Libre Franklin"/>
              </a:rPr>
              <a:t>MITIGATION: Source attribution on every field makes errors visible. The correction log tracks error rate by field and supplier. Monthly prompt-tuning cycle against correction_log.csv. Phase 1 KPI: correction rate &lt;10% by week 4.</a:t>
            </a:r>
          </a:p>
        </p:txBody>
      </p:sp>
      <p:sp>
        <p:nvSpPr>
          <p:cNvPr id="9" name="Rectangle 8"/>
          <p:cNvSpPr/>
          <p:nvPr/>
        </p:nvSpPr>
        <p:spPr>
          <a:xfrm>
            <a:off x="6126480" y="1691640"/>
            <a:ext cx="5623560" cy="23774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801368"/>
            <a:ext cx="5349240" cy="201168"/>
          </a:xfrm>
          <a:prstGeom prst="rect">
            <a:avLst/>
          </a:prstGeom>
          <a:noFill/>
          <a:ln>
            <a:noFill/>
          </a:ln>
        </p:spPr>
        <p:txBody>
          <a:bodyPr wrap="square">
            <a:spAutoFit/>
          </a:bodyPr>
          <a:lstStyle/>
          <a:p>
            <a:pPr algn="l"/>
            <a:r>
              <a:rPr sz="900" b="0" i="0">
                <a:solidFill>
                  <a:srgbClr val="94897A"/>
                </a:solidFill>
                <a:latin typeface="IBM Plex Mono"/>
              </a:rPr>
              <a:t>ORGANISATIONAL</a:t>
            </a:r>
          </a:p>
        </p:txBody>
      </p:sp>
      <p:sp>
        <p:nvSpPr>
          <p:cNvPr id="11" name="TextBox 10"/>
          <p:cNvSpPr txBox="1"/>
          <p:nvPr/>
        </p:nvSpPr>
        <p:spPr>
          <a:xfrm>
            <a:off x="6309360" y="2020824"/>
            <a:ext cx="5349240" cy="292608"/>
          </a:xfrm>
          <a:prstGeom prst="rect">
            <a:avLst/>
          </a:prstGeom>
          <a:noFill/>
          <a:ln>
            <a:noFill/>
          </a:ln>
        </p:spPr>
        <p:txBody>
          <a:bodyPr wrap="square">
            <a:spAutoFit/>
          </a:bodyPr>
          <a:lstStyle/>
          <a:p>
            <a:pPr algn="l"/>
            <a:r>
              <a:rPr sz="1700" b="1" i="0">
                <a:solidFill>
                  <a:srgbClr val="221D17"/>
                </a:solidFill>
                <a:latin typeface="Newsreader"/>
              </a:rPr>
              <a:t>Losing the internal champion</a:t>
            </a:r>
          </a:p>
        </p:txBody>
      </p:sp>
      <p:sp>
        <p:nvSpPr>
          <p:cNvPr id="12" name="TextBox 11"/>
          <p:cNvSpPr txBox="1"/>
          <p:nvPr/>
        </p:nvSpPr>
        <p:spPr>
          <a:xfrm>
            <a:off x="6309360" y="2350008"/>
            <a:ext cx="5349240" cy="594360"/>
          </a:xfrm>
          <a:prstGeom prst="rect">
            <a:avLst/>
          </a:prstGeom>
          <a:noFill/>
          <a:ln>
            <a:noFill/>
          </a:ln>
        </p:spPr>
        <p:txBody>
          <a:bodyPr wrap="square">
            <a:spAutoFit/>
          </a:bodyPr>
          <a:lstStyle/>
          <a:p>
            <a:pPr algn="l"/>
            <a:r>
              <a:rPr sz="1100" b="0" i="0">
                <a:solidFill>
                  <a:srgbClr val="9A2E1C"/>
                </a:solidFill>
                <a:latin typeface="Libre Franklin"/>
              </a:rPr>
              <a:t>RISK: Procurement Manager moves roles or loses interest. Tool loses its sponsor before Phase 2.</a:t>
            </a:r>
          </a:p>
        </p:txBody>
      </p:sp>
      <p:sp>
        <p:nvSpPr>
          <p:cNvPr id="13" name="TextBox 12"/>
          <p:cNvSpPr txBox="1"/>
          <p:nvPr/>
        </p:nvSpPr>
        <p:spPr>
          <a:xfrm>
            <a:off x="6309360" y="2990088"/>
            <a:ext cx="5349240" cy="960120"/>
          </a:xfrm>
          <a:prstGeom prst="rect">
            <a:avLst/>
          </a:prstGeom>
          <a:noFill/>
          <a:ln>
            <a:noFill/>
          </a:ln>
        </p:spPr>
        <p:txBody>
          <a:bodyPr wrap="square">
            <a:spAutoFit/>
          </a:bodyPr>
          <a:lstStyle/>
          <a:p>
            <a:pPr algn="l"/>
            <a:r>
              <a:rPr sz="1100" b="0" i="0">
                <a:solidFill>
                  <a:srgbClr val="4A443B"/>
                </a:solidFill>
                <a:latin typeface="Libre Franklin"/>
              </a:rPr>
              <a:t>MITIGATION: Involve the analyst as co-owner from day one — they become the backup champion. Tie the tool to a calendar event (packet auto-sent) so it becomes habit, not a choice.</a:t>
            </a:r>
          </a:p>
        </p:txBody>
      </p:sp>
      <p:sp>
        <p:nvSpPr>
          <p:cNvPr id="14" name="Rectangle 13"/>
          <p:cNvSpPr/>
          <p:nvPr/>
        </p:nvSpPr>
        <p:spPr>
          <a:xfrm>
            <a:off x="457200" y="4160520"/>
            <a:ext cx="5623560" cy="23774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270248"/>
            <a:ext cx="5349240" cy="201168"/>
          </a:xfrm>
          <a:prstGeom prst="rect">
            <a:avLst/>
          </a:prstGeom>
          <a:noFill/>
          <a:ln>
            <a:noFill/>
          </a:ln>
        </p:spPr>
        <p:txBody>
          <a:bodyPr wrap="square">
            <a:spAutoFit/>
          </a:bodyPr>
          <a:lstStyle/>
          <a:p>
            <a:pPr algn="l"/>
            <a:r>
              <a:rPr sz="900" b="0" i="0">
                <a:solidFill>
                  <a:srgbClr val="94897A"/>
                </a:solidFill>
                <a:latin typeface="IBM Plex Mono"/>
              </a:rPr>
              <a:t>ORGANISATIONAL</a:t>
            </a:r>
          </a:p>
        </p:txBody>
      </p:sp>
      <p:sp>
        <p:nvSpPr>
          <p:cNvPr id="16" name="TextBox 15"/>
          <p:cNvSpPr txBox="1"/>
          <p:nvPr/>
        </p:nvSpPr>
        <p:spPr>
          <a:xfrm>
            <a:off x="640080" y="4489704"/>
            <a:ext cx="5349240" cy="292608"/>
          </a:xfrm>
          <a:prstGeom prst="rect">
            <a:avLst/>
          </a:prstGeom>
          <a:noFill/>
          <a:ln>
            <a:noFill/>
          </a:ln>
        </p:spPr>
        <p:txBody>
          <a:bodyPr wrap="square">
            <a:spAutoFit/>
          </a:bodyPr>
          <a:lstStyle/>
          <a:p>
            <a:pPr algn="l"/>
            <a:r>
              <a:rPr sz="1700" b="1" i="0">
                <a:solidFill>
                  <a:srgbClr val="221D17"/>
                </a:solidFill>
                <a:latin typeface="Newsreader"/>
              </a:rPr>
              <a:t>Low adoption from analysts</a:t>
            </a:r>
          </a:p>
        </p:txBody>
      </p:sp>
      <p:sp>
        <p:nvSpPr>
          <p:cNvPr id="17" name="TextBox 16"/>
          <p:cNvSpPr txBox="1"/>
          <p:nvPr/>
        </p:nvSpPr>
        <p:spPr>
          <a:xfrm>
            <a:off x="640080" y="4818888"/>
            <a:ext cx="5349240" cy="594360"/>
          </a:xfrm>
          <a:prstGeom prst="rect">
            <a:avLst/>
          </a:prstGeom>
          <a:noFill/>
          <a:ln>
            <a:noFill/>
          </a:ln>
        </p:spPr>
        <p:txBody>
          <a:bodyPr wrap="square">
            <a:spAutoFit/>
          </a:bodyPr>
          <a:lstStyle/>
          <a:p>
            <a:pPr algn="l"/>
            <a:r>
              <a:rPr sz="1100" b="0" i="0">
                <a:solidFill>
                  <a:srgbClr val="9A2E1C"/>
                </a:solidFill>
                <a:latin typeface="Libre Franklin"/>
              </a:rPr>
              <a:t>RISK: Analyst uses the tool but doesn't trust it — redoes prep manually anyway. The tool adds a step instead of removing one.</a:t>
            </a:r>
          </a:p>
        </p:txBody>
      </p:sp>
      <p:sp>
        <p:nvSpPr>
          <p:cNvPr id="18" name="TextBox 17"/>
          <p:cNvSpPr txBox="1"/>
          <p:nvPr/>
        </p:nvSpPr>
        <p:spPr>
          <a:xfrm>
            <a:off x="640080" y="5458968"/>
            <a:ext cx="5349240" cy="960120"/>
          </a:xfrm>
          <a:prstGeom prst="rect">
            <a:avLst/>
          </a:prstGeom>
          <a:noFill/>
          <a:ln>
            <a:noFill/>
          </a:ln>
        </p:spPr>
        <p:txBody>
          <a:bodyPr wrap="square">
            <a:spAutoFit/>
          </a:bodyPr>
          <a:lstStyle/>
          <a:p>
            <a:pPr algn="l"/>
            <a:r>
              <a:rPr sz="1100" b="0" i="0">
                <a:solidFill>
                  <a:srgbClr val="4A443B"/>
                </a:solidFill>
                <a:latin typeface="Libre Franklin"/>
              </a:rPr>
              <a:t>MITIGATION: Frame their role as reviewer, not recipient. Make corrections visibly theirs. Track adoption, not just deployment: low correction rate = trust; still doing manual prep = investigate why.</a:t>
            </a:r>
          </a:p>
        </p:txBody>
      </p:sp>
      <p:sp>
        <p:nvSpPr>
          <p:cNvPr id="19" name="Rectangle 18"/>
          <p:cNvSpPr/>
          <p:nvPr/>
        </p:nvSpPr>
        <p:spPr>
          <a:xfrm>
            <a:off x="6126480" y="4160520"/>
            <a:ext cx="5623560" cy="237744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270248"/>
            <a:ext cx="5349240" cy="201168"/>
          </a:xfrm>
          <a:prstGeom prst="rect">
            <a:avLst/>
          </a:prstGeom>
          <a:noFill/>
          <a:ln>
            <a:noFill/>
          </a:ln>
        </p:spPr>
        <p:txBody>
          <a:bodyPr wrap="square">
            <a:spAutoFit/>
          </a:bodyPr>
          <a:lstStyle/>
          <a:p>
            <a:pPr algn="l"/>
            <a:r>
              <a:rPr sz="900" b="0" i="0">
                <a:solidFill>
                  <a:srgbClr val="94897A"/>
                </a:solidFill>
                <a:latin typeface="IBM Plex Mono"/>
              </a:rPr>
              <a:t>ORGANISATIONAL</a:t>
            </a:r>
          </a:p>
        </p:txBody>
      </p:sp>
      <p:sp>
        <p:nvSpPr>
          <p:cNvPr id="21" name="TextBox 20"/>
          <p:cNvSpPr txBox="1"/>
          <p:nvPr/>
        </p:nvSpPr>
        <p:spPr>
          <a:xfrm>
            <a:off x="6309360" y="4489704"/>
            <a:ext cx="5349240" cy="292608"/>
          </a:xfrm>
          <a:prstGeom prst="rect">
            <a:avLst/>
          </a:prstGeom>
          <a:noFill/>
          <a:ln>
            <a:noFill/>
          </a:ln>
        </p:spPr>
        <p:txBody>
          <a:bodyPr wrap="square">
            <a:spAutoFit/>
          </a:bodyPr>
          <a:lstStyle/>
          <a:p>
            <a:pPr algn="l"/>
            <a:r>
              <a:rPr sz="1700" b="1" i="0">
                <a:solidFill>
                  <a:srgbClr val="221D17"/>
                </a:solidFill>
                <a:latin typeface="Newsreader"/>
              </a:rPr>
              <a:t>Scope creep pressure</a:t>
            </a:r>
          </a:p>
        </p:txBody>
      </p:sp>
      <p:sp>
        <p:nvSpPr>
          <p:cNvPr id="22" name="TextBox 21"/>
          <p:cNvSpPr txBox="1"/>
          <p:nvPr/>
        </p:nvSpPr>
        <p:spPr>
          <a:xfrm>
            <a:off x="6309360" y="4818888"/>
            <a:ext cx="5349240" cy="594360"/>
          </a:xfrm>
          <a:prstGeom prst="rect">
            <a:avLst/>
          </a:prstGeom>
          <a:noFill/>
          <a:ln>
            <a:noFill/>
          </a:ln>
        </p:spPr>
        <p:txBody>
          <a:bodyPr wrap="square">
            <a:spAutoFit/>
          </a:bodyPr>
          <a:lstStyle/>
          <a:p>
            <a:pPr algn="l"/>
            <a:r>
              <a:rPr sz="1100" b="0" i="0">
                <a:solidFill>
                  <a:srgbClr val="9A2E1C"/>
                </a:solidFill>
                <a:latin typeface="Libre Franklin"/>
              </a:rPr>
              <a:t>RISK: "Can it also do X?" requests pile up before Phase 1 is proven. The build bloats, the trust case gets muddied.</a:t>
            </a:r>
          </a:p>
        </p:txBody>
      </p:sp>
      <p:sp>
        <p:nvSpPr>
          <p:cNvPr id="23" name="TextBox 22"/>
          <p:cNvSpPr txBox="1"/>
          <p:nvPr/>
        </p:nvSpPr>
        <p:spPr>
          <a:xfrm>
            <a:off x="6309360" y="5458968"/>
            <a:ext cx="5349240" cy="960120"/>
          </a:xfrm>
          <a:prstGeom prst="rect">
            <a:avLst/>
          </a:prstGeom>
          <a:noFill/>
          <a:ln>
            <a:noFill/>
          </a:ln>
        </p:spPr>
        <p:txBody>
          <a:bodyPr wrap="square">
            <a:spAutoFit/>
          </a:bodyPr>
          <a:lstStyle/>
          <a:p>
            <a:pPr algn="l"/>
            <a:r>
              <a:rPr sz="1100" b="0" i="0">
                <a:solidFill>
                  <a:srgbClr val="4A443B"/>
                </a:solidFill>
                <a:latin typeface="Libre Franklin"/>
              </a:rPr>
              <a:t>MITIGATION: Phase-gate firmly. Every new request goes to a Phase 2 backlog. The Phase 1 answer is always: let’s prove this works first, then expand.</a:t>
            </a:r>
          </a:p>
        </p:txBody>
      </p:sp>
      <p:sp>
        <p:nvSpPr>
          <p:cNvPr id="24" name="TextBox 23"/>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25" name="TextBox 24"/>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15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16 — CHANGE MANAGEMENT</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Building it is 20% of the job. Adoption is the other 80%.</a:t>
            </a:r>
          </a:p>
        </p:txBody>
      </p:sp>
      <p:sp>
        <p:nvSpPr>
          <p:cNvPr id="4" name="TextBox 3"/>
          <p:cNvSpPr txBox="1"/>
          <p:nvPr/>
        </p:nvSpPr>
        <p:spPr>
          <a:xfrm>
            <a:off x="457200" y="1719072"/>
            <a:ext cx="3657600" cy="201168"/>
          </a:xfrm>
          <a:prstGeom prst="rect">
            <a:avLst/>
          </a:prstGeom>
          <a:noFill/>
          <a:ln>
            <a:noFill/>
          </a:ln>
        </p:spPr>
        <p:txBody>
          <a:bodyPr wrap="square">
            <a:spAutoFit/>
          </a:bodyPr>
          <a:lstStyle/>
          <a:p>
            <a:pPr algn="l"/>
            <a:r>
              <a:rPr sz="900" b="0" i="0">
                <a:solidFill>
                  <a:srgbClr val="94897A"/>
                </a:solidFill>
                <a:latin typeface="IBM Plex Mono"/>
              </a:rPr>
              <a:t>OBJECTION</a:t>
            </a:r>
          </a:p>
        </p:txBody>
      </p:sp>
      <p:sp>
        <p:nvSpPr>
          <p:cNvPr id="5" name="TextBox 4"/>
          <p:cNvSpPr txBox="1"/>
          <p:nvPr/>
        </p:nvSpPr>
        <p:spPr>
          <a:xfrm>
            <a:off x="4160520" y="1719072"/>
            <a:ext cx="2286000" cy="201168"/>
          </a:xfrm>
          <a:prstGeom prst="rect">
            <a:avLst/>
          </a:prstGeom>
          <a:noFill/>
          <a:ln>
            <a:noFill/>
          </a:ln>
        </p:spPr>
        <p:txBody>
          <a:bodyPr wrap="square">
            <a:spAutoFit/>
          </a:bodyPr>
          <a:lstStyle/>
          <a:p>
            <a:pPr algn="l"/>
            <a:r>
              <a:rPr sz="900" b="0" i="0">
                <a:solidFill>
                  <a:srgbClr val="94897A"/>
                </a:solidFill>
                <a:latin typeface="IBM Plex Mono"/>
              </a:rPr>
              <a:t>WHO</a:t>
            </a:r>
          </a:p>
        </p:txBody>
      </p:sp>
      <p:sp>
        <p:nvSpPr>
          <p:cNvPr id="6" name="TextBox 5"/>
          <p:cNvSpPr txBox="1"/>
          <p:nvPr/>
        </p:nvSpPr>
        <p:spPr>
          <a:xfrm>
            <a:off x="6492240" y="1719072"/>
            <a:ext cx="5486400" cy="201168"/>
          </a:xfrm>
          <a:prstGeom prst="rect">
            <a:avLst/>
          </a:prstGeom>
          <a:noFill/>
          <a:ln>
            <a:noFill/>
          </a:ln>
        </p:spPr>
        <p:txBody>
          <a:bodyPr wrap="square">
            <a:spAutoFit/>
          </a:bodyPr>
          <a:lstStyle/>
          <a:p>
            <a:pPr algn="l"/>
            <a:r>
              <a:rPr sz="900" b="0" i="0">
                <a:solidFill>
                  <a:srgbClr val="94897A"/>
                </a:solidFill>
                <a:latin typeface="IBM Plex Mono"/>
              </a:rPr>
              <a:t>HOW I HANDLE IT</a:t>
            </a:r>
          </a:p>
        </p:txBody>
      </p:sp>
      <p:sp>
        <p:nvSpPr>
          <p:cNvPr id="7" name="Rectangle 6"/>
          <p:cNvSpPr/>
          <p:nvPr/>
        </p:nvSpPr>
        <p:spPr>
          <a:xfrm>
            <a:off x="457200" y="1938528"/>
            <a:ext cx="11430000" cy="27432"/>
          </a:xfrm>
          <a:prstGeom prst="rect">
            <a:avLst/>
          </a:prstGeom>
          <a:solidFill>
            <a:srgbClr val="221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03120"/>
            <a:ext cx="3474720" cy="594360"/>
          </a:xfrm>
          <a:prstGeom prst="rect">
            <a:avLst/>
          </a:prstGeom>
          <a:noFill/>
          <a:ln>
            <a:noFill/>
          </a:ln>
        </p:spPr>
        <p:txBody>
          <a:bodyPr wrap="square">
            <a:spAutoFit/>
          </a:bodyPr>
          <a:lstStyle/>
          <a:p>
            <a:pPr algn="l"/>
            <a:r>
              <a:rPr sz="1800" b="0" i="1">
                <a:solidFill>
                  <a:srgbClr val="221D17"/>
                </a:solidFill>
                <a:latin typeface="Newsreader"/>
              </a:rPr>
              <a:t>"The output is wrong."</a:t>
            </a:r>
          </a:p>
        </p:txBody>
      </p:sp>
      <p:sp>
        <p:nvSpPr>
          <p:cNvPr id="9" name="TextBox 8"/>
          <p:cNvSpPr txBox="1"/>
          <p:nvPr/>
        </p:nvSpPr>
        <p:spPr>
          <a:xfrm>
            <a:off x="4160520" y="2103120"/>
            <a:ext cx="2103120" cy="594360"/>
          </a:xfrm>
          <a:prstGeom prst="rect">
            <a:avLst/>
          </a:prstGeom>
          <a:noFill/>
          <a:ln>
            <a:noFill/>
          </a:ln>
        </p:spPr>
        <p:txBody>
          <a:bodyPr wrap="square">
            <a:spAutoFit/>
          </a:bodyPr>
          <a:lstStyle/>
          <a:p>
            <a:pPr algn="l"/>
            <a:r>
              <a:rPr sz="1000" b="1" i="0">
                <a:solidFill>
                  <a:srgbClr val="B23B26"/>
                </a:solidFill>
                <a:latin typeface="IBM Plex Mono"/>
              </a:rPr>
              <a:t>PROCUREMENT ANALYST
Highest adoption risk</a:t>
            </a:r>
          </a:p>
        </p:txBody>
      </p:sp>
      <p:sp>
        <p:nvSpPr>
          <p:cNvPr id="10" name="TextBox 9"/>
          <p:cNvSpPr txBox="1"/>
          <p:nvPr/>
        </p:nvSpPr>
        <p:spPr>
          <a:xfrm>
            <a:off x="6492240" y="2066544"/>
            <a:ext cx="5394960" cy="1188720"/>
          </a:xfrm>
          <a:prstGeom prst="rect">
            <a:avLst/>
          </a:prstGeom>
          <a:noFill/>
          <a:ln>
            <a:noFill/>
          </a:ln>
        </p:spPr>
        <p:txBody>
          <a:bodyPr wrap="square">
            <a:spAutoFit/>
          </a:bodyPr>
          <a:lstStyle/>
          <a:p>
            <a:pPr algn="l"/>
            <a:r>
              <a:rPr sz="1300" b="0" i="0">
                <a:solidFill>
                  <a:srgbClr val="4A443B"/>
                </a:solidFill>
                <a:latin typeface="Libre Franklin"/>
              </a:rPr>
              <a:t>Involve them in Phase 1 QA from day one. Make the correction feature visibly theirs. Frame their role as reviewer, not recipient — the tool makes them look more prepared, not redundant.</a:t>
            </a:r>
          </a:p>
        </p:txBody>
      </p:sp>
      <p:sp>
        <p:nvSpPr>
          <p:cNvPr id="11" name="Rectangle 10"/>
          <p:cNvSpPr/>
          <p:nvPr/>
        </p:nvSpPr>
        <p:spPr>
          <a:xfrm>
            <a:off x="457200" y="3410712"/>
            <a:ext cx="11430000" cy="9144"/>
          </a:xfrm>
          <a:prstGeom prst="rect">
            <a:avLst/>
          </a:prstGeom>
          <a:solidFill>
            <a:srgbClr val="DBD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20440"/>
            <a:ext cx="3474720" cy="594360"/>
          </a:xfrm>
          <a:prstGeom prst="rect">
            <a:avLst/>
          </a:prstGeom>
          <a:noFill/>
          <a:ln>
            <a:noFill/>
          </a:ln>
        </p:spPr>
        <p:txBody>
          <a:bodyPr wrap="square">
            <a:spAutoFit/>
          </a:bodyPr>
          <a:lstStyle/>
          <a:p>
            <a:pPr algn="l"/>
            <a:r>
              <a:rPr sz="1800" b="0" i="1">
                <a:solidFill>
                  <a:srgbClr val="221D17"/>
                </a:solidFill>
                <a:latin typeface="Newsreader"/>
              </a:rPr>
              <a:t>"I don’t trust AI to read a contract."</a:t>
            </a:r>
          </a:p>
        </p:txBody>
      </p:sp>
      <p:sp>
        <p:nvSpPr>
          <p:cNvPr id="13" name="TextBox 12"/>
          <p:cNvSpPr txBox="1"/>
          <p:nvPr/>
        </p:nvSpPr>
        <p:spPr>
          <a:xfrm>
            <a:off x="4160520" y="3520440"/>
            <a:ext cx="2103120" cy="594360"/>
          </a:xfrm>
          <a:prstGeom prst="rect">
            <a:avLst/>
          </a:prstGeom>
          <a:noFill/>
          <a:ln>
            <a:noFill/>
          </a:ln>
        </p:spPr>
        <p:txBody>
          <a:bodyPr wrap="square">
            <a:spAutoFit/>
          </a:bodyPr>
          <a:lstStyle/>
          <a:p>
            <a:pPr algn="l"/>
            <a:r>
              <a:rPr sz="1000" b="1" i="0">
                <a:solidFill>
                  <a:srgbClr val="B23B26"/>
                </a:solidFill>
                <a:latin typeface="IBM Plex Mono"/>
              </a:rPr>
              <a:t>LEGAL / COMPLIANCE</a:t>
            </a:r>
          </a:p>
        </p:txBody>
      </p:sp>
      <p:sp>
        <p:nvSpPr>
          <p:cNvPr id="14" name="TextBox 13"/>
          <p:cNvSpPr txBox="1"/>
          <p:nvPr/>
        </p:nvSpPr>
        <p:spPr>
          <a:xfrm>
            <a:off x="6492240" y="3483864"/>
            <a:ext cx="5394960" cy="1188720"/>
          </a:xfrm>
          <a:prstGeom prst="rect">
            <a:avLst/>
          </a:prstGeom>
          <a:noFill/>
          <a:ln>
            <a:noFill/>
          </a:ln>
        </p:spPr>
        <p:txBody>
          <a:bodyPr wrap="square">
            <a:spAutoFit/>
          </a:bodyPr>
          <a:lstStyle/>
          <a:p>
            <a:pPr algn="l"/>
            <a:r>
              <a:rPr sz="1300" b="0" i="0">
                <a:solidFill>
                  <a:srgbClr val="4A443B"/>
                </a:solidFill>
                <a:latin typeface="Libre Franklin"/>
              </a:rPr>
              <a:t>Every fact carries a source citation. The design surfaces facts for human review — it does not interpret and act. Show them the correction log: the system has a visible trust mechanism.</a:t>
            </a:r>
          </a:p>
        </p:txBody>
      </p:sp>
      <p:sp>
        <p:nvSpPr>
          <p:cNvPr id="15" name="Rectangle 14"/>
          <p:cNvSpPr/>
          <p:nvPr/>
        </p:nvSpPr>
        <p:spPr>
          <a:xfrm>
            <a:off x="457200" y="4828032"/>
            <a:ext cx="11430000" cy="9144"/>
          </a:xfrm>
          <a:prstGeom prst="rect">
            <a:avLst/>
          </a:prstGeom>
          <a:solidFill>
            <a:srgbClr val="DBD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937760"/>
            <a:ext cx="3474720" cy="594360"/>
          </a:xfrm>
          <a:prstGeom prst="rect">
            <a:avLst/>
          </a:prstGeom>
          <a:noFill/>
          <a:ln>
            <a:noFill/>
          </a:ln>
        </p:spPr>
        <p:txBody>
          <a:bodyPr wrap="square">
            <a:spAutoFit/>
          </a:bodyPr>
          <a:lstStyle/>
          <a:p>
            <a:pPr algn="l"/>
            <a:r>
              <a:rPr sz="1800" b="0" i="1">
                <a:solidFill>
                  <a:srgbClr val="221D17"/>
                </a:solidFill>
                <a:latin typeface="Newsreader"/>
              </a:rPr>
              <a:t>"What does this cost, and who owns it?"</a:t>
            </a:r>
          </a:p>
        </p:txBody>
      </p:sp>
      <p:sp>
        <p:nvSpPr>
          <p:cNvPr id="17" name="TextBox 16"/>
          <p:cNvSpPr txBox="1"/>
          <p:nvPr/>
        </p:nvSpPr>
        <p:spPr>
          <a:xfrm>
            <a:off x="4160520" y="4937760"/>
            <a:ext cx="2103120" cy="594360"/>
          </a:xfrm>
          <a:prstGeom prst="rect">
            <a:avLst/>
          </a:prstGeom>
          <a:noFill/>
          <a:ln>
            <a:noFill/>
          </a:ln>
        </p:spPr>
        <p:txBody>
          <a:bodyPr wrap="square">
            <a:spAutoFit/>
          </a:bodyPr>
          <a:lstStyle/>
          <a:p>
            <a:pPr algn="l"/>
            <a:r>
              <a:rPr sz="1000" b="1" i="0">
                <a:solidFill>
                  <a:srgbClr val="B23B26"/>
                </a:solidFill>
                <a:latin typeface="IBM Plex Mono"/>
              </a:rPr>
              <a:t>FINANCE / IT</a:t>
            </a:r>
          </a:p>
        </p:txBody>
      </p:sp>
      <p:sp>
        <p:nvSpPr>
          <p:cNvPr id="18" name="TextBox 17"/>
          <p:cNvSpPr txBox="1"/>
          <p:nvPr/>
        </p:nvSpPr>
        <p:spPr>
          <a:xfrm>
            <a:off x="6492240" y="4901184"/>
            <a:ext cx="5394960" cy="1188720"/>
          </a:xfrm>
          <a:prstGeom prst="rect">
            <a:avLst/>
          </a:prstGeom>
          <a:noFill/>
          <a:ln>
            <a:noFill/>
          </a:ln>
        </p:spPr>
        <p:txBody>
          <a:bodyPr wrap="square">
            <a:spAutoFit/>
          </a:bodyPr>
          <a:lstStyle/>
          <a:p>
            <a:pPr algn="l"/>
            <a:r>
              <a:rPr sz="1300" b="0" i="0">
                <a:solidFill>
                  <a:srgbClr val="4A443B"/>
                </a:solidFill>
                <a:latin typeface="Libre Franklin"/>
              </a:rPr>
              <a:t>Phase 1 cost is API calls only (~$15/month). Nothing touches live systems; the static-file architecture minimises the security surface. ROI case ready for month 3.</a:t>
            </a:r>
          </a:p>
        </p:txBody>
      </p:sp>
      <p:sp>
        <p:nvSpPr>
          <p:cNvPr id="19" name="TextBox 18"/>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20" name="TextBox 19"/>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16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17 — QUICK WINS + ENABLEMENT</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First 30 days, and what training actually looks like</a:t>
            </a:r>
          </a:p>
        </p:txBody>
      </p:sp>
      <p:sp>
        <p:nvSpPr>
          <p:cNvPr id="4" name="TextBox 3"/>
          <p:cNvSpPr txBox="1"/>
          <p:nvPr/>
        </p:nvSpPr>
        <p:spPr>
          <a:xfrm>
            <a:off x="457200" y="1737360"/>
            <a:ext cx="5486400" cy="228600"/>
          </a:xfrm>
          <a:prstGeom prst="rect">
            <a:avLst/>
          </a:prstGeom>
          <a:noFill/>
          <a:ln>
            <a:noFill/>
          </a:ln>
        </p:spPr>
        <p:txBody>
          <a:bodyPr wrap="square">
            <a:spAutoFit/>
          </a:bodyPr>
          <a:lstStyle/>
          <a:p>
            <a:pPr algn="l"/>
            <a:r>
              <a:rPr sz="900" b="1" i="0">
                <a:solidFill>
                  <a:srgbClr val="221D17"/>
                </a:solidFill>
                <a:latin typeface="IBM Plex Mono"/>
              </a:rPr>
              <a:t>QUICK WINS</a:t>
            </a:r>
          </a:p>
        </p:txBody>
      </p:sp>
      <p:sp>
        <p:nvSpPr>
          <p:cNvPr id="5" name="TextBox 4"/>
          <p:cNvSpPr txBox="1"/>
          <p:nvPr/>
        </p:nvSpPr>
        <p:spPr>
          <a:xfrm>
            <a:off x="457200" y="2011680"/>
            <a:ext cx="1097280" cy="228600"/>
          </a:xfrm>
          <a:prstGeom prst="rect">
            <a:avLst/>
          </a:prstGeom>
          <a:noFill/>
          <a:ln>
            <a:noFill/>
          </a:ln>
        </p:spPr>
        <p:txBody>
          <a:bodyPr wrap="square">
            <a:spAutoFit/>
          </a:bodyPr>
          <a:lstStyle/>
          <a:p>
            <a:pPr algn="l"/>
            <a:r>
              <a:rPr sz="1000" b="1" i="0">
                <a:solidFill>
                  <a:srgbClr val="B23B26"/>
                </a:solidFill>
                <a:latin typeface="IBM Plex Mono"/>
              </a:rPr>
              <a:t>WEEK 1</a:t>
            </a:r>
          </a:p>
        </p:txBody>
      </p:sp>
      <p:sp>
        <p:nvSpPr>
          <p:cNvPr id="6" name="TextBox 5"/>
          <p:cNvSpPr txBox="1"/>
          <p:nvPr/>
        </p:nvSpPr>
        <p:spPr>
          <a:xfrm>
            <a:off x="1600200" y="2011680"/>
            <a:ext cx="4206240" cy="640080"/>
          </a:xfrm>
          <a:prstGeom prst="rect">
            <a:avLst/>
          </a:prstGeom>
          <a:noFill/>
          <a:ln>
            <a:noFill/>
          </a:ln>
        </p:spPr>
        <p:txBody>
          <a:bodyPr wrap="square">
            <a:spAutoFit/>
          </a:bodyPr>
          <a:lstStyle/>
          <a:p>
            <a:pPr algn="l"/>
            <a:r>
              <a:rPr sz="1200" b="0" i="0">
                <a:solidFill>
                  <a:srgbClr val="4A443B"/>
                </a:solidFill>
                <a:latin typeface="Libre Franklin"/>
              </a:rPr>
              <a:t>First real packet generated for an upcoming meeting. Manager reviews it live — one factual thing it got right that manual prep would have taken 30 minutes to find.</a:t>
            </a:r>
          </a:p>
        </p:txBody>
      </p:sp>
      <p:sp>
        <p:nvSpPr>
          <p:cNvPr id="7" name="TextBox 6"/>
          <p:cNvSpPr txBox="1"/>
          <p:nvPr/>
        </p:nvSpPr>
        <p:spPr>
          <a:xfrm>
            <a:off x="457200" y="2816352"/>
            <a:ext cx="1097280" cy="228600"/>
          </a:xfrm>
          <a:prstGeom prst="rect">
            <a:avLst/>
          </a:prstGeom>
          <a:noFill/>
          <a:ln>
            <a:noFill/>
          </a:ln>
        </p:spPr>
        <p:txBody>
          <a:bodyPr wrap="square">
            <a:spAutoFit/>
          </a:bodyPr>
          <a:lstStyle/>
          <a:p>
            <a:pPr algn="l"/>
            <a:r>
              <a:rPr sz="1000" b="1" i="0">
                <a:solidFill>
                  <a:srgbClr val="B23B26"/>
                </a:solidFill>
                <a:latin typeface="IBM Plex Mono"/>
              </a:rPr>
              <a:t>WEEK 2</a:t>
            </a:r>
          </a:p>
        </p:txBody>
      </p:sp>
      <p:sp>
        <p:nvSpPr>
          <p:cNvPr id="8" name="TextBox 7"/>
          <p:cNvSpPr txBox="1"/>
          <p:nvPr/>
        </p:nvSpPr>
        <p:spPr>
          <a:xfrm>
            <a:off x="1600200" y="2816352"/>
            <a:ext cx="4206240" cy="640080"/>
          </a:xfrm>
          <a:prstGeom prst="rect">
            <a:avLst/>
          </a:prstGeom>
          <a:noFill/>
          <a:ln>
            <a:noFill/>
          </a:ln>
        </p:spPr>
        <p:txBody>
          <a:bodyPr wrap="square">
            <a:spAutoFit/>
          </a:bodyPr>
          <a:lstStyle/>
          <a:p>
            <a:pPr algn="l"/>
            <a:r>
              <a:rPr sz="1200" b="0" i="0">
                <a:solidFill>
                  <a:srgbClr val="4A443B"/>
                </a:solidFill>
                <a:latin typeface="Libre Franklin"/>
              </a:rPr>
              <a:t>First open issue caught that wasn’t on anyone’s radar. The Galil Dairy price-cap violation is the template. One concrete catch establishes trust faster than any demo.</a:t>
            </a:r>
          </a:p>
        </p:txBody>
      </p:sp>
      <p:sp>
        <p:nvSpPr>
          <p:cNvPr id="9" name="TextBox 8"/>
          <p:cNvSpPr txBox="1"/>
          <p:nvPr/>
        </p:nvSpPr>
        <p:spPr>
          <a:xfrm>
            <a:off x="457200" y="3621024"/>
            <a:ext cx="1097280" cy="228600"/>
          </a:xfrm>
          <a:prstGeom prst="rect">
            <a:avLst/>
          </a:prstGeom>
          <a:noFill/>
          <a:ln>
            <a:noFill/>
          </a:ln>
        </p:spPr>
        <p:txBody>
          <a:bodyPr wrap="square">
            <a:spAutoFit/>
          </a:bodyPr>
          <a:lstStyle/>
          <a:p>
            <a:pPr algn="l"/>
            <a:r>
              <a:rPr sz="1000" b="1" i="0">
                <a:solidFill>
                  <a:srgbClr val="B23B26"/>
                </a:solidFill>
                <a:latin typeface="IBM Plex Mono"/>
              </a:rPr>
              <a:t>WEEK 3</a:t>
            </a:r>
          </a:p>
        </p:txBody>
      </p:sp>
      <p:sp>
        <p:nvSpPr>
          <p:cNvPr id="10" name="TextBox 9"/>
          <p:cNvSpPr txBox="1"/>
          <p:nvPr/>
        </p:nvSpPr>
        <p:spPr>
          <a:xfrm>
            <a:off x="1600200" y="3621024"/>
            <a:ext cx="4206240" cy="640080"/>
          </a:xfrm>
          <a:prstGeom prst="rect">
            <a:avLst/>
          </a:prstGeom>
          <a:noFill/>
          <a:ln>
            <a:noFill/>
          </a:ln>
        </p:spPr>
        <p:txBody>
          <a:bodyPr wrap="square">
            <a:spAutoFit/>
          </a:bodyPr>
          <a:lstStyle/>
          <a:p>
            <a:pPr algn="l"/>
            <a:r>
              <a:rPr sz="1200" b="0" i="0">
                <a:solidFill>
                  <a:srgbClr val="4A443B"/>
                </a:solidFill>
                <a:latin typeface="Libre Franklin"/>
              </a:rPr>
              <a:t>Correction rate below 20%. Analyst marks fewer fields wrong. Show them the trend — that number going down is the proof.</a:t>
            </a:r>
          </a:p>
        </p:txBody>
      </p:sp>
      <p:sp>
        <p:nvSpPr>
          <p:cNvPr id="11" name="TextBox 10"/>
          <p:cNvSpPr txBox="1"/>
          <p:nvPr/>
        </p:nvSpPr>
        <p:spPr>
          <a:xfrm>
            <a:off x="457200" y="4425696"/>
            <a:ext cx="1097280" cy="228600"/>
          </a:xfrm>
          <a:prstGeom prst="rect">
            <a:avLst/>
          </a:prstGeom>
          <a:noFill/>
          <a:ln>
            <a:noFill/>
          </a:ln>
        </p:spPr>
        <p:txBody>
          <a:bodyPr wrap="square">
            <a:spAutoFit/>
          </a:bodyPr>
          <a:lstStyle/>
          <a:p>
            <a:pPr algn="l"/>
            <a:r>
              <a:rPr sz="1000" b="1" i="0">
                <a:solidFill>
                  <a:srgbClr val="B23B26"/>
                </a:solidFill>
                <a:latin typeface="IBM Plex Mono"/>
              </a:rPr>
              <a:t>WEEK 4</a:t>
            </a:r>
          </a:p>
        </p:txBody>
      </p:sp>
      <p:sp>
        <p:nvSpPr>
          <p:cNvPr id="12" name="TextBox 11"/>
          <p:cNvSpPr txBox="1"/>
          <p:nvPr/>
        </p:nvSpPr>
        <p:spPr>
          <a:xfrm>
            <a:off x="1600200" y="4425696"/>
            <a:ext cx="4206240" cy="640080"/>
          </a:xfrm>
          <a:prstGeom prst="rect">
            <a:avLst/>
          </a:prstGeom>
          <a:noFill/>
          <a:ln>
            <a:noFill/>
          </a:ln>
        </p:spPr>
        <p:txBody>
          <a:bodyPr wrap="square">
            <a:spAutoFit/>
          </a:bodyPr>
          <a:lstStyle/>
          <a:p>
            <a:pPr algn="l"/>
            <a:r>
              <a:rPr sz="1200" b="0" i="0">
                <a:solidFill>
                  <a:srgbClr val="4A443B"/>
                </a:solidFill>
                <a:latin typeface="Libre Franklin"/>
              </a:rPr>
              <a:t>Manager walks into a meeting and says they didn’t need to do any manual prep. That is the success signal.</a:t>
            </a:r>
          </a:p>
        </p:txBody>
      </p:sp>
      <p:sp>
        <p:nvSpPr>
          <p:cNvPr id="13" name="TextBox 12"/>
          <p:cNvSpPr txBox="1"/>
          <p:nvPr/>
        </p:nvSpPr>
        <p:spPr>
          <a:xfrm>
            <a:off x="6309360" y="1737360"/>
            <a:ext cx="5486400" cy="228600"/>
          </a:xfrm>
          <a:prstGeom prst="rect">
            <a:avLst/>
          </a:prstGeom>
          <a:noFill/>
          <a:ln>
            <a:noFill/>
          </a:ln>
        </p:spPr>
        <p:txBody>
          <a:bodyPr wrap="square">
            <a:spAutoFit/>
          </a:bodyPr>
          <a:lstStyle/>
          <a:p>
            <a:pPr algn="l"/>
            <a:r>
              <a:rPr sz="900" b="1" i="0">
                <a:solidFill>
                  <a:srgbClr val="221D17"/>
                </a:solidFill>
                <a:latin typeface="IBM Plex Mono"/>
              </a:rPr>
              <a:t>ENABLEMENT</a:t>
            </a:r>
          </a:p>
        </p:txBody>
      </p:sp>
      <p:sp>
        <p:nvSpPr>
          <p:cNvPr id="14" name="TextBox 13"/>
          <p:cNvSpPr txBox="1"/>
          <p:nvPr/>
        </p:nvSpPr>
        <p:spPr>
          <a:xfrm>
            <a:off x="6309360" y="2011680"/>
            <a:ext cx="5394960" cy="274320"/>
          </a:xfrm>
          <a:prstGeom prst="rect">
            <a:avLst/>
          </a:prstGeom>
          <a:noFill/>
          <a:ln>
            <a:noFill/>
          </a:ln>
        </p:spPr>
        <p:txBody>
          <a:bodyPr wrap="square">
            <a:spAutoFit/>
          </a:bodyPr>
          <a:lstStyle/>
          <a:p>
            <a:pPr algn="l"/>
            <a:r>
              <a:rPr sz="1500" b="0" i="1">
                <a:solidFill>
                  <a:srgbClr val="544C42"/>
                </a:solidFill>
                <a:latin typeface="Newsreader"/>
              </a:rPr>
              <a:t>Not a training deck. Not a webinar.</a:t>
            </a:r>
          </a:p>
        </p:txBody>
      </p:sp>
      <p:sp>
        <p:nvSpPr>
          <p:cNvPr id="15" name="TextBox 14"/>
          <p:cNvSpPr txBox="1"/>
          <p:nvPr/>
        </p:nvSpPr>
        <p:spPr>
          <a:xfrm>
            <a:off x="6309360" y="2377440"/>
            <a:ext cx="5394960" cy="228600"/>
          </a:xfrm>
          <a:prstGeom prst="rect">
            <a:avLst/>
          </a:prstGeom>
          <a:noFill/>
          <a:ln>
            <a:noFill/>
          </a:ln>
        </p:spPr>
        <p:txBody>
          <a:bodyPr wrap="square">
            <a:spAutoFit/>
          </a:bodyPr>
          <a:lstStyle/>
          <a:p>
            <a:pPr algn="l"/>
            <a:r>
              <a:rPr sz="1000" b="1" i="0">
                <a:solidFill>
                  <a:srgbClr val="5E7350"/>
                </a:solidFill>
                <a:latin typeface="IBM Plex Mono"/>
              </a:rPr>
              <a:t>Session 1 · 30 min · Week 1</a:t>
            </a:r>
          </a:p>
        </p:txBody>
      </p:sp>
      <p:sp>
        <p:nvSpPr>
          <p:cNvPr id="16" name="TextBox 15"/>
          <p:cNvSpPr txBox="1"/>
          <p:nvPr/>
        </p:nvSpPr>
        <p:spPr>
          <a:xfrm>
            <a:off x="6309360" y="2633472"/>
            <a:ext cx="5394960" cy="822960"/>
          </a:xfrm>
          <a:prstGeom prst="rect">
            <a:avLst/>
          </a:prstGeom>
          <a:noFill/>
          <a:ln>
            <a:noFill/>
          </a:ln>
        </p:spPr>
        <p:txBody>
          <a:bodyPr wrap="square">
            <a:spAutoFit/>
          </a:bodyPr>
          <a:lstStyle/>
          <a:p>
            <a:pPr algn="l"/>
            <a:r>
              <a:rPr sz="1200" b="0" i="0">
                <a:solidFill>
                  <a:srgbClr val="4A443B"/>
                </a:solidFill>
                <a:latin typeface="Libre Franklin"/>
              </a:rPr>
              <a:t>Sit with the analyst. Run the tool together on a real upcoming meeting. Walk through every section. Show the “Show source” expanders and how to flag a correction. That is the entire training.</a:t>
            </a:r>
          </a:p>
        </p:txBody>
      </p:sp>
      <p:sp>
        <p:nvSpPr>
          <p:cNvPr id="17" name="TextBox 16"/>
          <p:cNvSpPr txBox="1"/>
          <p:nvPr/>
        </p:nvSpPr>
        <p:spPr>
          <a:xfrm>
            <a:off x="6309360" y="3493008"/>
            <a:ext cx="5394960" cy="228600"/>
          </a:xfrm>
          <a:prstGeom prst="rect">
            <a:avLst/>
          </a:prstGeom>
          <a:noFill/>
          <a:ln>
            <a:noFill/>
          </a:ln>
        </p:spPr>
        <p:txBody>
          <a:bodyPr wrap="square">
            <a:spAutoFit/>
          </a:bodyPr>
          <a:lstStyle/>
          <a:p>
            <a:pPr algn="l"/>
            <a:r>
              <a:rPr sz="1000" b="1" i="0">
                <a:solidFill>
                  <a:srgbClr val="5E7350"/>
                </a:solidFill>
                <a:latin typeface="IBM Plex Mono"/>
              </a:rPr>
              <a:t>Session 2 · 15 min · Week 3</a:t>
            </a:r>
          </a:p>
        </p:txBody>
      </p:sp>
      <p:sp>
        <p:nvSpPr>
          <p:cNvPr id="18" name="TextBox 17"/>
          <p:cNvSpPr txBox="1"/>
          <p:nvPr/>
        </p:nvSpPr>
        <p:spPr>
          <a:xfrm>
            <a:off x="6309360" y="3749040"/>
            <a:ext cx="5394960" cy="822960"/>
          </a:xfrm>
          <a:prstGeom prst="rect">
            <a:avLst/>
          </a:prstGeom>
          <a:noFill/>
          <a:ln>
            <a:noFill/>
          </a:ln>
        </p:spPr>
        <p:txBody>
          <a:bodyPr wrap="square">
            <a:spAutoFit/>
          </a:bodyPr>
          <a:lstStyle/>
          <a:p>
            <a:pPr algn="l"/>
            <a:r>
              <a:rPr sz="1200" b="0" i="0">
                <a:solidFill>
                  <a:srgbClr val="4A443B"/>
                </a:solidFill>
                <a:latin typeface="Libre Franklin"/>
              </a:rPr>
              <a:t>Review the correction log together. Which fields did they flag? Any pattern? This is the prompt-tuning input, framed as their feedback.</a:t>
            </a:r>
          </a:p>
        </p:txBody>
      </p:sp>
      <p:sp>
        <p:nvSpPr>
          <p:cNvPr id="19" name="TextBox 18"/>
          <p:cNvSpPr txBox="1"/>
          <p:nvPr/>
        </p:nvSpPr>
        <p:spPr>
          <a:xfrm>
            <a:off x="6309360" y="4608576"/>
            <a:ext cx="5394960" cy="228600"/>
          </a:xfrm>
          <a:prstGeom prst="rect">
            <a:avLst/>
          </a:prstGeom>
          <a:noFill/>
          <a:ln>
            <a:noFill/>
          </a:ln>
        </p:spPr>
        <p:txBody>
          <a:bodyPr wrap="square">
            <a:spAutoFit/>
          </a:bodyPr>
          <a:lstStyle/>
          <a:p>
            <a:pPr algn="l"/>
            <a:r>
              <a:rPr sz="1000" b="1" i="0">
                <a:solidFill>
                  <a:srgbClr val="5E7350"/>
                </a:solidFill>
                <a:latin typeface="IBM Plex Mono"/>
              </a:rPr>
              <a:t>Ongoing</a:t>
            </a:r>
          </a:p>
        </p:txBody>
      </p:sp>
      <p:sp>
        <p:nvSpPr>
          <p:cNvPr id="20" name="TextBox 19"/>
          <p:cNvSpPr txBox="1"/>
          <p:nvPr/>
        </p:nvSpPr>
        <p:spPr>
          <a:xfrm>
            <a:off x="6309360" y="4864608"/>
            <a:ext cx="5394960" cy="822960"/>
          </a:xfrm>
          <a:prstGeom prst="rect">
            <a:avLst/>
          </a:prstGeom>
          <a:noFill/>
          <a:ln>
            <a:noFill/>
          </a:ln>
        </p:spPr>
        <p:txBody>
          <a:bodyPr wrap="square">
            <a:spAutoFit/>
          </a:bodyPr>
          <a:lstStyle/>
          <a:p>
            <a:pPr algn="l"/>
            <a:r>
              <a:rPr sz="1200" b="0" i="0">
                <a:solidFill>
                  <a:srgbClr val="4A443B"/>
                </a:solidFill>
                <a:latin typeface="Libre Franklin"/>
              </a:rPr>
              <a:t>A one-page reference card: what each section means, when to override, who to contact if something looks wrong. Non-technical. No jargon.</a:t>
            </a:r>
          </a:p>
        </p:txBody>
      </p:sp>
      <p:sp>
        <p:nvSpPr>
          <p:cNvPr id="21" name="TextBox 20"/>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22" name="TextBox 21"/>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17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EFE7"/>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B23B26"/>
                </a:solidFill>
                <a:latin typeface="IBM Plex Mono"/>
              </a:rPr>
              <a:t>18 — THE ROI CASE</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221D17"/>
                </a:solidFill>
                <a:latin typeface="Newsreader"/>
              </a:rPr>
              <a:t>Lead with what’s measurable, then the multiplier</a:t>
            </a:r>
          </a:p>
        </p:txBody>
      </p:sp>
      <p:sp>
        <p:nvSpPr>
          <p:cNvPr id="4" name="Rectangle 3"/>
          <p:cNvSpPr/>
          <p:nvPr/>
        </p:nvSpPr>
        <p:spPr>
          <a:xfrm>
            <a:off x="457200" y="1691640"/>
            <a:ext cx="3611880" cy="48006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783080"/>
            <a:ext cx="3383280" cy="228600"/>
          </a:xfrm>
          <a:prstGeom prst="rect">
            <a:avLst/>
          </a:prstGeom>
          <a:noFill/>
          <a:ln>
            <a:noFill/>
          </a:ln>
        </p:spPr>
        <p:txBody>
          <a:bodyPr wrap="square">
            <a:spAutoFit/>
          </a:bodyPr>
          <a:lstStyle/>
          <a:p>
            <a:pPr algn="l"/>
            <a:r>
              <a:rPr sz="900" b="0" i="0">
                <a:solidFill>
                  <a:srgbClr val="94897A"/>
                </a:solidFill>
                <a:latin typeface="IBM Plex Mono"/>
              </a:rPr>
              <a:t>THE CONSERVATIVE NUMBER</a:t>
            </a:r>
          </a:p>
        </p:txBody>
      </p:sp>
      <p:sp>
        <p:nvSpPr>
          <p:cNvPr id="6" name="TextBox 5"/>
          <p:cNvSpPr txBox="1"/>
          <p:nvPr/>
        </p:nvSpPr>
        <p:spPr>
          <a:xfrm>
            <a:off x="594360" y="2029968"/>
            <a:ext cx="3383280" cy="256032"/>
          </a:xfrm>
          <a:prstGeom prst="rect">
            <a:avLst/>
          </a:prstGeom>
          <a:noFill/>
          <a:ln>
            <a:noFill/>
          </a:ln>
        </p:spPr>
        <p:txBody>
          <a:bodyPr wrap="square">
            <a:spAutoFit/>
          </a:bodyPr>
          <a:lstStyle/>
          <a:p>
            <a:pPr algn="l"/>
            <a:r>
              <a:rPr sz="1600" b="0" i="0">
                <a:solidFill>
                  <a:srgbClr val="221D17"/>
                </a:solidFill>
                <a:latin typeface="Newsreader"/>
              </a:rPr>
              <a:t>Labor cost avoidance</a:t>
            </a:r>
          </a:p>
        </p:txBody>
      </p:sp>
      <p:sp>
        <p:nvSpPr>
          <p:cNvPr id="7" name="TextBox 6"/>
          <p:cNvSpPr txBox="1"/>
          <p:nvPr/>
        </p:nvSpPr>
        <p:spPr>
          <a:xfrm>
            <a:off x="594360" y="2359152"/>
            <a:ext cx="2103120" cy="256032"/>
          </a:xfrm>
          <a:prstGeom prst="rect">
            <a:avLst/>
          </a:prstGeom>
          <a:noFill/>
          <a:ln>
            <a:noFill/>
          </a:ln>
        </p:spPr>
        <p:txBody>
          <a:bodyPr wrap="square">
            <a:spAutoFit/>
          </a:bodyPr>
          <a:lstStyle/>
          <a:p>
            <a:pPr algn="l"/>
            <a:r>
              <a:rPr sz="1100" b="0" i="0">
                <a:solidFill>
                  <a:srgbClr val="5C5349"/>
                </a:solidFill>
                <a:latin typeface="Libre Franklin"/>
              </a:rPr>
              <a:t>Meetings / month:</a:t>
            </a:r>
          </a:p>
        </p:txBody>
      </p:sp>
      <p:sp>
        <p:nvSpPr>
          <p:cNvPr id="8" name="TextBox 7"/>
          <p:cNvSpPr txBox="1"/>
          <p:nvPr/>
        </p:nvSpPr>
        <p:spPr>
          <a:xfrm>
            <a:off x="2697480" y="2359152"/>
            <a:ext cx="1188720" cy="256032"/>
          </a:xfrm>
          <a:prstGeom prst="rect">
            <a:avLst/>
          </a:prstGeom>
          <a:noFill/>
          <a:ln>
            <a:noFill/>
          </a:ln>
        </p:spPr>
        <p:txBody>
          <a:bodyPr wrap="square">
            <a:spAutoFit/>
          </a:bodyPr>
          <a:lstStyle/>
          <a:p>
            <a:pPr algn="r"/>
            <a:r>
              <a:rPr sz="1100" b="1" i="0">
                <a:solidFill>
                  <a:srgbClr val="221D17"/>
                </a:solidFill>
                <a:latin typeface="Libre Franklin"/>
              </a:rPr>
              <a:t>7</a:t>
            </a:r>
          </a:p>
        </p:txBody>
      </p:sp>
      <p:sp>
        <p:nvSpPr>
          <p:cNvPr id="9" name="TextBox 8"/>
          <p:cNvSpPr txBox="1"/>
          <p:nvPr/>
        </p:nvSpPr>
        <p:spPr>
          <a:xfrm>
            <a:off x="594360" y="2706624"/>
            <a:ext cx="2103120" cy="256032"/>
          </a:xfrm>
          <a:prstGeom prst="rect">
            <a:avLst/>
          </a:prstGeom>
          <a:noFill/>
          <a:ln>
            <a:noFill/>
          </a:ln>
        </p:spPr>
        <p:txBody>
          <a:bodyPr wrap="square">
            <a:spAutoFit/>
          </a:bodyPr>
          <a:lstStyle/>
          <a:p>
            <a:pPr algn="l"/>
            <a:r>
              <a:rPr sz="1100" b="0" i="0">
                <a:solidFill>
                  <a:srgbClr val="5C5349"/>
                </a:solidFill>
                <a:latin typeface="Libre Franklin"/>
              </a:rPr>
              <a:t>Prep time / meeting:</a:t>
            </a:r>
          </a:p>
        </p:txBody>
      </p:sp>
      <p:sp>
        <p:nvSpPr>
          <p:cNvPr id="10" name="TextBox 9"/>
          <p:cNvSpPr txBox="1"/>
          <p:nvPr/>
        </p:nvSpPr>
        <p:spPr>
          <a:xfrm>
            <a:off x="2697480" y="2706624"/>
            <a:ext cx="1188720" cy="256032"/>
          </a:xfrm>
          <a:prstGeom prst="rect">
            <a:avLst/>
          </a:prstGeom>
          <a:noFill/>
          <a:ln>
            <a:noFill/>
          </a:ln>
        </p:spPr>
        <p:txBody>
          <a:bodyPr wrap="square">
            <a:spAutoFit/>
          </a:bodyPr>
          <a:lstStyle/>
          <a:p>
            <a:pPr algn="r"/>
            <a:r>
              <a:rPr sz="1100" b="1" i="0">
                <a:solidFill>
                  <a:srgbClr val="221D17"/>
                </a:solidFill>
                <a:latin typeface="Libre Franklin"/>
              </a:rPr>
              <a:t>135 → 15 min</a:t>
            </a:r>
          </a:p>
        </p:txBody>
      </p:sp>
      <p:sp>
        <p:nvSpPr>
          <p:cNvPr id="11" name="TextBox 10"/>
          <p:cNvSpPr txBox="1"/>
          <p:nvPr/>
        </p:nvSpPr>
        <p:spPr>
          <a:xfrm>
            <a:off x="594360" y="3054096"/>
            <a:ext cx="2103120" cy="256032"/>
          </a:xfrm>
          <a:prstGeom prst="rect">
            <a:avLst/>
          </a:prstGeom>
          <a:noFill/>
          <a:ln>
            <a:noFill/>
          </a:ln>
        </p:spPr>
        <p:txBody>
          <a:bodyPr wrap="square">
            <a:spAutoFit/>
          </a:bodyPr>
          <a:lstStyle/>
          <a:p>
            <a:pPr algn="l"/>
            <a:r>
              <a:rPr sz="1100" b="0" i="0">
                <a:solidFill>
                  <a:srgbClr val="5C5349"/>
                </a:solidFill>
                <a:latin typeface="Libre Franklin"/>
              </a:rPr>
              <a:t>Time saved:</a:t>
            </a:r>
          </a:p>
        </p:txBody>
      </p:sp>
      <p:sp>
        <p:nvSpPr>
          <p:cNvPr id="12" name="TextBox 11"/>
          <p:cNvSpPr txBox="1"/>
          <p:nvPr/>
        </p:nvSpPr>
        <p:spPr>
          <a:xfrm>
            <a:off x="2697480" y="3054096"/>
            <a:ext cx="1188720" cy="256032"/>
          </a:xfrm>
          <a:prstGeom prst="rect">
            <a:avLst/>
          </a:prstGeom>
          <a:noFill/>
          <a:ln>
            <a:noFill/>
          </a:ln>
        </p:spPr>
        <p:txBody>
          <a:bodyPr wrap="square">
            <a:spAutoFit/>
          </a:bodyPr>
          <a:lstStyle/>
          <a:p>
            <a:pPr algn="r"/>
            <a:r>
              <a:rPr sz="1100" b="1" i="0">
                <a:solidFill>
                  <a:srgbClr val="221D17"/>
                </a:solidFill>
                <a:latin typeface="Libre Franklin"/>
              </a:rPr>
              <a:t>14 hrs / mo</a:t>
            </a:r>
          </a:p>
        </p:txBody>
      </p:sp>
      <p:sp>
        <p:nvSpPr>
          <p:cNvPr id="13" name="TextBox 12"/>
          <p:cNvSpPr txBox="1"/>
          <p:nvPr/>
        </p:nvSpPr>
        <p:spPr>
          <a:xfrm>
            <a:off x="594360" y="3401568"/>
            <a:ext cx="2103120" cy="256032"/>
          </a:xfrm>
          <a:prstGeom prst="rect">
            <a:avLst/>
          </a:prstGeom>
          <a:noFill/>
          <a:ln>
            <a:noFill/>
          </a:ln>
        </p:spPr>
        <p:txBody>
          <a:bodyPr wrap="square">
            <a:spAutoFit/>
          </a:bodyPr>
          <a:lstStyle/>
          <a:p>
            <a:pPr algn="l"/>
            <a:r>
              <a:rPr sz="1100" b="0" i="0">
                <a:solidFill>
                  <a:srgbClr val="5C5349"/>
                </a:solidFill>
                <a:latin typeface="Libre Franklin"/>
              </a:rPr>
              <a:t>Analyst cost [confirm w/ HR]:</a:t>
            </a:r>
          </a:p>
        </p:txBody>
      </p:sp>
      <p:sp>
        <p:nvSpPr>
          <p:cNvPr id="14" name="TextBox 13"/>
          <p:cNvSpPr txBox="1"/>
          <p:nvPr/>
        </p:nvSpPr>
        <p:spPr>
          <a:xfrm>
            <a:off x="2697480" y="3401568"/>
            <a:ext cx="1188720" cy="256032"/>
          </a:xfrm>
          <a:prstGeom prst="rect">
            <a:avLst/>
          </a:prstGeom>
          <a:noFill/>
          <a:ln>
            <a:noFill/>
          </a:ln>
        </p:spPr>
        <p:txBody>
          <a:bodyPr wrap="square">
            <a:spAutoFit/>
          </a:bodyPr>
          <a:lstStyle/>
          <a:p>
            <a:pPr algn="r"/>
            <a:r>
              <a:rPr sz="1100" b="1" i="0">
                <a:solidFill>
                  <a:srgbClr val="221D17"/>
                </a:solidFill>
                <a:latin typeface="Libre Franklin"/>
              </a:rPr>
              <a:t>₪200 / hr</a:t>
            </a:r>
          </a:p>
        </p:txBody>
      </p:sp>
      <p:sp>
        <p:nvSpPr>
          <p:cNvPr id="15" name="TextBox 14"/>
          <p:cNvSpPr txBox="1"/>
          <p:nvPr/>
        </p:nvSpPr>
        <p:spPr>
          <a:xfrm>
            <a:off x="594360" y="3749039"/>
            <a:ext cx="2103120" cy="256032"/>
          </a:xfrm>
          <a:prstGeom prst="rect">
            <a:avLst/>
          </a:prstGeom>
          <a:noFill/>
          <a:ln>
            <a:noFill/>
          </a:ln>
        </p:spPr>
        <p:txBody>
          <a:bodyPr wrap="square">
            <a:spAutoFit/>
          </a:bodyPr>
          <a:lstStyle/>
          <a:p>
            <a:pPr algn="l"/>
            <a:r>
              <a:rPr sz="1100" b="0" i="0">
                <a:solidFill>
                  <a:srgbClr val="5C5349"/>
                </a:solidFill>
                <a:latin typeface="Libre Franklin"/>
              </a:rPr>
              <a:t>API cost:</a:t>
            </a:r>
          </a:p>
        </p:txBody>
      </p:sp>
      <p:sp>
        <p:nvSpPr>
          <p:cNvPr id="16" name="TextBox 15"/>
          <p:cNvSpPr txBox="1"/>
          <p:nvPr/>
        </p:nvSpPr>
        <p:spPr>
          <a:xfrm>
            <a:off x="2697480" y="3749039"/>
            <a:ext cx="1188720" cy="256032"/>
          </a:xfrm>
          <a:prstGeom prst="rect">
            <a:avLst/>
          </a:prstGeom>
          <a:noFill/>
          <a:ln>
            <a:noFill/>
          </a:ln>
        </p:spPr>
        <p:txBody>
          <a:bodyPr wrap="square">
            <a:spAutoFit/>
          </a:bodyPr>
          <a:lstStyle/>
          <a:p>
            <a:pPr algn="r"/>
            <a:r>
              <a:rPr sz="1100" b="1" i="0">
                <a:solidFill>
                  <a:srgbClr val="221D17"/>
                </a:solidFill>
                <a:latin typeface="Libre Franklin"/>
              </a:rPr>
              <a:t>~$5/mo · ≈0</a:t>
            </a:r>
          </a:p>
        </p:txBody>
      </p:sp>
      <p:sp>
        <p:nvSpPr>
          <p:cNvPr id="17" name="Rectangle 16"/>
          <p:cNvSpPr/>
          <p:nvPr/>
        </p:nvSpPr>
        <p:spPr>
          <a:xfrm>
            <a:off x="594360" y="4142231"/>
            <a:ext cx="3337560" cy="18288"/>
          </a:xfrm>
          <a:prstGeom prst="rect">
            <a:avLst/>
          </a:prstGeom>
          <a:solidFill>
            <a:srgbClr val="DDD4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206240"/>
            <a:ext cx="1828800" cy="256032"/>
          </a:xfrm>
          <a:prstGeom prst="rect">
            <a:avLst/>
          </a:prstGeom>
          <a:noFill/>
          <a:ln>
            <a:noFill/>
          </a:ln>
        </p:spPr>
        <p:txBody>
          <a:bodyPr wrap="square">
            <a:spAutoFit/>
          </a:bodyPr>
          <a:lstStyle/>
          <a:p>
            <a:pPr algn="l"/>
            <a:r>
              <a:rPr sz="1000" b="1" i="0">
                <a:solidFill>
                  <a:srgbClr val="221D17"/>
                </a:solidFill>
                <a:latin typeface="IBM Plex Mono"/>
              </a:rPr>
              <a:t>TOTAL</a:t>
            </a:r>
          </a:p>
        </p:txBody>
      </p:sp>
      <p:sp>
        <p:nvSpPr>
          <p:cNvPr id="19" name="TextBox 18"/>
          <p:cNvSpPr txBox="1"/>
          <p:nvPr/>
        </p:nvSpPr>
        <p:spPr>
          <a:xfrm>
            <a:off x="594360" y="4480559"/>
            <a:ext cx="3337560" cy="384048"/>
          </a:xfrm>
          <a:prstGeom prst="rect">
            <a:avLst/>
          </a:prstGeom>
          <a:noFill/>
          <a:ln>
            <a:noFill/>
          </a:ln>
        </p:spPr>
        <p:txBody>
          <a:bodyPr wrap="square">
            <a:spAutoFit/>
          </a:bodyPr>
          <a:lstStyle/>
          <a:p>
            <a:pPr algn="ctr"/>
            <a:r>
              <a:rPr sz="2600" b="0" i="0">
                <a:solidFill>
                  <a:srgbClr val="B23B26"/>
                </a:solidFill>
                <a:latin typeface="Newsreader"/>
              </a:rPr>
              <a:t>₪34,000 / year</a:t>
            </a:r>
          </a:p>
        </p:txBody>
      </p:sp>
      <p:sp>
        <p:nvSpPr>
          <p:cNvPr id="20" name="TextBox 19"/>
          <p:cNvSpPr txBox="1"/>
          <p:nvPr/>
        </p:nvSpPr>
        <p:spPr>
          <a:xfrm>
            <a:off x="594360" y="4901183"/>
            <a:ext cx="3337560" cy="228600"/>
          </a:xfrm>
          <a:prstGeom prst="rect">
            <a:avLst/>
          </a:prstGeom>
          <a:noFill/>
          <a:ln>
            <a:noFill/>
          </a:ln>
        </p:spPr>
        <p:txBody>
          <a:bodyPr wrap="square">
            <a:spAutoFit/>
          </a:bodyPr>
          <a:lstStyle/>
          <a:p>
            <a:pPr algn="ctr"/>
            <a:r>
              <a:rPr sz="1200" b="0" i="0">
                <a:solidFill>
                  <a:srgbClr val="5C5349"/>
                </a:solidFill>
                <a:latin typeface="Libre Franklin"/>
              </a:rPr>
              <a:t>in analyst time reclaimed</a:t>
            </a:r>
          </a:p>
        </p:txBody>
      </p:sp>
      <p:sp>
        <p:nvSpPr>
          <p:cNvPr id="21" name="Rectangle 20"/>
          <p:cNvSpPr/>
          <p:nvPr/>
        </p:nvSpPr>
        <p:spPr>
          <a:xfrm>
            <a:off x="4133087" y="1691640"/>
            <a:ext cx="4023360" cy="4800600"/>
          </a:xfrm>
          <a:prstGeom prst="rect">
            <a:avLst/>
          </a:prstGeom>
          <a:solidFill>
            <a:srgbClr val="221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9392" y="1783080"/>
            <a:ext cx="3749039" cy="228600"/>
          </a:xfrm>
          <a:prstGeom prst="rect">
            <a:avLst/>
          </a:prstGeom>
          <a:noFill/>
          <a:ln>
            <a:noFill/>
          </a:ln>
        </p:spPr>
        <p:txBody>
          <a:bodyPr wrap="square">
            <a:spAutoFit/>
          </a:bodyPr>
          <a:lstStyle/>
          <a:p>
            <a:pPr algn="l"/>
            <a:r>
              <a:rPr sz="900" b="0" i="0">
                <a:solidFill>
                  <a:srgbClr val="CB5238"/>
                </a:solidFill>
                <a:latin typeface="IBM Plex Mono"/>
              </a:rPr>
              <a:t>THE MULTIPLIER — TWO EXAMPLES</a:t>
            </a:r>
          </a:p>
        </p:txBody>
      </p:sp>
      <p:sp>
        <p:nvSpPr>
          <p:cNvPr id="23" name="TextBox 22"/>
          <p:cNvSpPr txBox="1"/>
          <p:nvPr/>
        </p:nvSpPr>
        <p:spPr>
          <a:xfrm>
            <a:off x="4279392" y="2029968"/>
            <a:ext cx="3749039" cy="256032"/>
          </a:xfrm>
          <a:prstGeom prst="rect">
            <a:avLst/>
          </a:prstGeom>
          <a:noFill/>
          <a:ln>
            <a:noFill/>
          </a:ln>
        </p:spPr>
        <p:txBody>
          <a:bodyPr wrap="square">
            <a:spAutoFit/>
          </a:bodyPr>
          <a:lstStyle/>
          <a:p>
            <a:pPr algn="l"/>
            <a:r>
              <a:rPr sz="1200" b="1" i="0">
                <a:solidFill>
                  <a:srgbClr val="F2ECE0"/>
                </a:solidFill>
                <a:latin typeface="Libre Franklin"/>
              </a:rPr>
              <a:t>Example 1 · Contract violation · Galil Dairy</a:t>
            </a:r>
          </a:p>
        </p:txBody>
      </p:sp>
      <p:sp>
        <p:nvSpPr>
          <p:cNvPr id="24" name="TextBox 23"/>
          <p:cNvSpPr txBox="1"/>
          <p:nvPr/>
        </p:nvSpPr>
        <p:spPr>
          <a:xfrm>
            <a:off x="4279392" y="2331720"/>
            <a:ext cx="2286000" cy="256032"/>
          </a:xfrm>
          <a:prstGeom prst="rect">
            <a:avLst/>
          </a:prstGeom>
          <a:noFill/>
          <a:ln>
            <a:noFill/>
          </a:ln>
        </p:spPr>
        <p:txBody>
          <a:bodyPr wrap="square">
            <a:spAutoFit/>
          </a:bodyPr>
          <a:lstStyle/>
          <a:p>
            <a:pPr algn="l"/>
            <a:r>
              <a:rPr sz="1100" b="0" i="0">
                <a:solidFill>
                  <a:srgbClr val="CBC2B2"/>
                </a:solidFill>
                <a:latin typeface="Libre Franklin"/>
              </a:rPr>
              <a:t>Quoted over contract cap:</a:t>
            </a:r>
          </a:p>
        </p:txBody>
      </p:sp>
      <p:sp>
        <p:nvSpPr>
          <p:cNvPr id="25" name="TextBox 24"/>
          <p:cNvSpPr txBox="1"/>
          <p:nvPr/>
        </p:nvSpPr>
        <p:spPr>
          <a:xfrm>
            <a:off x="6492240" y="2331720"/>
            <a:ext cx="1508760" cy="256032"/>
          </a:xfrm>
          <a:prstGeom prst="rect">
            <a:avLst/>
          </a:prstGeom>
          <a:noFill/>
          <a:ln>
            <a:noFill/>
          </a:ln>
        </p:spPr>
        <p:txBody>
          <a:bodyPr wrap="square">
            <a:spAutoFit/>
          </a:bodyPr>
          <a:lstStyle/>
          <a:p>
            <a:pPr algn="r"/>
            <a:r>
              <a:rPr sz="1100" b="1" i="0">
                <a:solidFill>
                  <a:srgbClr val="F2ECE0"/>
                </a:solidFill>
                <a:latin typeface="Libre Franklin"/>
              </a:rPr>
              <a:t>+₪1.30 / kg</a:t>
            </a:r>
          </a:p>
        </p:txBody>
      </p:sp>
      <p:sp>
        <p:nvSpPr>
          <p:cNvPr id="26" name="TextBox 25"/>
          <p:cNvSpPr txBox="1"/>
          <p:nvPr/>
        </p:nvSpPr>
        <p:spPr>
          <a:xfrm>
            <a:off x="4279392" y="2651760"/>
            <a:ext cx="2286000" cy="256032"/>
          </a:xfrm>
          <a:prstGeom prst="rect">
            <a:avLst/>
          </a:prstGeom>
          <a:noFill/>
          <a:ln>
            <a:noFill/>
          </a:ln>
        </p:spPr>
        <p:txBody>
          <a:bodyPr wrap="square">
            <a:spAutoFit/>
          </a:bodyPr>
          <a:lstStyle/>
          <a:p>
            <a:pPr algn="l"/>
            <a:r>
              <a:rPr sz="1100" b="0" i="0">
                <a:solidFill>
                  <a:srgbClr val="CBC2B2"/>
                </a:solidFill>
                <a:latin typeface="Libre Franklin"/>
              </a:rPr>
              <a:t>Volume:</a:t>
            </a:r>
          </a:p>
        </p:txBody>
      </p:sp>
      <p:sp>
        <p:nvSpPr>
          <p:cNvPr id="27" name="TextBox 26"/>
          <p:cNvSpPr txBox="1"/>
          <p:nvPr/>
        </p:nvSpPr>
        <p:spPr>
          <a:xfrm>
            <a:off x="6492240" y="2651760"/>
            <a:ext cx="1508760" cy="256032"/>
          </a:xfrm>
          <a:prstGeom prst="rect">
            <a:avLst/>
          </a:prstGeom>
          <a:noFill/>
          <a:ln>
            <a:noFill/>
          </a:ln>
        </p:spPr>
        <p:txBody>
          <a:bodyPr wrap="square">
            <a:spAutoFit/>
          </a:bodyPr>
          <a:lstStyle/>
          <a:p>
            <a:pPr algn="r"/>
            <a:r>
              <a:rPr sz="1100" b="1" i="0">
                <a:solidFill>
                  <a:srgbClr val="F2ECE0"/>
                </a:solidFill>
                <a:latin typeface="Libre Franklin"/>
              </a:rPr>
              <a:t>88 tons / yr</a:t>
            </a:r>
          </a:p>
        </p:txBody>
      </p:sp>
      <p:sp>
        <p:nvSpPr>
          <p:cNvPr id="28" name="TextBox 27"/>
          <p:cNvSpPr txBox="1"/>
          <p:nvPr/>
        </p:nvSpPr>
        <p:spPr>
          <a:xfrm>
            <a:off x="4279392" y="2971800"/>
            <a:ext cx="2286000" cy="256032"/>
          </a:xfrm>
          <a:prstGeom prst="rect">
            <a:avLst/>
          </a:prstGeom>
          <a:noFill/>
          <a:ln>
            <a:noFill/>
          </a:ln>
        </p:spPr>
        <p:txBody>
          <a:bodyPr wrap="square">
            <a:spAutoFit/>
          </a:bodyPr>
          <a:lstStyle/>
          <a:p>
            <a:pPr algn="l"/>
            <a:r>
              <a:rPr sz="1100" b="0" i="0">
                <a:solidFill>
                  <a:srgbClr val="CBC2B2"/>
                </a:solidFill>
                <a:latin typeface="Libre Franklin"/>
              </a:rPr>
              <a:t>Tool caught it — one meeting:</a:t>
            </a:r>
          </a:p>
        </p:txBody>
      </p:sp>
      <p:sp>
        <p:nvSpPr>
          <p:cNvPr id="29" name="TextBox 28"/>
          <p:cNvSpPr txBox="1"/>
          <p:nvPr/>
        </p:nvSpPr>
        <p:spPr>
          <a:xfrm>
            <a:off x="6492240" y="2971800"/>
            <a:ext cx="1508760" cy="256032"/>
          </a:xfrm>
          <a:prstGeom prst="rect">
            <a:avLst/>
          </a:prstGeom>
          <a:noFill/>
          <a:ln>
            <a:noFill/>
          </a:ln>
        </p:spPr>
        <p:txBody>
          <a:bodyPr wrap="square">
            <a:spAutoFit/>
          </a:bodyPr>
          <a:lstStyle/>
          <a:p>
            <a:pPr algn="r"/>
            <a:r>
              <a:rPr sz="1100" b="1" i="0">
                <a:solidFill>
                  <a:srgbClr val="F2ECE0"/>
                </a:solidFill>
                <a:latin typeface="Libre Franklin"/>
              </a:rPr>
              <a:t>₪114,400</a:t>
            </a:r>
          </a:p>
        </p:txBody>
      </p:sp>
      <p:sp>
        <p:nvSpPr>
          <p:cNvPr id="30" name="TextBox 29"/>
          <p:cNvSpPr txBox="1"/>
          <p:nvPr/>
        </p:nvSpPr>
        <p:spPr>
          <a:xfrm>
            <a:off x="4279392" y="3383280"/>
            <a:ext cx="3749039" cy="256032"/>
          </a:xfrm>
          <a:prstGeom prst="rect">
            <a:avLst/>
          </a:prstGeom>
          <a:noFill/>
          <a:ln>
            <a:noFill/>
          </a:ln>
        </p:spPr>
        <p:txBody>
          <a:bodyPr wrap="square">
            <a:spAutoFit/>
          </a:bodyPr>
          <a:lstStyle/>
          <a:p>
            <a:pPr algn="l"/>
            <a:r>
              <a:rPr sz="1200" b="1" i="0">
                <a:solidFill>
                  <a:srgbClr val="F2ECE0"/>
                </a:solidFill>
                <a:latin typeface="Libre Franklin"/>
              </a:rPr>
              <a:t>Example 2 · Market intelligence · Cocoa</a:t>
            </a:r>
          </a:p>
        </p:txBody>
      </p:sp>
      <p:sp>
        <p:nvSpPr>
          <p:cNvPr id="31" name="TextBox 30"/>
          <p:cNvSpPr txBox="1"/>
          <p:nvPr/>
        </p:nvSpPr>
        <p:spPr>
          <a:xfrm>
            <a:off x="4279392" y="3685032"/>
            <a:ext cx="2286000" cy="256032"/>
          </a:xfrm>
          <a:prstGeom prst="rect">
            <a:avLst/>
          </a:prstGeom>
          <a:noFill/>
          <a:ln>
            <a:noFill/>
          </a:ln>
        </p:spPr>
        <p:txBody>
          <a:bodyPr wrap="square">
            <a:spAutoFit/>
          </a:bodyPr>
          <a:lstStyle/>
          <a:p>
            <a:pPr algn="l"/>
            <a:r>
              <a:rPr sz="1100" b="0" i="0">
                <a:solidFill>
                  <a:srgbClr val="CBC2B2"/>
                </a:solidFill>
                <a:latin typeface="Libre Franklin"/>
              </a:rPr>
              <a:t>Cocoa spot fell:</a:t>
            </a:r>
          </a:p>
        </p:txBody>
      </p:sp>
      <p:sp>
        <p:nvSpPr>
          <p:cNvPr id="32" name="TextBox 31"/>
          <p:cNvSpPr txBox="1"/>
          <p:nvPr/>
        </p:nvSpPr>
        <p:spPr>
          <a:xfrm>
            <a:off x="6492240" y="3685032"/>
            <a:ext cx="1508760" cy="256032"/>
          </a:xfrm>
          <a:prstGeom prst="rect">
            <a:avLst/>
          </a:prstGeom>
          <a:noFill/>
          <a:ln>
            <a:noFill/>
          </a:ln>
        </p:spPr>
        <p:txBody>
          <a:bodyPr wrap="square">
            <a:spAutoFit/>
          </a:bodyPr>
          <a:lstStyle/>
          <a:p>
            <a:pPr algn="r"/>
            <a:r>
              <a:rPr sz="1100" b="1" i="0">
                <a:solidFill>
                  <a:srgbClr val="F2ECE0"/>
                </a:solidFill>
                <a:latin typeface="Libre Franklin"/>
              </a:rPr>
              <a:t>−29% in 6 months</a:t>
            </a:r>
          </a:p>
        </p:txBody>
      </p:sp>
      <p:sp>
        <p:nvSpPr>
          <p:cNvPr id="33" name="TextBox 32"/>
          <p:cNvSpPr txBox="1"/>
          <p:nvPr/>
        </p:nvSpPr>
        <p:spPr>
          <a:xfrm>
            <a:off x="4279392" y="4005072"/>
            <a:ext cx="2286000" cy="256032"/>
          </a:xfrm>
          <a:prstGeom prst="rect">
            <a:avLst/>
          </a:prstGeom>
          <a:noFill/>
          <a:ln>
            <a:noFill/>
          </a:ln>
        </p:spPr>
        <p:txBody>
          <a:bodyPr wrap="square">
            <a:spAutoFit/>
          </a:bodyPr>
          <a:lstStyle/>
          <a:p>
            <a:pPr algn="l"/>
            <a:r>
              <a:rPr sz="1100" b="0" i="0">
                <a:solidFill>
                  <a:srgbClr val="CBC2B2"/>
                </a:solidFill>
                <a:latin typeface="Libre Franklin"/>
              </a:rPr>
              <a:t>Supplier quote vs contract:</a:t>
            </a:r>
          </a:p>
        </p:txBody>
      </p:sp>
      <p:sp>
        <p:nvSpPr>
          <p:cNvPr id="34" name="TextBox 33"/>
          <p:cNvSpPr txBox="1"/>
          <p:nvPr/>
        </p:nvSpPr>
        <p:spPr>
          <a:xfrm>
            <a:off x="6492240" y="4005072"/>
            <a:ext cx="1508760" cy="256032"/>
          </a:xfrm>
          <a:prstGeom prst="rect">
            <a:avLst/>
          </a:prstGeom>
          <a:noFill/>
          <a:ln>
            <a:noFill/>
          </a:ln>
        </p:spPr>
        <p:txBody>
          <a:bodyPr wrap="square">
            <a:spAutoFit/>
          </a:bodyPr>
          <a:lstStyle/>
          <a:p>
            <a:pPr algn="r"/>
            <a:r>
              <a:rPr sz="1100" b="1" i="0">
                <a:solidFill>
                  <a:srgbClr val="F2ECE0"/>
                </a:solidFill>
                <a:latin typeface="Libre Franklin"/>
              </a:rPr>
              <a:t>$3,050 vs $2,650/ton</a:t>
            </a:r>
          </a:p>
        </p:txBody>
      </p:sp>
      <p:sp>
        <p:nvSpPr>
          <p:cNvPr id="35" name="TextBox 34"/>
          <p:cNvSpPr txBox="1"/>
          <p:nvPr/>
        </p:nvSpPr>
        <p:spPr>
          <a:xfrm>
            <a:off x="4279392" y="4325112"/>
            <a:ext cx="2286000" cy="256032"/>
          </a:xfrm>
          <a:prstGeom prst="rect">
            <a:avLst/>
          </a:prstGeom>
          <a:noFill/>
          <a:ln>
            <a:noFill/>
          </a:ln>
        </p:spPr>
        <p:txBody>
          <a:bodyPr wrap="square">
            <a:spAutoFit/>
          </a:bodyPr>
          <a:lstStyle/>
          <a:p>
            <a:pPr algn="l"/>
            <a:r>
              <a:rPr sz="1100" b="0" i="0">
                <a:solidFill>
                  <a:srgbClr val="CBC2B2"/>
                </a:solidFill>
                <a:latin typeface="Libre Franklin"/>
              </a:rPr>
              <a:t>Held contract price · 35 tons:</a:t>
            </a:r>
          </a:p>
        </p:txBody>
      </p:sp>
      <p:sp>
        <p:nvSpPr>
          <p:cNvPr id="36" name="TextBox 35"/>
          <p:cNvSpPr txBox="1"/>
          <p:nvPr/>
        </p:nvSpPr>
        <p:spPr>
          <a:xfrm>
            <a:off x="6492240" y="4325112"/>
            <a:ext cx="1508760" cy="256032"/>
          </a:xfrm>
          <a:prstGeom prst="rect">
            <a:avLst/>
          </a:prstGeom>
          <a:noFill/>
          <a:ln>
            <a:noFill/>
          </a:ln>
        </p:spPr>
        <p:txBody>
          <a:bodyPr wrap="square">
            <a:spAutoFit/>
          </a:bodyPr>
          <a:lstStyle/>
          <a:p>
            <a:pPr algn="r"/>
            <a:r>
              <a:rPr sz="1100" b="1" i="0">
                <a:solidFill>
                  <a:srgbClr val="F2ECE0"/>
                </a:solidFill>
                <a:latin typeface="Libre Franklin"/>
              </a:rPr>
              <a:t>~₪52,000</a:t>
            </a:r>
          </a:p>
        </p:txBody>
      </p:sp>
      <p:sp>
        <p:nvSpPr>
          <p:cNvPr id="37" name="Rectangle 36"/>
          <p:cNvSpPr/>
          <p:nvPr/>
        </p:nvSpPr>
        <p:spPr>
          <a:xfrm>
            <a:off x="4279392" y="4690871"/>
            <a:ext cx="3566160" cy="18288"/>
          </a:xfrm>
          <a:prstGeom prst="rect">
            <a:avLst/>
          </a:prstGeom>
          <a:solidFill>
            <a:srgbClr val="3A3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79392" y="4754879"/>
            <a:ext cx="3566160" cy="320040"/>
          </a:xfrm>
          <a:prstGeom prst="rect">
            <a:avLst/>
          </a:prstGeom>
          <a:noFill/>
          <a:ln>
            <a:noFill/>
          </a:ln>
        </p:spPr>
        <p:txBody>
          <a:bodyPr wrap="square">
            <a:spAutoFit/>
          </a:bodyPr>
          <a:lstStyle/>
          <a:p>
            <a:pPr algn="ctr"/>
            <a:r>
              <a:rPr sz="2200" b="0" i="0">
                <a:solidFill>
                  <a:srgbClr val="CB5238"/>
                </a:solidFill>
                <a:latin typeface="Newsreader"/>
              </a:rPr>
              <a:t>₪114,400 + ₪52,000</a:t>
            </a:r>
          </a:p>
        </p:txBody>
      </p:sp>
      <p:sp>
        <p:nvSpPr>
          <p:cNvPr id="39" name="TextBox 38"/>
          <p:cNvSpPr txBox="1"/>
          <p:nvPr/>
        </p:nvSpPr>
        <p:spPr>
          <a:xfrm>
            <a:off x="4279392" y="5102351"/>
            <a:ext cx="3566160" cy="320040"/>
          </a:xfrm>
          <a:prstGeom prst="rect">
            <a:avLst/>
          </a:prstGeom>
          <a:noFill/>
          <a:ln>
            <a:noFill/>
          </a:ln>
        </p:spPr>
        <p:txBody>
          <a:bodyPr wrap="square">
            <a:spAutoFit/>
          </a:bodyPr>
          <a:lstStyle/>
          <a:p>
            <a:pPr algn="ctr"/>
            <a:r>
              <a:rPr sz="1100" b="0" i="0">
                <a:solidFill>
                  <a:srgbClr val="A99E8C"/>
                </a:solidFill>
                <a:latin typeface="Libre Franklin"/>
              </a:rPr>
              <a:t>Two catches in a 3-day pilot. Tool cost: ~$5/mo.</a:t>
            </a:r>
          </a:p>
        </p:txBody>
      </p:sp>
      <p:sp>
        <p:nvSpPr>
          <p:cNvPr id="40" name="Rectangle 39"/>
          <p:cNvSpPr/>
          <p:nvPr/>
        </p:nvSpPr>
        <p:spPr>
          <a:xfrm>
            <a:off x="8229600" y="1691640"/>
            <a:ext cx="3977639" cy="4800600"/>
          </a:xfrm>
          <a:prstGeom prst="rect">
            <a:avLst/>
          </a:prstGeom>
          <a:solidFill>
            <a:srgbClr val="FBF8F2"/>
          </a:solidFill>
          <a:ln w="12700">
            <a:solidFill>
              <a:srgbClr val="DDD4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66760" y="1783080"/>
            <a:ext cx="3657600" cy="228600"/>
          </a:xfrm>
          <a:prstGeom prst="rect">
            <a:avLst/>
          </a:prstGeom>
          <a:noFill/>
          <a:ln>
            <a:noFill/>
          </a:ln>
        </p:spPr>
        <p:txBody>
          <a:bodyPr wrap="square">
            <a:spAutoFit/>
          </a:bodyPr>
          <a:lstStyle/>
          <a:p>
            <a:pPr algn="l"/>
            <a:r>
              <a:rPr sz="900" b="0" i="0">
                <a:solidFill>
                  <a:srgbClr val="94897A"/>
                </a:solidFill>
                <a:latin typeface="IBM Plex Mono"/>
              </a:rPr>
              <a:t>WHAT TO TELL THE CFO AT MONTH 3</a:t>
            </a:r>
          </a:p>
        </p:txBody>
      </p:sp>
      <p:sp>
        <p:nvSpPr>
          <p:cNvPr id="42" name="TextBox 41"/>
          <p:cNvSpPr txBox="1"/>
          <p:nvPr/>
        </p:nvSpPr>
        <p:spPr>
          <a:xfrm>
            <a:off x="8366760" y="2057400"/>
            <a:ext cx="3657600" cy="594360"/>
          </a:xfrm>
          <a:prstGeom prst="rect">
            <a:avLst/>
          </a:prstGeom>
          <a:noFill/>
          <a:ln>
            <a:noFill/>
          </a:ln>
        </p:spPr>
        <p:txBody>
          <a:bodyPr wrap="square">
            <a:spAutoFit/>
          </a:bodyPr>
          <a:lstStyle/>
          <a:p>
            <a:pPr algn="l"/>
            <a:r>
              <a:rPr sz="1200" b="0" i="0">
                <a:solidFill>
                  <a:srgbClr val="4A443B"/>
                </a:solidFill>
                <a:latin typeface="Libre Franklin"/>
              </a:rPr>
              <a:t>•  Lead with ₪34k/year in analyst time reclaimed.</a:t>
            </a:r>
          </a:p>
        </p:txBody>
      </p:sp>
      <p:sp>
        <p:nvSpPr>
          <p:cNvPr id="43" name="TextBox 42"/>
          <p:cNvSpPr txBox="1"/>
          <p:nvPr/>
        </p:nvSpPr>
        <p:spPr>
          <a:xfrm>
            <a:off x="8366760" y="2715768"/>
            <a:ext cx="3657600" cy="594360"/>
          </a:xfrm>
          <a:prstGeom prst="rect">
            <a:avLst/>
          </a:prstGeom>
          <a:noFill/>
          <a:ln>
            <a:noFill/>
          </a:ln>
        </p:spPr>
        <p:txBody>
          <a:bodyPr wrap="square">
            <a:spAutoFit/>
          </a:bodyPr>
          <a:lstStyle/>
          <a:p>
            <a:pPr algn="l"/>
            <a:r>
              <a:rPr sz="1200" b="0" i="0">
                <a:solidFill>
                  <a:srgbClr val="4A443B"/>
                </a:solidFill>
                <a:latin typeface="Libre Franklin"/>
              </a:rPr>
              <a:t>•  Don't lead with speculative negotiation savings.</a:t>
            </a:r>
          </a:p>
        </p:txBody>
      </p:sp>
      <p:sp>
        <p:nvSpPr>
          <p:cNvPr id="44" name="TextBox 43"/>
          <p:cNvSpPr txBox="1"/>
          <p:nvPr/>
        </p:nvSpPr>
        <p:spPr>
          <a:xfrm>
            <a:off x="8366760" y="3374135"/>
            <a:ext cx="3657600" cy="594360"/>
          </a:xfrm>
          <a:prstGeom prst="rect">
            <a:avLst/>
          </a:prstGeom>
          <a:noFill/>
          <a:ln>
            <a:noFill/>
          </a:ln>
        </p:spPr>
        <p:txBody>
          <a:bodyPr wrap="square">
            <a:spAutoFit/>
          </a:bodyPr>
          <a:lstStyle/>
          <a:p>
            <a:pPr algn="l"/>
            <a:r>
              <a:rPr sz="1200" b="0" i="0">
                <a:solidFill>
                  <a:srgbClr val="4A443B"/>
                </a:solidFill>
                <a:latin typeface="Libre Franklin"/>
              </a:rPr>
              <a:t>•  Add: correction rate trending down — trust improving.</a:t>
            </a:r>
          </a:p>
        </p:txBody>
      </p:sp>
      <p:sp>
        <p:nvSpPr>
          <p:cNvPr id="45" name="TextBox 44"/>
          <p:cNvSpPr txBox="1"/>
          <p:nvPr/>
        </p:nvSpPr>
        <p:spPr>
          <a:xfrm>
            <a:off x="8366760" y="4032503"/>
            <a:ext cx="3657600" cy="594360"/>
          </a:xfrm>
          <a:prstGeom prst="rect">
            <a:avLst/>
          </a:prstGeom>
          <a:noFill/>
          <a:ln>
            <a:noFill/>
          </a:ln>
        </p:spPr>
        <p:txBody>
          <a:bodyPr wrap="square">
            <a:spAutoFit/>
          </a:bodyPr>
          <a:lstStyle/>
          <a:p>
            <a:pPr algn="l"/>
            <a:r>
              <a:rPr sz="1200" b="0" i="0">
                <a:solidFill>
                  <a:srgbClr val="4A443B"/>
                </a:solidFill>
                <a:latin typeface="Libre Franklin"/>
              </a:rPr>
              <a:t>•  Add: open issues caught before meetings — count them.</a:t>
            </a:r>
          </a:p>
        </p:txBody>
      </p:sp>
      <p:sp>
        <p:nvSpPr>
          <p:cNvPr id="46" name="TextBox 45"/>
          <p:cNvSpPr txBox="1"/>
          <p:nvPr/>
        </p:nvSpPr>
        <p:spPr>
          <a:xfrm>
            <a:off x="8366760" y="4690871"/>
            <a:ext cx="3657600" cy="594360"/>
          </a:xfrm>
          <a:prstGeom prst="rect">
            <a:avLst/>
          </a:prstGeom>
          <a:noFill/>
          <a:ln>
            <a:noFill/>
          </a:ln>
        </p:spPr>
        <p:txBody>
          <a:bodyPr wrap="square">
            <a:spAutoFit/>
          </a:bodyPr>
          <a:lstStyle/>
          <a:p>
            <a:pPr algn="l"/>
            <a:r>
              <a:rPr sz="1200" b="0" i="0">
                <a:solidFill>
                  <a:srgbClr val="4A443B"/>
                </a:solidFill>
                <a:latin typeface="Libre Franklin"/>
              </a:rPr>
              <a:t>•  The ₪114k multiplier is the kicker — present it as "one example already found in pilot."</a:t>
            </a:r>
          </a:p>
        </p:txBody>
      </p:sp>
      <p:sp>
        <p:nvSpPr>
          <p:cNvPr id="47" name="TextBox 46"/>
          <p:cNvSpPr txBox="1"/>
          <p:nvPr/>
        </p:nvSpPr>
        <p:spPr>
          <a:xfrm>
            <a:off x="457200" y="6492240"/>
            <a:ext cx="9144000" cy="274320"/>
          </a:xfrm>
          <a:prstGeom prst="rect">
            <a:avLst/>
          </a:prstGeom>
          <a:noFill/>
          <a:ln>
            <a:noFill/>
          </a:ln>
        </p:spPr>
        <p:txBody>
          <a:bodyPr wrap="square">
            <a:spAutoFit/>
          </a:bodyPr>
          <a:lstStyle/>
          <a:p>
            <a:pPr algn="l"/>
            <a:r>
              <a:rPr sz="800" b="0" i="0">
                <a:solidFill>
                  <a:srgbClr val="A89D8E"/>
                </a:solidFill>
                <a:latin typeface="IBM Plex Mono"/>
              </a:rPr>
              <a:t>STRAUSS PROCUREMENT · FDE EXERCISE · CONFIDENTIAL</a:t>
            </a:r>
          </a:p>
        </p:txBody>
      </p:sp>
      <p:sp>
        <p:nvSpPr>
          <p:cNvPr id="48" name="TextBox 47"/>
          <p:cNvSpPr txBox="1"/>
          <p:nvPr/>
        </p:nvSpPr>
        <p:spPr>
          <a:xfrm>
            <a:off x="10972800" y="6492240"/>
            <a:ext cx="1005840" cy="274320"/>
          </a:xfrm>
          <a:prstGeom prst="rect">
            <a:avLst/>
          </a:prstGeom>
          <a:noFill/>
          <a:ln>
            <a:noFill/>
          </a:ln>
        </p:spPr>
        <p:txBody>
          <a:bodyPr wrap="square">
            <a:spAutoFit/>
          </a:bodyPr>
          <a:lstStyle/>
          <a:p>
            <a:pPr algn="r"/>
            <a:r>
              <a:rPr sz="800" b="0" i="0">
                <a:solidFill>
                  <a:srgbClr val="A89D8E"/>
                </a:solidFill>
                <a:latin typeface="IBM Plex Mono"/>
              </a:rPr>
              <a:t>18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1A14"/>
        </a:solidFill>
        <a:effectLst/>
      </p:bgPr>
    </p:bg>
    <p:spTree>
      <p:nvGrpSpPr>
        <p:cNvPr id="1" name=""/>
        <p:cNvGrpSpPr/>
        <p:nvPr/>
      </p:nvGrpSpPr>
      <p:grpSpPr/>
      <p:sp>
        <p:nvSpPr>
          <p:cNvPr id="2" name="TextBox 1"/>
          <p:cNvSpPr txBox="1"/>
          <p:nvPr/>
        </p:nvSpPr>
        <p:spPr>
          <a:xfrm>
            <a:off x="457200" y="411480"/>
            <a:ext cx="10972800" cy="274320"/>
          </a:xfrm>
          <a:prstGeom prst="rect">
            <a:avLst/>
          </a:prstGeom>
          <a:noFill/>
          <a:ln>
            <a:noFill/>
          </a:ln>
        </p:spPr>
        <p:txBody>
          <a:bodyPr wrap="square">
            <a:spAutoFit/>
          </a:bodyPr>
          <a:lstStyle/>
          <a:p>
            <a:pPr algn="l"/>
            <a:r>
              <a:rPr sz="900" b="0" i="0">
                <a:solidFill>
                  <a:srgbClr val="CB5238"/>
                </a:solidFill>
                <a:latin typeface="IBM Plex Mono"/>
              </a:rPr>
              <a:t>19 — WHAT’S NEXT</a:t>
            </a:r>
          </a:p>
        </p:txBody>
      </p:sp>
      <p:sp>
        <p:nvSpPr>
          <p:cNvPr id="3" name="TextBox 2"/>
          <p:cNvSpPr txBox="1"/>
          <p:nvPr/>
        </p:nvSpPr>
        <p:spPr>
          <a:xfrm>
            <a:off x="457200" y="749808"/>
            <a:ext cx="11430000" cy="914400"/>
          </a:xfrm>
          <a:prstGeom prst="rect">
            <a:avLst/>
          </a:prstGeom>
          <a:noFill/>
          <a:ln>
            <a:noFill/>
          </a:ln>
        </p:spPr>
        <p:txBody>
          <a:bodyPr wrap="square">
            <a:spAutoFit/>
          </a:bodyPr>
          <a:lstStyle/>
          <a:p>
            <a:pPr algn="l"/>
            <a:r>
              <a:rPr sz="3200" b="0" i="0">
                <a:solidFill>
                  <a:srgbClr val="F6F1E8"/>
                </a:solidFill>
                <a:latin typeface="Newsreader"/>
              </a:rPr>
              <a:t>What I’d prioritise in Phase 2 — and what I left out</a:t>
            </a:r>
          </a:p>
        </p:txBody>
      </p:sp>
      <p:sp>
        <p:nvSpPr>
          <p:cNvPr id="4" name="TextBox 3"/>
          <p:cNvSpPr txBox="1"/>
          <p:nvPr/>
        </p:nvSpPr>
        <p:spPr>
          <a:xfrm>
            <a:off x="457200" y="1719072"/>
            <a:ext cx="5486400" cy="228600"/>
          </a:xfrm>
          <a:prstGeom prst="rect">
            <a:avLst/>
          </a:prstGeom>
          <a:noFill/>
          <a:ln>
            <a:noFill/>
          </a:ln>
        </p:spPr>
        <p:txBody>
          <a:bodyPr wrap="square">
            <a:spAutoFit/>
          </a:bodyPr>
          <a:lstStyle/>
          <a:p>
            <a:pPr algn="l"/>
            <a:r>
              <a:rPr sz="900" b="0" i="0">
                <a:solidFill>
                  <a:srgbClr val="CB5238"/>
                </a:solidFill>
                <a:latin typeface="IBM Plex Mono"/>
              </a:rPr>
              <a:t>PRIORITIES FOR PHASE 2</a:t>
            </a:r>
          </a:p>
        </p:txBody>
      </p:sp>
      <p:sp>
        <p:nvSpPr>
          <p:cNvPr id="5" name="TextBox 4"/>
          <p:cNvSpPr txBox="1"/>
          <p:nvPr/>
        </p:nvSpPr>
        <p:spPr>
          <a:xfrm>
            <a:off x="457200" y="1993392"/>
            <a:ext cx="365760" cy="256032"/>
          </a:xfrm>
          <a:prstGeom prst="rect">
            <a:avLst/>
          </a:prstGeom>
          <a:noFill/>
          <a:ln>
            <a:noFill/>
          </a:ln>
        </p:spPr>
        <p:txBody>
          <a:bodyPr wrap="square">
            <a:spAutoFit/>
          </a:bodyPr>
          <a:lstStyle/>
          <a:p>
            <a:pPr algn="l"/>
            <a:r>
              <a:rPr sz="2200" b="0" i="0">
                <a:solidFill>
                  <a:srgbClr val="CB5238"/>
                </a:solidFill>
                <a:latin typeface="Newsreader"/>
              </a:rPr>
              <a:t>1</a:t>
            </a:r>
          </a:p>
        </p:txBody>
      </p:sp>
      <p:sp>
        <p:nvSpPr>
          <p:cNvPr id="6" name="TextBox 5"/>
          <p:cNvSpPr txBox="1"/>
          <p:nvPr/>
        </p:nvSpPr>
        <p:spPr>
          <a:xfrm>
            <a:off x="868680" y="1993392"/>
            <a:ext cx="5029200" cy="256032"/>
          </a:xfrm>
          <a:prstGeom prst="rect">
            <a:avLst/>
          </a:prstGeom>
          <a:noFill/>
          <a:ln>
            <a:noFill/>
          </a:ln>
        </p:spPr>
        <p:txBody>
          <a:bodyPr wrap="square">
            <a:spAutoFit/>
          </a:bodyPr>
          <a:lstStyle/>
          <a:p>
            <a:pPr algn="l"/>
            <a:r>
              <a:rPr sz="1400" b="1" i="0">
                <a:solidFill>
                  <a:srgbClr val="F2ECE0"/>
                </a:solidFill>
                <a:latin typeface="Libre Franklin"/>
              </a:rPr>
              <a:t>Live email connector — Microsoft Graph</a:t>
            </a:r>
          </a:p>
        </p:txBody>
      </p:sp>
      <p:sp>
        <p:nvSpPr>
          <p:cNvPr id="7" name="TextBox 6"/>
          <p:cNvSpPr txBox="1"/>
          <p:nvPr/>
        </p:nvSpPr>
        <p:spPr>
          <a:xfrm>
            <a:off x="868680" y="2286000"/>
            <a:ext cx="5029200" cy="457200"/>
          </a:xfrm>
          <a:prstGeom prst="rect">
            <a:avLst/>
          </a:prstGeom>
          <a:noFill/>
          <a:ln>
            <a:noFill/>
          </a:ln>
        </p:spPr>
        <p:txBody>
          <a:bodyPr wrap="square">
            <a:spAutoFit/>
          </a:bodyPr>
          <a:lstStyle/>
          <a:p>
            <a:pPr algn="l"/>
            <a:r>
              <a:rPr sz="1200" b="0" i="0">
                <a:solidFill>
                  <a:srgbClr val="9A9080"/>
                </a:solidFill>
                <a:latin typeface="Libre Franklin"/>
              </a:rPr>
              <a:t>Real supplier threads, no synthetic data. Scheduled pull, triggered before each meeting.</a:t>
            </a:r>
          </a:p>
        </p:txBody>
      </p:sp>
      <p:sp>
        <p:nvSpPr>
          <p:cNvPr id="8" name="TextBox 7"/>
          <p:cNvSpPr txBox="1"/>
          <p:nvPr/>
        </p:nvSpPr>
        <p:spPr>
          <a:xfrm>
            <a:off x="457200" y="2926080"/>
            <a:ext cx="365760" cy="256032"/>
          </a:xfrm>
          <a:prstGeom prst="rect">
            <a:avLst/>
          </a:prstGeom>
          <a:noFill/>
          <a:ln>
            <a:noFill/>
          </a:ln>
        </p:spPr>
        <p:txBody>
          <a:bodyPr wrap="square">
            <a:spAutoFit/>
          </a:bodyPr>
          <a:lstStyle/>
          <a:p>
            <a:pPr algn="l"/>
            <a:r>
              <a:rPr sz="2200" b="0" i="0">
                <a:solidFill>
                  <a:srgbClr val="CB5238"/>
                </a:solidFill>
                <a:latin typeface="Newsreader"/>
              </a:rPr>
              <a:t>2</a:t>
            </a:r>
          </a:p>
        </p:txBody>
      </p:sp>
      <p:sp>
        <p:nvSpPr>
          <p:cNvPr id="9" name="TextBox 8"/>
          <p:cNvSpPr txBox="1"/>
          <p:nvPr/>
        </p:nvSpPr>
        <p:spPr>
          <a:xfrm>
            <a:off x="868680" y="2926080"/>
            <a:ext cx="5029200" cy="256032"/>
          </a:xfrm>
          <a:prstGeom prst="rect">
            <a:avLst/>
          </a:prstGeom>
          <a:noFill/>
          <a:ln>
            <a:noFill/>
          </a:ln>
        </p:spPr>
        <p:txBody>
          <a:bodyPr wrap="square">
            <a:spAutoFit/>
          </a:bodyPr>
          <a:lstStyle/>
          <a:p>
            <a:pPr algn="l"/>
            <a:r>
              <a:rPr sz="1400" b="1" i="0">
                <a:solidFill>
                  <a:srgbClr val="F2ECE0"/>
                </a:solidFill>
                <a:latin typeface="Libre Franklin"/>
              </a:rPr>
              <a:t>SharePoint contract connector</a:t>
            </a:r>
          </a:p>
        </p:txBody>
      </p:sp>
      <p:sp>
        <p:nvSpPr>
          <p:cNvPr id="10" name="TextBox 9"/>
          <p:cNvSpPr txBox="1"/>
          <p:nvPr/>
        </p:nvSpPr>
        <p:spPr>
          <a:xfrm>
            <a:off x="868680" y="3218688"/>
            <a:ext cx="5029200" cy="457200"/>
          </a:xfrm>
          <a:prstGeom prst="rect">
            <a:avLst/>
          </a:prstGeom>
          <a:noFill/>
          <a:ln>
            <a:noFill/>
          </a:ln>
        </p:spPr>
        <p:txBody>
          <a:bodyPr wrap="square">
            <a:spAutoFit/>
          </a:bodyPr>
          <a:lstStyle/>
          <a:p>
            <a:pPr algn="l"/>
            <a:r>
              <a:rPr sz="1200" b="0" i="0">
                <a:solidFill>
                  <a:srgbClr val="9A9080"/>
                </a:solidFill>
                <a:latin typeface="Libre Franklin"/>
              </a:rPr>
              <a:t>Always the active version, never a stale copy. OCR pipeline for scanned PDFs.</a:t>
            </a:r>
          </a:p>
        </p:txBody>
      </p:sp>
      <p:sp>
        <p:nvSpPr>
          <p:cNvPr id="11" name="TextBox 10"/>
          <p:cNvSpPr txBox="1"/>
          <p:nvPr/>
        </p:nvSpPr>
        <p:spPr>
          <a:xfrm>
            <a:off x="457200" y="3858768"/>
            <a:ext cx="365760" cy="256032"/>
          </a:xfrm>
          <a:prstGeom prst="rect">
            <a:avLst/>
          </a:prstGeom>
          <a:noFill/>
          <a:ln>
            <a:noFill/>
          </a:ln>
        </p:spPr>
        <p:txBody>
          <a:bodyPr wrap="square">
            <a:spAutoFit/>
          </a:bodyPr>
          <a:lstStyle/>
          <a:p>
            <a:pPr algn="l"/>
            <a:r>
              <a:rPr sz="2200" b="0" i="0">
                <a:solidFill>
                  <a:srgbClr val="CB5238"/>
                </a:solidFill>
                <a:latin typeface="Newsreader"/>
              </a:rPr>
              <a:t>3</a:t>
            </a:r>
          </a:p>
        </p:txBody>
      </p:sp>
      <p:sp>
        <p:nvSpPr>
          <p:cNvPr id="12" name="TextBox 11"/>
          <p:cNvSpPr txBox="1"/>
          <p:nvPr/>
        </p:nvSpPr>
        <p:spPr>
          <a:xfrm>
            <a:off x="868680" y="3858768"/>
            <a:ext cx="5029200" cy="256032"/>
          </a:xfrm>
          <a:prstGeom prst="rect">
            <a:avLst/>
          </a:prstGeom>
          <a:noFill/>
          <a:ln>
            <a:noFill/>
          </a:ln>
        </p:spPr>
        <p:txBody>
          <a:bodyPr wrap="square">
            <a:spAutoFit/>
          </a:bodyPr>
          <a:lstStyle/>
          <a:p>
            <a:pPr algn="l"/>
            <a:r>
              <a:rPr sz="1400" b="1" i="0">
                <a:solidFill>
                  <a:srgbClr val="F2ECE0"/>
                </a:solidFill>
                <a:latin typeface="Libre Franklin"/>
              </a:rPr>
              <a:t>Persist correction log → prompt-tuning cycle</a:t>
            </a:r>
          </a:p>
        </p:txBody>
      </p:sp>
      <p:sp>
        <p:nvSpPr>
          <p:cNvPr id="13" name="TextBox 12"/>
          <p:cNvSpPr txBox="1"/>
          <p:nvPr/>
        </p:nvSpPr>
        <p:spPr>
          <a:xfrm>
            <a:off x="868680" y="4151376"/>
            <a:ext cx="5029200" cy="457200"/>
          </a:xfrm>
          <a:prstGeom prst="rect">
            <a:avLst/>
          </a:prstGeom>
          <a:noFill/>
          <a:ln>
            <a:noFill/>
          </a:ln>
        </p:spPr>
        <p:txBody>
          <a:bodyPr wrap="square">
            <a:spAutoFit/>
          </a:bodyPr>
          <a:lstStyle/>
          <a:p>
            <a:pPr algn="l"/>
            <a:r>
              <a:rPr sz="1200" b="0" i="0">
                <a:solidFill>
                  <a:srgbClr val="9A9080"/>
                </a:solidFill>
                <a:latin typeface="Libre Franklin"/>
              </a:rPr>
              <a:t>Monthly review: which fields and suppliers have high error rate? Update the extraction prompt accordingly.</a:t>
            </a:r>
          </a:p>
        </p:txBody>
      </p:sp>
      <p:sp>
        <p:nvSpPr>
          <p:cNvPr id="14" name="TextBox 13"/>
          <p:cNvSpPr txBox="1"/>
          <p:nvPr/>
        </p:nvSpPr>
        <p:spPr>
          <a:xfrm>
            <a:off x="457200" y="4791456"/>
            <a:ext cx="365760" cy="256032"/>
          </a:xfrm>
          <a:prstGeom prst="rect">
            <a:avLst/>
          </a:prstGeom>
          <a:noFill/>
          <a:ln>
            <a:noFill/>
          </a:ln>
        </p:spPr>
        <p:txBody>
          <a:bodyPr wrap="square">
            <a:spAutoFit/>
          </a:bodyPr>
          <a:lstStyle/>
          <a:p>
            <a:pPr algn="l"/>
            <a:r>
              <a:rPr sz="2200" b="0" i="0">
                <a:solidFill>
                  <a:srgbClr val="CB5238"/>
                </a:solidFill>
                <a:latin typeface="Newsreader"/>
              </a:rPr>
              <a:t>4</a:t>
            </a:r>
          </a:p>
        </p:txBody>
      </p:sp>
      <p:sp>
        <p:nvSpPr>
          <p:cNvPr id="15" name="TextBox 14"/>
          <p:cNvSpPr txBox="1"/>
          <p:nvPr/>
        </p:nvSpPr>
        <p:spPr>
          <a:xfrm>
            <a:off x="868680" y="4791456"/>
            <a:ext cx="5029200" cy="256032"/>
          </a:xfrm>
          <a:prstGeom prst="rect">
            <a:avLst/>
          </a:prstGeom>
          <a:noFill/>
          <a:ln>
            <a:noFill/>
          </a:ln>
        </p:spPr>
        <p:txBody>
          <a:bodyPr wrap="square">
            <a:spAutoFit/>
          </a:bodyPr>
          <a:lstStyle/>
          <a:p>
            <a:pPr algn="l"/>
            <a:r>
              <a:rPr sz="1400" b="1" i="0">
                <a:solidFill>
                  <a:srgbClr val="F2ECE0"/>
                </a:solidFill>
                <a:latin typeface="Libre Franklin"/>
              </a:rPr>
              <a:t>Supplier segmentation</a:t>
            </a:r>
          </a:p>
        </p:txBody>
      </p:sp>
      <p:sp>
        <p:nvSpPr>
          <p:cNvPr id="16" name="TextBox 15"/>
          <p:cNvSpPr txBox="1"/>
          <p:nvPr/>
        </p:nvSpPr>
        <p:spPr>
          <a:xfrm>
            <a:off x="868680" y="5084064"/>
            <a:ext cx="5029200" cy="457200"/>
          </a:xfrm>
          <a:prstGeom prst="rect">
            <a:avLst/>
          </a:prstGeom>
          <a:noFill/>
          <a:ln>
            <a:noFill/>
          </a:ln>
        </p:spPr>
        <p:txBody>
          <a:bodyPr wrap="square">
            <a:spAutoFit/>
          </a:bodyPr>
          <a:lstStyle/>
          <a:p>
            <a:pPr algn="l"/>
            <a:r>
              <a:rPr sz="1200" b="0" i="0">
                <a:solidFill>
                  <a:srgbClr val="9A9080"/>
                </a:solidFill>
                <a:latin typeface="Libre Franklin"/>
              </a:rPr>
              <a:t>Flag high-risk suppliers by relationship-health score. Auto-generate prep for every meeting, not just on demand.</a:t>
            </a:r>
          </a:p>
        </p:txBody>
      </p:sp>
      <p:sp>
        <p:nvSpPr>
          <p:cNvPr id="17" name="TextBox 16"/>
          <p:cNvSpPr txBox="1"/>
          <p:nvPr/>
        </p:nvSpPr>
        <p:spPr>
          <a:xfrm>
            <a:off x="6492240" y="1719072"/>
            <a:ext cx="5303520" cy="228600"/>
          </a:xfrm>
          <a:prstGeom prst="rect">
            <a:avLst/>
          </a:prstGeom>
          <a:noFill/>
          <a:ln>
            <a:noFill/>
          </a:ln>
        </p:spPr>
        <p:txBody>
          <a:bodyPr wrap="square">
            <a:spAutoFit/>
          </a:bodyPr>
          <a:lstStyle/>
          <a:p>
            <a:pPr algn="l"/>
            <a:r>
              <a:rPr sz="900" b="0" i="0">
                <a:solidFill>
                  <a:srgbClr val="4A7360"/>
                </a:solidFill>
                <a:latin typeface="IBM Plex Mono"/>
              </a:rPr>
              <a:t>DELIBERATELY OUT OF SCOPE</a:t>
            </a:r>
          </a:p>
        </p:txBody>
      </p:sp>
      <p:sp>
        <p:nvSpPr>
          <p:cNvPr id="18" name="TextBox 17"/>
          <p:cNvSpPr txBox="1"/>
          <p:nvPr/>
        </p:nvSpPr>
        <p:spPr>
          <a:xfrm>
            <a:off x="6492240" y="1993392"/>
            <a:ext cx="5486400" cy="566928"/>
          </a:xfrm>
          <a:prstGeom prst="rect">
            <a:avLst/>
          </a:prstGeom>
          <a:noFill/>
          <a:ln>
            <a:noFill/>
          </a:ln>
        </p:spPr>
        <p:txBody>
          <a:bodyPr wrap="square">
            <a:spAutoFit/>
          </a:bodyPr>
          <a:lstStyle/>
          <a:p>
            <a:pPr algn="l"/>
            <a:r>
              <a:rPr sz="1300" b="0" i="0">
                <a:solidFill>
                  <a:srgbClr val="706558"/>
                </a:solidFill>
                <a:latin typeface="Libre Franklin"/>
              </a:rPr>
              <a:t>×  Negotiation strategy advice — Human judgment stays human.</a:t>
            </a:r>
          </a:p>
        </p:txBody>
      </p:sp>
      <p:sp>
        <p:nvSpPr>
          <p:cNvPr id="19" name="TextBox 18"/>
          <p:cNvSpPr txBox="1"/>
          <p:nvPr/>
        </p:nvSpPr>
        <p:spPr>
          <a:xfrm>
            <a:off x="6492240" y="2651760"/>
            <a:ext cx="5486400" cy="566928"/>
          </a:xfrm>
          <a:prstGeom prst="rect">
            <a:avLst/>
          </a:prstGeom>
          <a:noFill/>
          <a:ln>
            <a:noFill/>
          </a:ln>
        </p:spPr>
        <p:txBody>
          <a:bodyPr wrap="square">
            <a:spAutoFit/>
          </a:bodyPr>
          <a:lstStyle/>
          <a:p>
            <a:pPr algn="l"/>
            <a:r>
              <a:rPr sz="1300" b="0" i="0">
                <a:solidFill>
                  <a:srgbClr val="706558"/>
                </a:solidFill>
                <a:latin typeface="Libre Franklin"/>
              </a:rPr>
              <a:t>×  Full contract lifecycle management — Different problem, different tool.</a:t>
            </a:r>
          </a:p>
        </p:txBody>
      </p:sp>
      <p:sp>
        <p:nvSpPr>
          <p:cNvPr id="20" name="TextBox 19"/>
          <p:cNvSpPr txBox="1"/>
          <p:nvPr/>
        </p:nvSpPr>
        <p:spPr>
          <a:xfrm>
            <a:off x="6492240" y="3310128"/>
            <a:ext cx="5486400" cy="566928"/>
          </a:xfrm>
          <a:prstGeom prst="rect">
            <a:avLst/>
          </a:prstGeom>
          <a:noFill/>
          <a:ln>
            <a:noFill/>
          </a:ln>
        </p:spPr>
        <p:txBody>
          <a:bodyPr wrap="square">
            <a:spAutoFit/>
          </a:bodyPr>
          <a:lstStyle/>
          <a:p>
            <a:pPr algn="l"/>
            <a:r>
              <a:rPr sz="1300" b="0" i="0">
                <a:solidFill>
                  <a:srgbClr val="706558"/>
                </a:solidFill>
                <a:latin typeface="Libre Franklin"/>
              </a:rPr>
              <a:t>×  Live MCP connector in prototype — Demo-day network risk — documented as production path.</a:t>
            </a:r>
          </a:p>
        </p:txBody>
      </p:sp>
      <p:sp>
        <p:nvSpPr>
          <p:cNvPr id="21" name="TextBox 20"/>
          <p:cNvSpPr txBox="1"/>
          <p:nvPr/>
        </p:nvSpPr>
        <p:spPr>
          <a:xfrm>
            <a:off x="6492240" y="3968496"/>
            <a:ext cx="5486400" cy="566928"/>
          </a:xfrm>
          <a:prstGeom prst="rect">
            <a:avLst/>
          </a:prstGeom>
          <a:noFill/>
          <a:ln>
            <a:noFill/>
          </a:ln>
        </p:spPr>
        <p:txBody>
          <a:bodyPr wrap="square">
            <a:spAutoFit/>
          </a:bodyPr>
          <a:lstStyle/>
          <a:p>
            <a:pPr algn="l"/>
            <a:r>
              <a:rPr sz="1300" b="0" i="0">
                <a:solidFill>
                  <a:srgbClr val="706558"/>
                </a:solidFill>
                <a:latin typeface="Libre Franklin"/>
              </a:rPr>
              <a:t>×  Vector store in prototype — Unjustified at 8 suppliers / 111 emails — right call at real scale.</a:t>
            </a:r>
          </a:p>
        </p:txBody>
      </p:sp>
      <p:sp>
        <p:nvSpPr>
          <p:cNvPr id="22" name="TextBox 21"/>
          <p:cNvSpPr txBox="1"/>
          <p:nvPr/>
        </p:nvSpPr>
        <p:spPr>
          <a:xfrm>
            <a:off x="6492240" y="4626864"/>
            <a:ext cx="5486400" cy="566928"/>
          </a:xfrm>
          <a:prstGeom prst="rect">
            <a:avLst/>
          </a:prstGeom>
          <a:noFill/>
          <a:ln>
            <a:noFill/>
          </a:ln>
        </p:spPr>
        <p:txBody>
          <a:bodyPr wrap="square">
            <a:spAutoFit/>
          </a:bodyPr>
          <a:lstStyle/>
          <a:p>
            <a:pPr algn="l"/>
            <a:r>
              <a:rPr sz="1300" b="0" i="0">
                <a:solidFill>
                  <a:srgbClr val="706558"/>
                </a:solidFill>
                <a:latin typeface="Libre Franklin"/>
              </a:rPr>
              <a:t>×  Teams / Slack integration — Phase 3, after trust is established.</a:t>
            </a:r>
          </a:p>
        </p:txBody>
      </p:sp>
      <p:sp>
        <p:nvSpPr>
          <p:cNvPr id="23" name="TextBox 22"/>
          <p:cNvSpPr txBox="1"/>
          <p:nvPr/>
        </p:nvSpPr>
        <p:spPr>
          <a:xfrm>
            <a:off x="457200" y="6492240"/>
            <a:ext cx="9144000" cy="274320"/>
          </a:xfrm>
          <a:prstGeom prst="rect">
            <a:avLst/>
          </a:prstGeom>
          <a:noFill/>
          <a:ln>
            <a:noFill/>
          </a:ln>
        </p:spPr>
        <p:txBody>
          <a:bodyPr wrap="square">
            <a:spAutoFit/>
          </a:bodyPr>
          <a:lstStyle/>
          <a:p>
            <a:pPr algn="l"/>
            <a:r>
              <a:rPr sz="800" b="0" i="0">
                <a:solidFill>
                  <a:srgbClr val="7A7165"/>
                </a:solidFill>
                <a:latin typeface="IBM Plex Mono"/>
              </a:rPr>
              <a:t>STRAUSS PROCUREMENT · FDE EXERCISE · CONFIDENTIAL</a:t>
            </a:r>
          </a:p>
        </p:txBody>
      </p:sp>
      <p:sp>
        <p:nvSpPr>
          <p:cNvPr id="24" name="TextBox 23"/>
          <p:cNvSpPr txBox="1"/>
          <p:nvPr/>
        </p:nvSpPr>
        <p:spPr>
          <a:xfrm>
            <a:off x="10972800" y="6492240"/>
            <a:ext cx="1005840" cy="274320"/>
          </a:xfrm>
          <a:prstGeom prst="rect">
            <a:avLst/>
          </a:prstGeom>
          <a:noFill/>
          <a:ln>
            <a:noFill/>
          </a:ln>
        </p:spPr>
        <p:txBody>
          <a:bodyPr wrap="square">
            <a:spAutoFit/>
          </a:bodyPr>
          <a:lstStyle/>
          <a:p>
            <a:pPr algn="r"/>
            <a:r>
              <a:rPr sz="800" b="0" i="0">
                <a:solidFill>
                  <a:srgbClr val="7A7165"/>
                </a:solidFill>
                <a:latin typeface="IBM Plex Mono"/>
              </a:rPr>
              <a:t>19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