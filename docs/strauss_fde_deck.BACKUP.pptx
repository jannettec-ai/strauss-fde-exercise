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0" d="100"/>
          <a:sy n="120" d="100"/>
        </p:scale>
        <p:origin x="-514"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00" cy="68580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365760"/>
            <a:ext cx="4389120" cy="914400"/>
          </a:xfrm>
          <a:prstGeom prst="rect">
            <a:avLst/>
          </a:prstGeom>
          <a:noFill/>
        </p:spPr>
        <p:txBody>
          <a:bodyPr wrap="none">
            <a:spAutoFit/>
          </a:bodyPr>
          <a:lstStyle/>
          <a:p>
            <a:endParaRPr/>
          </a:p>
          <a:p>
            <a:pPr algn="l">
              <a:spcBef>
                <a:spcPts val="0"/>
              </a:spcBef>
              <a:spcAft>
                <a:spcPts val="0"/>
              </a:spcAft>
            </a:pPr>
            <a:r>
              <a:rPr sz="1800" b="1">
                <a:solidFill>
                  <a:srgbClr val="FFFFFF"/>
                </a:solidFill>
                <a:latin typeface="Calibri"/>
              </a:rPr>
              <a:t>STRAUSS GROUP</a:t>
            </a:r>
          </a:p>
        </p:txBody>
      </p:sp>
      <p:sp>
        <p:nvSpPr>
          <p:cNvPr id="4" name="TextBox 3"/>
          <p:cNvSpPr txBox="1"/>
          <p:nvPr/>
        </p:nvSpPr>
        <p:spPr>
          <a:xfrm>
            <a:off x="320040" y="1234440"/>
            <a:ext cx="4389120" cy="3200400"/>
          </a:xfrm>
          <a:prstGeom prst="rect">
            <a:avLst/>
          </a:prstGeom>
          <a:noFill/>
        </p:spPr>
        <p:txBody>
          <a:bodyPr wrap="square">
            <a:spAutoFit/>
          </a:bodyPr>
          <a:lstStyle/>
          <a:p>
            <a:endParaRPr/>
          </a:p>
          <a:p>
            <a:pPr algn="l">
              <a:spcBef>
                <a:spcPts val="0"/>
              </a:spcBef>
              <a:spcAft>
                <a:spcPts val="0"/>
              </a:spcAft>
            </a:pPr>
            <a:r>
              <a:rPr sz="3200" b="1">
                <a:solidFill>
                  <a:srgbClr val="FFFFFF"/>
                </a:solidFill>
                <a:latin typeface="Calibri"/>
              </a:rPr>
              <a:t>Negotiation Prep Intelligence</a:t>
            </a:r>
          </a:p>
          <a:p>
            <a:pPr>
              <a:spcBef>
                <a:spcPts val="1200"/>
              </a:spcBef>
            </a:pPr>
            <a:r>
              <a:rPr sz="1800">
                <a:solidFill>
                  <a:srgbClr val="F5C0C8"/>
                </a:solidFill>
                <a:latin typeface="Calibri"/>
              </a:rPr>
              <a:t>FDE Home Exercise</a:t>
            </a:r>
          </a:p>
        </p:txBody>
      </p:sp>
      <p:sp>
        <p:nvSpPr>
          <p:cNvPr id="5" name="TextBox 4"/>
          <p:cNvSpPr txBox="1"/>
          <p:nvPr/>
        </p:nvSpPr>
        <p:spPr>
          <a:xfrm>
            <a:off x="320040" y="5852160"/>
            <a:ext cx="4389120" cy="731520"/>
          </a:xfrm>
          <a:prstGeom prst="rect">
            <a:avLst/>
          </a:prstGeom>
          <a:noFill/>
        </p:spPr>
        <p:txBody>
          <a:bodyPr wrap="none">
            <a:spAutoFit/>
          </a:bodyPr>
          <a:lstStyle/>
          <a:p>
            <a:endParaRPr/>
          </a:p>
          <a:p>
            <a:pPr algn="l">
              <a:spcBef>
                <a:spcPts val="0"/>
              </a:spcBef>
              <a:spcAft>
                <a:spcPts val="0"/>
              </a:spcAft>
            </a:pPr>
            <a:r>
              <a:rPr sz="1300" b="0">
                <a:solidFill>
                  <a:srgbClr val="F5C0C8"/>
                </a:solidFill>
                <a:latin typeface="Calibri"/>
              </a:rPr>
              <a:t>Jannette · June 2026</a:t>
            </a:r>
          </a:p>
        </p:txBody>
      </p:sp>
      <p:sp>
        <p:nvSpPr>
          <p:cNvPr id="6" name="TextBox 5"/>
          <p:cNvSpPr txBox="1"/>
          <p:nvPr/>
        </p:nvSpPr>
        <p:spPr>
          <a:xfrm>
            <a:off x="5486400" y="2011680"/>
            <a:ext cx="6217920" cy="1569660"/>
          </a:xfrm>
          <a:prstGeom prst="rect">
            <a:avLst/>
          </a:prstGeom>
          <a:noFill/>
        </p:spPr>
        <p:txBody>
          <a:bodyPr wrap="square">
            <a:spAutoFit/>
          </a:bodyPr>
          <a:lstStyle/>
          <a:p>
            <a:endParaRPr dirty="0"/>
          </a:p>
          <a:p>
            <a:pPr algn="l">
              <a:spcBef>
                <a:spcPts val="0"/>
              </a:spcBef>
              <a:spcAft>
                <a:spcPts val="0"/>
              </a:spcAft>
            </a:pPr>
            <a:r>
              <a:rPr sz="2000" b="0" dirty="0">
                <a:solidFill>
                  <a:srgbClr val="555555"/>
                </a:solidFill>
                <a:latin typeface="Calibri"/>
              </a:rPr>
              <a:t>"I want my team spending their time on judgment
and relationships.
Not on logistics."</a:t>
            </a:r>
            <a:r>
              <a:rPr dirty="0"/>
              <a:t/>
            </a:r>
            <a:br>
              <a:rPr dirty="0"/>
            </a:br>
            <a:endParaRPr dirty="0"/>
          </a:p>
        </p:txBody>
      </p:sp>
      <p:sp>
        <p:nvSpPr>
          <p:cNvPr id="7" name="TextBox 6"/>
          <p:cNvSpPr txBox="1"/>
          <p:nvPr/>
        </p:nvSpPr>
        <p:spPr>
          <a:xfrm>
            <a:off x="5486400" y="4754880"/>
            <a:ext cx="2244525" cy="569387"/>
          </a:xfrm>
          <a:prstGeom prst="rect">
            <a:avLst/>
          </a:prstGeom>
          <a:noFill/>
        </p:spPr>
        <p:txBody>
          <a:bodyPr wrap="none">
            <a:spAutoFit/>
          </a:bodyPr>
          <a:lstStyle/>
          <a:p>
            <a:endParaRPr dirty="0"/>
          </a:p>
          <a:p>
            <a:pPr algn="l">
              <a:spcBef>
                <a:spcPts val="0"/>
              </a:spcBef>
              <a:spcAft>
                <a:spcPts val="0"/>
              </a:spcAft>
            </a:pPr>
            <a:r>
              <a:rPr sz="1300" b="0" dirty="0" smtClean="0">
                <a:solidFill>
                  <a:srgbClr val="555555"/>
                </a:solidFill>
                <a:latin typeface="Calibri"/>
              </a:rPr>
              <a:t>Strauss </a:t>
            </a:r>
            <a:r>
              <a:rPr sz="1300" b="0" dirty="0">
                <a:solidFill>
                  <a:srgbClr val="555555"/>
                </a:solidFill>
                <a:latin typeface="Calibri"/>
              </a:rPr>
              <a:t>Procurement Manager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The Problem</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What the procurement team is actually spending time on</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320040" y="1280160"/>
            <a:ext cx="3566160" cy="1463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62600" y="1341120"/>
            <a:ext cx="1681038" cy="923330"/>
          </a:xfrm>
          <a:prstGeom prst="rect">
            <a:avLst/>
          </a:prstGeom>
          <a:noFill/>
        </p:spPr>
        <p:txBody>
          <a:bodyPr wrap="none">
            <a:spAutoFit/>
          </a:bodyPr>
          <a:lstStyle/>
          <a:p>
            <a:endParaRPr dirty="0"/>
          </a:p>
          <a:p>
            <a:pPr algn="ctr">
              <a:spcBef>
                <a:spcPts val="0"/>
              </a:spcBef>
              <a:spcAft>
                <a:spcPts val="0"/>
              </a:spcAft>
            </a:pPr>
            <a:r>
              <a:rPr lang="en-US" sz="3600" b="1" dirty="0">
                <a:solidFill>
                  <a:srgbClr val="C8102E"/>
                </a:solidFill>
                <a:latin typeface="Calibri"/>
              </a:rPr>
              <a:t>1–2 hrs</a:t>
            </a:r>
            <a:r>
              <a:rPr sz="3600" b="1" dirty="0" smtClean="0">
                <a:solidFill>
                  <a:srgbClr val="C8102E"/>
                </a:solidFill>
                <a:latin typeface="Calibri"/>
              </a:rPr>
              <a:t/>
            </a:r>
            <a:r>
              <a:rPr lang="en-US" sz="3600" b="1" dirty="0" smtClean="0">
                <a:solidFill>
                  <a:srgbClr val="C8102E"/>
                </a:solidFill>
                <a:latin typeface="Calibri"/>
              </a:rPr>
              <a:t/>
            </a:r>
            <a:r>
              <a:rPr lang="en-US" sz="3600" b="1" dirty="0" err="1" smtClean="0">
                <a:solidFill>
                  <a:srgbClr val="C8102E"/>
                </a:solidFill>
                <a:latin typeface="Calibri"/>
              </a:rPr>
              <a:t/>
            </a:r>
            <a:endParaRPr sz="3600" b="1" dirty="0">
              <a:solidFill>
                <a:srgbClr val="C8102E"/>
              </a:solidFill>
              <a:latin typeface="Calibri"/>
            </a:endParaRPr>
          </a:p>
        </p:txBody>
      </p:sp>
      <p:sp>
        <p:nvSpPr>
          <p:cNvPr id="9" name="TextBox 8"/>
          <p:cNvSpPr txBox="1"/>
          <p:nvPr/>
        </p:nvSpPr>
        <p:spPr>
          <a:xfrm>
            <a:off x="942930" y="1925360"/>
            <a:ext cx="2320379" cy="1046440"/>
          </a:xfrm>
          <a:prstGeom prst="rect">
            <a:avLst/>
          </a:prstGeom>
          <a:noFill/>
        </p:spPr>
        <p:txBody>
          <a:bodyPr wrap="none">
            <a:spAutoFit/>
          </a:bodyPr>
          <a:lstStyle/>
          <a:p>
            <a:endParaRPr dirty="0"/>
          </a:p>
          <a:p>
            <a:pPr algn="ctr">
              <a:spcBef>
                <a:spcPts val="0"/>
              </a:spcBef>
              <a:spcAft>
                <a:spcPts val="0"/>
              </a:spcAft>
            </a:pPr>
            <a:r>
              <a:rPr sz="1300" b="0" dirty="0">
                <a:solidFill>
                  <a:srgbClr val="555555"/>
                </a:solidFill>
                <a:latin typeface="Calibri"/>
              </a:rPr>
              <a:t>of manual prep
per meeting</a:t>
            </a:r>
            <a:r>
              <a:rPr dirty="0"/>
              <a:t/>
            </a:r>
            <a:br>
              <a:rPr dirty="0"/>
            </a:br>
            <a:endParaRPr dirty="0"/>
          </a:p>
        </p:txBody>
      </p:sp>
      <p:sp>
        <p:nvSpPr>
          <p:cNvPr id="10" name="Rectangle 9"/>
          <p:cNvSpPr/>
          <p:nvPr/>
        </p:nvSpPr>
        <p:spPr>
          <a:xfrm>
            <a:off x="4251959" y="1280160"/>
            <a:ext cx="3566160" cy="1463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59411" y="1337310"/>
            <a:ext cx="1116011" cy="923330"/>
          </a:xfrm>
          <a:prstGeom prst="rect">
            <a:avLst/>
          </a:prstGeom>
          <a:noFill/>
        </p:spPr>
        <p:txBody>
          <a:bodyPr wrap="none">
            <a:spAutoFit/>
          </a:bodyPr>
          <a:lstStyle/>
          <a:p>
            <a:endParaRPr dirty="0"/>
          </a:p>
          <a:p>
            <a:pPr algn="ctr">
              <a:spcBef>
                <a:spcPts val="0"/>
              </a:spcBef>
              <a:spcAft>
                <a:spcPts val="0"/>
              </a:spcAft>
            </a:pPr>
            <a:r>
              <a:rPr lang="en-US" sz="3600" b="1" dirty="0" smtClean="0">
                <a:solidFill>
                  <a:srgbClr val="C8102E"/>
                </a:solidFill>
                <a:latin typeface="Calibri"/>
              </a:rPr>
              <a:t>~7</a:t>
            </a:r>
            <a:r>
              <a:rPr sz="3600" b="1" dirty="0" smtClean="0">
                <a:solidFill>
                  <a:srgbClr val="C8102E"/>
                </a:solidFill>
                <a:latin typeface="Calibri"/>
              </a:rPr>
              <a:t/>
            </a:r>
            <a:r>
              <a:rPr lang="en-US" sz="3600" b="1" dirty="0" smtClean="0">
                <a:solidFill>
                  <a:srgbClr val="C8102E"/>
                </a:solidFill>
                <a:latin typeface="Calibri"/>
              </a:rPr>
              <a:t/>
            </a:r>
            <a:endParaRPr sz="3600" b="1" dirty="0">
              <a:solidFill>
                <a:srgbClr val="C8102E"/>
              </a:solidFill>
              <a:latin typeface="Calibri"/>
            </a:endParaRPr>
          </a:p>
        </p:txBody>
      </p:sp>
      <p:sp>
        <p:nvSpPr>
          <p:cNvPr id="12" name="TextBox 11"/>
          <p:cNvSpPr txBox="1"/>
          <p:nvPr/>
        </p:nvSpPr>
        <p:spPr>
          <a:xfrm>
            <a:off x="4831664" y="1963420"/>
            <a:ext cx="2406749" cy="1046440"/>
          </a:xfrm>
          <a:prstGeom prst="rect">
            <a:avLst/>
          </a:prstGeom>
          <a:noFill/>
        </p:spPr>
        <p:txBody>
          <a:bodyPr wrap="none">
            <a:spAutoFit/>
          </a:bodyPr>
          <a:lstStyle/>
          <a:p>
            <a:endParaRPr dirty="0"/>
          </a:p>
          <a:p>
            <a:pPr algn="ctr">
              <a:spcBef>
                <a:spcPts val="0"/>
              </a:spcBef>
              <a:spcAft>
                <a:spcPts val="0"/>
              </a:spcAft>
            </a:pPr>
            <a:r>
              <a:rPr sz="1300" b="0" dirty="0">
                <a:solidFill>
                  <a:srgbClr val="555555"/>
                </a:solidFill>
                <a:latin typeface="Calibri"/>
              </a:rPr>
              <a:t>supplier meetings
per month</a:t>
            </a:r>
            <a:r>
              <a:rPr dirty="0"/>
              <a:t/>
            </a:r>
            <a:br>
              <a:rPr dirty="0"/>
            </a:br>
            <a:endParaRPr dirty="0"/>
          </a:p>
        </p:txBody>
      </p:sp>
      <p:sp>
        <p:nvSpPr>
          <p:cNvPr id="13" name="Rectangle 12"/>
          <p:cNvSpPr/>
          <p:nvPr/>
        </p:nvSpPr>
        <p:spPr>
          <a:xfrm>
            <a:off x="8183879" y="1280160"/>
            <a:ext cx="3566160" cy="1463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33806" y="1341120"/>
            <a:ext cx="2342051" cy="923330"/>
          </a:xfrm>
          <a:prstGeom prst="rect">
            <a:avLst/>
          </a:prstGeom>
          <a:noFill/>
        </p:spPr>
        <p:txBody>
          <a:bodyPr wrap="none">
            <a:spAutoFit/>
          </a:bodyPr>
          <a:lstStyle/>
          <a:p>
            <a:endParaRPr dirty="0"/>
          </a:p>
          <a:p>
            <a:pPr algn="ctr">
              <a:spcBef>
                <a:spcPts val="0"/>
              </a:spcBef>
              <a:spcAft>
                <a:spcPts val="0"/>
              </a:spcAft>
            </a:pPr>
            <a:r>
              <a:rPr lang="en-US" sz="3600" b="1" dirty="0" smtClean="0">
                <a:solidFill>
                  <a:srgbClr val="C8102E"/>
                </a:solidFill>
                <a:latin typeface="Calibri"/>
              </a:rPr>
              <a:t>7–14 hrs</a:t>
            </a:r>
            <a:r>
              <a:rPr sz="3600" b="1" dirty="0" smtClean="0">
                <a:solidFill>
                  <a:srgbClr val="C8102E"/>
                </a:solidFill>
                <a:latin typeface="Calibri"/>
              </a:rPr>
              <a:t/>
            </a:r>
            <a:r>
              <a:rPr sz="3600" b="1" dirty="0" err="1">
                <a:solidFill>
                  <a:srgbClr val="C8102E"/>
                </a:solidFill>
                <a:latin typeface="Calibri"/>
              </a:rPr>
              <a:t/>
            </a:r>
            <a:endParaRPr sz="3600" b="1" dirty="0">
              <a:solidFill>
                <a:srgbClr val="C8102E"/>
              </a:solidFill>
              <a:latin typeface="Calibri"/>
            </a:endParaRPr>
          </a:p>
        </p:txBody>
      </p:sp>
      <p:sp>
        <p:nvSpPr>
          <p:cNvPr id="15" name="TextBox 14"/>
          <p:cNvSpPr txBox="1"/>
          <p:nvPr/>
        </p:nvSpPr>
        <p:spPr>
          <a:xfrm>
            <a:off x="8649969" y="1963420"/>
            <a:ext cx="2509726" cy="1046440"/>
          </a:xfrm>
          <a:prstGeom prst="rect">
            <a:avLst/>
          </a:prstGeom>
          <a:noFill/>
        </p:spPr>
        <p:txBody>
          <a:bodyPr wrap="none">
            <a:spAutoFit/>
          </a:bodyPr>
          <a:lstStyle/>
          <a:p>
            <a:endParaRPr dirty="0"/>
          </a:p>
          <a:p>
            <a:pPr algn="ctr">
              <a:spcBef>
                <a:spcPts val="0"/>
              </a:spcBef>
              <a:spcAft>
                <a:spcPts val="0"/>
              </a:spcAft>
            </a:pPr>
            <a:r>
              <a:rPr sz="1300" b="0" dirty="0">
                <a:solidFill>
                  <a:srgbClr val="555555"/>
                </a:solidFill>
                <a:latin typeface="Calibri"/>
              </a:rPr>
              <a:t>of information work
per month, per team</a:t>
            </a:r>
            <a:r>
              <a:rPr dirty="0"/>
              <a:t/>
            </a:r>
            <a:br>
              <a:rPr dirty="0"/>
            </a:br>
            <a:endParaRPr dirty="0"/>
          </a:p>
        </p:txBody>
      </p:sp>
      <p:sp>
        <p:nvSpPr>
          <p:cNvPr id="16" name="TextBox 15"/>
          <p:cNvSpPr txBox="1"/>
          <p:nvPr/>
        </p:nvSpPr>
        <p:spPr>
          <a:xfrm>
            <a:off x="320040" y="2971800"/>
            <a:ext cx="11521440" cy="548640"/>
          </a:xfrm>
          <a:prstGeom prst="rect">
            <a:avLst/>
          </a:prstGeom>
          <a:noFill/>
        </p:spPr>
        <p:txBody>
          <a:bodyPr wrap="none">
            <a:spAutoFit/>
          </a:bodyPr>
          <a:lstStyle/>
          <a:p>
            <a:endParaRPr dirty="0"/>
          </a:p>
          <a:p>
            <a:pPr algn="l">
              <a:spcBef>
                <a:spcPts val="0"/>
              </a:spcBef>
              <a:spcAft>
                <a:spcPts val="0"/>
              </a:spcAft>
            </a:pPr>
            <a:r>
              <a:rPr sz="1400" b="0" dirty="0">
                <a:solidFill>
                  <a:srgbClr val="1A1A1A"/>
                </a:solidFill>
                <a:latin typeface="Calibri"/>
              </a:rPr>
              <a:t>The Procurement Manager called it 'information logistics' — work that stands between the team and the judgment call they're paid to make.</a:t>
            </a:r>
          </a:p>
        </p:txBody>
      </p:sp>
      <p:sp>
        <p:nvSpPr>
          <p:cNvPr id="17" name="TextBox 16"/>
          <p:cNvSpPr txBox="1"/>
          <p:nvPr/>
        </p:nvSpPr>
        <p:spPr>
          <a:xfrm>
            <a:off x="320040" y="3611880"/>
            <a:ext cx="11521440" cy="365760"/>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Four ways the manual process fails consistently:</a:t>
            </a:r>
          </a:p>
        </p:txBody>
      </p:sp>
      <p:sp>
        <p:nvSpPr>
          <p:cNvPr id="18" name="TextBox 17"/>
          <p:cNvSpPr txBox="1"/>
          <p:nvPr/>
        </p:nvSpPr>
        <p:spPr>
          <a:xfrm>
            <a:off x="320040" y="4194556"/>
            <a:ext cx="11521440" cy="2560320"/>
          </a:xfrm>
          <a:prstGeom prst="rect">
            <a:avLst/>
          </a:prstGeom>
          <a:noFill/>
        </p:spPr>
        <p:txBody>
          <a:bodyPr wrap="square">
            <a:spAutoFit/>
          </a:bodyPr>
          <a:lstStyle/>
          <a:p>
            <a:pPr algn="l">
              <a:spcBef>
                <a:spcPts val="600"/>
              </a:spcBef>
            </a:pPr>
            <a:r>
              <a:rPr sz="1300">
                <a:solidFill>
                  <a:srgbClr val="1A1A1A"/>
                </a:solidFill>
                <a:latin typeface="Calibri"/>
              </a:rPr>
              <a:t>❶  Wrong contract version pulled → missed penalty clause before negotiation</a:t>
            </a:r>
          </a:p>
          <a:p>
            <a:pPr algn="l">
              <a:spcBef>
                <a:spcPts val="600"/>
              </a:spcBef>
            </a:pPr>
            <a:r>
              <a:rPr sz="1300">
                <a:solidFill>
                  <a:srgbClr val="1A1A1A"/>
                </a:solidFill>
                <a:latin typeface="Calibri"/>
              </a:rPr>
              <a:t>❷  Open dispute threads go cold → unresolved delivery or quality issues forgotten by next meeting</a:t>
            </a:r>
          </a:p>
          <a:p>
            <a:pPr algn="l">
              <a:spcBef>
                <a:spcPts val="600"/>
              </a:spcBef>
            </a:pPr>
            <a:r>
              <a:rPr sz="1300">
                <a:solidFill>
                  <a:srgbClr val="1A1A1A"/>
                </a:solidFill>
                <a:latin typeface="Calibri"/>
              </a:rPr>
              <a:t>❸  Benchmark data stale → manager walks into cocoa or sugar negotiation without knowing where market moved</a:t>
            </a:r>
          </a:p>
          <a:p>
            <a:pPr algn="l">
              <a:spcBef>
                <a:spcPts val="600"/>
              </a:spcBef>
            </a:pPr>
            <a:r>
              <a:rPr sz="1300">
                <a:solidFill>
                  <a:srgbClr val="1A1A1A"/>
                </a:solidFill>
                <a:latin typeface="Calibri"/>
              </a:rPr>
              <a:t>❹  Expired contract not flagged → team operates on informal terms for months before anyone notices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Stakeholder Map</a:t>
            </a:r>
          </a:p>
        </p:txBody>
      </p:sp>
      <p:sp>
        <p:nvSpPr>
          <p:cNvPr id="4" name="TextBox 3"/>
          <p:cNvSpPr txBox="1"/>
          <p:nvPr/>
        </p:nvSpPr>
        <p:spPr>
          <a:xfrm>
            <a:off x="182880" y="685800"/>
            <a:ext cx="3847913" cy="569387"/>
          </a:xfrm>
          <a:prstGeom prst="rect">
            <a:avLst/>
          </a:prstGeom>
          <a:noFill/>
        </p:spPr>
        <p:txBody>
          <a:bodyPr wrap="none">
            <a:spAutoFit/>
          </a:bodyPr>
          <a:lstStyle/>
          <a:p>
            <a:endParaRPr dirty="0"/>
          </a:p>
          <a:p>
            <a:pPr algn="l">
              <a:spcBef>
                <a:spcPts val="0"/>
              </a:spcBef>
              <a:spcAft>
                <a:spcPts val="0"/>
              </a:spcAft>
            </a:pPr>
            <a:r>
              <a:rPr sz="1300" b="0" dirty="0">
                <a:solidFill>
                  <a:srgbClr val="555555"/>
                </a:solidFill>
                <a:latin typeface="Calibri"/>
              </a:rPr>
              <a:t>Who uses this, who might resist, and my read on </a:t>
            </a:r>
            <a:r>
              <a:rPr sz="1300" b="0" dirty="0" smtClean="0">
                <a:solidFill>
                  <a:srgbClr val="555555"/>
                </a:solidFill>
                <a:latin typeface="Calibri"/>
              </a:rPr>
              <a:t>each</a:t>
            </a:r>
            <a:endParaRPr lang="en-US" sz="1300" b="0" dirty="0" smtClean="0">
              <a:solidFill>
                <a:srgbClr val="555555"/>
              </a:solidFill>
              <a:latin typeface="Calibri"/>
            </a:endParaRP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182880" y="1170432"/>
            <a:ext cx="1463040" cy="411480"/>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7744" y="1721612"/>
            <a:ext cx="1353312" cy="338328"/>
          </a:xfrm>
          <a:prstGeom prst="rect">
            <a:avLst/>
          </a:prstGeom>
          <a:noFill/>
        </p:spPr>
        <p:txBody>
          <a:bodyPr wrap="square">
            <a:spAutoFit/>
          </a:bodyPr>
          <a:lstStyle/>
          <a:p>
            <a:endParaRPr/>
          </a:p>
          <a:p>
            <a:pPr algn="l">
              <a:spcBef>
                <a:spcPts val="0"/>
              </a:spcBef>
              <a:spcAft>
                <a:spcPts val="0"/>
              </a:spcAft>
            </a:pPr>
            <a:r>
              <a:rPr sz="1000" b="1">
                <a:solidFill>
                  <a:srgbClr val="FFFFFF"/>
                </a:solidFill>
                <a:latin typeface="Calibri"/>
              </a:rPr>
              <a:t>Stakeholder</a:t>
            </a:r>
          </a:p>
        </p:txBody>
      </p:sp>
      <p:sp>
        <p:nvSpPr>
          <p:cNvPr id="9" name="Rectangle 8"/>
          <p:cNvSpPr/>
          <p:nvPr/>
        </p:nvSpPr>
        <p:spPr>
          <a:xfrm>
            <a:off x="1737360" y="1170432"/>
            <a:ext cx="1828800" cy="411480"/>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810512" y="1216152"/>
            <a:ext cx="1719072" cy="338328"/>
          </a:xfrm>
          <a:prstGeom prst="rect">
            <a:avLst/>
          </a:prstGeom>
          <a:noFill/>
        </p:spPr>
        <p:txBody>
          <a:bodyPr wrap="square">
            <a:spAutoFit/>
          </a:bodyPr>
          <a:lstStyle/>
          <a:p>
            <a:endParaRPr/>
          </a:p>
          <a:p>
            <a:pPr algn="l">
              <a:spcBef>
                <a:spcPts val="0"/>
              </a:spcBef>
              <a:spcAft>
                <a:spcPts val="0"/>
              </a:spcAft>
            </a:pPr>
            <a:r>
              <a:rPr sz="1000" b="1">
                <a:solidFill>
                  <a:srgbClr val="FFFFFF"/>
                </a:solidFill>
                <a:latin typeface="Calibri"/>
              </a:rPr>
              <a:t>Role</a:t>
            </a:r>
          </a:p>
        </p:txBody>
      </p:sp>
      <p:sp>
        <p:nvSpPr>
          <p:cNvPr id="11" name="Rectangle 10"/>
          <p:cNvSpPr/>
          <p:nvPr/>
        </p:nvSpPr>
        <p:spPr>
          <a:xfrm>
            <a:off x="3657600" y="1170432"/>
            <a:ext cx="2286000" cy="411480"/>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30752" y="1216152"/>
            <a:ext cx="2176272" cy="338328"/>
          </a:xfrm>
          <a:prstGeom prst="rect">
            <a:avLst/>
          </a:prstGeom>
          <a:noFill/>
        </p:spPr>
        <p:txBody>
          <a:bodyPr wrap="square">
            <a:spAutoFit/>
          </a:bodyPr>
          <a:lstStyle/>
          <a:p>
            <a:endParaRPr/>
          </a:p>
          <a:p>
            <a:pPr algn="l">
              <a:spcBef>
                <a:spcPts val="0"/>
              </a:spcBef>
              <a:spcAft>
                <a:spcPts val="0"/>
              </a:spcAft>
            </a:pPr>
            <a:r>
              <a:rPr sz="1000" b="1">
                <a:solidFill>
                  <a:srgbClr val="FFFFFF"/>
                </a:solidFill>
                <a:latin typeface="Calibri"/>
              </a:rPr>
              <a:t>What they need</a:t>
            </a:r>
          </a:p>
        </p:txBody>
      </p:sp>
      <p:sp>
        <p:nvSpPr>
          <p:cNvPr id="13" name="Rectangle 12"/>
          <p:cNvSpPr/>
          <p:nvPr/>
        </p:nvSpPr>
        <p:spPr>
          <a:xfrm>
            <a:off x="6035040" y="1170432"/>
            <a:ext cx="5577840" cy="411480"/>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08192" y="1216152"/>
            <a:ext cx="5468112" cy="338328"/>
          </a:xfrm>
          <a:prstGeom prst="rect">
            <a:avLst/>
          </a:prstGeom>
          <a:noFill/>
        </p:spPr>
        <p:txBody>
          <a:bodyPr wrap="square">
            <a:spAutoFit/>
          </a:bodyPr>
          <a:lstStyle/>
          <a:p>
            <a:endParaRPr/>
          </a:p>
          <a:p>
            <a:pPr algn="l">
              <a:spcBef>
                <a:spcPts val="0"/>
              </a:spcBef>
              <a:spcAft>
                <a:spcPts val="0"/>
              </a:spcAft>
            </a:pPr>
            <a:r>
              <a:rPr sz="1000" b="1">
                <a:solidFill>
                  <a:srgbClr val="FFFFFF"/>
                </a:solidFill>
                <a:latin typeface="Calibri"/>
              </a:rPr>
              <a:t>My read</a:t>
            </a:r>
          </a:p>
        </p:txBody>
      </p:sp>
      <p:sp>
        <p:nvSpPr>
          <p:cNvPr id="15" name="Rectangle 14"/>
          <p:cNvSpPr/>
          <p:nvPr/>
        </p:nvSpPr>
        <p:spPr>
          <a:xfrm>
            <a:off x="182880" y="2249424"/>
            <a:ext cx="146304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7744" y="2020570"/>
            <a:ext cx="1353312" cy="914400"/>
          </a:xfrm>
          <a:prstGeom prst="rect">
            <a:avLst/>
          </a:prstGeom>
          <a:noFill/>
        </p:spPr>
        <p:txBody>
          <a:bodyPr wrap="square">
            <a:spAutoFit/>
          </a:bodyPr>
          <a:lstStyle/>
          <a:p>
            <a:endParaRPr dirty="0"/>
          </a:p>
          <a:p>
            <a:pPr algn="l">
              <a:spcBef>
                <a:spcPts val="0"/>
              </a:spcBef>
              <a:spcAft>
                <a:spcPts val="0"/>
              </a:spcAft>
            </a:pPr>
            <a:r>
              <a:rPr sz="1100" b="1" dirty="0">
                <a:solidFill>
                  <a:srgbClr val="C8102E"/>
                </a:solidFill>
                <a:latin typeface="Calibri"/>
              </a:rPr>
              <a:t>Procurement
Manager</a:t>
            </a:r>
            <a:r>
              <a:rPr dirty="0"/>
              <a:t/>
            </a:r>
            <a:br>
              <a:rPr dirty="0"/>
            </a:br>
            <a:r>
              <a:rPr dirty="0" err="1"/>
              <a:t>Manager</a:t>
            </a:r>
            <a:endParaRPr dirty="0"/>
          </a:p>
        </p:txBody>
      </p:sp>
      <p:sp>
        <p:nvSpPr>
          <p:cNvPr id="17" name="Rectangle 16"/>
          <p:cNvSpPr/>
          <p:nvPr/>
        </p:nvSpPr>
        <p:spPr>
          <a:xfrm>
            <a:off x="1737360" y="2249424"/>
            <a:ext cx="18288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810512" y="2041144"/>
            <a:ext cx="1719072" cy="914400"/>
          </a:xfrm>
          <a:prstGeom prst="rect">
            <a:avLst/>
          </a:prstGeom>
          <a:noFill/>
        </p:spPr>
        <p:txBody>
          <a:bodyPr wrap="square">
            <a:spAutoFit/>
          </a:bodyPr>
          <a:lstStyle/>
          <a:p>
            <a:endParaRPr dirty="0"/>
          </a:p>
          <a:p>
            <a:pPr algn="l">
              <a:spcBef>
                <a:spcPts val="0"/>
              </a:spcBef>
              <a:spcAft>
                <a:spcPts val="0"/>
              </a:spcAft>
            </a:pPr>
            <a:r>
              <a:rPr sz="1100" b="0" dirty="0">
                <a:solidFill>
                  <a:srgbClr val="1A1A1A"/>
                </a:solidFill>
                <a:latin typeface="Calibri"/>
              </a:rPr>
              <a:t>Primary user
Internal champion</a:t>
            </a:r>
            <a:r>
              <a:rPr dirty="0"/>
              <a:t/>
            </a:r>
            <a:br>
              <a:rPr dirty="0"/>
            </a:br>
            <a:r>
              <a:rPr dirty="0"/>
              <a:t>Internal champion</a:t>
            </a:r>
          </a:p>
        </p:txBody>
      </p:sp>
      <p:sp>
        <p:nvSpPr>
          <p:cNvPr id="19" name="Rectangle 18"/>
          <p:cNvSpPr/>
          <p:nvPr/>
        </p:nvSpPr>
        <p:spPr>
          <a:xfrm>
            <a:off x="3657600" y="2249424"/>
            <a:ext cx="22860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712464" y="2020570"/>
            <a:ext cx="2176272" cy="914400"/>
          </a:xfrm>
          <a:prstGeom prst="rect">
            <a:avLst/>
          </a:prstGeom>
          <a:noFill/>
        </p:spPr>
        <p:txBody>
          <a:bodyPr wrap="square">
            <a:spAutoFit/>
          </a:bodyPr>
          <a:lstStyle/>
          <a:p>
            <a:endParaRPr dirty="0"/>
          </a:p>
          <a:p>
            <a:pPr algn="l">
              <a:spcBef>
                <a:spcPts val="0"/>
              </a:spcBef>
              <a:spcAft>
                <a:spcPts val="0"/>
              </a:spcAft>
            </a:pPr>
            <a:r>
              <a:rPr sz="1100" b="0" dirty="0">
                <a:solidFill>
                  <a:srgbClr val="1A1A1A"/>
                </a:solidFill>
                <a:latin typeface="Calibri"/>
              </a:rPr>
              <a:t>Speed + accuracy
Visible conflict flags</a:t>
            </a:r>
            <a:r>
              <a:rPr dirty="0"/>
              <a:t/>
            </a:r>
            <a:br>
              <a:rPr dirty="0"/>
            </a:br>
            <a:r>
              <a:rPr dirty="0"/>
              <a:t>Visible conflict flags</a:t>
            </a:r>
          </a:p>
        </p:txBody>
      </p:sp>
      <p:sp>
        <p:nvSpPr>
          <p:cNvPr id="21" name="Rectangle 20"/>
          <p:cNvSpPr/>
          <p:nvPr/>
        </p:nvSpPr>
        <p:spPr>
          <a:xfrm>
            <a:off x="6035040" y="2249424"/>
            <a:ext cx="557784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089904" y="1957070"/>
            <a:ext cx="5468112" cy="914400"/>
          </a:xfrm>
          <a:prstGeom prst="rect">
            <a:avLst/>
          </a:prstGeom>
          <a:noFill/>
        </p:spPr>
        <p:txBody>
          <a:bodyPr wrap="square">
            <a:spAutoFit/>
          </a:bodyPr>
          <a:lstStyle/>
          <a:p>
            <a:endParaRPr dirty="0"/>
          </a:p>
          <a:p>
            <a:pPr algn="l">
              <a:spcBef>
                <a:spcPts val="0"/>
              </a:spcBef>
              <a:spcAft>
                <a:spcPts val="0"/>
              </a:spcAft>
            </a:pPr>
            <a:r>
              <a:rPr sz="1000" b="0" dirty="0">
                <a:solidFill>
                  <a:srgbClr val="1A1A1A"/>
                </a:solidFill>
                <a:latin typeface="Calibri"/>
              </a:rPr>
              <a:t>Strongest ally. Named the problem themselves.
Will adopt fast if first packet catches something real.
Risk: one factual error in demo = trust is hard to rebuild.</a:t>
            </a:r>
            <a:r>
              <a:rPr dirty="0"/>
              <a:t/>
            </a:r>
            <a:br>
              <a:rPr dirty="0"/>
            </a:br>
            <a:r>
              <a:rPr dirty="0"/>
              <a:t>Will adopt fast if first packet catches something real.</a:t>
            </a:r>
            <a:br>
              <a:rPr dirty="0"/>
            </a:br>
            <a:r>
              <a:rPr dirty="0"/>
              <a:t>Risk: one factual error in demo = trust is hard to rebuild.</a:t>
            </a:r>
          </a:p>
        </p:txBody>
      </p:sp>
      <p:sp>
        <p:nvSpPr>
          <p:cNvPr id="23" name="Rectangle 22"/>
          <p:cNvSpPr/>
          <p:nvPr/>
        </p:nvSpPr>
        <p:spPr>
          <a:xfrm>
            <a:off x="182880" y="3328415"/>
            <a:ext cx="146304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6032" y="3374135"/>
            <a:ext cx="1353312" cy="914400"/>
          </a:xfrm>
          <a:prstGeom prst="rect">
            <a:avLst/>
          </a:prstGeom>
          <a:noFill/>
        </p:spPr>
        <p:txBody>
          <a:bodyPr wrap="square">
            <a:spAutoFit/>
          </a:bodyPr>
          <a:lstStyle/>
          <a:p>
            <a:endParaRPr/>
          </a:p>
          <a:p>
            <a:pPr algn="l">
              <a:spcBef>
                <a:spcPts val="0"/>
              </a:spcBef>
              <a:spcAft>
                <a:spcPts val="0"/>
              </a:spcAft>
            </a:pPr>
            <a:r>
              <a:rPr sz="1100" b="1">
                <a:solidFill>
                  <a:srgbClr val="C8102E"/>
                </a:solidFill>
                <a:latin typeface="Calibri"/>
              </a:rPr>
              <a:t>Procurement
Analyst</a:t>
            </a:r>
            <a:r>
              <a:t/>
            </a:r>
            <a:br/>
            <a:r>
              <a:t>Analyst</a:t>
            </a:r>
          </a:p>
        </p:txBody>
      </p:sp>
      <p:sp>
        <p:nvSpPr>
          <p:cNvPr id="25" name="Rectangle 24"/>
          <p:cNvSpPr/>
          <p:nvPr/>
        </p:nvSpPr>
        <p:spPr>
          <a:xfrm>
            <a:off x="1737360" y="3328415"/>
            <a:ext cx="182880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810512" y="3374135"/>
            <a:ext cx="17190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Day-to-day user
QA reviewer</a:t>
            </a:r>
            <a:r>
              <a:t/>
            </a:r>
            <a:br/>
            <a:r>
              <a:t>QA reviewer</a:t>
            </a:r>
          </a:p>
        </p:txBody>
      </p:sp>
      <p:sp>
        <p:nvSpPr>
          <p:cNvPr id="27" name="Rectangle 26"/>
          <p:cNvSpPr/>
          <p:nvPr/>
        </p:nvSpPr>
        <p:spPr>
          <a:xfrm>
            <a:off x="3657600" y="3328415"/>
            <a:ext cx="228600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730752" y="3374135"/>
            <a:ext cx="21762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Reduction in manual work
Enough trust to stake prep on it</a:t>
            </a:r>
            <a:r>
              <a:t/>
            </a:r>
            <a:br/>
            <a:r>
              <a:t>Enough trust to stake prep on it</a:t>
            </a:r>
          </a:p>
        </p:txBody>
      </p:sp>
      <p:sp>
        <p:nvSpPr>
          <p:cNvPr id="29" name="Rectangle 28"/>
          <p:cNvSpPr/>
          <p:nvPr/>
        </p:nvSpPr>
        <p:spPr>
          <a:xfrm>
            <a:off x="6035040" y="3328415"/>
            <a:ext cx="557784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08192" y="3374135"/>
            <a:ext cx="5468112" cy="914400"/>
          </a:xfrm>
          <a:prstGeom prst="rect">
            <a:avLst/>
          </a:prstGeom>
          <a:noFill/>
        </p:spPr>
        <p:txBody>
          <a:bodyPr wrap="square">
            <a:spAutoFit/>
          </a:bodyPr>
          <a:lstStyle/>
          <a:p>
            <a:endParaRPr/>
          </a:p>
          <a:p>
            <a:pPr algn="l">
              <a:spcBef>
                <a:spcPts val="0"/>
              </a:spcBef>
              <a:spcAft>
                <a:spcPts val="0"/>
              </a:spcAft>
            </a:pPr>
            <a:r>
              <a:rPr sz="1000" b="0">
                <a:solidFill>
                  <a:srgbClr val="1A1A1A"/>
                </a:solidFill>
                <a:latin typeface="Calibri"/>
              </a:rPr>
              <a:t>Highest adoption risk. Won't say they feel threatened.
Will say 'the output is wrong' or 'it adds a review step.'
Counter: involve them in Phase 1 QA. Make corrections visibly theirs.</a:t>
            </a:r>
            <a:r>
              <a:t/>
            </a:r>
            <a:br/>
            <a:r>
              <a:t>Will say 'the output is wrong' or 'it adds a review step.'</a:t>
            </a:r>
            <a:br/>
            <a:r>
              <a:t>Counter: involve them in Phase 1 QA. Make corrections visibly theirs.</a:t>
            </a:r>
          </a:p>
        </p:txBody>
      </p:sp>
      <p:sp>
        <p:nvSpPr>
          <p:cNvPr id="31" name="Rectangle 30"/>
          <p:cNvSpPr/>
          <p:nvPr/>
        </p:nvSpPr>
        <p:spPr>
          <a:xfrm>
            <a:off x="182880" y="4407408"/>
            <a:ext cx="146304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6032" y="4453128"/>
            <a:ext cx="1353312" cy="914400"/>
          </a:xfrm>
          <a:prstGeom prst="rect">
            <a:avLst/>
          </a:prstGeom>
          <a:noFill/>
        </p:spPr>
        <p:txBody>
          <a:bodyPr wrap="square">
            <a:spAutoFit/>
          </a:bodyPr>
          <a:lstStyle/>
          <a:p>
            <a:endParaRPr/>
          </a:p>
          <a:p>
            <a:pPr algn="l">
              <a:spcBef>
                <a:spcPts val="0"/>
              </a:spcBef>
              <a:spcAft>
                <a:spcPts val="0"/>
              </a:spcAft>
            </a:pPr>
            <a:r>
              <a:rPr sz="1100" b="1">
                <a:solidFill>
                  <a:srgbClr val="C8102E"/>
                </a:solidFill>
                <a:latin typeface="Calibri"/>
              </a:rPr>
              <a:t>IT / Systems</a:t>
            </a:r>
          </a:p>
        </p:txBody>
      </p:sp>
      <p:sp>
        <p:nvSpPr>
          <p:cNvPr id="33" name="Rectangle 32"/>
          <p:cNvSpPr/>
          <p:nvPr/>
        </p:nvSpPr>
        <p:spPr>
          <a:xfrm>
            <a:off x="1737360" y="4407408"/>
            <a:ext cx="18288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810512" y="4453128"/>
            <a:ext cx="17190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Enabler for
production path</a:t>
            </a:r>
            <a:r>
              <a:t/>
            </a:r>
            <a:br/>
            <a:r>
              <a:t>production path</a:t>
            </a:r>
          </a:p>
        </p:txBody>
      </p:sp>
      <p:sp>
        <p:nvSpPr>
          <p:cNvPr id="35" name="Rectangle 34"/>
          <p:cNvSpPr/>
          <p:nvPr/>
        </p:nvSpPr>
        <p:spPr>
          <a:xfrm>
            <a:off x="3657600" y="4407408"/>
            <a:ext cx="22860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730752" y="4453128"/>
            <a:ext cx="21762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Security review
Data governance
API key management</a:t>
            </a:r>
            <a:r>
              <a:t/>
            </a:r>
            <a:br/>
            <a:r>
              <a:t>Data governance</a:t>
            </a:r>
            <a:br/>
            <a:r>
              <a:t>API key management</a:t>
            </a:r>
          </a:p>
        </p:txBody>
      </p:sp>
      <p:sp>
        <p:nvSpPr>
          <p:cNvPr id="37" name="Rectangle 36"/>
          <p:cNvSpPr/>
          <p:nvPr/>
        </p:nvSpPr>
        <p:spPr>
          <a:xfrm>
            <a:off x="6035040" y="4407408"/>
            <a:ext cx="557784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108192" y="4453128"/>
            <a:ext cx="5468112" cy="914400"/>
          </a:xfrm>
          <a:prstGeom prst="rect">
            <a:avLst/>
          </a:prstGeom>
          <a:noFill/>
        </p:spPr>
        <p:txBody>
          <a:bodyPr wrap="square">
            <a:spAutoFit/>
          </a:bodyPr>
          <a:lstStyle/>
          <a:p>
            <a:endParaRPr/>
          </a:p>
          <a:p>
            <a:pPr algn="l">
              <a:spcBef>
                <a:spcPts val="0"/>
              </a:spcBef>
              <a:spcAft>
                <a:spcPts val="0"/>
              </a:spcAft>
            </a:pPr>
            <a:r>
              <a:rPr sz="1000" b="0">
                <a:solidFill>
                  <a:srgbClr val="1A1A1A"/>
                </a:solidFill>
                <a:latin typeface="Calibri"/>
              </a:rPr>
              <a:t>Not a blocker for prototype (static files, nothing touches live systems).
Critical gating stakeholder for Phase 2.
Needs early visibility, not a last-minute ask.</a:t>
            </a:r>
            <a:r>
              <a:t/>
            </a:r>
            <a:br/>
            <a:r>
              <a:t>Critical gating stakeholder for Phase 2.</a:t>
            </a:r>
            <a:br/>
            <a:r>
              <a:t>Needs early visibility, not a last-minute ask.</a:t>
            </a:r>
          </a:p>
        </p:txBody>
      </p:sp>
      <p:sp>
        <p:nvSpPr>
          <p:cNvPr id="39" name="Rectangle 38"/>
          <p:cNvSpPr/>
          <p:nvPr/>
        </p:nvSpPr>
        <p:spPr>
          <a:xfrm>
            <a:off x="182880" y="5486400"/>
            <a:ext cx="146304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56032" y="5532120"/>
            <a:ext cx="1353312" cy="914400"/>
          </a:xfrm>
          <a:prstGeom prst="rect">
            <a:avLst/>
          </a:prstGeom>
          <a:noFill/>
        </p:spPr>
        <p:txBody>
          <a:bodyPr wrap="square">
            <a:spAutoFit/>
          </a:bodyPr>
          <a:lstStyle/>
          <a:p>
            <a:endParaRPr/>
          </a:p>
          <a:p>
            <a:pPr algn="l">
              <a:spcBef>
                <a:spcPts val="0"/>
              </a:spcBef>
              <a:spcAft>
                <a:spcPts val="0"/>
              </a:spcAft>
            </a:pPr>
            <a:r>
              <a:rPr sz="1100" b="1">
                <a:solidFill>
                  <a:srgbClr val="C8102E"/>
                </a:solidFill>
                <a:latin typeface="Calibri"/>
              </a:rPr>
              <a:t>Legal /
Compliance</a:t>
            </a:r>
            <a:r>
              <a:t/>
            </a:r>
            <a:br/>
            <a:r>
              <a:t>Compliance</a:t>
            </a:r>
          </a:p>
        </p:txBody>
      </p:sp>
      <p:sp>
        <p:nvSpPr>
          <p:cNvPr id="41" name="Rectangle 40"/>
          <p:cNvSpPr/>
          <p:nvPr/>
        </p:nvSpPr>
        <p:spPr>
          <a:xfrm>
            <a:off x="1737360" y="5486400"/>
            <a:ext cx="182880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810512" y="5532120"/>
            <a:ext cx="17190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Risk owner</a:t>
            </a:r>
          </a:p>
        </p:txBody>
      </p:sp>
      <p:sp>
        <p:nvSpPr>
          <p:cNvPr id="43" name="Rectangle 42"/>
          <p:cNvSpPr/>
          <p:nvPr/>
        </p:nvSpPr>
        <p:spPr>
          <a:xfrm>
            <a:off x="3657600" y="5486400"/>
            <a:ext cx="228600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730752" y="5532120"/>
            <a:ext cx="21762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AI output not treated
as authoritative
without human review</a:t>
            </a:r>
            <a:r>
              <a:t/>
            </a:r>
            <a:br/>
            <a:r>
              <a:t>as authoritative</a:t>
            </a:r>
            <a:br/>
            <a:r>
              <a:t>without human review</a:t>
            </a:r>
          </a:p>
        </p:txBody>
      </p:sp>
      <p:sp>
        <p:nvSpPr>
          <p:cNvPr id="45" name="Rectangle 44"/>
          <p:cNvSpPr/>
          <p:nvPr/>
        </p:nvSpPr>
        <p:spPr>
          <a:xfrm>
            <a:off x="6035040" y="5486400"/>
            <a:ext cx="557784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108192" y="5532120"/>
            <a:ext cx="5468112" cy="914400"/>
          </a:xfrm>
          <a:prstGeom prst="rect">
            <a:avLst/>
          </a:prstGeom>
          <a:noFill/>
        </p:spPr>
        <p:txBody>
          <a:bodyPr wrap="square">
            <a:spAutoFit/>
          </a:bodyPr>
          <a:lstStyle/>
          <a:p>
            <a:endParaRPr/>
          </a:p>
          <a:p>
            <a:pPr algn="l">
              <a:spcBef>
                <a:spcPts val="0"/>
              </a:spcBef>
              <a:spcAft>
                <a:spcPts val="0"/>
              </a:spcAft>
            </a:pPr>
            <a:r>
              <a:rPr sz="1000" b="0">
                <a:solidFill>
                  <a:srgbClr val="1A1A1A"/>
                </a:solidFill>
                <a:latin typeface="Calibri"/>
              </a:rPr>
              <a:t>Potentially cautious. Answer: every fact has a source citation.
Frame as 'surfaces for review' not 'interprets contracts.'
Correction mechanism is the direct answer to their concern.</a:t>
            </a:r>
            <a:r>
              <a:t/>
            </a:r>
            <a:br/>
            <a:r>
              <a:t>Frame as 'surfaces for review' not 'interprets contracts.'</a:t>
            </a:r>
            <a:br/>
            <a:r>
              <a:t>Correction mechanism is the direct answer to their concern.</a:t>
            </a:r>
          </a:p>
        </p:txBody>
      </p:sp>
      <p:sp>
        <p:nvSpPr>
          <p:cNvPr id="47" name="Rectangle 46"/>
          <p:cNvSpPr/>
          <p:nvPr/>
        </p:nvSpPr>
        <p:spPr>
          <a:xfrm>
            <a:off x="182880" y="6565392"/>
            <a:ext cx="146304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56032" y="6611112"/>
            <a:ext cx="1353312" cy="914400"/>
          </a:xfrm>
          <a:prstGeom prst="rect">
            <a:avLst/>
          </a:prstGeom>
          <a:noFill/>
        </p:spPr>
        <p:txBody>
          <a:bodyPr wrap="square">
            <a:spAutoFit/>
          </a:bodyPr>
          <a:lstStyle/>
          <a:p>
            <a:endParaRPr/>
          </a:p>
          <a:p>
            <a:pPr algn="l">
              <a:spcBef>
                <a:spcPts val="0"/>
              </a:spcBef>
              <a:spcAft>
                <a:spcPts val="0"/>
              </a:spcAft>
            </a:pPr>
            <a:r>
              <a:rPr sz="1100" b="1">
                <a:solidFill>
                  <a:srgbClr val="C8102E"/>
                </a:solidFill>
                <a:latin typeface="Calibri"/>
              </a:rPr>
              <a:t>Finance / CFO</a:t>
            </a:r>
          </a:p>
        </p:txBody>
      </p:sp>
      <p:sp>
        <p:nvSpPr>
          <p:cNvPr id="49" name="Rectangle 48"/>
          <p:cNvSpPr/>
          <p:nvPr/>
        </p:nvSpPr>
        <p:spPr>
          <a:xfrm>
            <a:off x="1737360" y="6565392"/>
            <a:ext cx="18288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810512" y="6611112"/>
            <a:ext cx="17190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Cost approver</a:t>
            </a:r>
          </a:p>
        </p:txBody>
      </p:sp>
      <p:sp>
        <p:nvSpPr>
          <p:cNvPr id="51" name="Rectangle 50"/>
          <p:cNvSpPr/>
          <p:nvPr/>
        </p:nvSpPr>
        <p:spPr>
          <a:xfrm>
            <a:off x="3657600" y="6565392"/>
            <a:ext cx="22860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730752" y="6611112"/>
            <a:ext cx="21762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Measurable ROI
in 90 days</a:t>
            </a:r>
            <a:r>
              <a:t/>
            </a:r>
            <a:br/>
            <a:r>
              <a:t>in 90 days</a:t>
            </a:r>
          </a:p>
        </p:txBody>
      </p:sp>
      <p:sp>
        <p:nvSpPr>
          <p:cNvPr id="53" name="Rectangle 52"/>
          <p:cNvSpPr/>
          <p:nvPr/>
        </p:nvSpPr>
        <p:spPr>
          <a:xfrm>
            <a:off x="6035040" y="6565392"/>
            <a:ext cx="557784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108192" y="6611112"/>
            <a:ext cx="5468112" cy="914400"/>
          </a:xfrm>
          <a:prstGeom prst="rect">
            <a:avLst/>
          </a:prstGeom>
          <a:noFill/>
        </p:spPr>
        <p:txBody>
          <a:bodyPr wrap="square">
            <a:spAutoFit/>
          </a:bodyPr>
          <a:lstStyle/>
          <a:p>
            <a:endParaRPr/>
          </a:p>
          <a:p>
            <a:pPr algn="l">
              <a:spcBef>
                <a:spcPts val="0"/>
              </a:spcBef>
              <a:spcAft>
                <a:spcPts val="0"/>
              </a:spcAft>
            </a:pPr>
            <a:r>
              <a:rPr sz="1000" b="0">
                <a:solidFill>
                  <a:srgbClr val="1A1A1A"/>
                </a:solidFill>
                <a:latin typeface="Calibri"/>
              </a:rPr>
              <a:t>Not a day-one stakeholder. Bring the ROI case at month 3.
Lead with labor cost avoidance (conservative, auditable).
Not speculative negotiation savings.</a:t>
            </a:r>
            <a:r>
              <a:t/>
            </a:r>
            <a:br/>
            <a:r>
              <a:t>Lead with labor cost avoidance (conservative, auditable).</a:t>
            </a:r>
            <a:br/>
            <a:r>
              <a:t>Not speculative negotiation savings.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Week 1 Plan</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Five things before touching any technology</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182880" y="1243584"/>
            <a:ext cx="54864" cy="82296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70432"/>
            <a:ext cx="11430000" cy="347472"/>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1  Shadow a prep session in real time</a:t>
            </a:r>
          </a:p>
        </p:txBody>
      </p:sp>
      <p:sp>
        <p:nvSpPr>
          <p:cNvPr id="9" name="TextBox 8"/>
          <p:cNvSpPr txBox="1"/>
          <p:nvPr/>
        </p:nvSpPr>
        <p:spPr>
          <a:xfrm>
            <a:off x="365760" y="1517904"/>
            <a:ext cx="11430000" cy="685800"/>
          </a:xfrm>
          <a:prstGeom prst="rect">
            <a:avLst/>
          </a:prstGeom>
          <a:noFill/>
        </p:spPr>
        <p:txBody>
          <a:bodyPr wrap="square">
            <a:spAutoFit/>
          </a:bodyPr>
          <a:lstStyle/>
          <a:p>
            <a:endParaRPr/>
          </a:p>
          <a:p>
            <a:pPr algn="l">
              <a:spcBef>
                <a:spcPts val="0"/>
              </a:spcBef>
              <a:spcAft>
                <a:spcPts val="0"/>
              </a:spcAft>
            </a:pPr>
            <a:r>
              <a:rPr sz="1200" b="0">
                <a:solidFill>
                  <a:srgbClr val="1A1A1A"/>
                </a:solidFill>
                <a:latin typeface="Calibri"/>
              </a:rPr>
              <a:t>Sit next to an analyst while they prepare for an actual upcoming meeting. Don't ask them to describe the process — watch them do it. Note which tabs are open, how long each step takes, where they get stuck, what they skip when short on time. The stated process and the actual process are almost always different.</a:t>
            </a:r>
          </a:p>
        </p:txBody>
      </p:sp>
      <p:sp>
        <p:nvSpPr>
          <p:cNvPr id="10" name="Rectangle 9"/>
          <p:cNvSpPr/>
          <p:nvPr/>
        </p:nvSpPr>
        <p:spPr>
          <a:xfrm>
            <a:off x="182880" y="2340864"/>
            <a:ext cx="54864" cy="82296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2267712"/>
            <a:ext cx="11430000" cy="347472"/>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2  Interview the Procurement Manager separately</a:t>
            </a:r>
          </a:p>
        </p:txBody>
      </p:sp>
      <p:sp>
        <p:nvSpPr>
          <p:cNvPr id="12" name="TextBox 11"/>
          <p:cNvSpPr txBox="1"/>
          <p:nvPr/>
        </p:nvSpPr>
        <p:spPr>
          <a:xfrm>
            <a:off x="365760" y="2615184"/>
            <a:ext cx="11430000" cy="685800"/>
          </a:xfrm>
          <a:prstGeom prst="rect">
            <a:avLst/>
          </a:prstGeom>
          <a:noFill/>
        </p:spPr>
        <p:txBody>
          <a:bodyPr wrap="square">
            <a:spAutoFit/>
          </a:bodyPr>
          <a:lstStyle/>
          <a:p>
            <a:endParaRPr/>
          </a:p>
          <a:p>
            <a:pPr algn="l">
              <a:spcBef>
                <a:spcPts val="0"/>
              </a:spcBef>
              <a:spcAft>
                <a:spcPts val="0"/>
              </a:spcAft>
            </a:pPr>
            <a:r>
              <a:rPr sz="1200" b="0">
                <a:solidFill>
                  <a:srgbClr val="1A1A1A"/>
                </a:solidFill>
                <a:latin typeface="Calibri"/>
              </a:rPr>
              <a:t>Ask: what has gone wrong in a meeting because prep was incomplete? What did you wish you'd known walking in? What would you never trust a tool to get right? The second and third questions are as important as the first.</a:t>
            </a:r>
          </a:p>
        </p:txBody>
      </p:sp>
      <p:sp>
        <p:nvSpPr>
          <p:cNvPr id="13" name="Rectangle 12"/>
          <p:cNvSpPr/>
          <p:nvPr/>
        </p:nvSpPr>
        <p:spPr>
          <a:xfrm>
            <a:off x="182880" y="3438144"/>
            <a:ext cx="54864" cy="82296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3364991"/>
            <a:ext cx="11430000" cy="347472"/>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3  Audit the actual data sources — not descriptions of them</a:t>
            </a:r>
          </a:p>
        </p:txBody>
      </p:sp>
      <p:sp>
        <p:nvSpPr>
          <p:cNvPr id="15" name="TextBox 14"/>
          <p:cNvSpPr txBox="1"/>
          <p:nvPr/>
        </p:nvSpPr>
        <p:spPr>
          <a:xfrm>
            <a:off x="365760" y="3712463"/>
            <a:ext cx="11430000" cy="685800"/>
          </a:xfrm>
          <a:prstGeom prst="rect">
            <a:avLst/>
          </a:prstGeom>
          <a:noFill/>
        </p:spPr>
        <p:txBody>
          <a:bodyPr wrap="square">
            <a:spAutoFit/>
          </a:bodyPr>
          <a:lstStyle/>
          <a:p>
            <a:endParaRPr/>
          </a:p>
          <a:p>
            <a:pPr algn="l">
              <a:spcBef>
                <a:spcPts val="0"/>
              </a:spcBef>
              <a:spcAft>
                <a:spcPts val="0"/>
              </a:spcAft>
            </a:pPr>
            <a:r>
              <a:rPr sz="1200" b="0">
                <a:solidFill>
                  <a:srgbClr val="1A1A1A"/>
                </a:solidFill>
                <a:latin typeface="Calibri"/>
              </a:rPr>
              <a:t>Request read-only access to: one supplier email thread in Outlook, one contract on SharePoint, the price benchmark spreadsheet. Look at real messiness: how many threads per supplier, what the file naming convention actually is, who owns the price spreadsheet. You cannot design a robust extraction layer without seeing the raw input.</a:t>
            </a:r>
          </a:p>
        </p:txBody>
      </p:sp>
      <p:sp>
        <p:nvSpPr>
          <p:cNvPr id="16" name="Rectangle 15"/>
          <p:cNvSpPr/>
          <p:nvPr/>
        </p:nvSpPr>
        <p:spPr>
          <a:xfrm>
            <a:off x="182880" y="4535424"/>
            <a:ext cx="54864" cy="82296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4462272"/>
            <a:ext cx="11430000" cy="347472"/>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4  Map what a good packet looks like by working backwards</a:t>
            </a:r>
          </a:p>
        </p:txBody>
      </p:sp>
      <p:sp>
        <p:nvSpPr>
          <p:cNvPr id="18" name="TextBox 17"/>
          <p:cNvSpPr txBox="1"/>
          <p:nvPr/>
        </p:nvSpPr>
        <p:spPr>
          <a:xfrm>
            <a:off x="365760" y="4809744"/>
            <a:ext cx="11430000" cy="685800"/>
          </a:xfrm>
          <a:prstGeom prst="rect">
            <a:avLst/>
          </a:prstGeom>
          <a:noFill/>
        </p:spPr>
        <p:txBody>
          <a:bodyPr wrap="square">
            <a:spAutoFit/>
          </a:bodyPr>
          <a:lstStyle/>
          <a:p>
            <a:endParaRPr/>
          </a:p>
          <a:p>
            <a:pPr algn="l">
              <a:spcBef>
                <a:spcPts val="0"/>
              </a:spcBef>
              <a:spcAft>
                <a:spcPts val="0"/>
              </a:spcAft>
            </a:pPr>
            <a:r>
              <a:rPr sz="1200" b="0">
                <a:solidFill>
                  <a:srgbClr val="1A1A1A"/>
                </a:solidFill>
                <a:latin typeface="Calibri"/>
              </a:rPr>
              <a:t>Pick the three highest-stakes upcoming meetings. Ask the manager: if you had one page of perfect context for each, what would be on it? This surfaces the prioritisation the tool needs to make — what to include and, equally important, what to leave out.</a:t>
            </a:r>
          </a:p>
        </p:txBody>
      </p:sp>
      <p:sp>
        <p:nvSpPr>
          <p:cNvPr id="19" name="Rectangle 18"/>
          <p:cNvSpPr/>
          <p:nvPr/>
        </p:nvSpPr>
        <p:spPr>
          <a:xfrm>
            <a:off x="182880" y="5632704"/>
            <a:ext cx="54864" cy="82296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 y="5559552"/>
            <a:ext cx="11430000" cy="347472"/>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5  Identify the first real meeting to demo against</a:t>
            </a:r>
          </a:p>
        </p:txBody>
      </p:sp>
      <p:sp>
        <p:nvSpPr>
          <p:cNvPr id="21" name="TextBox 20"/>
          <p:cNvSpPr txBox="1"/>
          <p:nvPr/>
        </p:nvSpPr>
        <p:spPr>
          <a:xfrm>
            <a:off x="365760" y="5907024"/>
            <a:ext cx="11430000" cy="685800"/>
          </a:xfrm>
          <a:prstGeom prst="rect">
            <a:avLst/>
          </a:prstGeom>
          <a:noFill/>
        </p:spPr>
        <p:txBody>
          <a:bodyPr wrap="square">
            <a:spAutoFit/>
          </a:bodyPr>
          <a:lstStyle/>
          <a:p>
            <a:endParaRPr/>
          </a:p>
          <a:p>
            <a:pPr algn="l">
              <a:spcBef>
                <a:spcPts val="0"/>
              </a:spcBef>
              <a:spcAft>
                <a:spcPts val="0"/>
              </a:spcAft>
            </a:pPr>
            <a:r>
              <a:rPr sz="1200" b="0">
                <a:solidFill>
                  <a:srgbClr val="1A1A1A"/>
                </a:solidFill>
                <a:latin typeface="Calibri"/>
              </a:rPr>
              <a:t>Before building anything, agree on a specific upcoming meeting as the Phase 1 success test. Forces the stakeholder to commit to an evaluation moment. Means the first demo is not a toy example — it is something the manager actually cares about walking into.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What I Built</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One tool. One job. One page per meeting.</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320040" y="1188720"/>
            <a:ext cx="11521440" cy="1371600"/>
          </a:xfrm>
          <a:prstGeom prst="rect">
            <a:avLst/>
          </a:prstGeom>
          <a:solidFill>
            <a:srgbClr val="FBEBE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280160"/>
            <a:ext cx="11155680" cy="1188720"/>
          </a:xfrm>
          <a:prstGeom prst="rect">
            <a:avLst/>
          </a:prstGeom>
          <a:noFill/>
        </p:spPr>
        <p:txBody>
          <a:bodyPr wrap="square">
            <a:spAutoFit/>
          </a:bodyPr>
          <a:lstStyle/>
          <a:p>
            <a:endParaRPr/>
          </a:p>
          <a:p>
            <a:pPr algn="l">
              <a:spcBef>
                <a:spcPts val="0"/>
              </a:spcBef>
              <a:spcAft>
                <a:spcPts val="0"/>
              </a:spcAft>
            </a:pPr>
            <a:r>
              <a:rPr sz="1600" b="0">
                <a:solidFill>
                  <a:srgbClr val="1A1A1A"/>
                </a:solidFill>
                <a:latin typeface="Calibri"/>
              </a:rPr>
              <a:t>An AI-generated one-page briefing, produced automatically before every supplier meeting, that pulls together email history, contract terms, and the commodity price benchmark into a single view — with every claim traceable to its source.</a:t>
            </a:r>
          </a:p>
        </p:txBody>
      </p:sp>
      <p:sp>
        <p:nvSpPr>
          <p:cNvPr id="9" name="TextBox 8"/>
          <p:cNvSpPr txBox="1"/>
          <p:nvPr/>
        </p:nvSpPr>
        <p:spPr>
          <a:xfrm>
            <a:off x="320040" y="2743200"/>
            <a:ext cx="11521440" cy="411480"/>
          </a:xfrm>
          <a:prstGeom prst="rect">
            <a:avLst/>
          </a:prstGeom>
          <a:noFill/>
        </p:spPr>
        <p:txBody>
          <a:bodyPr wrap="none">
            <a:spAutoFit/>
          </a:bodyPr>
          <a:lstStyle/>
          <a:p>
            <a:endParaRPr/>
          </a:p>
          <a:p>
            <a:pPr algn="l">
              <a:spcBef>
                <a:spcPts val="0"/>
              </a:spcBef>
              <a:spcAft>
                <a:spcPts val="0"/>
              </a:spcAft>
            </a:pPr>
            <a:r>
              <a:rPr sz="1300" b="0">
                <a:solidFill>
                  <a:srgbClr val="C8102E"/>
                </a:solidFill>
                <a:latin typeface="Calibri"/>
              </a:rPr>
              <a:t>🔗  strauss-procurement.streamlit.app</a:t>
            </a:r>
          </a:p>
        </p:txBody>
      </p:sp>
      <p:sp>
        <p:nvSpPr>
          <p:cNvPr id="10" name="Rectangle 9"/>
          <p:cNvSpPr/>
          <p:nvPr/>
        </p:nvSpPr>
        <p:spPr>
          <a:xfrm>
            <a:off x="320040" y="3291840"/>
            <a:ext cx="3657600" cy="292608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383280"/>
            <a:ext cx="3383280" cy="45720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  Emails</a:t>
            </a:r>
          </a:p>
        </p:txBody>
      </p:sp>
      <p:sp>
        <p:nvSpPr>
          <p:cNvPr id="12" name="TextBox 11"/>
          <p:cNvSpPr txBox="1"/>
          <p:nvPr/>
        </p:nvSpPr>
        <p:spPr>
          <a:xfrm>
            <a:off x="457200" y="3840480"/>
            <a:ext cx="3383280" cy="2194560"/>
          </a:xfrm>
          <a:prstGeom prst="rect">
            <a:avLst/>
          </a:prstGeom>
          <a:noFill/>
        </p:spPr>
        <p:txBody>
          <a:bodyPr wrap="square">
            <a:spAutoFit/>
          </a:bodyPr>
          <a:lstStyle/>
          <a:p>
            <a:endParaRPr/>
          </a:p>
          <a:p>
            <a:pPr algn="l">
              <a:spcBef>
                <a:spcPts val="0"/>
              </a:spcBef>
              <a:spcAft>
                <a:spcPts val="0"/>
              </a:spcAft>
            </a:pPr>
            <a:r>
              <a:rPr sz="1300" b="0">
                <a:solidFill>
                  <a:srgbClr val="1A1A1A"/>
                </a:solidFill>
                <a:latin typeface="Calibri"/>
              </a:rPr>
              <a:t>Summarises 6 months of supplier thread. Flags open disputes, unanswered threads, and price quotes.</a:t>
            </a:r>
          </a:p>
        </p:txBody>
      </p:sp>
      <p:sp>
        <p:nvSpPr>
          <p:cNvPr id="13" name="Rectangle 12"/>
          <p:cNvSpPr/>
          <p:nvPr/>
        </p:nvSpPr>
        <p:spPr>
          <a:xfrm>
            <a:off x="4251959" y="3291840"/>
            <a:ext cx="3657600" cy="292608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0" y="3383280"/>
            <a:ext cx="3383280" cy="45720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  Contracts</a:t>
            </a:r>
          </a:p>
        </p:txBody>
      </p:sp>
      <p:sp>
        <p:nvSpPr>
          <p:cNvPr id="15" name="TextBox 14"/>
          <p:cNvSpPr txBox="1"/>
          <p:nvPr/>
        </p:nvSpPr>
        <p:spPr>
          <a:xfrm>
            <a:off x="4389120" y="3840480"/>
            <a:ext cx="3383280" cy="2194560"/>
          </a:xfrm>
          <a:prstGeom prst="rect">
            <a:avLst/>
          </a:prstGeom>
          <a:noFill/>
        </p:spPr>
        <p:txBody>
          <a:bodyPr wrap="square">
            <a:spAutoFit/>
          </a:bodyPr>
          <a:lstStyle/>
          <a:p>
            <a:endParaRPr/>
          </a:p>
          <a:p>
            <a:pPr algn="l">
              <a:spcBef>
                <a:spcPts val="0"/>
              </a:spcBef>
              <a:spcAft>
                <a:spcPts val="0"/>
              </a:spcAft>
            </a:pPr>
            <a:r>
              <a:rPr sz="1300" b="0">
                <a:solidFill>
                  <a:srgbClr val="1A1A1A"/>
                </a:solidFill>
                <a:latin typeface="Calibri"/>
              </a:rPr>
              <a:t>Extracts payment terms, volume commitments, penalty clauses, and renewal dates from the active contract version.</a:t>
            </a:r>
          </a:p>
        </p:txBody>
      </p:sp>
      <p:sp>
        <p:nvSpPr>
          <p:cNvPr id="16" name="Rectangle 15"/>
          <p:cNvSpPr/>
          <p:nvPr/>
        </p:nvSpPr>
        <p:spPr>
          <a:xfrm>
            <a:off x="8183879" y="3291840"/>
            <a:ext cx="3657600" cy="292608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3383280"/>
            <a:ext cx="3383280" cy="45720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  Prices</a:t>
            </a:r>
          </a:p>
        </p:txBody>
      </p:sp>
      <p:sp>
        <p:nvSpPr>
          <p:cNvPr id="18" name="TextBox 17"/>
          <p:cNvSpPr txBox="1"/>
          <p:nvPr/>
        </p:nvSpPr>
        <p:spPr>
          <a:xfrm>
            <a:off x="8321040" y="3840480"/>
            <a:ext cx="3383280" cy="2194560"/>
          </a:xfrm>
          <a:prstGeom prst="rect">
            <a:avLst/>
          </a:prstGeom>
          <a:noFill/>
        </p:spPr>
        <p:txBody>
          <a:bodyPr wrap="square">
            <a:spAutoFit/>
          </a:bodyPr>
          <a:lstStyle/>
          <a:p>
            <a:endParaRPr/>
          </a:p>
          <a:p>
            <a:pPr algn="l">
              <a:spcBef>
                <a:spcPts val="0"/>
              </a:spcBef>
              <a:spcAft>
                <a:spcPts val="0"/>
              </a:spcAft>
            </a:pPr>
            <a:r>
              <a:rPr sz="1300" b="0">
                <a:solidFill>
                  <a:srgbClr val="1A1A1A"/>
                </a:solidFill>
                <a:latin typeface="Calibri"/>
              </a:rPr>
              <a:t>Adds the live commodity benchmark (cocoa, sugar, dairy) so the manager knows where the market sits before walking 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What I Considered and Rejected</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Every design decision has a tradeoff — these were mine</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182880" y="1170432"/>
            <a:ext cx="2560320" cy="384048"/>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6032" y="1216152"/>
            <a:ext cx="2450591" cy="310896"/>
          </a:xfrm>
          <a:prstGeom prst="rect">
            <a:avLst/>
          </a:prstGeom>
          <a:noFill/>
        </p:spPr>
        <p:txBody>
          <a:bodyPr wrap="square">
            <a:spAutoFit/>
          </a:bodyPr>
          <a:lstStyle/>
          <a:p>
            <a:endParaRPr/>
          </a:p>
          <a:p>
            <a:pPr algn="l">
              <a:spcBef>
                <a:spcPts val="0"/>
              </a:spcBef>
              <a:spcAft>
                <a:spcPts val="0"/>
              </a:spcAft>
            </a:pPr>
            <a:r>
              <a:rPr sz="1100" b="1">
                <a:solidFill>
                  <a:srgbClr val="FFFFFF"/>
                </a:solidFill>
                <a:latin typeface="Calibri"/>
              </a:rPr>
              <a:t>What I considered</a:t>
            </a:r>
          </a:p>
        </p:txBody>
      </p:sp>
      <p:sp>
        <p:nvSpPr>
          <p:cNvPr id="9" name="Rectangle 8"/>
          <p:cNvSpPr/>
          <p:nvPr/>
        </p:nvSpPr>
        <p:spPr>
          <a:xfrm>
            <a:off x="2834640" y="1170432"/>
            <a:ext cx="4572000" cy="384048"/>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07792" y="1216152"/>
            <a:ext cx="4462272" cy="310896"/>
          </a:xfrm>
          <a:prstGeom prst="rect">
            <a:avLst/>
          </a:prstGeom>
          <a:noFill/>
        </p:spPr>
        <p:txBody>
          <a:bodyPr wrap="square">
            <a:spAutoFit/>
          </a:bodyPr>
          <a:lstStyle/>
          <a:p>
            <a:endParaRPr/>
          </a:p>
          <a:p>
            <a:pPr algn="l">
              <a:spcBef>
                <a:spcPts val="0"/>
              </a:spcBef>
              <a:spcAft>
                <a:spcPts val="0"/>
              </a:spcAft>
            </a:pPr>
            <a:r>
              <a:rPr sz="1100" b="1">
                <a:solidFill>
                  <a:srgbClr val="FFFFFF"/>
                </a:solidFill>
                <a:latin typeface="Calibri"/>
              </a:rPr>
              <a:t>Rejected because</a:t>
            </a:r>
          </a:p>
        </p:txBody>
      </p:sp>
      <p:sp>
        <p:nvSpPr>
          <p:cNvPr id="11" name="Rectangle 10"/>
          <p:cNvSpPr/>
          <p:nvPr/>
        </p:nvSpPr>
        <p:spPr>
          <a:xfrm>
            <a:off x="7498079" y="1170432"/>
            <a:ext cx="4389120" cy="384048"/>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71231" y="1216152"/>
            <a:ext cx="4279392" cy="310896"/>
          </a:xfrm>
          <a:prstGeom prst="rect">
            <a:avLst/>
          </a:prstGeom>
          <a:noFill/>
        </p:spPr>
        <p:txBody>
          <a:bodyPr wrap="square">
            <a:spAutoFit/>
          </a:bodyPr>
          <a:lstStyle/>
          <a:p>
            <a:endParaRPr/>
          </a:p>
          <a:p>
            <a:pPr algn="l">
              <a:spcBef>
                <a:spcPts val="0"/>
              </a:spcBef>
              <a:spcAft>
                <a:spcPts val="0"/>
              </a:spcAft>
            </a:pPr>
            <a:r>
              <a:rPr sz="1100" b="1">
                <a:solidFill>
                  <a:srgbClr val="FFFFFF"/>
                </a:solidFill>
                <a:latin typeface="Calibri"/>
              </a:rPr>
              <a:t>Tradeoff accepted</a:t>
            </a:r>
          </a:p>
        </p:txBody>
      </p:sp>
      <p:sp>
        <p:nvSpPr>
          <p:cNvPr id="13" name="Rectangle 12"/>
          <p:cNvSpPr/>
          <p:nvPr/>
        </p:nvSpPr>
        <p:spPr>
          <a:xfrm>
            <a:off x="182880" y="2249424"/>
            <a:ext cx="25603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6032" y="2295144"/>
            <a:ext cx="2450591" cy="914400"/>
          </a:xfrm>
          <a:prstGeom prst="rect">
            <a:avLst/>
          </a:prstGeom>
          <a:noFill/>
        </p:spPr>
        <p:txBody>
          <a:bodyPr wrap="square">
            <a:spAutoFit/>
          </a:bodyPr>
          <a:lstStyle/>
          <a:p>
            <a:endParaRPr/>
          </a:p>
          <a:p>
            <a:pPr algn="l">
              <a:spcBef>
                <a:spcPts val="0"/>
              </a:spcBef>
              <a:spcAft>
                <a:spcPts val="0"/>
              </a:spcAft>
            </a:pPr>
            <a:r>
              <a:rPr sz="1100" b="1">
                <a:solidFill>
                  <a:srgbClr val="C8102E"/>
                </a:solidFill>
                <a:latin typeface="Calibri"/>
              </a:rPr>
              <a:t>Commodity pricing
dashboard</a:t>
            </a:r>
            <a:r>
              <a:t/>
            </a:r>
            <a:br/>
            <a:r>
              <a:t>dashboard</a:t>
            </a:r>
          </a:p>
        </p:txBody>
      </p:sp>
      <p:sp>
        <p:nvSpPr>
          <p:cNvPr id="15" name="Rectangle 14"/>
          <p:cNvSpPr/>
          <p:nvPr/>
        </p:nvSpPr>
        <p:spPr>
          <a:xfrm>
            <a:off x="2834640" y="2249424"/>
            <a:ext cx="45720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907792" y="2295144"/>
            <a:ext cx="44622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Answers an adjacent problem, not the stated pain point.
Most obvious build — every candidate goes here.</a:t>
            </a:r>
            <a:r>
              <a:t/>
            </a:r>
            <a:br/>
            <a:r>
              <a:t>Most obvious build — every candidate goes here.</a:t>
            </a:r>
          </a:p>
        </p:txBody>
      </p:sp>
      <p:sp>
        <p:nvSpPr>
          <p:cNvPr id="17" name="Rectangle 16"/>
          <p:cNvSpPr/>
          <p:nvPr/>
        </p:nvSpPr>
        <p:spPr>
          <a:xfrm>
            <a:off x="7498079" y="2249424"/>
            <a:ext cx="43891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71231" y="2295144"/>
            <a:ext cx="427939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Pricing folded in as one input to the packet, not the centrepiece.</a:t>
            </a:r>
          </a:p>
        </p:txBody>
      </p:sp>
      <p:sp>
        <p:nvSpPr>
          <p:cNvPr id="19" name="Rectangle 18"/>
          <p:cNvSpPr/>
          <p:nvPr/>
        </p:nvSpPr>
        <p:spPr>
          <a:xfrm>
            <a:off x="182880" y="3328415"/>
            <a:ext cx="25603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6032" y="3374135"/>
            <a:ext cx="2450591" cy="914400"/>
          </a:xfrm>
          <a:prstGeom prst="rect">
            <a:avLst/>
          </a:prstGeom>
          <a:noFill/>
        </p:spPr>
        <p:txBody>
          <a:bodyPr wrap="square">
            <a:spAutoFit/>
          </a:bodyPr>
          <a:lstStyle/>
          <a:p>
            <a:endParaRPr/>
          </a:p>
          <a:p>
            <a:pPr algn="l">
              <a:spcBef>
                <a:spcPts val="0"/>
              </a:spcBef>
              <a:spcAft>
                <a:spcPts val="0"/>
              </a:spcAft>
            </a:pPr>
            <a:r>
              <a:rPr sz="1100" b="1">
                <a:solidFill>
                  <a:srgbClr val="C8102E"/>
                </a:solidFill>
                <a:latin typeface="Calibri"/>
              </a:rPr>
              <a:t>General 'what was agreed'
tracking layer</a:t>
            </a:r>
            <a:r>
              <a:t/>
            </a:r>
            <a:br/>
            <a:r>
              <a:t>tracking layer</a:t>
            </a:r>
          </a:p>
        </p:txBody>
      </p:sp>
      <p:sp>
        <p:nvSpPr>
          <p:cNvPr id="21" name="Rectangle 20"/>
          <p:cNvSpPr/>
          <p:nvPr/>
        </p:nvSpPr>
        <p:spPr>
          <a:xfrm>
            <a:off x="2834640" y="3328415"/>
            <a:ext cx="457200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907792" y="3374135"/>
            <a:ext cx="44622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A system-of-record problem, not an AI problem.
Better solved by a database than a model.</a:t>
            </a:r>
            <a:r>
              <a:t/>
            </a:r>
            <a:br/>
            <a:r>
              <a:t>Better solved by a database than a model.</a:t>
            </a:r>
          </a:p>
        </p:txBody>
      </p:sp>
      <p:sp>
        <p:nvSpPr>
          <p:cNvPr id="23" name="Rectangle 22"/>
          <p:cNvSpPr/>
          <p:nvPr/>
        </p:nvSpPr>
        <p:spPr>
          <a:xfrm>
            <a:off x="7498079" y="3328415"/>
            <a:ext cx="43891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571231" y="3374135"/>
            <a:ext cx="427939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Solved indirectly: packet pulls from accurate, current contract terms.</a:t>
            </a:r>
          </a:p>
        </p:txBody>
      </p:sp>
      <p:sp>
        <p:nvSpPr>
          <p:cNvPr id="25" name="Rectangle 24"/>
          <p:cNvSpPr/>
          <p:nvPr/>
        </p:nvSpPr>
        <p:spPr>
          <a:xfrm>
            <a:off x="182880" y="4407408"/>
            <a:ext cx="25603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56032" y="4453128"/>
            <a:ext cx="2450591" cy="914400"/>
          </a:xfrm>
          <a:prstGeom prst="rect">
            <a:avLst/>
          </a:prstGeom>
          <a:noFill/>
        </p:spPr>
        <p:txBody>
          <a:bodyPr wrap="square">
            <a:spAutoFit/>
          </a:bodyPr>
          <a:lstStyle/>
          <a:p>
            <a:endParaRPr/>
          </a:p>
          <a:p>
            <a:pPr algn="l">
              <a:spcBef>
                <a:spcPts val="0"/>
              </a:spcBef>
              <a:spcAft>
                <a:spcPts val="0"/>
              </a:spcAft>
            </a:pPr>
            <a:r>
              <a:rPr sz="1100" b="1">
                <a:solidFill>
                  <a:srgbClr val="C8102E"/>
                </a:solidFill>
                <a:latin typeface="Calibri"/>
              </a:rPr>
              <a:t>Live MCP connector
for pricing in prototype</a:t>
            </a:r>
            <a:r>
              <a:t/>
            </a:r>
            <a:br/>
            <a:r>
              <a:t>for pricing in prototype</a:t>
            </a:r>
          </a:p>
        </p:txBody>
      </p:sp>
      <p:sp>
        <p:nvSpPr>
          <p:cNvPr id="27" name="Rectangle 26"/>
          <p:cNvSpPr/>
          <p:nvPr/>
        </p:nvSpPr>
        <p:spPr>
          <a:xfrm>
            <a:off x="2834640" y="4407408"/>
            <a:ext cx="45720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907792" y="4453128"/>
            <a:ext cx="44622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Live demo depending on third-party server responding correctly in the room.
Unnecessary risk for zero added insight value.</a:t>
            </a:r>
            <a:r>
              <a:t/>
            </a:r>
            <a:br/>
            <a:r>
              <a:t>Unnecessary risk for zero added insight value.</a:t>
            </a:r>
          </a:p>
        </p:txBody>
      </p:sp>
      <p:sp>
        <p:nvSpPr>
          <p:cNvPr id="29" name="Rectangle 28"/>
          <p:cNvSpPr/>
          <p:nvPr/>
        </p:nvSpPr>
        <p:spPr>
          <a:xfrm>
            <a:off x="7498079" y="4407408"/>
            <a:ext cx="43891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571231" y="4453128"/>
            <a:ext cx="427939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One-time static CSV pull. MCP documented as production path, not built into prototype.</a:t>
            </a:r>
          </a:p>
        </p:txBody>
      </p:sp>
      <p:sp>
        <p:nvSpPr>
          <p:cNvPr id="31" name="Rectangle 30"/>
          <p:cNvSpPr/>
          <p:nvPr/>
        </p:nvSpPr>
        <p:spPr>
          <a:xfrm>
            <a:off x="182880" y="5486400"/>
            <a:ext cx="25603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6032" y="5532120"/>
            <a:ext cx="2450591" cy="914400"/>
          </a:xfrm>
          <a:prstGeom prst="rect">
            <a:avLst/>
          </a:prstGeom>
          <a:noFill/>
        </p:spPr>
        <p:txBody>
          <a:bodyPr wrap="square">
            <a:spAutoFit/>
          </a:bodyPr>
          <a:lstStyle/>
          <a:p>
            <a:endParaRPr/>
          </a:p>
          <a:p>
            <a:pPr algn="l">
              <a:spcBef>
                <a:spcPts val="0"/>
              </a:spcBef>
              <a:spcAft>
                <a:spcPts val="0"/>
              </a:spcAft>
            </a:pPr>
            <a:r>
              <a:rPr sz="1100" b="1">
                <a:solidFill>
                  <a:srgbClr val="C8102E"/>
                </a:solidFill>
                <a:latin typeface="Calibri"/>
              </a:rPr>
              <a:t>Vector store +
live connectors</a:t>
            </a:r>
            <a:r>
              <a:t/>
            </a:r>
            <a:br/>
            <a:r>
              <a:t>live connectors</a:t>
            </a:r>
          </a:p>
        </p:txBody>
      </p:sp>
      <p:sp>
        <p:nvSpPr>
          <p:cNvPr id="33" name="Rectangle 32"/>
          <p:cNvSpPr/>
          <p:nvPr/>
        </p:nvSpPr>
        <p:spPr>
          <a:xfrm>
            <a:off x="2834640" y="5486400"/>
            <a:ext cx="457200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907792" y="5532120"/>
            <a:ext cx="44622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Premature at this data volume: 8 suppliers, ~111 emails.
Real value at hundreds of suppliers, thousands of emails.</a:t>
            </a:r>
            <a:r>
              <a:t/>
            </a:r>
            <a:br/>
            <a:r>
              <a:t>Real value at hundreds of suppliers, thousands of emails.</a:t>
            </a:r>
          </a:p>
        </p:txBody>
      </p:sp>
      <p:sp>
        <p:nvSpPr>
          <p:cNvPr id="35" name="Rectangle 34"/>
          <p:cNvSpPr/>
          <p:nvPr/>
        </p:nvSpPr>
        <p:spPr>
          <a:xfrm>
            <a:off x="7498079" y="5486400"/>
            <a:ext cx="43891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571231" y="5532120"/>
            <a:ext cx="427939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Local extraction pass against flat files. Vector store called out explicitly as production-scale answer.</a:t>
            </a:r>
          </a:p>
        </p:txBody>
      </p:sp>
      <p:sp>
        <p:nvSpPr>
          <p:cNvPr id="37" name="Rectangle 36"/>
          <p:cNvSpPr/>
          <p:nvPr/>
        </p:nvSpPr>
        <p:spPr>
          <a:xfrm>
            <a:off x="182880" y="6565392"/>
            <a:ext cx="25603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56032" y="6611112"/>
            <a:ext cx="2450591" cy="914400"/>
          </a:xfrm>
          <a:prstGeom prst="rect">
            <a:avLst/>
          </a:prstGeom>
          <a:noFill/>
        </p:spPr>
        <p:txBody>
          <a:bodyPr wrap="square">
            <a:spAutoFit/>
          </a:bodyPr>
          <a:lstStyle/>
          <a:p>
            <a:endParaRPr/>
          </a:p>
          <a:p>
            <a:pPr algn="l">
              <a:spcBef>
                <a:spcPts val="0"/>
              </a:spcBef>
              <a:spcAft>
                <a:spcPts val="0"/>
              </a:spcAft>
            </a:pPr>
            <a:r>
              <a:rPr sz="1100" b="1">
                <a:solidFill>
                  <a:srgbClr val="C8102E"/>
                </a:solidFill>
                <a:latin typeface="Calibri"/>
              </a:rPr>
              <a:t>Full contract lifecycle
management</a:t>
            </a:r>
            <a:r>
              <a:t/>
            </a:r>
            <a:br/>
            <a:r>
              <a:t>management</a:t>
            </a:r>
          </a:p>
        </p:txBody>
      </p:sp>
      <p:sp>
        <p:nvSpPr>
          <p:cNvPr id="39" name="Rectangle 38"/>
          <p:cNvSpPr/>
          <p:nvPr/>
        </p:nvSpPr>
        <p:spPr>
          <a:xfrm>
            <a:off x="2834640" y="6565392"/>
            <a:ext cx="45720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907792" y="6611112"/>
            <a:ext cx="44622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Too broad a problem for the time available.
Not the time-sink the brief describes.</a:t>
            </a:r>
            <a:r>
              <a:t/>
            </a:r>
            <a:br/>
            <a:r>
              <a:t>Not the time-sink the brief describes.</a:t>
            </a:r>
          </a:p>
        </p:txBody>
      </p:sp>
      <p:sp>
        <p:nvSpPr>
          <p:cNvPr id="41" name="Rectangle 40"/>
          <p:cNvSpPr/>
          <p:nvPr/>
        </p:nvSpPr>
        <p:spPr>
          <a:xfrm>
            <a:off x="7498079" y="6565392"/>
            <a:ext cx="43891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571231" y="6611112"/>
            <a:ext cx="427939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Contract terms are read and surfaced, not managed end to end.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How It Works</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Prototype vs. production — a deliberate distinction</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320040" y="1188720"/>
            <a:ext cx="5303520" cy="53035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234440"/>
            <a:ext cx="4937760" cy="411480"/>
          </a:xfrm>
          <a:prstGeom prst="rect">
            <a:avLst/>
          </a:prstGeom>
          <a:noFill/>
        </p:spPr>
        <p:txBody>
          <a:bodyPr wrap="none">
            <a:spAutoFit/>
          </a:bodyPr>
          <a:lstStyle/>
          <a:p>
            <a:endParaRPr/>
          </a:p>
          <a:p>
            <a:pPr algn="l">
              <a:spcBef>
                <a:spcPts val="0"/>
              </a:spcBef>
              <a:spcAft>
                <a:spcPts val="0"/>
              </a:spcAft>
            </a:pPr>
            <a:r>
              <a:rPr sz="1100" b="1">
                <a:solidFill>
                  <a:srgbClr val="555555"/>
                </a:solidFill>
                <a:latin typeface="Calibri"/>
              </a:rPr>
              <a:t>PROTOTYPE  (what you're seeing today)</a:t>
            </a:r>
          </a:p>
        </p:txBody>
      </p:sp>
      <p:sp>
        <p:nvSpPr>
          <p:cNvPr id="9" name="TextBox 8"/>
          <p:cNvSpPr txBox="1"/>
          <p:nvPr/>
        </p:nvSpPr>
        <p:spPr>
          <a:xfrm>
            <a:off x="502920" y="1691640"/>
            <a:ext cx="4937760" cy="4572000"/>
          </a:xfrm>
          <a:prstGeom prst="rect">
            <a:avLst/>
          </a:prstGeom>
          <a:noFill/>
        </p:spPr>
        <p:txBody>
          <a:bodyPr wrap="square">
            <a:spAutoFit/>
          </a:bodyPr>
          <a:lstStyle/>
          <a:p>
            <a:pPr algn="l">
              <a:spcBef>
                <a:spcPts val="600"/>
              </a:spcBef>
            </a:pPr>
            <a:r>
              <a:rPr sz="1200">
                <a:solidFill>
                  <a:srgbClr val="1A1A1A"/>
                </a:solidFill>
                <a:latin typeface="Calibri"/>
              </a:rPr>
              <a:t>Emails → JSON files (synthetic, ~111 emails)</a:t>
            </a:r>
          </a:p>
          <a:p>
            <a:pPr algn="l">
              <a:spcBef>
                <a:spcPts val="600"/>
              </a:spcBef>
            </a:pPr>
            <a:r>
              <a:rPr sz="1200">
                <a:solidFill>
                  <a:srgbClr val="1A1A1A"/>
                </a:solidFill>
                <a:latin typeface="Calibri"/>
              </a:rPr>
              <a:t>Contracts → Markdown files (10 contracts)</a:t>
            </a:r>
          </a:p>
          <a:p>
            <a:pPr algn="l">
              <a:spcBef>
                <a:spcPts val="600"/>
              </a:spcBef>
            </a:pPr>
            <a:r>
              <a:rPr sz="1200">
                <a:solidFill>
                  <a:srgbClr val="1A1A1A"/>
                </a:solidFill>
                <a:latin typeface="Calibri"/>
              </a:rPr>
              <a:t>Prices → Static CSV (yfinance, one-time pull)</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extraction.py</a:t>
            </a:r>
          </a:p>
          <a:p>
            <a:pPr algn="l">
              <a:spcBef>
                <a:spcPts val="600"/>
              </a:spcBef>
            </a:pPr>
            <a:r>
              <a:rPr sz="1200">
                <a:solidFill>
                  <a:srgbClr val="1A1A1A"/>
                </a:solidFill>
                <a:latin typeface="Calibri"/>
              </a:rPr>
              <a:t>One Claude API call per supplier</a:t>
            </a:r>
          </a:p>
          <a:p>
            <a:pPr algn="l">
              <a:spcBef>
                <a:spcPts val="600"/>
              </a:spcBef>
            </a:pPr>
            <a:r>
              <a:rPr sz="1200">
                <a:solidFill>
                  <a:srgbClr val="1A1A1A"/>
                </a:solidFill>
                <a:latin typeface="Calibri"/>
              </a:rPr>
              <a:t>Extracts: open issues · price quotes</a:t>
            </a:r>
          </a:p>
          <a:p>
            <a:pPr algn="l">
              <a:spcBef>
                <a:spcPts val="600"/>
              </a:spcBef>
            </a:pPr>
            <a:r>
              <a:rPr sz="1200">
                <a:solidFill>
                  <a:srgbClr val="1A1A1A"/>
                </a:solidFill>
                <a:latin typeface="Calibri"/>
              </a:rPr>
              <a:t>contract terms · commodity commentary</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packet_generator.py</a:t>
            </a:r>
          </a:p>
          <a:p>
            <a:pPr algn="l">
              <a:spcBef>
                <a:spcPts val="600"/>
              </a:spcBef>
            </a:pPr>
            <a:r>
              <a:rPr sz="1200">
                <a:solidFill>
                  <a:srgbClr val="1A1A1A"/>
                </a:solidFill>
                <a:latin typeface="Calibri"/>
              </a:rPr>
              <a:t>Assembles packet per meeting ID</a:t>
            </a:r>
          </a:p>
          <a:p>
            <a:pPr algn="l">
              <a:spcBef>
                <a:spcPts val="600"/>
              </a:spcBef>
            </a:pPr>
            <a:r>
              <a:rPr sz="1200">
                <a:solidFill>
                  <a:srgbClr val="1A1A1A"/>
                </a:solidFill>
                <a:latin typeface="Calibri"/>
              </a:rPr>
              <a:t>Computes KPIs locally (no API)</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Streamlit UI</a:t>
            </a:r>
          </a:p>
          <a:p>
            <a:pPr algn="l">
              <a:spcBef>
                <a:spcPts val="600"/>
              </a:spcBef>
            </a:pPr>
            <a:r>
              <a:rPr sz="1200">
                <a:solidFill>
                  <a:srgbClr val="1A1A1A"/>
                </a:solidFill>
                <a:latin typeface="Calibri"/>
              </a:rPr>
              <a:t>Home · Suppliers · Meeting Prep</a:t>
            </a:r>
          </a:p>
          <a:p>
            <a:r>
              <a:rPr sz="1200">
                <a:solidFill>
                  <a:srgbClr val="1A1A1A"/>
                </a:solidFill>
              </a:rPr>
              <a:t>↓  Extraction model</a:t>
            </a:r>
          </a:p>
          <a:p>
            <a:r>
              <a:rPr sz="1200">
                <a:solidFill>
                  <a:srgbClr val="1A1A1A"/>
                </a:solidFill>
              </a:rPr>
              <a:t>Single Claude call, fixed schema</a:t>
            </a:r>
          </a:p>
          <a:p>
            <a:r>
              <a:rPr sz="1200">
                <a:solidFill>
                  <a:srgbClr val="1A1A1A"/>
                </a:solidFill>
              </a:rPr>
              <a:t>Deterministic pipeline — not an agent</a:t>
            </a:r>
          </a:p>
        </p:txBody>
      </p:sp>
      <p:sp>
        <p:nvSpPr>
          <p:cNvPr id="10" name="TextBox 9"/>
          <p:cNvSpPr txBox="1"/>
          <p:nvPr/>
        </p:nvSpPr>
        <p:spPr>
          <a:xfrm>
            <a:off x="5715000" y="3474720"/>
            <a:ext cx="731520" cy="548640"/>
          </a:xfrm>
          <a:prstGeom prst="rect">
            <a:avLst/>
          </a:prstGeom>
          <a:noFill/>
        </p:spPr>
        <p:txBody>
          <a:bodyPr wrap="none">
            <a:spAutoFit/>
          </a:bodyPr>
          <a:lstStyle/>
          <a:p>
            <a:endParaRPr/>
          </a:p>
          <a:p>
            <a:pPr algn="ctr">
              <a:spcBef>
                <a:spcPts val="0"/>
              </a:spcBef>
              <a:spcAft>
                <a:spcPts val="0"/>
              </a:spcAft>
            </a:pPr>
            <a:r>
              <a:rPr sz="2800" b="1">
                <a:solidFill>
                  <a:srgbClr val="C8102E"/>
                </a:solidFill>
                <a:latin typeface="Calibri"/>
              </a:rPr>
              <a:t>→</a:t>
            </a:r>
          </a:p>
        </p:txBody>
      </p:sp>
      <p:sp>
        <p:nvSpPr>
          <p:cNvPr id="11" name="Rectangle 10"/>
          <p:cNvSpPr/>
          <p:nvPr/>
        </p:nvSpPr>
        <p:spPr>
          <a:xfrm>
            <a:off x="6492240" y="1188720"/>
            <a:ext cx="5349240" cy="5303520"/>
          </a:xfrm>
          <a:prstGeom prst="rect">
            <a:avLst/>
          </a:prstGeom>
          <a:solidFill>
            <a:srgbClr val="FBEBE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0" y="1234440"/>
            <a:ext cx="5029200" cy="411480"/>
          </a:xfrm>
          <a:prstGeom prst="rect">
            <a:avLst/>
          </a:prstGeom>
          <a:noFill/>
        </p:spPr>
        <p:txBody>
          <a:bodyPr wrap="none">
            <a:spAutoFit/>
          </a:bodyPr>
          <a:lstStyle/>
          <a:p>
            <a:endParaRPr/>
          </a:p>
          <a:p>
            <a:pPr algn="l">
              <a:spcBef>
                <a:spcPts val="0"/>
              </a:spcBef>
              <a:spcAft>
                <a:spcPts val="0"/>
              </a:spcAft>
            </a:pPr>
            <a:r>
              <a:rPr sz="1100" b="1">
                <a:solidFill>
                  <a:srgbClr val="C8102E"/>
                </a:solidFill>
                <a:latin typeface="Calibri"/>
              </a:rPr>
              <a:t>PRODUCTION  (Phase 2 architecture)</a:t>
            </a:r>
          </a:p>
        </p:txBody>
      </p:sp>
      <p:sp>
        <p:nvSpPr>
          <p:cNvPr id="13" name="TextBox 12"/>
          <p:cNvSpPr txBox="1"/>
          <p:nvPr/>
        </p:nvSpPr>
        <p:spPr>
          <a:xfrm>
            <a:off x="6675120" y="1691640"/>
            <a:ext cx="5029200" cy="4572000"/>
          </a:xfrm>
          <a:prstGeom prst="rect">
            <a:avLst/>
          </a:prstGeom>
          <a:noFill/>
        </p:spPr>
        <p:txBody>
          <a:bodyPr wrap="square">
            <a:spAutoFit/>
          </a:bodyPr>
          <a:lstStyle/>
          <a:p>
            <a:pPr algn="l">
              <a:spcBef>
                <a:spcPts val="600"/>
              </a:spcBef>
            </a:pPr>
            <a:r>
              <a:rPr sz="1200">
                <a:solidFill>
                  <a:srgbClr val="1A1A1A"/>
                </a:solidFill>
                <a:latin typeface="Calibri"/>
              </a:rPr>
              <a:t>Emails → Microsoft Graph API (Outlook)</a:t>
            </a:r>
          </a:p>
          <a:p>
            <a:pPr algn="l">
              <a:spcBef>
                <a:spcPts val="600"/>
              </a:spcBef>
            </a:pPr>
            <a:r>
              <a:rPr sz="1200">
                <a:solidFill>
                  <a:srgbClr val="1A1A1A"/>
                </a:solidFill>
                <a:latin typeface="Calibri"/>
              </a:rPr>
              <a:t>Contracts → SharePoint + OCR pipeline</a:t>
            </a:r>
          </a:p>
          <a:p>
            <a:pPr algn="l">
              <a:spcBef>
                <a:spcPts val="600"/>
              </a:spcBef>
            </a:pPr>
            <a:r>
              <a:rPr sz="1200">
                <a:solidFill>
                  <a:srgbClr val="1A1A1A"/>
                </a:solidFill>
                <a:latin typeface="Calibri"/>
              </a:rPr>
              <a:t>Prices → Bloomberg / ICE live feed</a:t>
            </a:r>
          </a:p>
          <a:p>
            <a:pPr algn="l">
              <a:spcBef>
                <a:spcPts val="600"/>
              </a:spcBef>
            </a:pPr>
            <a:r>
              <a:rPr sz="1200">
                <a:solidFill>
                  <a:srgbClr val="1A1A1A"/>
                </a:solidFill>
                <a:latin typeface="Calibri"/>
              </a:rPr>
              <a:t>Connector layer: MCP per source</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Storage split</a:t>
            </a:r>
          </a:p>
          <a:p>
            <a:pPr algn="l">
              <a:spcBef>
                <a:spcPts val="600"/>
              </a:spcBef>
            </a:pPr>
            <a:r>
              <a:rPr sz="1200">
                <a:solidFill>
                  <a:srgbClr val="1A1A1A"/>
                </a:solidFill>
                <a:latin typeface="Calibri"/>
              </a:rPr>
              <a:t>Structured store (BigQuery): exact facts</a:t>
            </a:r>
          </a:p>
          <a:p>
            <a:pPr algn="l">
              <a:spcBef>
                <a:spcPts val="600"/>
              </a:spcBef>
            </a:pPr>
            <a:r>
              <a:rPr sz="1200">
                <a:solidFill>
                  <a:srgbClr val="1A1A1A"/>
                </a:solidFill>
                <a:latin typeface="Calibri"/>
              </a:rPr>
              <a:t>Vector store: semantic email search</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Packet Generator</a:t>
            </a:r>
          </a:p>
          <a:p>
            <a:pPr algn="l">
              <a:spcBef>
                <a:spcPts val="600"/>
              </a:spcBef>
            </a:pPr>
            <a:r>
              <a:rPr sz="1200">
                <a:solidFill>
                  <a:srgbClr val="1A1A1A"/>
                </a:solidFill>
                <a:latin typeface="Calibri"/>
              </a:rPr>
              <a:t>Same logic, real-time data</a:t>
            </a:r>
          </a:p>
          <a:p>
            <a:pPr algn="l">
              <a:spcBef>
                <a:spcPts val="600"/>
              </a:spcBef>
            </a:pPr>
            <a:r>
              <a:rPr sz="1200">
                <a:solidFill>
                  <a:srgbClr val="1A1A1A"/>
                </a:solidFill>
                <a:latin typeface="Calibri"/>
              </a:rPr>
              <a:t>Triggered by calendar event</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Streamlit / Teams tab</a:t>
            </a:r>
          </a:p>
          <a:p>
            <a:pPr algn="l">
              <a:spcBef>
                <a:spcPts val="600"/>
              </a:spcBef>
            </a:pPr>
            <a:r>
              <a:rPr sz="1200">
                <a:solidFill>
                  <a:srgbClr val="1A1A1A"/>
                </a:solidFill>
                <a:latin typeface="Calibri"/>
              </a:rPr>
              <a:t>Auto-delivered before each meeting</a:t>
            </a:r>
          </a:p>
          <a:p>
            <a:r>
              <a:rPr sz="1200">
                <a:solidFill>
                  <a:srgbClr val="1A1A1A"/>
                </a:solidFill>
              </a:rPr>
              <a:t>↓  Extraction → agent loop</a:t>
            </a:r>
          </a:p>
          <a:p>
            <a:r>
              <a:rPr sz="1200">
                <a:solidFill>
                  <a:srgbClr val="1A1A1A"/>
                </a:solidFill>
              </a:rPr>
              <a:t>Claude holds MCP tools per source</a:t>
            </a:r>
          </a:p>
          <a:p>
            <a:r>
              <a:rPr sz="1200">
                <a:solidFill>
                  <a:srgbClr val="1A1A1A"/>
                </a:solidFill>
              </a:rPr>
              <a:t>Decides what to retrieve per supplier</a:t>
            </a:r>
          </a:p>
          <a:p>
            <a:r>
              <a:rPr sz="1200">
                <a:solidFill>
                  <a:srgbClr val="1A1A1A"/>
                </a:solidFill>
              </a:rPr>
              <a:t>Multi-turn: findings drive next query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Demo: Home Dashboard</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Instant situational awareness — no API calls, loads in &lt;1s</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TextBox 6"/>
          <p:cNvSpPr txBox="1"/>
          <p:nvPr/>
        </p:nvSpPr>
        <p:spPr>
          <a:xfrm>
            <a:off x="320040" y="1234440"/>
            <a:ext cx="6858000" cy="2743200"/>
          </a:xfrm>
          <a:prstGeom prst="rect">
            <a:avLst/>
          </a:prstGeom>
          <a:noFill/>
        </p:spPr>
        <p:txBody>
          <a:bodyPr wrap="square">
            <a:spAutoFit/>
          </a:bodyPr>
          <a:lstStyle/>
          <a:p>
            <a:pPr algn="l">
              <a:spcBef>
                <a:spcPts val="600"/>
              </a:spcBef>
            </a:pPr>
            <a:r>
              <a:rPr sz="1500">
                <a:solidFill>
                  <a:srgbClr val="1A1A1A"/>
                </a:solidFill>
                <a:latin typeface="Calibri"/>
              </a:rPr>
              <a:t>📊  Stat tiles — upcoming meetings, meetings this week, suppliers at risk, contract issues</a:t>
            </a:r>
          </a:p>
          <a:p>
            <a:pPr algn="l">
              <a:spcBef>
                <a:spcPts val="600"/>
              </a:spcBef>
            </a:pPr>
            <a:r>
              <a:rPr sz="1500">
                <a:solidFill>
                  <a:srgbClr val="1A1A1A"/>
                </a:solidFill>
                <a:latin typeface="Calibri"/>
              </a:rPr>
              <a:t>📅  Full meeting calendar — supplier, date, agenda note, geography, urgency badge</a:t>
            </a:r>
          </a:p>
          <a:p>
            <a:pPr algn="l">
              <a:spcBef>
                <a:spcPts val="600"/>
              </a:spcBef>
            </a:pPr>
            <a:r>
              <a:rPr sz="1500">
                <a:solidFill>
                  <a:srgbClr val="1A1A1A"/>
                </a:solidFill>
                <a:latin typeface="Calibri"/>
              </a:rPr>
              <a:t>🏭  Supplier health grid — relationship status at a glance across all 8 suppliers</a:t>
            </a:r>
          </a:p>
          <a:p>
            <a:pPr algn="l">
              <a:spcBef>
                <a:spcPts val="600"/>
              </a:spcBef>
            </a:pPr>
            <a:r>
              <a:rPr sz="1500">
                <a:solidFill>
                  <a:srgbClr val="1A1A1A"/>
                </a:solidFill>
                <a:latin typeface="Calibri"/>
              </a:rPr>
              <a:t>📧  Latest discussions — most recent email per supplier with inline preview</a:t>
            </a:r>
          </a:p>
        </p:txBody>
      </p:sp>
      <p:sp>
        <p:nvSpPr>
          <p:cNvPr id="8" name="Rectangle 7"/>
          <p:cNvSpPr/>
          <p:nvPr/>
        </p:nvSpPr>
        <p:spPr>
          <a:xfrm>
            <a:off x="320040" y="4114800"/>
            <a:ext cx="6858000" cy="2423160"/>
          </a:xfrm>
          <a:prstGeom prst="rect">
            <a:avLst/>
          </a:prstGeom>
          <a:solidFill>
            <a:srgbClr val="FBEBE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4206240"/>
            <a:ext cx="6492240" cy="365760"/>
          </a:xfrm>
          <a:prstGeom prst="rect">
            <a:avLst/>
          </a:prstGeom>
          <a:noFill/>
        </p:spPr>
        <p:txBody>
          <a:bodyPr wrap="none">
            <a:spAutoFit/>
          </a:bodyPr>
          <a:lstStyle/>
          <a:p>
            <a:endParaRPr/>
          </a:p>
          <a:p>
            <a:pPr algn="l">
              <a:spcBef>
                <a:spcPts val="0"/>
              </a:spcBef>
              <a:spcAft>
                <a:spcPts val="0"/>
              </a:spcAft>
            </a:pPr>
            <a:r>
              <a:rPr sz="1200" b="1">
                <a:solidFill>
                  <a:srgbClr val="C8102E"/>
                </a:solidFill>
                <a:latin typeface="Calibri"/>
              </a:rPr>
              <a:t>Design decision</a:t>
            </a:r>
          </a:p>
        </p:txBody>
      </p:sp>
      <p:sp>
        <p:nvSpPr>
          <p:cNvPr id="10" name="TextBox 9"/>
          <p:cNvSpPr txBox="1"/>
          <p:nvPr/>
        </p:nvSpPr>
        <p:spPr>
          <a:xfrm>
            <a:off x="502920" y="4572000"/>
            <a:ext cx="6492240" cy="1828800"/>
          </a:xfrm>
          <a:prstGeom prst="rect">
            <a:avLst/>
          </a:prstGeom>
          <a:noFill/>
        </p:spPr>
        <p:txBody>
          <a:bodyPr wrap="square">
            <a:spAutoFit/>
          </a:bodyPr>
          <a:lstStyle/>
          <a:p>
            <a:endParaRPr/>
          </a:p>
          <a:p>
            <a:pPr algn="l">
              <a:spcBef>
                <a:spcPts val="0"/>
              </a:spcBef>
              <a:spcAft>
                <a:spcPts val="0"/>
              </a:spcAft>
            </a:pPr>
            <a:r>
              <a:rPr sz="1300" b="0">
                <a:solidFill>
                  <a:srgbClr val="1A1A1A"/>
                </a:solidFill>
                <a:latin typeface="Calibri"/>
              </a:rPr>
              <a:t>The home page makes zero API calls. All analytics are computed locally from email and contract files. A Procurement Manager can load the dashboard at any time — including 5 minutes before a meeting — without cost or latency.</a:t>
            </a:r>
          </a:p>
        </p:txBody>
      </p:sp>
      <p:sp>
        <p:nvSpPr>
          <p:cNvPr id="11" name="Rectangle 10"/>
          <p:cNvSpPr/>
          <p:nvPr/>
        </p:nvSpPr>
        <p:spPr>
          <a:xfrm>
            <a:off x="7406640" y="1234440"/>
            <a:ext cx="4434840" cy="5303520"/>
          </a:xfrm>
          <a:prstGeom prst="rect">
            <a:avLst/>
          </a:prstGeom>
          <a:solidFill>
            <a:srgbClr val="E8E8E8"/>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06640" y="3200400"/>
            <a:ext cx="4434840" cy="731520"/>
          </a:xfrm>
          <a:prstGeom prst="rect">
            <a:avLst/>
          </a:prstGeom>
          <a:noFill/>
        </p:spPr>
        <p:txBody>
          <a:bodyPr wrap="none">
            <a:spAutoFit/>
          </a:bodyPr>
          <a:lstStyle/>
          <a:p>
            <a:endParaRPr/>
          </a:p>
          <a:p>
            <a:pPr algn="ctr">
              <a:spcBef>
                <a:spcPts val="0"/>
              </a:spcBef>
              <a:spcAft>
                <a:spcPts val="0"/>
              </a:spcAft>
            </a:pPr>
            <a:r>
              <a:rPr sz="1600" b="0">
                <a:solidFill>
                  <a:srgbClr val="555555"/>
                </a:solidFill>
                <a:latin typeface="Calibri"/>
              </a:rPr>
              <a:t>[ Live demo ]</a:t>
            </a:r>
          </a:p>
        </p:txBody>
      </p:sp>
      <p:sp>
        <p:nvSpPr>
          <p:cNvPr id="13" name="TextBox 12"/>
          <p:cNvSpPr txBox="1"/>
          <p:nvPr/>
        </p:nvSpPr>
        <p:spPr>
          <a:xfrm>
            <a:off x="7406640" y="3749039"/>
            <a:ext cx="4434840" cy="457200"/>
          </a:xfrm>
          <a:prstGeom prst="rect">
            <a:avLst/>
          </a:prstGeom>
          <a:noFill/>
        </p:spPr>
        <p:txBody>
          <a:bodyPr wrap="none">
            <a:spAutoFit/>
          </a:bodyPr>
          <a:lstStyle/>
          <a:p>
            <a:endParaRPr/>
          </a:p>
          <a:p>
            <a:pPr algn="ctr">
              <a:spcBef>
                <a:spcPts val="0"/>
              </a:spcBef>
              <a:spcAft>
                <a:spcPts val="0"/>
              </a:spcAft>
            </a:pPr>
            <a:r>
              <a:rPr sz="1000" b="0">
                <a:solidFill>
                  <a:srgbClr val="555555"/>
                </a:solidFill>
                <a:latin typeface="Calibri"/>
              </a:rPr>
              <a:t>strauss-procurement.streamlit.app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Demo: Supplier Profile</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Relationship health analytics — searchable directory, per-supplier depth</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TextBox 6"/>
          <p:cNvSpPr txBox="1"/>
          <p:nvPr/>
        </p:nvSpPr>
        <p:spPr>
          <a:xfrm>
            <a:off x="320040" y="1234440"/>
            <a:ext cx="7772400" cy="5029200"/>
          </a:xfrm>
          <a:prstGeom prst="rect">
            <a:avLst/>
          </a:prstGeom>
          <a:noFill/>
        </p:spPr>
        <p:txBody>
          <a:bodyPr wrap="square">
            <a:spAutoFit/>
          </a:bodyPr>
          <a:lstStyle/>
          <a:p>
            <a:pPr algn="l">
              <a:spcBef>
                <a:spcPts val="600"/>
              </a:spcBef>
            </a:pPr>
            <a:r>
              <a:rPr sz="1400">
                <a:solidFill>
                  <a:srgbClr val="1A1A1A"/>
                </a:solidFill>
                <a:latin typeface="Calibri"/>
              </a:rPr>
              <a:t>🔍  Searchable directory — filter by name, category, or geography</a:t>
            </a:r>
          </a:p>
          <a:p>
            <a:pPr algn="l">
              <a:spcBef>
                <a:spcPts val="600"/>
              </a:spcBef>
            </a:pPr>
            <a:r>
              <a:rPr sz="1400">
                <a:solidFill>
                  <a:srgbClr val="1A1A1A"/>
                </a:solidFill>
                <a:latin typeface="Calibri"/>
              </a:rPr>
              <a:t>🟢🟡🔴  Relationship health score — composite of response time trend + communication volume</a:t>
            </a:r>
          </a:p>
          <a:p>
            <a:pPr algn="l">
              <a:spcBef>
                <a:spcPts val="600"/>
              </a:spcBef>
            </a:pPr>
            <a:r>
              <a:rPr sz="1400">
                <a:solidFill>
                  <a:srgbClr val="1A1A1A"/>
                </a:solidFill>
                <a:latin typeface="Calibri"/>
              </a:rPr>
              <a:t>📊  Email activity chart — emails per month, last 12 months</a:t>
            </a:r>
          </a:p>
          <a:p>
            <a:pPr algn="l">
              <a:spcBef>
                <a:spcPts val="600"/>
              </a:spcBef>
            </a:pPr>
            <a:r>
              <a:rPr sz="1400">
                <a:solidFill>
                  <a:srgbClr val="1A1A1A"/>
                </a:solidFill>
                <a:latin typeface="Calibri"/>
              </a:rPr>
              <a:t>📈  Responsiveness trend — early-half vs recent-half avg response time (getting slower = warning)</a:t>
            </a:r>
          </a:p>
          <a:p>
            <a:pPr algn="l">
              <a:spcBef>
                <a:spcPts val="600"/>
              </a:spcBef>
            </a:pPr>
            <a:r>
              <a:rPr sz="1400">
                <a:solidFill>
                  <a:srgbClr val="1A1A1A"/>
                </a:solidFill>
                <a:latin typeface="Calibri"/>
              </a:rPr>
              <a:t>📉  Retention signal — volume trend, days since last contact, interpretation in plain English</a:t>
            </a:r>
          </a:p>
          <a:p>
            <a:pPr algn="l">
              <a:spcBef>
                <a:spcPts val="600"/>
              </a:spcBef>
            </a:pPr>
            <a:r>
              <a:rPr sz="1400">
                <a:solidFill>
                  <a:srgbClr val="1A1A1A"/>
                </a:solidFill>
                <a:latin typeface="Calibri"/>
              </a:rPr>
              <a:t>📄  Latest discussion preview — most recent email thread with inline read</a:t>
            </a:r>
          </a:p>
          <a:p>
            <a:pPr algn="l">
              <a:spcBef>
                <a:spcPts val="600"/>
              </a:spcBef>
            </a:pPr>
            <a:r>
              <a:rPr sz="1400">
                <a:solidFill>
                  <a:srgbClr val="1A1A1A"/>
                </a:solidFill>
                <a:latin typeface="Calibri"/>
              </a:rPr>
              <a:t>🔗  One-click shortcut to generate the meeting prep packet for this supplier</a:t>
            </a:r>
          </a:p>
        </p:txBody>
      </p:sp>
      <p:sp>
        <p:nvSpPr>
          <p:cNvPr id="8" name="Rectangle 7"/>
          <p:cNvSpPr/>
          <p:nvPr/>
        </p:nvSpPr>
        <p:spPr>
          <a:xfrm>
            <a:off x="8321040" y="1234440"/>
            <a:ext cx="3520440" cy="5303520"/>
          </a:xfrm>
          <a:prstGeom prst="rect">
            <a:avLst/>
          </a:prstGeom>
          <a:solidFill>
            <a:srgbClr val="E8E8E8"/>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21040" y="3200400"/>
            <a:ext cx="3520440" cy="731520"/>
          </a:xfrm>
          <a:prstGeom prst="rect">
            <a:avLst/>
          </a:prstGeom>
          <a:noFill/>
        </p:spPr>
        <p:txBody>
          <a:bodyPr wrap="none">
            <a:spAutoFit/>
          </a:bodyPr>
          <a:lstStyle/>
          <a:p>
            <a:endParaRPr/>
          </a:p>
          <a:p>
            <a:pPr algn="ctr">
              <a:spcBef>
                <a:spcPts val="0"/>
              </a:spcBef>
              <a:spcAft>
                <a:spcPts val="0"/>
              </a:spcAft>
            </a:pPr>
            <a:r>
              <a:rPr sz="1600" b="0">
                <a:solidFill>
                  <a:srgbClr val="555555"/>
                </a:solidFill>
                <a:latin typeface="Calibri"/>
              </a:rPr>
              <a:t>[ Live demo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Demo: Meeting Prep Packet</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The core product — one click, one page, everything the manager needs</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TextBox 6"/>
          <p:cNvSpPr txBox="1"/>
          <p:nvPr/>
        </p:nvSpPr>
        <p:spPr>
          <a:xfrm>
            <a:off x="320040" y="1234440"/>
            <a:ext cx="5669280" cy="5303520"/>
          </a:xfrm>
          <a:prstGeom prst="rect">
            <a:avLst/>
          </a:prstGeom>
          <a:noFill/>
        </p:spPr>
        <p:txBody>
          <a:bodyPr wrap="square">
            <a:spAutoFit/>
          </a:bodyPr>
          <a:lstStyle/>
          <a:p>
            <a:pPr algn="l">
              <a:spcBef>
                <a:spcPts val="600"/>
              </a:spcBef>
            </a:pPr>
            <a:r>
              <a:rPr sz="1300">
                <a:solidFill>
                  <a:srgbClr val="1A1A1A"/>
                </a:solidFill>
                <a:latin typeface="Calibri"/>
              </a:rPr>
              <a:t>⚡  Select meeting → Generate Packet</a:t>
            </a:r>
          </a:p>
          <a:p>
            <a:pPr algn="l">
              <a:spcBef>
                <a:spcPts val="600"/>
              </a:spcBef>
            </a:pPr>
            <a:r>
              <a:rPr sz="1300">
                <a:solidFill>
                  <a:srgbClr val="1A1A1A"/>
                </a:solidFill>
                <a:latin typeface="Calibri"/>
              </a:rPr>
              <a:t>One Claude API call per supplier</a:t>
            </a:r>
          </a:p>
          <a:p>
            <a:pPr algn="l">
              <a:spcBef>
                <a:spcPts val="600"/>
              </a:spcBef>
            </a:pPr>
            <a:r>
              <a:rPr sz="1300">
                <a:solidFill>
                  <a:srgbClr val="1A1A1A"/>
                </a:solidFill>
                <a:latin typeface="Calibri"/>
              </a:rPr>
              <a:t>Returns in ~10–15 seconds</a:t>
            </a:r>
          </a:p>
          <a:p>
            <a:pPr algn="l">
              <a:spcBef>
                <a:spcPts val="600"/>
              </a:spcBef>
            </a:pPr>
            <a:endParaRPr sz="1300">
              <a:solidFill>
                <a:srgbClr val="1A1A1A"/>
              </a:solidFill>
              <a:latin typeface="Calibri"/>
            </a:endParaRPr>
          </a:p>
          <a:p>
            <a:pPr algn="l">
              <a:spcBef>
                <a:spcPts val="600"/>
              </a:spcBef>
            </a:pPr>
            <a:r>
              <a:rPr sz="1300">
                <a:solidFill>
                  <a:srgbClr val="1A1A1A"/>
                </a:solidFill>
                <a:latin typeface="Calibri"/>
              </a:rPr>
              <a:t>Packet contains:</a:t>
            </a:r>
          </a:p>
          <a:p>
            <a:pPr algn="l">
              <a:spcBef>
                <a:spcPts val="600"/>
              </a:spcBef>
            </a:pPr>
            <a:r>
              <a:rPr sz="1300">
                <a:solidFill>
                  <a:srgbClr val="1A1A1A"/>
                </a:solidFill>
                <a:latin typeface="Calibri"/>
              </a:rPr>
              <a:t>  • Heads-up alert (most critical issue)</a:t>
            </a:r>
          </a:p>
          <a:p>
            <a:pPr algn="l">
              <a:spcBef>
                <a:spcPts val="600"/>
              </a:spcBef>
            </a:pPr>
            <a:r>
              <a:rPr sz="1300">
                <a:solidFill>
                  <a:srgbClr val="1A1A1A"/>
                </a:solidFill>
                <a:latin typeface="Calibri"/>
              </a:rPr>
              <a:t>  • 4 KPI tiles (response time, open issues,</a:t>
            </a:r>
          </a:p>
          <a:p>
            <a:pPr algn="l">
              <a:spcBef>
                <a:spcPts val="600"/>
              </a:spcBef>
            </a:pPr>
            <a:r>
              <a:rPr sz="1300">
                <a:solidFill>
                  <a:srgbClr val="1A1A1A"/>
                </a:solidFill>
                <a:latin typeface="Calibri"/>
              </a:rPr>
              <a:t>    price delta, days to renewal)</a:t>
            </a:r>
          </a:p>
          <a:p>
            <a:pPr algn="l">
              <a:spcBef>
                <a:spcPts val="600"/>
              </a:spcBef>
            </a:pPr>
            <a:r>
              <a:rPr sz="1300">
                <a:solidFill>
                  <a:srgbClr val="1A1A1A"/>
                </a:solidFill>
                <a:latin typeface="Calibri"/>
              </a:rPr>
              <a:t>  • Open issues list (colour-coded by severity)</a:t>
            </a:r>
          </a:p>
          <a:p>
            <a:pPr algn="l">
              <a:spcBef>
                <a:spcPts val="600"/>
              </a:spcBef>
            </a:pPr>
            <a:r>
              <a:rPr sz="1300">
                <a:solidFill>
                  <a:srgbClr val="1A1A1A"/>
                </a:solidFill>
                <a:latin typeface="Calibri"/>
              </a:rPr>
              <a:t>  • Email thread summary</a:t>
            </a:r>
          </a:p>
          <a:p>
            <a:pPr algn="l">
              <a:spcBef>
                <a:spcPts val="600"/>
              </a:spcBef>
            </a:pPr>
            <a:r>
              <a:rPr sz="1300">
                <a:solidFill>
                  <a:srgbClr val="1A1A1A"/>
                </a:solidFill>
                <a:latin typeface="Calibri"/>
              </a:rPr>
              <a:t>  • Contract at a glance</a:t>
            </a:r>
          </a:p>
          <a:p>
            <a:pPr algn="l">
              <a:spcBef>
                <a:spcPts val="600"/>
              </a:spcBef>
            </a:pPr>
            <a:r>
              <a:rPr sz="1300">
                <a:solidFill>
                  <a:srgbClr val="1A1A1A"/>
                </a:solidFill>
                <a:latin typeface="Calibri"/>
              </a:rPr>
              <a:t>  • Pricing section with delta calculation</a:t>
            </a:r>
          </a:p>
          <a:p>
            <a:pPr algn="l">
              <a:spcBef>
                <a:spcPts val="600"/>
              </a:spcBef>
            </a:pPr>
            <a:r>
              <a:rPr sz="1300">
                <a:solidFill>
                  <a:srgbClr val="1A1A1A"/>
                </a:solidFill>
                <a:latin typeface="Calibri"/>
              </a:rPr>
              <a:t>  • Commodity benchmark (6-month change)</a:t>
            </a:r>
          </a:p>
        </p:txBody>
      </p:sp>
      <p:sp>
        <p:nvSpPr>
          <p:cNvPr id="8" name="Rectangle 7"/>
          <p:cNvSpPr/>
          <p:nvPr/>
        </p:nvSpPr>
        <p:spPr>
          <a:xfrm>
            <a:off x="6217920" y="1234440"/>
            <a:ext cx="5623560" cy="5303520"/>
          </a:xfrm>
          <a:prstGeom prst="rect">
            <a:avLst/>
          </a:prstGeom>
          <a:solidFill>
            <a:srgbClr val="FBEBE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325880"/>
            <a:ext cx="5303520" cy="411480"/>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Demo case: Galil Dairy Suppliers</a:t>
            </a:r>
          </a:p>
        </p:txBody>
      </p:sp>
      <p:sp>
        <p:nvSpPr>
          <p:cNvPr id="10" name="TextBox 9"/>
          <p:cNvSpPr txBox="1"/>
          <p:nvPr/>
        </p:nvSpPr>
        <p:spPr>
          <a:xfrm>
            <a:off x="6400800" y="1783080"/>
            <a:ext cx="5303520" cy="4572000"/>
          </a:xfrm>
          <a:prstGeom prst="rect">
            <a:avLst/>
          </a:prstGeom>
          <a:noFill/>
        </p:spPr>
        <p:txBody>
          <a:bodyPr wrap="square">
            <a:spAutoFit/>
          </a:bodyPr>
          <a:lstStyle/>
          <a:p>
            <a:pPr algn="l">
              <a:spcBef>
                <a:spcPts val="600"/>
              </a:spcBef>
            </a:pPr>
            <a:r>
              <a:rPr sz="1200">
                <a:solidFill>
                  <a:srgbClr val="1A1A1A"/>
                </a:solidFill>
                <a:latin typeface="Calibri"/>
              </a:rPr>
              <a:t>🔴  Price discrepancy flagged</a:t>
            </a:r>
          </a:p>
          <a:p>
            <a:pPr algn="l">
              <a:spcBef>
                <a:spcPts val="600"/>
              </a:spcBef>
            </a:pPr>
            <a:r>
              <a:rPr sz="1200">
                <a:solidFill>
                  <a:srgbClr val="1A1A1A"/>
                </a:solidFill>
                <a:latin typeface="Calibri"/>
              </a:rPr>
              <a:t>     Supplier quoted ₪15.50/kg in email</a:t>
            </a:r>
          </a:p>
          <a:p>
            <a:pPr algn="l">
              <a:spcBef>
                <a:spcPts val="600"/>
              </a:spcBef>
            </a:pPr>
            <a:r>
              <a:rPr sz="1200">
                <a:solidFill>
                  <a:srgbClr val="1A1A1A"/>
                </a:solidFill>
                <a:latin typeface="Calibri"/>
              </a:rPr>
              <a:t>     Contract Section 4.2 caps at ₪14.20/kg</a:t>
            </a:r>
          </a:p>
          <a:p>
            <a:pPr algn="l">
              <a:spcBef>
                <a:spcPts val="600"/>
              </a:spcBef>
            </a:pPr>
            <a:r>
              <a:rPr sz="1200">
                <a:solidFill>
                  <a:srgbClr val="1A1A1A"/>
                </a:solidFill>
                <a:latin typeface="Calibri"/>
              </a:rPr>
              <a:t>     No written amendment exists</a:t>
            </a:r>
          </a:p>
          <a:p>
            <a:pPr algn="l">
              <a:spcBef>
                <a:spcPts val="600"/>
              </a:spcBef>
            </a:pPr>
            <a:r>
              <a:rPr sz="1200">
                <a:solidFill>
                  <a:srgbClr val="1A1A1A"/>
                </a:solidFill>
                <a:latin typeface="Calibri"/>
              </a:rPr>
              <a:t>     Delta: +₪1.30/kg (+9.2%)</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Unanswered thread flagged</a:t>
            </a:r>
          </a:p>
          <a:p>
            <a:pPr algn="l">
              <a:spcBef>
                <a:spcPts val="600"/>
              </a:spcBef>
            </a:pPr>
            <a:r>
              <a:rPr sz="1200">
                <a:solidFill>
                  <a:srgbClr val="1A1A1A"/>
                </a:solidFill>
                <a:latin typeface="Calibri"/>
              </a:rPr>
              <a:t>     Yael Shapira requested alignment</a:t>
            </a:r>
          </a:p>
          <a:p>
            <a:pPr algn="l">
              <a:spcBef>
                <a:spcPts val="600"/>
              </a:spcBef>
            </a:pPr>
            <a:r>
              <a:rPr sz="1200">
                <a:solidFill>
                  <a:srgbClr val="1A1A1A"/>
                </a:solidFill>
                <a:latin typeface="Calibri"/>
              </a:rPr>
              <a:t>     David Cohen proposed call — no</a:t>
            </a:r>
          </a:p>
          <a:p>
            <a:pPr algn="l">
              <a:spcBef>
                <a:spcPts val="600"/>
              </a:spcBef>
            </a:pPr>
            <a:r>
              <a:rPr sz="1200">
                <a:solidFill>
                  <a:srgbClr val="1A1A1A"/>
                </a:solidFill>
                <a:latin typeface="Calibri"/>
              </a:rPr>
              <a:t>     documented outcome</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Every fact has a 'Show source'</a:t>
            </a:r>
          </a:p>
          <a:p>
            <a:pPr algn="l">
              <a:spcBef>
                <a:spcPts val="600"/>
              </a:spcBef>
            </a:pPr>
            <a:r>
              <a:rPr sz="1200">
                <a:solidFill>
                  <a:srgbClr val="1A1A1A"/>
                </a:solidFill>
                <a:latin typeface="Calibri"/>
              </a:rPr>
              <a:t>     expander pointing to the exact</a:t>
            </a:r>
          </a:p>
          <a:p>
            <a:pPr algn="l">
              <a:spcBef>
                <a:spcPts val="600"/>
              </a:spcBef>
            </a:pPr>
            <a:r>
              <a:rPr sz="1200">
                <a:solidFill>
                  <a:srgbClr val="1A1A1A"/>
                </a:solidFill>
                <a:latin typeface="Calibri"/>
              </a:rPr>
              <a:t>     email or contract section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The Human in the Loop</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What stops this from being trusted blindly</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320040" y="1234440"/>
            <a:ext cx="11521440" cy="11887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307592"/>
            <a:ext cx="11155680" cy="36576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  Source attribution on every field</a:t>
            </a:r>
          </a:p>
        </p:txBody>
      </p:sp>
      <p:sp>
        <p:nvSpPr>
          <p:cNvPr id="9" name="TextBox 8"/>
          <p:cNvSpPr txBox="1"/>
          <p:nvPr/>
        </p:nvSpPr>
        <p:spPr>
          <a:xfrm>
            <a:off x="502920" y="1673352"/>
            <a:ext cx="11155680" cy="685800"/>
          </a:xfrm>
          <a:prstGeom prst="rect">
            <a:avLst/>
          </a:prstGeom>
          <a:noFill/>
        </p:spPr>
        <p:txBody>
          <a:bodyPr wrap="square">
            <a:spAutoFit/>
          </a:bodyPr>
          <a:lstStyle/>
          <a:p>
            <a:endParaRPr/>
          </a:p>
          <a:p>
            <a:pPr algn="l">
              <a:spcBef>
                <a:spcPts val="0"/>
              </a:spcBef>
              <a:spcAft>
                <a:spcPts val="0"/>
              </a:spcAft>
            </a:pPr>
            <a:r>
              <a:rPr sz="1300" b="0">
                <a:solidFill>
                  <a:srgbClr val="1A1A1A"/>
                </a:solidFill>
                <a:latin typeface="Calibri"/>
              </a:rPr>
              <a:t>Every number, date, and clause cites exactly where it came from (email date + sender, or contract section). One click to verify. Nothing is presented as settled ground truth.</a:t>
            </a:r>
          </a:p>
        </p:txBody>
      </p:sp>
      <p:sp>
        <p:nvSpPr>
          <p:cNvPr id="10" name="Rectangle 9"/>
          <p:cNvSpPr/>
          <p:nvPr/>
        </p:nvSpPr>
        <p:spPr>
          <a:xfrm>
            <a:off x="320040" y="2560320"/>
            <a:ext cx="11521440" cy="11887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633472"/>
            <a:ext cx="11155680" cy="36576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  Explicit conflict flagging</a:t>
            </a:r>
          </a:p>
        </p:txBody>
      </p:sp>
      <p:sp>
        <p:nvSpPr>
          <p:cNvPr id="12" name="TextBox 11"/>
          <p:cNvSpPr txBox="1"/>
          <p:nvPr/>
        </p:nvSpPr>
        <p:spPr>
          <a:xfrm>
            <a:off x="502920" y="2999232"/>
            <a:ext cx="11155680" cy="685800"/>
          </a:xfrm>
          <a:prstGeom prst="rect">
            <a:avLst/>
          </a:prstGeom>
          <a:noFill/>
        </p:spPr>
        <p:txBody>
          <a:bodyPr wrap="square">
            <a:spAutoFit/>
          </a:bodyPr>
          <a:lstStyle/>
          <a:p>
            <a:endParaRPr/>
          </a:p>
          <a:p>
            <a:pPr algn="l">
              <a:spcBef>
                <a:spcPts val="0"/>
              </a:spcBef>
              <a:spcAft>
                <a:spcPts val="0"/>
              </a:spcAft>
            </a:pPr>
            <a:r>
              <a:rPr sz="1300" b="0">
                <a:solidFill>
                  <a:srgbClr val="1A1A1A"/>
                </a:solidFill>
                <a:latin typeface="Calibri"/>
              </a:rPr>
              <a:t>When email and contract disagree, the packet surfaces both and flags the conflict — it never silently picks one. Galil price discrepancy and Siam Sugar unit ambiguity are live examples in the demo.</a:t>
            </a:r>
          </a:p>
        </p:txBody>
      </p:sp>
      <p:sp>
        <p:nvSpPr>
          <p:cNvPr id="13" name="Rectangle 12"/>
          <p:cNvSpPr/>
          <p:nvPr/>
        </p:nvSpPr>
        <p:spPr>
          <a:xfrm>
            <a:off x="320040" y="3886200"/>
            <a:ext cx="11521440" cy="11887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3959352"/>
            <a:ext cx="11155680" cy="36576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  Correction tracking built in</a:t>
            </a:r>
          </a:p>
        </p:txBody>
      </p:sp>
      <p:sp>
        <p:nvSpPr>
          <p:cNvPr id="15" name="TextBox 14"/>
          <p:cNvSpPr txBox="1"/>
          <p:nvPr/>
        </p:nvSpPr>
        <p:spPr>
          <a:xfrm>
            <a:off x="502920" y="4325112"/>
            <a:ext cx="11155680" cy="685800"/>
          </a:xfrm>
          <a:prstGeom prst="rect">
            <a:avLst/>
          </a:prstGeom>
          <a:noFill/>
        </p:spPr>
        <p:txBody>
          <a:bodyPr wrap="square">
            <a:spAutoFit/>
          </a:bodyPr>
          <a:lstStyle/>
          <a:p>
            <a:endParaRPr/>
          </a:p>
          <a:p>
            <a:pPr algn="l">
              <a:spcBef>
                <a:spcPts val="0"/>
              </a:spcBef>
              <a:spcAft>
                <a:spcPts val="0"/>
              </a:spcAft>
            </a:pPr>
            <a:r>
              <a:rPr sz="1300" b="0">
                <a:solidFill>
                  <a:srgbClr val="1A1A1A"/>
                </a:solidFill>
                <a:latin typeface="Calibri"/>
              </a:rPr>
              <a:t>The manager can flag any field as wrong directly in the packet view. Corrections are saved to a log (correction_log.csv) — this is the extraction quality feedback loop, per metrics.md §5.</a:t>
            </a:r>
          </a:p>
        </p:txBody>
      </p:sp>
      <p:sp>
        <p:nvSpPr>
          <p:cNvPr id="16" name="Rectangle 15"/>
          <p:cNvSpPr/>
          <p:nvPr/>
        </p:nvSpPr>
        <p:spPr>
          <a:xfrm>
            <a:off x="320040" y="5212079"/>
            <a:ext cx="11521440" cy="11887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5285231"/>
            <a:ext cx="11155680" cy="36576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  Tool never acts</a:t>
            </a:r>
          </a:p>
        </p:txBody>
      </p:sp>
      <p:sp>
        <p:nvSpPr>
          <p:cNvPr id="18" name="TextBox 17"/>
          <p:cNvSpPr txBox="1"/>
          <p:nvPr/>
        </p:nvSpPr>
        <p:spPr>
          <a:xfrm>
            <a:off x="502920" y="5650992"/>
            <a:ext cx="11155680" cy="685800"/>
          </a:xfrm>
          <a:prstGeom prst="rect">
            <a:avLst/>
          </a:prstGeom>
          <a:noFill/>
        </p:spPr>
        <p:txBody>
          <a:bodyPr wrap="square">
            <a:spAutoFit/>
          </a:bodyPr>
          <a:lstStyle/>
          <a:p>
            <a:endParaRPr/>
          </a:p>
          <a:p>
            <a:pPr algn="l">
              <a:spcBef>
                <a:spcPts val="0"/>
              </a:spcBef>
              <a:spcAft>
                <a:spcPts val="0"/>
              </a:spcAft>
            </a:pPr>
            <a:r>
              <a:rPr sz="1300" b="0">
                <a:solidFill>
                  <a:srgbClr val="1A1A1A"/>
                </a:solidFill>
                <a:latin typeface="Calibri"/>
              </a:rPr>
              <a:t>No emails sent, no contracts updated, no decisions taken. Every action stays with the human. The tool removes the assembly work in front of the judgment call — it does not replace the judgment call.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KPIs — Two Tiers, Both Tracked</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Adoption tells you if people use it. Extraction quality tells you if it's worth using.</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TextBox 6"/>
          <p:cNvSpPr txBox="1"/>
          <p:nvPr/>
        </p:nvSpPr>
        <p:spPr>
          <a:xfrm>
            <a:off x="182880" y="1170432"/>
            <a:ext cx="4114800" cy="292608"/>
          </a:xfrm>
          <a:prstGeom prst="rect">
            <a:avLst/>
          </a:prstGeom>
          <a:noFill/>
        </p:spPr>
        <p:txBody>
          <a:bodyPr wrap="none">
            <a:spAutoFit/>
          </a:bodyPr>
          <a:lstStyle/>
          <a:p>
            <a:endParaRPr/>
          </a:p>
          <a:p>
            <a:pPr algn="l">
              <a:spcBef>
                <a:spcPts val="0"/>
              </a:spcBef>
              <a:spcAft>
                <a:spcPts val="0"/>
              </a:spcAft>
            </a:pPr>
            <a:r>
              <a:rPr sz="1000" b="1">
                <a:solidFill>
                  <a:srgbClr val="FFFFFF"/>
                </a:solidFill>
                <a:latin typeface="Calibri"/>
              </a:rPr>
              <a:t>TIER 1  —  ADOPTION  (is it being used?)</a:t>
            </a:r>
          </a:p>
        </p:txBody>
      </p:sp>
      <p:sp>
        <p:nvSpPr>
          <p:cNvPr id="8" name="Rectangle 7"/>
          <p:cNvSpPr/>
          <p:nvPr/>
        </p:nvSpPr>
        <p:spPr>
          <a:xfrm>
            <a:off x="182880" y="1170432"/>
            <a:ext cx="11841480" cy="2926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1179576"/>
            <a:ext cx="11612880" cy="256032"/>
          </a:xfrm>
          <a:prstGeom prst="rect">
            <a:avLst/>
          </a:prstGeom>
          <a:noFill/>
        </p:spPr>
        <p:txBody>
          <a:bodyPr wrap="none">
            <a:spAutoFit/>
          </a:bodyPr>
          <a:lstStyle/>
          <a:p>
            <a:endParaRPr/>
          </a:p>
          <a:p>
            <a:pPr algn="l">
              <a:spcBef>
                <a:spcPts val="0"/>
              </a:spcBef>
              <a:spcAft>
                <a:spcPts val="0"/>
              </a:spcAft>
            </a:pPr>
            <a:r>
              <a:rPr sz="1000" b="1">
                <a:solidFill>
                  <a:srgbClr val="FFFFFF"/>
                </a:solidFill>
                <a:latin typeface="Calibri"/>
              </a:rPr>
              <a:t>TIER 1  —  ADOPTION  (is it being used?)</a:t>
            </a:r>
          </a:p>
        </p:txBody>
      </p:sp>
      <p:sp>
        <p:nvSpPr>
          <p:cNvPr id="10" name="Rectangle 9"/>
          <p:cNvSpPr/>
          <p:nvPr/>
        </p:nvSpPr>
        <p:spPr>
          <a:xfrm>
            <a:off x="182880" y="1508760"/>
            <a:ext cx="2286000" cy="14173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1536192"/>
            <a:ext cx="2103120" cy="292608"/>
          </a:xfrm>
          <a:prstGeom prst="rect">
            <a:avLst/>
          </a:prstGeom>
          <a:noFill/>
        </p:spPr>
        <p:txBody>
          <a:bodyPr wrap="none">
            <a:spAutoFit/>
          </a:bodyPr>
          <a:lstStyle/>
          <a:p>
            <a:endParaRPr/>
          </a:p>
          <a:p>
            <a:pPr algn="l">
              <a:spcBef>
                <a:spcPts val="0"/>
              </a:spcBef>
              <a:spcAft>
                <a:spcPts val="0"/>
              </a:spcAft>
            </a:pPr>
            <a:r>
              <a:rPr sz="1000" b="1">
                <a:solidFill>
                  <a:srgbClr val="1A1A1A"/>
                </a:solidFill>
                <a:latin typeface="Calibri"/>
              </a:rPr>
              <a:t>Packets generated</a:t>
            </a:r>
          </a:p>
        </p:txBody>
      </p:sp>
      <p:sp>
        <p:nvSpPr>
          <p:cNvPr id="12" name="TextBox 11"/>
          <p:cNvSpPr txBox="1"/>
          <p:nvPr/>
        </p:nvSpPr>
        <p:spPr>
          <a:xfrm>
            <a:off x="274320" y="1828800"/>
            <a:ext cx="2103120" cy="822960"/>
          </a:xfrm>
          <a:prstGeom prst="rect">
            <a:avLst/>
          </a:prstGeom>
          <a:noFill/>
        </p:spPr>
        <p:txBody>
          <a:bodyPr wrap="square">
            <a:spAutoFit/>
          </a:bodyPr>
          <a:lstStyle/>
          <a:p>
            <a:endParaRPr/>
          </a:p>
          <a:p>
            <a:pPr algn="l">
              <a:spcBef>
                <a:spcPts val="0"/>
              </a:spcBef>
              <a:spcAft>
                <a:spcPts val="0"/>
              </a:spcAft>
            </a:pPr>
            <a:r>
              <a:rPr sz="800" b="0">
                <a:solidFill>
                  <a:srgbClr val="1A1A1A"/>
                </a:solidFill>
                <a:latin typeface="Calibri"/>
              </a:rPr>
              <a:t>Total count of prep packets produced. Primary adoption signal — zero means the tool isn't being used.</a:t>
            </a:r>
          </a:p>
        </p:txBody>
      </p:sp>
      <p:sp>
        <p:nvSpPr>
          <p:cNvPr id="13" name="TextBox 12"/>
          <p:cNvSpPr txBox="1"/>
          <p:nvPr/>
        </p:nvSpPr>
        <p:spPr>
          <a:xfrm>
            <a:off x="274320" y="2724912"/>
            <a:ext cx="2103120" cy="182880"/>
          </a:xfrm>
          <a:prstGeom prst="rect">
            <a:avLst/>
          </a:prstGeom>
          <a:noFill/>
        </p:spPr>
        <p:txBody>
          <a:bodyPr wrap="none">
            <a:spAutoFit/>
          </a:bodyPr>
          <a:lstStyle/>
          <a:p>
            <a:endParaRPr/>
          </a:p>
          <a:p>
            <a:pPr algn="l">
              <a:spcBef>
                <a:spcPts val="0"/>
              </a:spcBef>
              <a:spcAft>
                <a:spcPts val="0"/>
              </a:spcAft>
            </a:pPr>
            <a:r>
              <a:rPr sz="700" b="0">
                <a:solidFill>
                  <a:srgbClr val="555555"/>
                </a:solidFill>
                <a:latin typeface="Calibri"/>
              </a:rPr>
              <a:t>total_packets in SQLite</a:t>
            </a:r>
          </a:p>
        </p:txBody>
      </p:sp>
      <p:sp>
        <p:nvSpPr>
          <p:cNvPr id="14" name="Rectangle 13"/>
          <p:cNvSpPr/>
          <p:nvPr/>
        </p:nvSpPr>
        <p:spPr>
          <a:xfrm>
            <a:off x="2560320" y="1508760"/>
            <a:ext cx="2286000" cy="1417320"/>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51760" y="1536192"/>
            <a:ext cx="2103120" cy="292608"/>
          </a:xfrm>
          <a:prstGeom prst="rect">
            <a:avLst/>
          </a:prstGeom>
          <a:noFill/>
        </p:spPr>
        <p:txBody>
          <a:bodyPr wrap="none">
            <a:spAutoFit/>
          </a:bodyPr>
          <a:lstStyle/>
          <a:p>
            <a:endParaRPr/>
          </a:p>
          <a:p>
            <a:pPr algn="l">
              <a:spcBef>
                <a:spcPts val="0"/>
              </a:spcBef>
              <a:spcAft>
                <a:spcPts val="0"/>
              </a:spcAft>
            </a:pPr>
            <a:r>
              <a:rPr sz="1000" b="1">
                <a:solidFill>
                  <a:srgbClr val="1A1A1A"/>
                </a:solidFill>
                <a:latin typeface="Calibri"/>
              </a:rPr>
              <a:t>Unique suppliers queried</a:t>
            </a:r>
          </a:p>
        </p:txBody>
      </p:sp>
      <p:sp>
        <p:nvSpPr>
          <p:cNvPr id="16" name="TextBox 15"/>
          <p:cNvSpPr txBox="1"/>
          <p:nvPr/>
        </p:nvSpPr>
        <p:spPr>
          <a:xfrm>
            <a:off x="2651760" y="1828800"/>
            <a:ext cx="2103120" cy="822960"/>
          </a:xfrm>
          <a:prstGeom prst="rect">
            <a:avLst/>
          </a:prstGeom>
          <a:noFill/>
        </p:spPr>
        <p:txBody>
          <a:bodyPr wrap="square">
            <a:spAutoFit/>
          </a:bodyPr>
          <a:lstStyle/>
          <a:p>
            <a:endParaRPr/>
          </a:p>
          <a:p>
            <a:pPr algn="l">
              <a:spcBef>
                <a:spcPts val="0"/>
              </a:spcBef>
              <a:spcAft>
                <a:spcPts val="0"/>
              </a:spcAft>
            </a:pPr>
            <a:r>
              <a:rPr sz="800" b="0">
                <a:solidFill>
                  <a:srgbClr val="1A1A1A"/>
                </a:solidFill>
                <a:latin typeface="Calibri"/>
              </a:rPr>
              <a:t>How many distinct suppliers have had a packet generated. Breadth of adoption across the supplier roster.</a:t>
            </a:r>
          </a:p>
        </p:txBody>
      </p:sp>
      <p:sp>
        <p:nvSpPr>
          <p:cNvPr id="17" name="TextBox 16"/>
          <p:cNvSpPr txBox="1"/>
          <p:nvPr/>
        </p:nvSpPr>
        <p:spPr>
          <a:xfrm>
            <a:off x="2651760" y="2724912"/>
            <a:ext cx="2103120" cy="182880"/>
          </a:xfrm>
          <a:prstGeom prst="rect">
            <a:avLst/>
          </a:prstGeom>
          <a:noFill/>
        </p:spPr>
        <p:txBody>
          <a:bodyPr wrap="none">
            <a:spAutoFit/>
          </a:bodyPr>
          <a:lstStyle/>
          <a:p>
            <a:endParaRPr/>
          </a:p>
          <a:p>
            <a:pPr algn="l">
              <a:spcBef>
                <a:spcPts val="0"/>
              </a:spcBef>
              <a:spcAft>
                <a:spcPts val="0"/>
              </a:spcAft>
            </a:pPr>
            <a:r>
              <a:rPr sz="700" b="0">
                <a:solidFill>
                  <a:srgbClr val="555555"/>
                </a:solidFill>
                <a:latin typeface="Calibri"/>
              </a:rPr>
              <a:t>unique_suppliers in SQLite</a:t>
            </a:r>
          </a:p>
        </p:txBody>
      </p:sp>
      <p:sp>
        <p:nvSpPr>
          <p:cNvPr id="18" name="Rectangle 17"/>
          <p:cNvSpPr/>
          <p:nvPr/>
        </p:nvSpPr>
        <p:spPr>
          <a:xfrm>
            <a:off x="4937760" y="1508760"/>
            <a:ext cx="2286000" cy="14173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0" y="1536192"/>
            <a:ext cx="2103120" cy="292608"/>
          </a:xfrm>
          <a:prstGeom prst="rect">
            <a:avLst/>
          </a:prstGeom>
          <a:noFill/>
        </p:spPr>
        <p:txBody>
          <a:bodyPr wrap="none">
            <a:spAutoFit/>
          </a:bodyPr>
          <a:lstStyle/>
          <a:p>
            <a:endParaRPr/>
          </a:p>
          <a:p>
            <a:pPr algn="l">
              <a:spcBef>
                <a:spcPts val="0"/>
              </a:spcBef>
              <a:spcAft>
                <a:spcPts val="0"/>
              </a:spcAft>
            </a:pPr>
            <a:r>
              <a:rPr sz="1000" b="1">
                <a:solidFill>
                  <a:srgbClr val="1A1A1A"/>
                </a:solidFill>
                <a:latin typeface="Calibri"/>
              </a:rPr>
              <a:t>Avg generation time (s)</a:t>
            </a:r>
          </a:p>
        </p:txBody>
      </p:sp>
      <p:sp>
        <p:nvSpPr>
          <p:cNvPr id="20" name="TextBox 19"/>
          <p:cNvSpPr txBox="1"/>
          <p:nvPr/>
        </p:nvSpPr>
        <p:spPr>
          <a:xfrm>
            <a:off x="5029200" y="1828800"/>
            <a:ext cx="2103120" cy="822960"/>
          </a:xfrm>
          <a:prstGeom prst="rect">
            <a:avLst/>
          </a:prstGeom>
          <a:noFill/>
        </p:spPr>
        <p:txBody>
          <a:bodyPr wrap="square">
            <a:spAutoFit/>
          </a:bodyPr>
          <a:lstStyle/>
          <a:p>
            <a:endParaRPr/>
          </a:p>
          <a:p>
            <a:pPr algn="l">
              <a:spcBef>
                <a:spcPts val="0"/>
              </a:spcBef>
              <a:spcAft>
                <a:spcPts val="0"/>
              </a:spcAft>
            </a:pPr>
            <a:r>
              <a:rPr sz="800" b="0">
                <a:solidFill>
                  <a:srgbClr val="1A1A1A"/>
                </a:solidFill>
                <a:latin typeface="Calibri"/>
              </a:rPr>
              <a:t>Average seconds per packet. Tracks performance — target &lt;15s. Regression signal if it grows.</a:t>
            </a:r>
          </a:p>
        </p:txBody>
      </p:sp>
      <p:sp>
        <p:nvSpPr>
          <p:cNvPr id="21" name="TextBox 20"/>
          <p:cNvSpPr txBox="1"/>
          <p:nvPr/>
        </p:nvSpPr>
        <p:spPr>
          <a:xfrm>
            <a:off x="5029200" y="2724912"/>
            <a:ext cx="2103120" cy="182880"/>
          </a:xfrm>
          <a:prstGeom prst="rect">
            <a:avLst/>
          </a:prstGeom>
          <a:noFill/>
        </p:spPr>
        <p:txBody>
          <a:bodyPr wrap="none">
            <a:spAutoFit/>
          </a:bodyPr>
          <a:lstStyle/>
          <a:p>
            <a:endParaRPr/>
          </a:p>
          <a:p>
            <a:pPr algn="l">
              <a:spcBef>
                <a:spcPts val="0"/>
              </a:spcBef>
              <a:spcAft>
                <a:spcPts val="0"/>
              </a:spcAft>
            </a:pPr>
            <a:r>
              <a:rPr sz="700" b="0">
                <a:solidFill>
                  <a:srgbClr val="555555"/>
                </a:solidFill>
                <a:latin typeface="Calibri"/>
              </a:rPr>
              <a:t>avg_duration_sec in SQLite</a:t>
            </a:r>
          </a:p>
        </p:txBody>
      </p:sp>
      <p:sp>
        <p:nvSpPr>
          <p:cNvPr id="22" name="Rectangle 21"/>
          <p:cNvSpPr/>
          <p:nvPr/>
        </p:nvSpPr>
        <p:spPr>
          <a:xfrm>
            <a:off x="7315200" y="1508760"/>
            <a:ext cx="2286000" cy="1417320"/>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06640" y="1536192"/>
            <a:ext cx="2103120" cy="292608"/>
          </a:xfrm>
          <a:prstGeom prst="rect">
            <a:avLst/>
          </a:prstGeom>
          <a:noFill/>
        </p:spPr>
        <p:txBody>
          <a:bodyPr wrap="none">
            <a:spAutoFit/>
          </a:bodyPr>
          <a:lstStyle/>
          <a:p>
            <a:endParaRPr/>
          </a:p>
          <a:p>
            <a:pPr algn="l">
              <a:spcBef>
                <a:spcPts val="0"/>
              </a:spcBef>
              <a:spcAft>
                <a:spcPts val="0"/>
              </a:spcAft>
            </a:pPr>
            <a:r>
              <a:rPr sz="1000" b="1">
                <a:solidFill>
                  <a:srgbClr val="1A1A1A"/>
                </a:solidFill>
                <a:latin typeface="Calibri"/>
              </a:rPr>
              <a:t>Daily generation volume</a:t>
            </a:r>
          </a:p>
        </p:txBody>
      </p:sp>
      <p:sp>
        <p:nvSpPr>
          <p:cNvPr id="24" name="TextBox 23"/>
          <p:cNvSpPr txBox="1"/>
          <p:nvPr/>
        </p:nvSpPr>
        <p:spPr>
          <a:xfrm>
            <a:off x="7406640" y="1828800"/>
            <a:ext cx="2103120" cy="822960"/>
          </a:xfrm>
          <a:prstGeom prst="rect">
            <a:avLst/>
          </a:prstGeom>
          <a:noFill/>
        </p:spPr>
        <p:txBody>
          <a:bodyPr wrap="square">
            <a:spAutoFit/>
          </a:bodyPr>
          <a:lstStyle/>
          <a:p>
            <a:endParaRPr/>
          </a:p>
          <a:p>
            <a:pPr algn="l">
              <a:spcBef>
                <a:spcPts val="0"/>
              </a:spcBef>
              <a:spcAft>
                <a:spcPts val="0"/>
              </a:spcAft>
            </a:pPr>
            <a:r>
              <a:rPr sz="800" b="0">
                <a:solidFill>
                  <a:srgbClr val="1A1A1A"/>
                </a:solidFill>
                <a:latin typeface="Calibri"/>
              </a:rPr>
              <a:t>Packets per day over rolling 30 days. Reveals whether use is growing, flat, or dropping after initial curiosity.</a:t>
            </a:r>
          </a:p>
        </p:txBody>
      </p:sp>
      <p:sp>
        <p:nvSpPr>
          <p:cNvPr id="25" name="TextBox 24"/>
          <p:cNvSpPr txBox="1"/>
          <p:nvPr/>
        </p:nvSpPr>
        <p:spPr>
          <a:xfrm>
            <a:off x="7406640" y="2724912"/>
            <a:ext cx="2103120" cy="182880"/>
          </a:xfrm>
          <a:prstGeom prst="rect">
            <a:avLst/>
          </a:prstGeom>
          <a:noFill/>
        </p:spPr>
        <p:txBody>
          <a:bodyPr wrap="none">
            <a:spAutoFit/>
          </a:bodyPr>
          <a:lstStyle/>
          <a:p>
            <a:endParaRPr/>
          </a:p>
          <a:p>
            <a:pPr algn="l">
              <a:spcBef>
                <a:spcPts val="0"/>
              </a:spcBef>
              <a:spcAft>
                <a:spcPts val="0"/>
              </a:spcAft>
            </a:pPr>
            <a:r>
              <a:rPr sz="700" b="0">
                <a:solidFill>
                  <a:srgbClr val="555555"/>
                </a:solidFill>
                <a:latin typeface="Calibri"/>
              </a:rPr>
              <a:t>daily_breakdown table</a:t>
            </a:r>
          </a:p>
        </p:txBody>
      </p:sp>
      <p:sp>
        <p:nvSpPr>
          <p:cNvPr id="26" name="Rectangle 25"/>
          <p:cNvSpPr/>
          <p:nvPr/>
        </p:nvSpPr>
        <p:spPr>
          <a:xfrm>
            <a:off x="9692640" y="1508760"/>
            <a:ext cx="2286000" cy="14173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784080" y="1536192"/>
            <a:ext cx="2103120" cy="292608"/>
          </a:xfrm>
          <a:prstGeom prst="rect">
            <a:avLst/>
          </a:prstGeom>
          <a:noFill/>
        </p:spPr>
        <p:txBody>
          <a:bodyPr wrap="none">
            <a:spAutoFit/>
          </a:bodyPr>
          <a:lstStyle/>
          <a:p>
            <a:endParaRPr/>
          </a:p>
          <a:p>
            <a:pPr algn="l">
              <a:spcBef>
                <a:spcPts val="0"/>
              </a:spcBef>
              <a:spcAft>
                <a:spcPts val="0"/>
              </a:spcAft>
            </a:pPr>
            <a:r>
              <a:rPr sz="1000" b="1">
                <a:solidFill>
                  <a:srgbClr val="1A1A1A"/>
                </a:solidFill>
                <a:latin typeface="Calibri"/>
              </a:rPr>
              <a:t>Per-supplier frequency</a:t>
            </a:r>
          </a:p>
        </p:txBody>
      </p:sp>
      <p:sp>
        <p:nvSpPr>
          <p:cNvPr id="28" name="TextBox 27"/>
          <p:cNvSpPr txBox="1"/>
          <p:nvPr/>
        </p:nvSpPr>
        <p:spPr>
          <a:xfrm>
            <a:off x="9784080" y="1828800"/>
            <a:ext cx="2103120" cy="822960"/>
          </a:xfrm>
          <a:prstGeom prst="rect">
            <a:avLst/>
          </a:prstGeom>
          <a:noFill/>
        </p:spPr>
        <p:txBody>
          <a:bodyPr wrap="square">
            <a:spAutoFit/>
          </a:bodyPr>
          <a:lstStyle/>
          <a:p>
            <a:endParaRPr/>
          </a:p>
          <a:p>
            <a:pPr algn="l">
              <a:spcBef>
                <a:spcPts val="0"/>
              </a:spcBef>
              <a:spcAft>
                <a:spcPts val="0"/>
              </a:spcAft>
            </a:pPr>
            <a:r>
              <a:rPr sz="800" b="0">
                <a:solidFill>
                  <a:srgbClr val="1A1A1A"/>
                </a:solidFill>
                <a:latin typeface="Calibri"/>
              </a:rPr>
              <a:t>Which suppliers get prepped most often. Low frequency on a high-risk supplier = adoption gap.</a:t>
            </a:r>
          </a:p>
        </p:txBody>
      </p:sp>
      <p:sp>
        <p:nvSpPr>
          <p:cNvPr id="29" name="TextBox 28"/>
          <p:cNvSpPr txBox="1"/>
          <p:nvPr/>
        </p:nvSpPr>
        <p:spPr>
          <a:xfrm>
            <a:off x="9784080" y="2724912"/>
            <a:ext cx="2103120" cy="182880"/>
          </a:xfrm>
          <a:prstGeom prst="rect">
            <a:avLst/>
          </a:prstGeom>
          <a:noFill/>
        </p:spPr>
        <p:txBody>
          <a:bodyPr wrap="none">
            <a:spAutoFit/>
          </a:bodyPr>
          <a:lstStyle/>
          <a:p>
            <a:endParaRPr/>
          </a:p>
          <a:p>
            <a:pPr algn="l">
              <a:spcBef>
                <a:spcPts val="0"/>
              </a:spcBef>
              <a:spcAft>
                <a:spcPts val="0"/>
              </a:spcAft>
            </a:pPr>
            <a:r>
              <a:rPr sz="700" b="0">
                <a:solidFill>
                  <a:srgbClr val="555555"/>
                </a:solidFill>
                <a:latin typeface="Calibri"/>
              </a:rPr>
              <a:t>supplier_breakdown table</a:t>
            </a:r>
          </a:p>
        </p:txBody>
      </p:sp>
      <p:sp>
        <p:nvSpPr>
          <p:cNvPr id="30" name="Rectangle 29"/>
          <p:cNvSpPr/>
          <p:nvPr/>
        </p:nvSpPr>
        <p:spPr>
          <a:xfrm>
            <a:off x="182880" y="3035808"/>
            <a:ext cx="11841480" cy="2926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4320" y="3044952"/>
            <a:ext cx="11612880" cy="256032"/>
          </a:xfrm>
          <a:prstGeom prst="rect">
            <a:avLst/>
          </a:prstGeom>
          <a:noFill/>
        </p:spPr>
        <p:txBody>
          <a:bodyPr wrap="none">
            <a:spAutoFit/>
          </a:bodyPr>
          <a:lstStyle/>
          <a:p>
            <a:endParaRPr/>
          </a:p>
          <a:p>
            <a:pPr algn="l">
              <a:spcBef>
                <a:spcPts val="0"/>
              </a:spcBef>
              <a:spcAft>
                <a:spcPts val="0"/>
              </a:spcAft>
            </a:pPr>
            <a:r>
              <a:rPr sz="1000" b="1">
                <a:solidFill>
                  <a:srgbClr val="FFFFFF"/>
                </a:solidFill>
                <a:latin typeface="Calibri"/>
              </a:rPr>
              <a:t>TIER 2  —  EXTRACTION QUALITY  (is it worth using?)</a:t>
            </a:r>
          </a:p>
        </p:txBody>
      </p:sp>
      <p:sp>
        <p:nvSpPr>
          <p:cNvPr id="32" name="Rectangle 31"/>
          <p:cNvSpPr/>
          <p:nvPr/>
        </p:nvSpPr>
        <p:spPr>
          <a:xfrm>
            <a:off x="182880" y="3364992"/>
            <a:ext cx="2286000" cy="32461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74320" y="3410712"/>
            <a:ext cx="384048" cy="23774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83464" y="3419856"/>
            <a:ext cx="365760" cy="201168"/>
          </a:xfrm>
          <a:prstGeom prst="rect">
            <a:avLst/>
          </a:prstGeom>
          <a:noFill/>
        </p:spPr>
        <p:txBody>
          <a:bodyPr wrap="none">
            <a:spAutoFit/>
          </a:bodyPr>
          <a:lstStyle/>
          <a:p>
            <a:endParaRPr/>
          </a:p>
          <a:p>
            <a:pPr algn="ctr">
              <a:spcBef>
                <a:spcPts val="0"/>
              </a:spcBef>
              <a:spcAft>
                <a:spcPts val="0"/>
              </a:spcAft>
            </a:pPr>
            <a:r>
              <a:rPr sz="800" b="1">
                <a:solidFill>
                  <a:srgbClr val="FFFFFF"/>
                </a:solidFill>
                <a:latin typeface="Calibri"/>
              </a:rPr>
              <a:t>§1</a:t>
            </a:r>
          </a:p>
        </p:txBody>
      </p:sp>
      <p:sp>
        <p:nvSpPr>
          <p:cNvPr id="35" name="TextBox 34"/>
          <p:cNvSpPr txBox="1"/>
          <p:nvPr/>
        </p:nvSpPr>
        <p:spPr>
          <a:xfrm>
            <a:off x="731520" y="3410712"/>
            <a:ext cx="1645920" cy="256032"/>
          </a:xfrm>
          <a:prstGeom prst="rect">
            <a:avLst/>
          </a:prstGeom>
          <a:noFill/>
        </p:spPr>
        <p:txBody>
          <a:bodyPr wrap="none">
            <a:spAutoFit/>
          </a:bodyPr>
          <a:lstStyle/>
          <a:p>
            <a:endParaRPr/>
          </a:p>
          <a:p>
            <a:pPr algn="l">
              <a:spcBef>
                <a:spcPts val="0"/>
              </a:spcBef>
              <a:spcAft>
                <a:spcPts val="0"/>
              </a:spcAft>
            </a:pPr>
            <a:r>
              <a:rPr sz="1000" b="1">
                <a:solidFill>
                  <a:srgbClr val="1A1A1A"/>
                </a:solidFill>
                <a:latin typeface="Calibri"/>
              </a:rPr>
              <a:t>Response Time</a:t>
            </a:r>
          </a:p>
        </p:txBody>
      </p:sp>
      <p:sp>
        <p:nvSpPr>
          <p:cNvPr id="36" name="TextBox 35"/>
          <p:cNvSpPr txBox="1"/>
          <p:nvPr/>
        </p:nvSpPr>
        <p:spPr>
          <a:xfrm>
            <a:off x="274320" y="3703320"/>
            <a:ext cx="2103120" cy="146304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Avg days: Strauss outbound → first supplier reply</a:t>
            </a:r>
          </a:p>
        </p:txBody>
      </p:sp>
      <p:sp>
        <p:nvSpPr>
          <p:cNvPr id="37" name="TextBox 36"/>
          <p:cNvSpPr txBox="1"/>
          <p:nvPr/>
        </p:nvSpPr>
        <p:spPr>
          <a:xfrm>
            <a:off x="274320" y="6263640"/>
            <a:ext cx="2103120" cy="274320"/>
          </a:xfrm>
          <a:prstGeom prst="rect">
            <a:avLst/>
          </a:prstGeom>
          <a:noFill/>
        </p:spPr>
        <p:txBody>
          <a:bodyPr wrap="none">
            <a:spAutoFit/>
          </a:bodyPr>
          <a:lstStyle/>
          <a:p>
            <a:endParaRPr/>
          </a:p>
          <a:p>
            <a:pPr algn="l">
              <a:spcBef>
                <a:spcPts val="0"/>
              </a:spcBef>
              <a:spcAft>
                <a:spcPts val="0"/>
              </a:spcAft>
            </a:pPr>
            <a:r>
              <a:rPr sz="700" b="0">
                <a:solidFill>
                  <a:srgbClr val="555555"/>
                </a:solidFill>
                <a:latin typeface="Calibri"/>
              </a:rPr>
              <a:t>kpi_response_days</a:t>
            </a:r>
          </a:p>
        </p:txBody>
      </p:sp>
      <p:sp>
        <p:nvSpPr>
          <p:cNvPr id="38" name="TextBox 37"/>
          <p:cNvSpPr txBox="1"/>
          <p:nvPr/>
        </p:nvSpPr>
        <p:spPr>
          <a:xfrm>
            <a:off x="274320" y="5212080"/>
            <a:ext cx="2103120" cy="1005840"/>
          </a:xfrm>
          <a:prstGeom prst="rect">
            <a:avLst/>
          </a:prstGeom>
          <a:noFill/>
        </p:spPr>
        <p:txBody>
          <a:bodyPr wrap="square">
            <a:spAutoFit/>
          </a:bodyPr>
          <a:lstStyle/>
          <a:p>
            <a:endParaRPr/>
          </a:p>
          <a:p>
            <a:pPr algn="l">
              <a:spcBef>
                <a:spcPts val="0"/>
              </a:spcBef>
              <a:spcAft>
                <a:spcPts val="0"/>
              </a:spcAft>
            </a:pPr>
            <a:r>
              <a:rPr sz="800" b="0">
                <a:solidFill>
                  <a:srgbClr val="C8102E"/>
                </a:solidFill>
                <a:latin typeface="Calibri"/>
              </a:rPr>
              <a:t>Benchmark: &lt;5d healthy
&gt;14d = relationship risk</a:t>
            </a:r>
            <a:r>
              <a:t/>
            </a:r>
            <a:br/>
            <a:r>
              <a:t>&gt;14d = relationship risk</a:t>
            </a:r>
          </a:p>
        </p:txBody>
      </p:sp>
      <p:sp>
        <p:nvSpPr>
          <p:cNvPr id="39" name="Rectangle 38"/>
          <p:cNvSpPr/>
          <p:nvPr/>
        </p:nvSpPr>
        <p:spPr>
          <a:xfrm>
            <a:off x="2560320" y="3364992"/>
            <a:ext cx="2286000" cy="3246120"/>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651760" y="3410712"/>
            <a:ext cx="384048" cy="23774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660904" y="3419856"/>
            <a:ext cx="365760" cy="201168"/>
          </a:xfrm>
          <a:prstGeom prst="rect">
            <a:avLst/>
          </a:prstGeom>
          <a:noFill/>
        </p:spPr>
        <p:txBody>
          <a:bodyPr wrap="none">
            <a:spAutoFit/>
          </a:bodyPr>
          <a:lstStyle/>
          <a:p>
            <a:endParaRPr/>
          </a:p>
          <a:p>
            <a:pPr algn="ctr">
              <a:spcBef>
                <a:spcPts val="0"/>
              </a:spcBef>
              <a:spcAft>
                <a:spcPts val="0"/>
              </a:spcAft>
            </a:pPr>
            <a:r>
              <a:rPr sz="800" b="1">
                <a:solidFill>
                  <a:srgbClr val="FFFFFF"/>
                </a:solidFill>
                <a:latin typeface="Calibri"/>
              </a:rPr>
              <a:t>§2</a:t>
            </a:r>
          </a:p>
        </p:txBody>
      </p:sp>
      <p:sp>
        <p:nvSpPr>
          <p:cNvPr id="42" name="TextBox 41"/>
          <p:cNvSpPr txBox="1"/>
          <p:nvPr/>
        </p:nvSpPr>
        <p:spPr>
          <a:xfrm>
            <a:off x="3108960" y="3410712"/>
            <a:ext cx="1645920" cy="256032"/>
          </a:xfrm>
          <a:prstGeom prst="rect">
            <a:avLst/>
          </a:prstGeom>
          <a:noFill/>
        </p:spPr>
        <p:txBody>
          <a:bodyPr wrap="none">
            <a:spAutoFit/>
          </a:bodyPr>
          <a:lstStyle/>
          <a:p>
            <a:endParaRPr/>
          </a:p>
          <a:p>
            <a:pPr algn="l">
              <a:spcBef>
                <a:spcPts val="0"/>
              </a:spcBef>
              <a:spcAft>
                <a:spcPts val="0"/>
              </a:spcAft>
            </a:pPr>
            <a:r>
              <a:rPr sz="1000" b="1">
                <a:solidFill>
                  <a:srgbClr val="1A1A1A"/>
                </a:solidFill>
                <a:latin typeface="Calibri"/>
              </a:rPr>
              <a:t>Open Issues</a:t>
            </a:r>
          </a:p>
        </p:txBody>
      </p:sp>
      <p:sp>
        <p:nvSpPr>
          <p:cNvPr id="43" name="TextBox 42"/>
          <p:cNvSpPr txBox="1"/>
          <p:nvPr/>
        </p:nvSpPr>
        <p:spPr>
          <a:xfrm>
            <a:off x="2651760" y="3703320"/>
            <a:ext cx="2103120" cy="146304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Count of unresolved disputes, threads, contract gaps per supplier</a:t>
            </a:r>
          </a:p>
        </p:txBody>
      </p:sp>
      <p:sp>
        <p:nvSpPr>
          <p:cNvPr id="44" name="TextBox 43"/>
          <p:cNvSpPr txBox="1"/>
          <p:nvPr/>
        </p:nvSpPr>
        <p:spPr>
          <a:xfrm>
            <a:off x="2651760" y="6263640"/>
            <a:ext cx="2103120" cy="274320"/>
          </a:xfrm>
          <a:prstGeom prst="rect">
            <a:avLst/>
          </a:prstGeom>
          <a:noFill/>
        </p:spPr>
        <p:txBody>
          <a:bodyPr wrap="none">
            <a:spAutoFit/>
          </a:bodyPr>
          <a:lstStyle/>
          <a:p>
            <a:endParaRPr/>
          </a:p>
          <a:p>
            <a:pPr algn="l">
              <a:spcBef>
                <a:spcPts val="0"/>
              </a:spcBef>
              <a:spcAft>
                <a:spcPts val="0"/>
              </a:spcAft>
            </a:pPr>
            <a:r>
              <a:rPr sz="700" b="0">
                <a:solidFill>
                  <a:srgbClr val="555555"/>
                </a:solidFill>
                <a:latin typeface="Calibri"/>
              </a:rPr>
              <a:t>kpi_open_issues</a:t>
            </a:r>
          </a:p>
        </p:txBody>
      </p:sp>
      <p:sp>
        <p:nvSpPr>
          <p:cNvPr id="45" name="TextBox 44"/>
          <p:cNvSpPr txBox="1"/>
          <p:nvPr/>
        </p:nvSpPr>
        <p:spPr>
          <a:xfrm>
            <a:off x="2651760" y="5212080"/>
            <a:ext cx="2103120" cy="1005840"/>
          </a:xfrm>
          <a:prstGeom prst="rect">
            <a:avLst/>
          </a:prstGeom>
          <a:noFill/>
        </p:spPr>
        <p:txBody>
          <a:bodyPr wrap="square">
            <a:spAutoFit/>
          </a:bodyPr>
          <a:lstStyle/>
          <a:p>
            <a:endParaRPr/>
          </a:p>
          <a:p>
            <a:pPr algn="l">
              <a:spcBef>
                <a:spcPts val="0"/>
              </a:spcBef>
              <a:spcAft>
                <a:spcPts val="0"/>
              </a:spcAft>
            </a:pPr>
            <a:r>
              <a:rPr sz="800" b="0">
                <a:solidFill>
                  <a:srgbClr val="C8102E"/>
                </a:solidFill>
                <a:latin typeface="Calibri"/>
              </a:rPr>
              <a:t>Target: 0 open
Each one costs prep time</a:t>
            </a:r>
            <a:r>
              <a:t/>
            </a:r>
            <a:br/>
            <a:r>
              <a:t>Each one costs prep time</a:t>
            </a:r>
          </a:p>
        </p:txBody>
      </p:sp>
      <p:sp>
        <p:nvSpPr>
          <p:cNvPr id="46" name="Rectangle 45"/>
          <p:cNvSpPr/>
          <p:nvPr/>
        </p:nvSpPr>
        <p:spPr>
          <a:xfrm>
            <a:off x="4937760" y="3364992"/>
            <a:ext cx="2286000" cy="32461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5029200" y="3410712"/>
            <a:ext cx="384048" cy="23774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038344" y="3419856"/>
            <a:ext cx="365760" cy="201168"/>
          </a:xfrm>
          <a:prstGeom prst="rect">
            <a:avLst/>
          </a:prstGeom>
          <a:noFill/>
        </p:spPr>
        <p:txBody>
          <a:bodyPr wrap="none">
            <a:spAutoFit/>
          </a:bodyPr>
          <a:lstStyle/>
          <a:p>
            <a:endParaRPr/>
          </a:p>
          <a:p>
            <a:pPr algn="ctr">
              <a:spcBef>
                <a:spcPts val="0"/>
              </a:spcBef>
              <a:spcAft>
                <a:spcPts val="0"/>
              </a:spcAft>
            </a:pPr>
            <a:r>
              <a:rPr sz="800" b="1">
                <a:solidFill>
                  <a:srgbClr val="FFFFFF"/>
                </a:solidFill>
                <a:latin typeface="Calibri"/>
              </a:rPr>
              <a:t>§3</a:t>
            </a:r>
          </a:p>
        </p:txBody>
      </p:sp>
      <p:sp>
        <p:nvSpPr>
          <p:cNvPr id="49" name="TextBox 48"/>
          <p:cNvSpPr txBox="1"/>
          <p:nvPr/>
        </p:nvSpPr>
        <p:spPr>
          <a:xfrm>
            <a:off x="5486400" y="3410712"/>
            <a:ext cx="1645920" cy="256032"/>
          </a:xfrm>
          <a:prstGeom prst="rect">
            <a:avLst/>
          </a:prstGeom>
          <a:noFill/>
        </p:spPr>
        <p:txBody>
          <a:bodyPr wrap="none">
            <a:spAutoFit/>
          </a:bodyPr>
          <a:lstStyle/>
          <a:p>
            <a:endParaRPr/>
          </a:p>
          <a:p>
            <a:pPr algn="l">
              <a:spcBef>
                <a:spcPts val="0"/>
              </a:spcBef>
              <a:spcAft>
                <a:spcPts val="0"/>
              </a:spcAft>
            </a:pPr>
            <a:r>
              <a:rPr sz="1000" b="1">
                <a:solidFill>
                  <a:srgbClr val="1A1A1A"/>
                </a:solidFill>
                <a:latin typeface="Calibri"/>
              </a:rPr>
              <a:t>Price Delta</a:t>
            </a:r>
          </a:p>
        </p:txBody>
      </p:sp>
      <p:sp>
        <p:nvSpPr>
          <p:cNvPr id="50" name="TextBox 49"/>
          <p:cNvSpPr txBox="1"/>
          <p:nvPr/>
        </p:nvSpPr>
        <p:spPr>
          <a:xfrm>
            <a:off x="5029200" y="3703320"/>
            <a:ext cx="2103120" cy="146304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Latest email quote vs contract base price — % and absolute</a:t>
            </a:r>
          </a:p>
        </p:txBody>
      </p:sp>
      <p:sp>
        <p:nvSpPr>
          <p:cNvPr id="51" name="TextBox 50"/>
          <p:cNvSpPr txBox="1"/>
          <p:nvPr/>
        </p:nvSpPr>
        <p:spPr>
          <a:xfrm>
            <a:off x="5029200" y="6263640"/>
            <a:ext cx="2103120" cy="274320"/>
          </a:xfrm>
          <a:prstGeom prst="rect">
            <a:avLst/>
          </a:prstGeom>
          <a:noFill/>
        </p:spPr>
        <p:txBody>
          <a:bodyPr wrap="none">
            <a:spAutoFit/>
          </a:bodyPr>
          <a:lstStyle/>
          <a:p>
            <a:endParaRPr/>
          </a:p>
          <a:p>
            <a:pPr algn="l">
              <a:spcBef>
                <a:spcPts val="0"/>
              </a:spcBef>
              <a:spcAft>
                <a:spcPts val="0"/>
              </a:spcAft>
            </a:pPr>
            <a:r>
              <a:rPr sz="700" b="0">
                <a:solidFill>
                  <a:srgbClr val="555555"/>
                </a:solidFill>
                <a:latin typeface="Calibri"/>
              </a:rPr>
              <a:t>kpi_price_delta_pct</a:t>
            </a:r>
          </a:p>
        </p:txBody>
      </p:sp>
      <p:sp>
        <p:nvSpPr>
          <p:cNvPr id="52" name="TextBox 51"/>
          <p:cNvSpPr txBox="1"/>
          <p:nvPr/>
        </p:nvSpPr>
        <p:spPr>
          <a:xfrm>
            <a:off x="5029200" y="5212080"/>
            <a:ext cx="2103120" cy="1005840"/>
          </a:xfrm>
          <a:prstGeom prst="rect">
            <a:avLst/>
          </a:prstGeom>
          <a:noFill/>
        </p:spPr>
        <p:txBody>
          <a:bodyPr wrap="square">
            <a:spAutoFit/>
          </a:bodyPr>
          <a:lstStyle/>
          <a:p>
            <a:endParaRPr/>
          </a:p>
          <a:p>
            <a:pPr algn="l">
              <a:spcBef>
                <a:spcPts val="0"/>
              </a:spcBef>
              <a:spcAft>
                <a:spcPts val="0"/>
              </a:spcAft>
            </a:pPr>
            <a:r>
              <a:rPr sz="800" b="0">
                <a:solidFill>
                  <a:srgbClr val="C8102E"/>
                </a:solidFill>
                <a:latin typeface="Calibri"/>
              </a:rPr>
              <a:t>Alert if &gt;0%
without written amendment</a:t>
            </a:r>
            <a:r>
              <a:t/>
            </a:r>
            <a:br/>
            <a:r>
              <a:t>without written amendment</a:t>
            </a:r>
          </a:p>
        </p:txBody>
      </p:sp>
      <p:sp>
        <p:nvSpPr>
          <p:cNvPr id="53" name="Rectangle 52"/>
          <p:cNvSpPr/>
          <p:nvPr/>
        </p:nvSpPr>
        <p:spPr>
          <a:xfrm>
            <a:off x="7315200" y="3364992"/>
            <a:ext cx="2286000" cy="3246120"/>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7406640" y="3410712"/>
            <a:ext cx="384048" cy="23774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415783" y="3419856"/>
            <a:ext cx="365760" cy="201168"/>
          </a:xfrm>
          <a:prstGeom prst="rect">
            <a:avLst/>
          </a:prstGeom>
          <a:noFill/>
        </p:spPr>
        <p:txBody>
          <a:bodyPr wrap="none">
            <a:spAutoFit/>
          </a:bodyPr>
          <a:lstStyle/>
          <a:p>
            <a:endParaRPr/>
          </a:p>
          <a:p>
            <a:pPr algn="ctr">
              <a:spcBef>
                <a:spcPts val="0"/>
              </a:spcBef>
              <a:spcAft>
                <a:spcPts val="0"/>
              </a:spcAft>
            </a:pPr>
            <a:r>
              <a:rPr sz="800" b="1">
                <a:solidFill>
                  <a:srgbClr val="FFFFFF"/>
                </a:solidFill>
                <a:latin typeface="Calibri"/>
              </a:rPr>
              <a:t>§4</a:t>
            </a:r>
          </a:p>
        </p:txBody>
      </p:sp>
      <p:sp>
        <p:nvSpPr>
          <p:cNvPr id="56" name="TextBox 55"/>
          <p:cNvSpPr txBox="1"/>
          <p:nvPr/>
        </p:nvSpPr>
        <p:spPr>
          <a:xfrm>
            <a:off x="7863840" y="3410712"/>
            <a:ext cx="1645920" cy="256032"/>
          </a:xfrm>
          <a:prstGeom prst="rect">
            <a:avLst/>
          </a:prstGeom>
          <a:noFill/>
        </p:spPr>
        <p:txBody>
          <a:bodyPr wrap="none">
            <a:spAutoFit/>
          </a:bodyPr>
          <a:lstStyle/>
          <a:p>
            <a:endParaRPr/>
          </a:p>
          <a:p>
            <a:pPr algn="l">
              <a:spcBef>
                <a:spcPts val="0"/>
              </a:spcBef>
              <a:spcAft>
                <a:spcPts val="0"/>
              </a:spcAft>
            </a:pPr>
            <a:r>
              <a:rPr sz="1000" b="1">
                <a:solidFill>
                  <a:srgbClr val="1A1A1A"/>
                </a:solidFill>
                <a:latin typeface="Calibri"/>
              </a:rPr>
              <a:t>Days to Renewal</a:t>
            </a:r>
          </a:p>
        </p:txBody>
      </p:sp>
      <p:sp>
        <p:nvSpPr>
          <p:cNvPr id="57" name="TextBox 56"/>
          <p:cNvSpPr txBox="1"/>
          <p:nvPr/>
        </p:nvSpPr>
        <p:spPr>
          <a:xfrm>
            <a:off x="7406640" y="3703320"/>
            <a:ext cx="2103120" cy="146304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Calendar days to contract renewal date; red &lt;30d</a:t>
            </a:r>
          </a:p>
        </p:txBody>
      </p:sp>
      <p:sp>
        <p:nvSpPr>
          <p:cNvPr id="58" name="TextBox 57"/>
          <p:cNvSpPr txBox="1"/>
          <p:nvPr/>
        </p:nvSpPr>
        <p:spPr>
          <a:xfrm>
            <a:off x="7406640" y="6263640"/>
            <a:ext cx="2103120" cy="274320"/>
          </a:xfrm>
          <a:prstGeom prst="rect">
            <a:avLst/>
          </a:prstGeom>
          <a:noFill/>
        </p:spPr>
        <p:txBody>
          <a:bodyPr wrap="none">
            <a:spAutoFit/>
          </a:bodyPr>
          <a:lstStyle/>
          <a:p>
            <a:endParaRPr/>
          </a:p>
          <a:p>
            <a:pPr algn="l">
              <a:spcBef>
                <a:spcPts val="0"/>
              </a:spcBef>
              <a:spcAft>
                <a:spcPts val="0"/>
              </a:spcAft>
            </a:pPr>
            <a:r>
              <a:rPr sz="700" b="0">
                <a:solidFill>
                  <a:srgbClr val="555555"/>
                </a:solidFill>
                <a:latin typeface="Calibri"/>
              </a:rPr>
              <a:t>kpi_days_to_renewal</a:t>
            </a:r>
          </a:p>
        </p:txBody>
      </p:sp>
      <p:sp>
        <p:nvSpPr>
          <p:cNvPr id="59" name="TextBox 58"/>
          <p:cNvSpPr txBox="1"/>
          <p:nvPr/>
        </p:nvSpPr>
        <p:spPr>
          <a:xfrm>
            <a:off x="7406640" y="5212080"/>
            <a:ext cx="2103120" cy="1005840"/>
          </a:xfrm>
          <a:prstGeom prst="rect">
            <a:avLst/>
          </a:prstGeom>
          <a:noFill/>
        </p:spPr>
        <p:txBody>
          <a:bodyPr wrap="square">
            <a:spAutoFit/>
          </a:bodyPr>
          <a:lstStyle/>
          <a:p>
            <a:endParaRPr/>
          </a:p>
          <a:p>
            <a:pPr algn="l">
              <a:spcBef>
                <a:spcPts val="0"/>
              </a:spcBef>
              <a:spcAft>
                <a:spcPts val="0"/>
              </a:spcAft>
            </a:pPr>
            <a:r>
              <a:rPr sz="800" b="0">
                <a:solidFill>
                  <a:srgbClr val="C8102E"/>
                </a:solidFill>
                <a:latin typeface="Calibri"/>
              </a:rPr>
              <a:t>Red &lt;30d, amber 30-90d
auto-renewal notice shown</a:t>
            </a:r>
            <a:r>
              <a:t/>
            </a:r>
            <a:br/>
            <a:r>
              <a:t>auto-renewal notice shown</a:t>
            </a:r>
          </a:p>
        </p:txBody>
      </p:sp>
      <p:sp>
        <p:nvSpPr>
          <p:cNvPr id="60" name="Rectangle 59"/>
          <p:cNvSpPr/>
          <p:nvPr/>
        </p:nvSpPr>
        <p:spPr>
          <a:xfrm>
            <a:off x="9692640" y="3364992"/>
            <a:ext cx="2286000" cy="32461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9784080" y="3410712"/>
            <a:ext cx="384048" cy="23774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9793224" y="3419856"/>
            <a:ext cx="365760" cy="201168"/>
          </a:xfrm>
          <a:prstGeom prst="rect">
            <a:avLst/>
          </a:prstGeom>
          <a:noFill/>
        </p:spPr>
        <p:txBody>
          <a:bodyPr wrap="none">
            <a:spAutoFit/>
          </a:bodyPr>
          <a:lstStyle/>
          <a:p>
            <a:endParaRPr/>
          </a:p>
          <a:p>
            <a:pPr algn="ctr">
              <a:spcBef>
                <a:spcPts val="0"/>
              </a:spcBef>
              <a:spcAft>
                <a:spcPts val="0"/>
              </a:spcAft>
            </a:pPr>
            <a:r>
              <a:rPr sz="800" b="1">
                <a:solidFill>
                  <a:srgbClr val="FFFFFF"/>
                </a:solidFill>
                <a:latin typeface="Calibri"/>
              </a:rPr>
              <a:t>§5</a:t>
            </a:r>
          </a:p>
        </p:txBody>
      </p:sp>
      <p:sp>
        <p:nvSpPr>
          <p:cNvPr id="63" name="TextBox 62"/>
          <p:cNvSpPr txBox="1"/>
          <p:nvPr/>
        </p:nvSpPr>
        <p:spPr>
          <a:xfrm>
            <a:off x="10241280" y="3410712"/>
            <a:ext cx="1645920" cy="256032"/>
          </a:xfrm>
          <a:prstGeom prst="rect">
            <a:avLst/>
          </a:prstGeom>
          <a:noFill/>
        </p:spPr>
        <p:txBody>
          <a:bodyPr wrap="none">
            <a:spAutoFit/>
          </a:bodyPr>
          <a:lstStyle/>
          <a:p>
            <a:endParaRPr/>
          </a:p>
          <a:p>
            <a:pPr algn="l">
              <a:spcBef>
                <a:spcPts val="0"/>
              </a:spcBef>
              <a:spcAft>
                <a:spcPts val="0"/>
              </a:spcAft>
            </a:pPr>
            <a:r>
              <a:rPr sz="1000" b="1">
                <a:solidFill>
                  <a:srgbClr val="1A1A1A"/>
                </a:solidFill>
                <a:latin typeface="Calibri"/>
              </a:rPr>
              <a:t>Correction Rate</a:t>
            </a:r>
          </a:p>
        </p:txBody>
      </p:sp>
      <p:sp>
        <p:nvSpPr>
          <p:cNvPr id="64" name="TextBox 63"/>
          <p:cNvSpPr txBox="1"/>
          <p:nvPr/>
        </p:nvSpPr>
        <p:spPr>
          <a:xfrm>
            <a:off x="9784080" y="3703320"/>
            <a:ext cx="2103120" cy="146304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 of AI fields flagged wrong by manager per packet</a:t>
            </a:r>
          </a:p>
        </p:txBody>
      </p:sp>
      <p:sp>
        <p:nvSpPr>
          <p:cNvPr id="65" name="TextBox 64"/>
          <p:cNvSpPr txBox="1"/>
          <p:nvPr/>
        </p:nvSpPr>
        <p:spPr>
          <a:xfrm>
            <a:off x="9784080" y="6263640"/>
            <a:ext cx="2103120" cy="274320"/>
          </a:xfrm>
          <a:prstGeom prst="rect">
            <a:avLst/>
          </a:prstGeom>
          <a:noFill/>
        </p:spPr>
        <p:txBody>
          <a:bodyPr wrap="none">
            <a:spAutoFit/>
          </a:bodyPr>
          <a:lstStyle/>
          <a:p>
            <a:endParaRPr/>
          </a:p>
          <a:p>
            <a:pPr algn="l">
              <a:spcBef>
                <a:spcPts val="0"/>
              </a:spcBef>
              <a:spcAft>
                <a:spcPts val="0"/>
              </a:spcAft>
            </a:pPr>
            <a:r>
              <a:rPr sz="700" b="0">
                <a:solidFill>
                  <a:srgbClr val="555555"/>
                </a:solidFill>
                <a:latin typeface="Calibri"/>
              </a:rPr>
              <a:t>kpi_correction_rate_pct</a:t>
            </a:r>
          </a:p>
        </p:txBody>
      </p:sp>
      <p:sp>
        <p:nvSpPr>
          <p:cNvPr id="66" name="TextBox 65"/>
          <p:cNvSpPr txBox="1"/>
          <p:nvPr/>
        </p:nvSpPr>
        <p:spPr>
          <a:xfrm>
            <a:off x="9784080" y="5212080"/>
            <a:ext cx="2103120" cy="1005840"/>
          </a:xfrm>
          <a:prstGeom prst="rect">
            <a:avLst/>
          </a:prstGeom>
          <a:noFill/>
        </p:spPr>
        <p:txBody>
          <a:bodyPr wrap="square">
            <a:spAutoFit/>
          </a:bodyPr>
          <a:lstStyle/>
          <a:p>
            <a:endParaRPr/>
          </a:p>
          <a:p>
            <a:pPr algn="l">
              <a:spcBef>
                <a:spcPts val="0"/>
              </a:spcBef>
              <a:spcAft>
                <a:spcPts val="0"/>
              </a:spcAft>
            </a:pPr>
            <a:r>
              <a:rPr sz="800" b="0">
                <a:solidFill>
                  <a:srgbClr val="C8102E"/>
                </a:solidFill>
                <a:latin typeface="Calibri"/>
              </a:rPr>
              <a:t>Target &lt;10% by day 90
High rate = retune prompt</a:t>
            </a:r>
            <a:r>
              <a:t/>
            </a:r>
            <a:br/>
            <a:r>
              <a:t>High rate = retune prompt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KPI Data Inputs</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Exactly what data each metric reads, where it comes from, and who computes it</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182880" y="1170432"/>
            <a:ext cx="1188720" cy="347472"/>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7744" y="1188720"/>
            <a:ext cx="1097280" cy="310896"/>
          </a:xfrm>
          <a:prstGeom prst="rect">
            <a:avLst/>
          </a:prstGeom>
          <a:noFill/>
        </p:spPr>
        <p:txBody>
          <a:bodyPr wrap="none">
            <a:spAutoFit/>
          </a:bodyPr>
          <a:lstStyle/>
          <a:p>
            <a:endParaRPr/>
          </a:p>
          <a:p>
            <a:pPr algn="l">
              <a:spcBef>
                <a:spcPts val="0"/>
              </a:spcBef>
              <a:spcAft>
                <a:spcPts val="0"/>
              </a:spcAft>
            </a:pPr>
            <a:r>
              <a:rPr sz="1000" b="1">
                <a:solidFill>
                  <a:srgbClr val="FFFFFF"/>
                </a:solidFill>
                <a:latin typeface="Calibri"/>
              </a:rPr>
              <a:t>KPI</a:t>
            </a:r>
          </a:p>
        </p:txBody>
      </p:sp>
      <p:sp>
        <p:nvSpPr>
          <p:cNvPr id="9" name="Rectangle 8"/>
          <p:cNvSpPr/>
          <p:nvPr/>
        </p:nvSpPr>
        <p:spPr>
          <a:xfrm>
            <a:off x="1463040" y="1170432"/>
            <a:ext cx="2560320" cy="347472"/>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17904" y="1188720"/>
            <a:ext cx="2468879" cy="310896"/>
          </a:xfrm>
          <a:prstGeom prst="rect">
            <a:avLst/>
          </a:prstGeom>
          <a:noFill/>
        </p:spPr>
        <p:txBody>
          <a:bodyPr wrap="none">
            <a:spAutoFit/>
          </a:bodyPr>
          <a:lstStyle/>
          <a:p>
            <a:endParaRPr/>
          </a:p>
          <a:p>
            <a:pPr algn="l">
              <a:spcBef>
                <a:spcPts val="0"/>
              </a:spcBef>
              <a:spcAft>
                <a:spcPts val="0"/>
              </a:spcAft>
            </a:pPr>
            <a:r>
              <a:rPr sz="1000" b="1">
                <a:solidFill>
                  <a:srgbClr val="FFFFFF"/>
                </a:solidFill>
                <a:latin typeface="Calibri"/>
              </a:rPr>
              <a:t>Input fields</a:t>
            </a:r>
          </a:p>
        </p:txBody>
      </p:sp>
      <p:sp>
        <p:nvSpPr>
          <p:cNvPr id="11" name="Rectangle 10"/>
          <p:cNvSpPr/>
          <p:nvPr/>
        </p:nvSpPr>
        <p:spPr>
          <a:xfrm>
            <a:off x="4114800" y="1170432"/>
            <a:ext cx="2743200" cy="347472"/>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69663" y="1188720"/>
            <a:ext cx="2651760" cy="310896"/>
          </a:xfrm>
          <a:prstGeom prst="rect">
            <a:avLst/>
          </a:prstGeom>
          <a:noFill/>
        </p:spPr>
        <p:txBody>
          <a:bodyPr wrap="none">
            <a:spAutoFit/>
          </a:bodyPr>
          <a:lstStyle/>
          <a:p>
            <a:endParaRPr/>
          </a:p>
          <a:p>
            <a:pPr algn="l">
              <a:spcBef>
                <a:spcPts val="0"/>
              </a:spcBef>
              <a:spcAft>
                <a:spcPts val="0"/>
              </a:spcAft>
            </a:pPr>
            <a:r>
              <a:rPr sz="1000" b="1">
                <a:solidFill>
                  <a:srgbClr val="FFFFFF"/>
                </a:solidFill>
                <a:latin typeface="Calibri"/>
              </a:rPr>
              <a:t>Source system (prototype)</a:t>
            </a:r>
          </a:p>
        </p:txBody>
      </p:sp>
      <p:sp>
        <p:nvSpPr>
          <p:cNvPr id="13" name="Rectangle 12"/>
          <p:cNvSpPr/>
          <p:nvPr/>
        </p:nvSpPr>
        <p:spPr>
          <a:xfrm>
            <a:off x="6949440" y="1170432"/>
            <a:ext cx="2560320" cy="347472"/>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04303" y="1188720"/>
            <a:ext cx="2468879" cy="310896"/>
          </a:xfrm>
          <a:prstGeom prst="rect">
            <a:avLst/>
          </a:prstGeom>
          <a:noFill/>
        </p:spPr>
        <p:txBody>
          <a:bodyPr wrap="none">
            <a:spAutoFit/>
          </a:bodyPr>
          <a:lstStyle/>
          <a:p>
            <a:endParaRPr/>
          </a:p>
          <a:p>
            <a:pPr algn="l">
              <a:spcBef>
                <a:spcPts val="0"/>
              </a:spcBef>
              <a:spcAft>
                <a:spcPts val="0"/>
              </a:spcAft>
            </a:pPr>
            <a:r>
              <a:rPr sz="1000" b="1">
                <a:solidFill>
                  <a:srgbClr val="FFFFFF"/>
                </a:solidFill>
                <a:latin typeface="Calibri"/>
              </a:rPr>
              <a:t>Who computes it</a:t>
            </a:r>
          </a:p>
        </p:txBody>
      </p:sp>
      <p:sp>
        <p:nvSpPr>
          <p:cNvPr id="15" name="Rectangle 14"/>
          <p:cNvSpPr/>
          <p:nvPr/>
        </p:nvSpPr>
        <p:spPr>
          <a:xfrm>
            <a:off x="9601200" y="1170432"/>
            <a:ext cx="2423160" cy="347472"/>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56064" y="1188720"/>
            <a:ext cx="2331720" cy="310896"/>
          </a:xfrm>
          <a:prstGeom prst="rect">
            <a:avLst/>
          </a:prstGeom>
          <a:noFill/>
        </p:spPr>
        <p:txBody>
          <a:bodyPr wrap="none">
            <a:spAutoFit/>
          </a:bodyPr>
          <a:lstStyle/>
          <a:p>
            <a:endParaRPr/>
          </a:p>
          <a:p>
            <a:pPr algn="l">
              <a:spcBef>
                <a:spcPts val="0"/>
              </a:spcBef>
              <a:spcAft>
                <a:spcPts val="0"/>
              </a:spcAft>
            </a:pPr>
            <a:r>
              <a:rPr sz="1000" b="1">
                <a:solidFill>
                  <a:srgbClr val="FFFFFF"/>
                </a:solidFill>
                <a:latin typeface="Calibri"/>
              </a:rPr>
              <a:t>SQLite column stored</a:t>
            </a:r>
          </a:p>
        </p:txBody>
      </p:sp>
      <p:sp>
        <p:nvSpPr>
          <p:cNvPr id="17" name="Rectangle 16"/>
          <p:cNvSpPr/>
          <p:nvPr/>
        </p:nvSpPr>
        <p:spPr>
          <a:xfrm>
            <a:off x="182880" y="1572768"/>
            <a:ext cx="11887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463040" y="1572768"/>
            <a:ext cx="25603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114800" y="1572768"/>
            <a:ext cx="27432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949440" y="1572768"/>
            <a:ext cx="25603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601200" y="1572768"/>
            <a:ext cx="242316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37744" y="1627632"/>
            <a:ext cx="1097280" cy="868680"/>
          </a:xfrm>
          <a:prstGeom prst="rect">
            <a:avLst/>
          </a:prstGeom>
          <a:noFill/>
        </p:spPr>
        <p:txBody>
          <a:bodyPr wrap="square">
            <a:spAutoFit/>
          </a:bodyPr>
          <a:lstStyle/>
          <a:p>
            <a:endParaRPr/>
          </a:p>
          <a:p>
            <a:pPr algn="l">
              <a:spcBef>
                <a:spcPts val="0"/>
              </a:spcBef>
              <a:spcAft>
                <a:spcPts val="0"/>
              </a:spcAft>
            </a:pPr>
            <a:r>
              <a:rPr sz="900" b="1">
                <a:solidFill>
                  <a:srgbClr val="C8102E"/>
                </a:solidFill>
                <a:latin typeface="Calibri"/>
              </a:rPr>
              <a:t>§1
Response Time</a:t>
            </a:r>
            <a:r>
              <a:t/>
            </a:r>
            <a:br/>
            <a:r>
              <a:t>Response Time</a:t>
            </a:r>
          </a:p>
        </p:txBody>
      </p:sp>
      <p:sp>
        <p:nvSpPr>
          <p:cNvPr id="23" name="TextBox 22"/>
          <p:cNvSpPr txBox="1"/>
          <p:nvPr/>
        </p:nvSpPr>
        <p:spPr>
          <a:xfrm>
            <a:off x="1517904" y="1627632"/>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email.date
email.from
Subject (thread grouping)</a:t>
            </a:r>
            <a:r>
              <a:t/>
            </a:r>
            <a:br/>
            <a:r>
              <a:t>email.from</a:t>
            </a:r>
            <a:br/>
            <a:r>
              <a:t>Subject (thread grouping)</a:t>
            </a:r>
          </a:p>
        </p:txBody>
      </p:sp>
      <p:sp>
        <p:nvSpPr>
          <p:cNvPr id="24" name="TextBox 23"/>
          <p:cNvSpPr txBox="1"/>
          <p:nvPr/>
        </p:nvSpPr>
        <p:spPr>
          <a:xfrm>
            <a:off x="4169663" y="1627632"/>
            <a:ext cx="265176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data/emails/&lt;supplier&gt;.json
111 synthetic emails
6-month window</a:t>
            </a:r>
            <a:r>
              <a:t/>
            </a:r>
            <a:br/>
            <a:r>
              <a:t>111 synthetic emails</a:t>
            </a:r>
            <a:br/>
            <a:r>
              <a:t>6-month window</a:t>
            </a:r>
          </a:p>
        </p:txBody>
      </p:sp>
      <p:sp>
        <p:nvSpPr>
          <p:cNvPr id="25" name="TextBox 24"/>
          <p:cNvSpPr txBox="1"/>
          <p:nvPr/>
        </p:nvSpPr>
        <p:spPr>
          <a:xfrm>
            <a:off x="7004303" y="1627632"/>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Python (local)
No API call
supplier_analytics.py</a:t>
            </a:r>
            <a:r>
              <a:t/>
            </a:r>
            <a:br/>
            <a:r>
              <a:t>No API call</a:t>
            </a:r>
            <a:br/>
            <a:r>
              <a:t>supplier_analytics.py</a:t>
            </a:r>
          </a:p>
        </p:txBody>
      </p:sp>
      <p:sp>
        <p:nvSpPr>
          <p:cNvPr id="26" name="TextBox 25"/>
          <p:cNvSpPr txBox="1"/>
          <p:nvPr/>
        </p:nvSpPr>
        <p:spPr>
          <a:xfrm>
            <a:off x="9656064" y="1627632"/>
            <a:ext cx="233172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kpi_response_days
REAL — avg days</a:t>
            </a:r>
            <a:r>
              <a:t/>
            </a:r>
            <a:br/>
            <a:r>
              <a:t>REAL — avg days</a:t>
            </a:r>
          </a:p>
        </p:txBody>
      </p:sp>
      <p:sp>
        <p:nvSpPr>
          <p:cNvPr id="27" name="Rectangle 26"/>
          <p:cNvSpPr/>
          <p:nvPr/>
        </p:nvSpPr>
        <p:spPr>
          <a:xfrm>
            <a:off x="182880" y="2606039"/>
            <a:ext cx="11887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463040" y="2606039"/>
            <a:ext cx="25603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114800" y="2606039"/>
            <a:ext cx="274320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949440" y="2606039"/>
            <a:ext cx="25603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601200" y="2606039"/>
            <a:ext cx="242316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37744" y="2660903"/>
            <a:ext cx="1097280" cy="868680"/>
          </a:xfrm>
          <a:prstGeom prst="rect">
            <a:avLst/>
          </a:prstGeom>
          <a:noFill/>
        </p:spPr>
        <p:txBody>
          <a:bodyPr wrap="square">
            <a:spAutoFit/>
          </a:bodyPr>
          <a:lstStyle/>
          <a:p>
            <a:endParaRPr/>
          </a:p>
          <a:p>
            <a:pPr algn="l">
              <a:spcBef>
                <a:spcPts val="0"/>
              </a:spcBef>
              <a:spcAft>
                <a:spcPts val="0"/>
              </a:spcAft>
            </a:pPr>
            <a:r>
              <a:rPr sz="900" b="1">
                <a:solidFill>
                  <a:srgbClr val="C8102E"/>
                </a:solidFill>
                <a:latin typeface="Calibri"/>
              </a:rPr>
              <a:t>§2
Open Issues</a:t>
            </a:r>
            <a:r>
              <a:t/>
            </a:r>
            <a:br/>
            <a:r>
              <a:t>Open Issues</a:t>
            </a:r>
          </a:p>
        </p:txBody>
      </p:sp>
      <p:sp>
        <p:nvSpPr>
          <p:cNvPr id="33" name="TextBox 32"/>
          <p:cNvSpPr txBox="1"/>
          <p:nvPr/>
        </p:nvSpPr>
        <p:spPr>
          <a:xfrm>
            <a:off x="1517904" y="2660903"/>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Full email body text
Contract clause text
Issue type / status</a:t>
            </a:r>
            <a:r>
              <a:t/>
            </a:r>
            <a:br/>
            <a:r>
              <a:t>Contract clause text</a:t>
            </a:r>
            <a:br/>
            <a:r>
              <a:t>Issue type / status</a:t>
            </a:r>
          </a:p>
        </p:txBody>
      </p:sp>
      <p:sp>
        <p:nvSpPr>
          <p:cNvPr id="34" name="TextBox 33"/>
          <p:cNvSpPr txBox="1"/>
          <p:nvPr/>
        </p:nvSpPr>
        <p:spPr>
          <a:xfrm>
            <a:off x="4169663" y="2660903"/>
            <a:ext cx="265176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Same email JSONs
+ data/contracts/*.md
Fed to Claude in one prompt</a:t>
            </a:r>
            <a:r>
              <a:t/>
            </a:r>
            <a:br/>
            <a:r>
              <a:t>+ data/contracts/*.md</a:t>
            </a:r>
            <a:br/>
            <a:r>
              <a:t>Fed to Claude in one prompt</a:t>
            </a:r>
          </a:p>
        </p:txBody>
      </p:sp>
      <p:sp>
        <p:nvSpPr>
          <p:cNvPr id="35" name="TextBox 34"/>
          <p:cNvSpPr txBox="1"/>
          <p:nvPr/>
        </p:nvSpPr>
        <p:spPr>
          <a:xfrm>
            <a:off x="7004303" y="2660903"/>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Claude API
extraction.py
Returns structured JSON</a:t>
            </a:r>
            <a:r>
              <a:t/>
            </a:r>
            <a:br/>
            <a:r>
              <a:t>extraction.py</a:t>
            </a:r>
            <a:br/>
            <a:r>
              <a:t>Returns structured JSON</a:t>
            </a:r>
          </a:p>
        </p:txBody>
      </p:sp>
      <p:sp>
        <p:nvSpPr>
          <p:cNvPr id="36" name="TextBox 35"/>
          <p:cNvSpPr txBox="1"/>
          <p:nvPr/>
        </p:nvSpPr>
        <p:spPr>
          <a:xfrm>
            <a:off x="9656064" y="2660903"/>
            <a:ext cx="233172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kpi_open_issues
INTEGER — count</a:t>
            </a:r>
            <a:r>
              <a:t/>
            </a:r>
            <a:br/>
            <a:r>
              <a:t>INTEGER — count</a:t>
            </a:r>
          </a:p>
        </p:txBody>
      </p:sp>
      <p:sp>
        <p:nvSpPr>
          <p:cNvPr id="37" name="Rectangle 36"/>
          <p:cNvSpPr/>
          <p:nvPr/>
        </p:nvSpPr>
        <p:spPr>
          <a:xfrm>
            <a:off x="182880" y="3639311"/>
            <a:ext cx="11887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463040" y="3639311"/>
            <a:ext cx="25603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114800" y="3639311"/>
            <a:ext cx="27432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949440" y="3639311"/>
            <a:ext cx="25603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601200" y="3639311"/>
            <a:ext cx="242316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37744" y="3694175"/>
            <a:ext cx="1097280" cy="868680"/>
          </a:xfrm>
          <a:prstGeom prst="rect">
            <a:avLst/>
          </a:prstGeom>
          <a:noFill/>
        </p:spPr>
        <p:txBody>
          <a:bodyPr wrap="square">
            <a:spAutoFit/>
          </a:bodyPr>
          <a:lstStyle/>
          <a:p>
            <a:endParaRPr/>
          </a:p>
          <a:p>
            <a:pPr algn="l">
              <a:spcBef>
                <a:spcPts val="0"/>
              </a:spcBef>
              <a:spcAft>
                <a:spcPts val="0"/>
              </a:spcAft>
            </a:pPr>
            <a:r>
              <a:rPr sz="900" b="1">
                <a:solidFill>
                  <a:srgbClr val="C8102E"/>
                </a:solidFill>
                <a:latin typeface="Calibri"/>
              </a:rPr>
              <a:t>§3
Price Delta</a:t>
            </a:r>
            <a:r>
              <a:t/>
            </a:r>
            <a:br/>
            <a:r>
              <a:t>Price Delta</a:t>
            </a:r>
          </a:p>
        </p:txBody>
      </p:sp>
      <p:sp>
        <p:nvSpPr>
          <p:cNvPr id="43" name="TextBox 42"/>
          <p:cNvSpPr txBox="1"/>
          <p:nvPr/>
        </p:nvSpPr>
        <p:spPr>
          <a:xfrm>
            <a:off x="1517904" y="3694175"/>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latest_price_quoted.value
latest_price_quoted.unit
contract_base_price_numeric</a:t>
            </a:r>
            <a:r>
              <a:t/>
            </a:r>
            <a:br/>
            <a:r>
              <a:t>latest_price_quoted.unit</a:t>
            </a:r>
            <a:br/>
            <a:r>
              <a:t>contract_base_price_numeric</a:t>
            </a:r>
          </a:p>
        </p:txBody>
      </p:sp>
      <p:sp>
        <p:nvSpPr>
          <p:cNvPr id="44" name="TextBox 43"/>
          <p:cNvSpPr txBox="1"/>
          <p:nvPr/>
        </p:nvSpPr>
        <p:spPr>
          <a:xfrm>
            <a:off x="4169663" y="3694175"/>
            <a:ext cx="265176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Price: Claude extraction
from email body
Base: contract Pricing section</a:t>
            </a:r>
            <a:r>
              <a:t/>
            </a:r>
            <a:br/>
            <a:r>
              <a:t>from email body</a:t>
            </a:r>
            <a:br/>
            <a:r>
              <a:t>Base: contract Pricing section</a:t>
            </a:r>
          </a:p>
        </p:txBody>
      </p:sp>
      <p:sp>
        <p:nvSpPr>
          <p:cNvPr id="45" name="TextBox 44"/>
          <p:cNvSpPr txBox="1"/>
          <p:nvPr/>
        </p:nvSpPr>
        <p:spPr>
          <a:xfrm>
            <a:off x="7004303" y="3694175"/>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Claude (price from email)
Python delta calc (local)
packet_generator.py</a:t>
            </a:r>
            <a:r>
              <a:t/>
            </a:r>
            <a:br/>
            <a:r>
              <a:t>Python delta calc (local)</a:t>
            </a:r>
            <a:br/>
            <a:r>
              <a:t>packet_generator.py</a:t>
            </a:r>
          </a:p>
        </p:txBody>
      </p:sp>
      <p:sp>
        <p:nvSpPr>
          <p:cNvPr id="46" name="TextBox 45"/>
          <p:cNvSpPr txBox="1"/>
          <p:nvPr/>
        </p:nvSpPr>
        <p:spPr>
          <a:xfrm>
            <a:off x="9656064" y="3694175"/>
            <a:ext cx="233172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kpi_price_delta_pct
REAL — % delta</a:t>
            </a:r>
            <a:r>
              <a:t/>
            </a:r>
            <a:br/>
            <a:r>
              <a:t>REAL — % delta</a:t>
            </a:r>
          </a:p>
        </p:txBody>
      </p:sp>
      <p:sp>
        <p:nvSpPr>
          <p:cNvPr id="47" name="Rectangle 46"/>
          <p:cNvSpPr/>
          <p:nvPr/>
        </p:nvSpPr>
        <p:spPr>
          <a:xfrm>
            <a:off x="182880" y="4672583"/>
            <a:ext cx="11887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463040" y="4672583"/>
            <a:ext cx="25603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4114800" y="4672583"/>
            <a:ext cx="274320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6949440" y="4672583"/>
            <a:ext cx="25603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9601200" y="4672583"/>
            <a:ext cx="242316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37744" y="4727447"/>
            <a:ext cx="1097280" cy="868680"/>
          </a:xfrm>
          <a:prstGeom prst="rect">
            <a:avLst/>
          </a:prstGeom>
          <a:noFill/>
        </p:spPr>
        <p:txBody>
          <a:bodyPr wrap="square">
            <a:spAutoFit/>
          </a:bodyPr>
          <a:lstStyle/>
          <a:p>
            <a:endParaRPr/>
          </a:p>
          <a:p>
            <a:pPr algn="l">
              <a:spcBef>
                <a:spcPts val="0"/>
              </a:spcBef>
              <a:spcAft>
                <a:spcPts val="0"/>
              </a:spcAft>
            </a:pPr>
            <a:r>
              <a:rPr sz="900" b="1">
                <a:solidFill>
                  <a:srgbClr val="C8102E"/>
                </a:solidFill>
                <a:latin typeface="Calibri"/>
              </a:rPr>
              <a:t>§4
Days to Renewal</a:t>
            </a:r>
            <a:r>
              <a:t/>
            </a:r>
            <a:br/>
            <a:r>
              <a:t>Days to Renewal</a:t>
            </a:r>
          </a:p>
        </p:txBody>
      </p:sp>
      <p:sp>
        <p:nvSpPr>
          <p:cNvPr id="53" name="TextBox 52"/>
          <p:cNvSpPr txBox="1"/>
          <p:nvPr/>
        </p:nvSpPr>
        <p:spPr>
          <a:xfrm>
            <a:off x="1517904" y="4727447"/>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contract.renewal_date
system date (today)
contract.status</a:t>
            </a:r>
            <a:r>
              <a:t/>
            </a:r>
            <a:br/>
            <a:r>
              <a:t>system date (today)</a:t>
            </a:r>
            <a:br/>
            <a:r>
              <a:t>contract.status</a:t>
            </a:r>
          </a:p>
        </p:txBody>
      </p:sp>
      <p:sp>
        <p:nvSpPr>
          <p:cNvPr id="54" name="TextBox 53"/>
          <p:cNvSpPr txBox="1"/>
          <p:nvPr/>
        </p:nvSpPr>
        <p:spPr>
          <a:xfrm>
            <a:off x="4169663" y="4727447"/>
            <a:ext cx="265176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data/contracts/*.md
Renewal Date field
Status: active/expired/draft</a:t>
            </a:r>
            <a:r>
              <a:t/>
            </a:r>
            <a:br/>
            <a:r>
              <a:t>Renewal Date field</a:t>
            </a:r>
            <a:br/>
            <a:r>
              <a:t>Status: active/expired/draft</a:t>
            </a:r>
          </a:p>
        </p:txBody>
      </p:sp>
      <p:sp>
        <p:nvSpPr>
          <p:cNvPr id="55" name="TextBox 54"/>
          <p:cNvSpPr txBox="1"/>
          <p:nvPr/>
        </p:nvSpPr>
        <p:spPr>
          <a:xfrm>
            <a:off x="7004303" y="4727447"/>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Python (local)
date arithmetic only
No API call</a:t>
            </a:r>
            <a:r>
              <a:t/>
            </a:r>
            <a:br/>
            <a:r>
              <a:t>date arithmetic only</a:t>
            </a:r>
            <a:br/>
            <a:r>
              <a:t>No API call</a:t>
            </a:r>
          </a:p>
        </p:txBody>
      </p:sp>
      <p:sp>
        <p:nvSpPr>
          <p:cNvPr id="56" name="TextBox 55"/>
          <p:cNvSpPr txBox="1"/>
          <p:nvPr/>
        </p:nvSpPr>
        <p:spPr>
          <a:xfrm>
            <a:off x="9656064" y="4727447"/>
            <a:ext cx="233172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kpi_days_to_renewal
INTEGER — days</a:t>
            </a:r>
            <a:r>
              <a:t/>
            </a:r>
            <a:br/>
            <a:r>
              <a:t>INTEGER — days</a:t>
            </a:r>
          </a:p>
        </p:txBody>
      </p:sp>
      <p:sp>
        <p:nvSpPr>
          <p:cNvPr id="57" name="Rectangle 56"/>
          <p:cNvSpPr/>
          <p:nvPr/>
        </p:nvSpPr>
        <p:spPr>
          <a:xfrm>
            <a:off x="182880" y="5705855"/>
            <a:ext cx="11887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1463040" y="5705855"/>
            <a:ext cx="25603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4114800" y="5705855"/>
            <a:ext cx="27432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6949440" y="5705855"/>
            <a:ext cx="25603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9601200" y="5705855"/>
            <a:ext cx="242316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37744" y="5760719"/>
            <a:ext cx="1097280" cy="868680"/>
          </a:xfrm>
          <a:prstGeom prst="rect">
            <a:avLst/>
          </a:prstGeom>
          <a:noFill/>
        </p:spPr>
        <p:txBody>
          <a:bodyPr wrap="square">
            <a:spAutoFit/>
          </a:bodyPr>
          <a:lstStyle/>
          <a:p>
            <a:endParaRPr/>
          </a:p>
          <a:p>
            <a:pPr algn="l">
              <a:spcBef>
                <a:spcPts val="0"/>
              </a:spcBef>
              <a:spcAft>
                <a:spcPts val="0"/>
              </a:spcAft>
            </a:pPr>
            <a:r>
              <a:rPr sz="900" b="1">
                <a:solidFill>
                  <a:srgbClr val="C8102E"/>
                </a:solidFill>
                <a:latin typeface="Calibri"/>
              </a:rPr>
              <a:t>§5
Correction Rate</a:t>
            </a:r>
            <a:r>
              <a:t/>
            </a:r>
            <a:br/>
            <a:r>
              <a:t>Correction Rate</a:t>
            </a:r>
          </a:p>
        </p:txBody>
      </p:sp>
      <p:sp>
        <p:nvSpPr>
          <p:cNvPr id="63" name="TextBox 62"/>
          <p:cNvSpPr txBox="1"/>
          <p:nvPr/>
        </p:nvSpPr>
        <p:spPr>
          <a:xfrm>
            <a:off x="1517904" y="5760719"/>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Checkbox state per field
8 trackable fields per packet
Manager flags in UI</a:t>
            </a:r>
            <a:r>
              <a:t/>
            </a:r>
            <a:br/>
            <a:r>
              <a:t>8 trackable fields per packet</a:t>
            </a:r>
            <a:br/>
            <a:r>
              <a:t>Manager flags in UI</a:t>
            </a:r>
          </a:p>
        </p:txBody>
      </p:sp>
      <p:sp>
        <p:nvSpPr>
          <p:cNvPr id="64" name="TextBox 63"/>
          <p:cNvSpPr txBox="1"/>
          <p:nvPr/>
        </p:nvSpPr>
        <p:spPr>
          <a:xfrm>
            <a:off x="4169663" y="5760719"/>
            <a:ext cx="265176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Streamlit session state
correction_log.csv (on Save)
Joined to SQLite on save</a:t>
            </a:r>
            <a:r>
              <a:t/>
            </a:r>
            <a:br/>
            <a:r>
              <a:t>correction_log.csv (on Save)</a:t>
            </a:r>
            <a:br/>
            <a:r>
              <a:t>Joined to SQLite on save</a:t>
            </a:r>
          </a:p>
        </p:txBody>
      </p:sp>
      <p:sp>
        <p:nvSpPr>
          <p:cNvPr id="65" name="TextBox 64"/>
          <p:cNvSpPr txBox="1"/>
          <p:nvPr/>
        </p:nvSpPr>
        <p:spPr>
          <a:xfrm>
            <a:off x="7004303" y="5760719"/>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UI interaction only
Python writes log
No model involved</a:t>
            </a:r>
            <a:r>
              <a:t/>
            </a:r>
            <a:br/>
            <a:r>
              <a:t>Python writes log</a:t>
            </a:r>
            <a:br/>
            <a:r>
              <a:t>No model involved</a:t>
            </a:r>
          </a:p>
        </p:txBody>
      </p:sp>
      <p:sp>
        <p:nvSpPr>
          <p:cNvPr id="66" name="TextBox 65"/>
          <p:cNvSpPr txBox="1"/>
          <p:nvPr/>
        </p:nvSpPr>
        <p:spPr>
          <a:xfrm>
            <a:off x="9656064" y="5760719"/>
            <a:ext cx="233172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kpi_correction_rate_pct
REAL — % flagged</a:t>
            </a:r>
            <a:r>
              <a:t/>
            </a:r>
            <a:br/>
            <a:r>
              <a:t>REAL — % flagged</a:t>
            </a:r>
          </a:p>
        </p:txBody>
      </p:sp>
      <p:sp>
        <p:nvSpPr>
          <p:cNvPr id="67" name="TextBox 66"/>
          <p:cNvSpPr txBox="1"/>
          <p:nvPr/>
        </p:nvSpPr>
        <p:spPr>
          <a:xfrm>
            <a:off x="182880" y="6510528"/>
            <a:ext cx="11795760" cy="256032"/>
          </a:xfrm>
          <a:prstGeom prst="rect">
            <a:avLst/>
          </a:prstGeom>
          <a:noFill/>
        </p:spPr>
        <p:txBody>
          <a:bodyPr wrap="none">
            <a:spAutoFit/>
          </a:bodyPr>
          <a:lstStyle/>
          <a:p>
            <a:endParaRPr/>
          </a:p>
          <a:p>
            <a:pPr algn="l">
              <a:spcBef>
                <a:spcPts val="0"/>
              </a:spcBef>
              <a:spcAft>
                <a:spcPts val="0"/>
              </a:spcAft>
            </a:pPr>
            <a:r>
              <a:rPr sz="1000" b="0">
                <a:solidFill>
                  <a:srgbClr val="555555"/>
                </a:solidFill>
                <a:latin typeface="Calibri"/>
              </a:rPr>
              <a:t>§1, §3, §4 are pure Python (no API cost). §2 is the only metric that requires a Claude call. §5 is populated only when the manager actively saves corrections.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Production Architecture</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How the prototype becomes a production system — and what each layer would look like</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182880" y="1170432"/>
            <a:ext cx="3840480" cy="34747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188720"/>
            <a:ext cx="3657600" cy="310896"/>
          </a:xfrm>
          <a:prstGeom prst="rect">
            <a:avLst/>
          </a:prstGeom>
          <a:noFill/>
        </p:spPr>
        <p:txBody>
          <a:bodyPr wrap="none">
            <a:spAutoFit/>
          </a:bodyPr>
          <a:lstStyle/>
          <a:p>
            <a:endParaRPr/>
          </a:p>
          <a:p>
            <a:pPr algn="l">
              <a:spcBef>
                <a:spcPts val="0"/>
              </a:spcBef>
              <a:spcAft>
                <a:spcPts val="0"/>
              </a:spcAft>
            </a:pPr>
            <a:r>
              <a:rPr sz="1100" b="1">
                <a:solidFill>
                  <a:srgbClr val="FFFFFF"/>
                </a:solidFill>
                <a:latin typeface="Calibri"/>
              </a:rPr>
              <a:t>DATA SOURCES</a:t>
            </a:r>
          </a:p>
        </p:txBody>
      </p:sp>
      <p:sp>
        <p:nvSpPr>
          <p:cNvPr id="9" name="Rectangle 8"/>
          <p:cNvSpPr/>
          <p:nvPr/>
        </p:nvSpPr>
        <p:spPr>
          <a:xfrm>
            <a:off x="182880" y="1536192"/>
            <a:ext cx="3840480" cy="50749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1600200"/>
            <a:ext cx="3566160" cy="4937760"/>
          </a:xfrm>
          <a:prstGeom prst="rect">
            <a:avLst/>
          </a:prstGeom>
          <a:noFill/>
        </p:spPr>
        <p:txBody>
          <a:bodyPr wrap="square">
            <a:spAutoFit/>
          </a:bodyPr>
          <a:lstStyle/>
          <a:p>
            <a:pPr algn="l">
              <a:spcBef>
                <a:spcPts val="600"/>
              </a:spcBef>
            </a:pPr>
            <a:r>
              <a:rPr sz="1100">
                <a:solidFill>
                  <a:srgbClr val="1A1A1A"/>
                </a:solidFill>
                <a:latin typeface="Calibri"/>
              </a:rPr>
              <a:t>Emails</a:t>
            </a:r>
          </a:p>
          <a:p>
            <a:pPr algn="l">
              <a:spcBef>
                <a:spcPts val="600"/>
              </a:spcBef>
            </a:pPr>
            <a:r>
              <a:rPr sz="1100">
                <a:solidFill>
                  <a:srgbClr val="1A1A1A"/>
                </a:solidFill>
                <a:latin typeface="Calibri"/>
              </a:rPr>
              <a:t>Microsoft Graph API</a:t>
            </a:r>
          </a:p>
          <a:p>
            <a:pPr algn="l">
              <a:spcBef>
                <a:spcPts val="600"/>
              </a:spcBef>
            </a:pPr>
            <a:r>
              <a:rPr sz="1100">
                <a:solidFill>
                  <a:srgbClr val="1A1A1A"/>
                </a:solidFill>
                <a:latin typeface="Calibri"/>
              </a:rPr>
              <a:t>Outlook / Exchange</a:t>
            </a:r>
          </a:p>
          <a:p>
            <a:pPr algn="l">
              <a:spcBef>
                <a:spcPts val="600"/>
              </a:spcBef>
            </a:pPr>
            <a:r>
              <a:rPr sz="1100">
                <a:solidFill>
                  <a:srgbClr val="1A1A1A"/>
                </a:solidFill>
                <a:latin typeface="Calibri"/>
              </a:rPr>
              <a:t>Shared procurement mailbox</a:t>
            </a:r>
          </a:p>
          <a:p>
            <a:pPr algn="l">
              <a:spcBef>
                <a:spcPts val="600"/>
              </a:spcBef>
            </a:pPr>
            <a:r>
              <a:rPr sz="1100">
                <a:solidFill>
                  <a:srgbClr val="1A1A1A"/>
                </a:solidFill>
                <a:latin typeface="Calibri"/>
              </a:rPr>
              <a:t>Push subscription on new mail</a:t>
            </a:r>
          </a:p>
          <a:p>
            <a:pPr algn="l">
              <a:spcBef>
                <a:spcPts val="600"/>
              </a:spcBef>
            </a:pPr>
            <a:endParaRPr sz="1100">
              <a:solidFill>
                <a:srgbClr val="1A1A1A"/>
              </a:solidFill>
              <a:latin typeface="Calibri"/>
            </a:endParaRPr>
          </a:p>
          <a:p>
            <a:pPr algn="l">
              <a:spcBef>
                <a:spcPts val="600"/>
              </a:spcBef>
            </a:pPr>
            <a:r>
              <a:rPr sz="1100">
                <a:solidFill>
                  <a:srgbClr val="1A1A1A"/>
                </a:solidFill>
                <a:latin typeface="Calibri"/>
              </a:rPr>
              <a:t>Contracts</a:t>
            </a:r>
          </a:p>
          <a:p>
            <a:pPr algn="l">
              <a:spcBef>
                <a:spcPts val="600"/>
              </a:spcBef>
            </a:pPr>
            <a:r>
              <a:rPr sz="1100">
                <a:solidFill>
                  <a:srgbClr val="1A1A1A"/>
                </a:solidFill>
                <a:latin typeface="Calibri"/>
              </a:rPr>
              <a:t>SharePoint connector</a:t>
            </a:r>
          </a:p>
          <a:p>
            <a:pPr algn="l">
              <a:spcBef>
                <a:spcPts val="600"/>
              </a:spcBef>
            </a:pPr>
            <a:r>
              <a:rPr sz="1100">
                <a:solidFill>
                  <a:srgbClr val="1A1A1A"/>
                </a:solidFill>
                <a:latin typeface="Calibri"/>
              </a:rPr>
              <a:t>PDF extraction + OCR pipeline</a:t>
            </a:r>
          </a:p>
          <a:p>
            <a:pPr algn="l">
              <a:spcBef>
                <a:spcPts val="600"/>
              </a:spcBef>
            </a:pPr>
            <a:r>
              <a:rPr sz="1100">
                <a:solidFill>
                  <a:srgbClr val="1A1A1A"/>
                </a:solidFill>
                <a:latin typeface="Calibri"/>
              </a:rPr>
              <a:t>Version detection (active vs draft)</a:t>
            </a:r>
          </a:p>
          <a:p>
            <a:pPr algn="l">
              <a:spcBef>
                <a:spcPts val="600"/>
              </a:spcBef>
            </a:pPr>
            <a:endParaRPr sz="1100">
              <a:solidFill>
                <a:srgbClr val="1A1A1A"/>
              </a:solidFill>
              <a:latin typeface="Calibri"/>
            </a:endParaRPr>
          </a:p>
          <a:p>
            <a:pPr algn="l">
              <a:spcBef>
                <a:spcPts val="600"/>
              </a:spcBef>
            </a:pPr>
            <a:r>
              <a:rPr sz="1100">
                <a:solidFill>
                  <a:srgbClr val="1A1A1A"/>
                </a:solidFill>
                <a:latin typeface="Calibri"/>
              </a:rPr>
              <a:t>Prices</a:t>
            </a:r>
          </a:p>
          <a:p>
            <a:pPr algn="l">
              <a:spcBef>
                <a:spcPts val="600"/>
              </a:spcBef>
            </a:pPr>
            <a:r>
              <a:rPr sz="1100">
                <a:solidFill>
                  <a:srgbClr val="1A1A1A"/>
                </a:solidFill>
                <a:latin typeface="Calibri"/>
              </a:rPr>
              <a:t>Bloomberg / ICE / Refinitiv</a:t>
            </a:r>
          </a:p>
          <a:p>
            <a:pPr algn="l">
              <a:spcBef>
                <a:spcPts val="600"/>
              </a:spcBef>
            </a:pPr>
            <a:r>
              <a:rPr sz="1100">
                <a:solidFill>
                  <a:srgbClr val="1A1A1A"/>
                </a:solidFill>
                <a:latin typeface="Calibri"/>
              </a:rPr>
              <a:t>Structured time-series feed</a:t>
            </a:r>
          </a:p>
          <a:p>
            <a:pPr algn="l">
              <a:spcBef>
                <a:spcPts val="600"/>
              </a:spcBef>
            </a:pPr>
            <a:r>
              <a:rPr sz="1100">
                <a:solidFill>
                  <a:srgbClr val="1A1A1A"/>
                </a:solidFill>
                <a:latin typeface="Calibri"/>
              </a:rPr>
              <a:t>Normalized to common schema</a:t>
            </a:r>
          </a:p>
        </p:txBody>
      </p:sp>
      <p:sp>
        <p:nvSpPr>
          <p:cNvPr id="11" name="Rectangle 10"/>
          <p:cNvSpPr/>
          <p:nvPr/>
        </p:nvSpPr>
        <p:spPr>
          <a:xfrm>
            <a:off x="4178808" y="1170432"/>
            <a:ext cx="3840480" cy="347472"/>
          </a:xfrm>
          <a:prstGeom prst="rect">
            <a:avLst/>
          </a:prstGeom>
          <a:solidFill>
            <a:srgbClr val="960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70248" y="1188720"/>
            <a:ext cx="3657600" cy="310896"/>
          </a:xfrm>
          <a:prstGeom prst="rect">
            <a:avLst/>
          </a:prstGeom>
          <a:noFill/>
        </p:spPr>
        <p:txBody>
          <a:bodyPr wrap="none">
            <a:spAutoFit/>
          </a:bodyPr>
          <a:lstStyle/>
          <a:p>
            <a:endParaRPr/>
          </a:p>
          <a:p>
            <a:pPr algn="l">
              <a:spcBef>
                <a:spcPts val="0"/>
              </a:spcBef>
              <a:spcAft>
                <a:spcPts val="0"/>
              </a:spcAft>
            </a:pPr>
            <a:r>
              <a:rPr sz="1100" b="1">
                <a:solidFill>
                  <a:srgbClr val="FFFFFF"/>
                </a:solidFill>
                <a:latin typeface="Calibri"/>
              </a:rPr>
              <a:t>PROCESSING LAYER</a:t>
            </a:r>
          </a:p>
        </p:txBody>
      </p:sp>
      <p:sp>
        <p:nvSpPr>
          <p:cNvPr id="13" name="Rectangle 12"/>
          <p:cNvSpPr/>
          <p:nvPr/>
        </p:nvSpPr>
        <p:spPr>
          <a:xfrm>
            <a:off x="4178808" y="1536192"/>
            <a:ext cx="3840480" cy="50749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15968" y="1600200"/>
            <a:ext cx="3566160" cy="4937760"/>
          </a:xfrm>
          <a:prstGeom prst="rect">
            <a:avLst/>
          </a:prstGeom>
          <a:noFill/>
        </p:spPr>
        <p:txBody>
          <a:bodyPr wrap="square">
            <a:spAutoFit/>
          </a:bodyPr>
          <a:lstStyle/>
          <a:p>
            <a:pPr algn="l">
              <a:spcBef>
                <a:spcPts val="600"/>
              </a:spcBef>
            </a:pPr>
            <a:r>
              <a:rPr sz="1100">
                <a:solidFill>
                  <a:srgbClr val="1A1A1A"/>
                </a:solidFill>
                <a:latin typeface="Calibri"/>
              </a:rPr>
              <a:t>MCP connector layer</a:t>
            </a:r>
          </a:p>
          <a:p>
            <a:pPr algn="l">
              <a:spcBef>
                <a:spcPts val="600"/>
              </a:spcBef>
            </a:pPr>
            <a:r>
              <a:rPr sz="1100">
                <a:solidFill>
                  <a:srgbClr val="1A1A1A"/>
                </a:solidFill>
                <a:latin typeface="Calibri"/>
              </a:rPr>
              <a:t>Standardised tool interface</a:t>
            </a:r>
          </a:p>
          <a:p>
            <a:pPr algn="l">
              <a:spcBef>
                <a:spcPts val="600"/>
              </a:spcBef>
            </a:pPr>
            <a:r>
              <a:rPr sz="1100">
                <a:solidFill>
                  <a:srgbClr val="1A1A1A"/>
                </a:solidFill>
                <a:latin typeface="Calibri"/>
              </a:rPr>
              <a:t>Swappable backend per source</a:t>
            </a:r>
          </a:p>
          <a:p>
            <a:pPr algn="l">
              <a:spcBef>
                <a:spcPts val="600"/>
              </a:spcBef>
            </a:pPr>
            <a:endParaRPr sz="1100">
              <a:solidFill>
                <a:srgbClr val="1A1A1A"/>
              </a:solidFill>
              <a:latin typeface="Calibri"/>
            </a:endParaRPr>
          </a:p>
          <a:p>
            <a:pPr algn="l">
              <a:spcBef>
                <a:spcPts val="600"/>
              </a:spcBef>
            </a:pPr>
            <a:r>
              <a:rPr sz="1100">
                <a:solidFill>
                  <a:srgbClr val="1A1A1A"/>
                </a:solidFill>
                <a:latin typeface="Calibri"/>
              </a:rPr>
              <a:t>Storage split</a:t>
            </a:r>
          </a:p>
          <a:p>
            <a:pPr algn="l">
              <a:spcBef>
                <a:spcPts val="600"/>
              </a:spcBef>
            </a:pPr>
            <a:r>
              <a:rPr sz="1100">
                <a:solidFill>
                  <a:srgbClr val="1A1A1A"/>
                </a:solidFill>
                <a:latin typeface="Calibri"/>
              </a:rPr>
              <a:t>Structured store (BigQuery):</a:t>
            </a:r>
          </a:p>
          <a:p>
            <a:pPr algn="l">
              <a:spcBef>
                <a:spcPts val="600"/>
              </a:spcBef>
            </a:pPr>
            <a:r>
              <a:rPr sz="1100">
                <a:solidFill>
                  <a:srgbClr val="1A1A1A"/>
                </a:solidFill>
                <a:latin typeface="Calibri"/>
              </a:rPr>
              <a:t>  exact facts — contract terms,</a:t>
            </a:r>
          </a:p>
          <a:p>
            <a:pPr algn="l">
              <a:spcBef>
                <a:spcPts val="600"/>
              </a:spcBef>
            </a:pPr>
            <a:r>
              <a:rPr sz="1100">
                <a:solidFill>
                  <a:srgbClr val="1A1A1A"/>
                </a:solidFill>
                <a:latin typeface="Calibri"/>
              </a:rPr>
              <a:t>  KPI values, price points</a:t>
            </a:r>
          </a:p>
          <a:p>
            <a:pPr algn="l">
              <a:spcBef>
                <a:spcPts val="600"/>
              </a:spcBef>
            </a:pPr>
            <a:endParaRPr sz="1100">
              <a:solidFill>
                <a:srgbClr val="1A1A1A"/>
              </a:solidFill>
              <a:latin typeface="Calibri"/>
            </a:endParaRPr>
          </a:p>
          <a:p>
            <a:pPr algn="l">
              <a:spcBef>
                <a:spcPts val="600"/>
              </a:spcBef>
            </a:pPr>
            <a:r>
              <a:rPr sz="1100">
                <a:solidFill>
                  <a:srgbClr val="1A1A1A"/>
                </a:solidFill>
                <a:latin typeface="Calibri"/>
              </a:rPr>
              <a:t>Vector store (Vertex AI / Pinecone):</a:t>
            </a:r>
          </a:p>
          <a:p>
            <a:pPr algn="l">
              <a:spcBef>
                <a:spcPts val="600"/>
              </a:spcBef>
            </a:pPr>
            <a:r>
              <a:rPr sz="1100">
                <a:solidFill>
                  <a:srgbClr val="1A1A1A"/>
                </a:solidFill>
                <a:latin typeface="Calibri"/>
              </a:rPr>
              <a:t>  chunked email bodies,</a:t>
            </a:r>
          </a:p>
          <a:p>
            <a:pPr algn="l">
              <a:spcBef>
                <a:spcPts val="600"/>
              </a:spcBef>
            </a:pPr>
            <a:r>
              <a:rPr sz="1100">
                <a:solidFill>
                  <a:srgbClr val="1A1A1A"/>
                </a:solidFill>
                <a:latin typeface="Calibri"/>
              </a:rPr>
              <a:t>  contract clause language,</a:t>
            </a:r>
          </a:p>
          <a:p>
            <a:pPr algn="l">
              <a:spcBef>
                <a:spcPts val="600"/>
              </a:spcBef>
            </a:pPr>
            <a:r>
              <a:rPr sz="1100">
                <a:solidFill>
                  <a:srgbClr val="1A1A1A"/>
                </a:solidFill>
                <a:latin typeface="Calibri"/>
              </a:rPr>
              <a:t>  semantic search at scale</a:t>
            </a:r>
          </a:p>
          <a:p>
            <a:pPr algn="l">
              <a:spcBef>
                <a:spcPts val="600"/>
              </a:spcBef>
            </a:pPr>
            <a:endParaRPr sz="1100">
              <a:solidFill>
                <a:srgbClr val="1A1A1A"/>
              </a:solidFill>
              <a:latin typeface="Calibri"/>
            </a:endParaRPr>
          </a:p>
          <a:p>
            <a:pPr algn="l">
              <a:spcBef>
                <a:spcPts val="600"/>
              </a:spcBef>
            </a:pPr>
            <a:r>
              <a:rPr sz="1100">
                <a:solidFill>
                  <a:srgbClr val="1A1A1A"/>
                </a:solidFill>
                <a:latin typeface="Calibri"/>
              </a:rPr>
              <a:t>Packet Generator</a:t>
            </a:r>
          </a:p>
          <a:p>
            <a:pPr algn="l">
              <a:spcBef>
                <a:spcPts val="600"/>
              </a:spcBef>
            </a:pPr>
            <a:r>
              <a:rPr sz="1100">
                <a:solidFill>
                  <a:srgbClr val="1A1A1A"/>
                </a:solidFill>
                <a:latin typeface="Calibri"/>
              </a:rPr>
              <a:t>Same logic as prototype</a:t>
            </a:r>
          </a:p>
          <a:p>
            <a:pPr algn="l">
              <a:spcBef>
                <a:spcPts val="600"/>
              </a:spcBef>
            </a:pPr>
            <a:r>
              <a:rPr sz="1100">
                <a:solidFill>
                  <a:srgbClr val="1A1A1A"/>
                </a:solidFill>
                <a:latin typeface="Calibri"/>
              </a:rPr>
              <a:t>Triggered by calendar event 24h</a:t>
            </a:r>
          </a:p>
          <a:p>
            <a:pPr algn="l">
              <a:spcBef>
                <a:spcPts val="600"/>
              </a:spcBef>
            </a:pPr>
            <a:r>
              <a:rPr sz="1100">
                <a:solidFill>
                  <a:srgbClr val="1A1A1A"/>
                </a:solidFill>
                <a:latin typeface="Calibri"/>
              </a:rPr>
              <a:t>before each meeting</a:t>
            </a:r>
          </a:p>
        </p:txBody>
      </p:sp>
      <p:sp>
        <p:nvSpPr>
          <p:cNvPr id="15" name="Rectangle 14"/>
          <p:cNvSpPr/>
          <p:nvPr/>
        </p:nvSpPr>
        <p:spPr>
          <a:xfrm>
            <a:off x="8174736" y="1170432"/>
            <a:ext cx="3840480" cy="34747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66175" y="1188720"/>
            <a:ext cx="3657600" cy="310896"/>
          </a:xfrm>
          <a:prstGeom prst="rect">
            <a:avLst/>
          </a:prstGeom>
          <a:noFill/>
        </p:spPr>
        <p:txBody>
          <a:bodyPr wrap="none">
            <a:spAutoFit/>
          </a:bodyPr>
          <a:lstStyle/>
          <a:p>
            <a:endParaRPr/>
          </a:p>
          <a:p>
            <a:pPr algn="l">
              <a:spcBef>
                <a:spcPts val="0"/>
              </a:spcBef>
              <a:spcAft>
                <a:spcPts val="0"/>
              </a:spcAft>
            </a:pPr>
            <a:r>
              <a:rPr sz="1100" b="1">
                <a:solidFill>
                  <a:srgbClr val="FFFFFF"/>
                </a:solidFill>
                <a:latin typeface="Calibri"/>
              </a:rPr>
              <a:t>OUTPUTS + MONITORING</a:t>
            </a:r>
          </a:p>
        </p:txBody>
      </p:sp>
      <p:sp>
        <p:nvSpPr>
          <p:cNvPr id="17" name="Rectangle 16"/>
          <p:cNvSpPr/>
          <p:nvPr/>
        </p:nvSpPr>
        <p:spPr>
          <a:xfrm>
            <a:off x="8174736" y="1536192"/>
            <a:ext cx="3840480" cy="50749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11896" y="1600200"/>
            <a:ext cx="3566160" cy="4937760"/>
          </a:xfrm>
          <a:prstGeom prst="rect">
            <a:avLst/>
          </a:prstGeom>
          <a:noFill/>
        </p:spPr>
        <p:txBody>
          <a:bodyPr wrap="square">
            <a:spAutoFit/>
          </a:bodyPr>
          <a:lstStyle/>
          <a:p>
            <a:pPr algn="l">
              <a:spcBef>
                <a:spcPts val="600"/>
              </a:spcBef>
            </a:pPr>
            <a:r>
              <a:rPr sz="1100">
                <a:solidFill>
                  <a:srgbClr val="1A1A1A"/>
                </a:solidFill>
                <a:latin typeface="Calibri"/>
              </a:rPr>
              <a:t>Procurement Manager UI</a:t>
            </a:r>
          </a:p>
          <a:p>
            <a:pPr algn="l">
              <a:spcBef>
                <a:spcPts val="600"/>
              </a:spcBef>
            </a:pPr>
            <a:r>
              <a:rPr sz="1100">
                <a:solidFill>
                  <a:srgbClr val="1A1A1A"/>
                </a:solidFill>
                <a:latin typeface="Calibri"/>
              </a:rPr>
              <a:t>Streamlit or Teams tab</a:t>
            </a:r>
          </a:p>
          <a:p>
            <a:pPr algn="l">
              <a:spcBef>
                <a:spcPts val="600"/>
              </a:spcBef>
            </a:pPr>
            <a:r>
              <a:rPr sz="1100">
                <a:solidFill>
                  <a:srgbClr val="1A1A1A"/>
                </a:solidFill>
                <a:latin typeface="Calibri"/>
              </a:rPr>
              <a:t>Packet auto-delivered before meeting</a:t>
            </a:r>
          </a:p>
          <a:p>
            <a:pPr algn="l">
              <a:spcBef>
                <a:spcPts val="600"/>
              </a:spcBef>
            </a:pPr>
            <a:r>
              <a:rPr sz="1100">
                <a:solidFill>
                  <a:srgbClr val="1A1A1A"/>
                </a:solidFill>
                <a:latin typeface="Calibri"/>
              </a:rPr>
              <a:t>Source attribution + conflict flags</a:t>
            </a:r>
          </a:p>
          <a:p>
            <a:pPr algn="l">
              <a:spcBef>
                <a:spcPts val="600"/>
              </a:spcBef>
            </a:pPr>
            <a:endParaRPr sz="1100">
              <a:solidFill>
                <a:srgbClr val="1A1A1A"/>
              </a:solidFill>
              <a:latin typeface="Calibri"/>
            </a:endParaRPr>
          </a:p>
          <a:p>
            <a:pPr algn="l">
              <a:spcBef>
                <a:spcPts val="600"/>
              </a:spcBef>
            </a:pPr>
            <a:r>
              <a:rPr sz="1100">
                <a:solidFill>
                  <a:srgbClr val="1A1A1A"/>
                </a:solidFill>
                <a:latin typeface="Calibri"/>
              </a:rPr>
              <a:t>FDE Metrics Pipeline</a:t>
            </a:r>
          </a:p>
          <a:p>
            <a:pPr algn="l">
              <a:spcBef>
                <a:spcPts val="600"/>
              </a:spcBef>
            </a:pPr>
            <a:r>
              <a:rPr sz="1100">
                <a:solidFill>
                  <a:srgbClr val="1A1A1A"/>
                </a:solidFill>
                <a:latin typeface="Calibri"/>
              </a:rPr>
              <a:t>Generation events: Pub/Sub</a:t>
            </a:r>
          </a:p>
          <a:p>
            <a:pPr algn="l">
              <a:spcBef>
                <a:spcPts val="600"/>
              </a:spcBef>
            </a:pPr>
            <a:r>
              <a:rPr sz="1100">
                <a:solidFill>
                  <a:srgbClr val="1A1A1A"/>
                </a:solidFill>
                <a:latin typeface="Calibri"/>
              </a:rPr>
              <a:t>  → BigQuery events table</a:t>
            </a:r>
          </a:p>
          <a:p>
            <a:pPr algn="l">
              <a:spcBef>
                <a:spcPts val="600"/>
              </a:spcBef>
            </a:pPr>
            <a:r>
              <a:rPr sz="1100">
                <a:solidFill>
                  <a:srgbClr val="1A1A1A"/>
                </a:solidFill>
                <a:latin typeface="Calibri"/>
              </a:rPr>
              <a:t>KPI values per packet stored</a:t>
            </a:r>
          </a:p>
          <a:p>
            <a:pPr algn="l">
              <a:spcBef>
                <a:spcPts val="600"/>
              </a:spcBef>
            </a:pPr>
            <a:r>
              <a:rPr sz="1100">
                <a:solidFill>
                  <a:srgbClr val="1A1A1A"/>
                </a:solidFill>
                <a:latin typeface="Calibri"/>
              </a:rPr>
              <a:t>Correction log aggregated</a:t>
            </a:r>
          </a:p>
          <a:p>
            <a:pPr algn="l">
              <a:spcBef>
                <a:spcPts val="600"/>
              </a:spcBef>
            </a:pPr>
            <a:r>
              <a:rPr sz="1100">
                <a:solidFill>
                  <a:srgbClr val="1A1A1A"/>
                </a:solidFill>
                <a:latin typeface="Calibri"/>
              </a:rPr>
              <a:t>Looker / Data Studio dashboard</a:t>
            </a:r>
          </a:p>
          <a:p>
            <a:pPr algn="l">
              <a:spcBef>
                <a:spcPts val="600"/>
              </a:spcBef>
            </a:pPr>
            <a:r>
              <a:rPr sz="1100">
                <a:solidFill>
                  <a:srgbClr val="1A1A1A"/>
                </a:solidFill>
                <a:latin typeface="Calibri"/>
              </a:rPr>
              <a:t>for ongoing monitoring</a:t>
            </a:r>
          </a:p>
          <a:p>
            <a:pPr algn="l">
              <a:spcBef>
                <a:spcPts val="600"/>
              </a:spcBef>
            </a:pPr>
            <a:endParaRPr sz="1100">
              <a:solidFill>
                <a:srgbClr val="1A1A1A"/>
              </a:solidFill>
              <a:latin typeface="Calibri"/>
            </a:endParaRPr>
          </a:p>
          <a:p>
            <a:pPr algn="l">
              <a:spcBef>
                <a:spcPts val="600"/>
              </a:spcBef>
            </a:pPr>
            <a:r>
              <a:rPr sz="1100">
                <a:solidFill>
                  <a:srgbClr val="1A1A1A"/>
                </a:solidFill>
                <a:latin typeface="Calibri"/>
              </a:rPr>
              <a:t>Prompt tuning cycle</a:t>
            </a:r>
          </a:p>
          <a:p>
            <a:pPr algn="l">
              <a:spcBef>
                <a:spcPts val="600"/>
              </a:spcBef>
            </a:pPr>
            <a:r>
              <a:rPr sz="1100">
                <a:solidFill>
                  <a:srgbClr val="1A1A1A"/>
                </a:solidFill>
                <a:latin typeface="Calibri"/>
              </a:rPr>
              <a:t>Monthly: correction_log patterns</a:t>
            </a:r>
          </a:p>
          <a:p>
            <a:pPr algn="l">
              <a:spcBef>
                <a:spcPts val="600"/>
              </a:spcBef>
            </a:pPr>
            <a:r>
              <a:rPr sz="1100">
                <a:solidFill>
                  <a:srgbClr val="1A1A1A"/>
                </a:solidFill>
                <a:latin typeface="Calibri"/>
              </a:rPr>
              <a:t>  → extraction prompt update</a:t>
            </a:r>
          </a:p>
          <a:p>
            <a:pPr algn="l">
              <a:spcBef>
                <a:spcPts val="600"/>
              </a:spcBef>
            </a:pPr>
            <a:r>
              <a:rPr sz="1100">
                <a:solidFill>
                  <a:srgbClr val="1A1A1A"/>
                </a:solidFill>
                <a:latin typeface="Calibri"/>
              </a:rPr>
              <a:t>  → re-run accuracy benchmark</a:t>
            </a:r>
          </a:p>
        </p:txBody>
      </p:sp>
      <p:sp>
        <p:nvSpPr>
          <p:cNvPr id="19" name="TextBox 18"/>
          <p:cNvSpPr txBox="1"/>
          <p:nvPr/>
        </p:nvSpPr>
        <p:spPr>
          <a:xfrm>
            <a:off x="182880" y="6492240"/>
            <a:ext cx="11795760" cy="274320"/>
          </a:xfrm>
          <a:prstGeom prst="rect">
            <a:avLst/>
          </a:prstGeom>
          <a:noFill/>
        </p:spPr>
        <p:txBody>
          <a:bodyPr wrap="none">
            <a:spAutoFit/>
          </a:bodyPr>
          <a:lstStyle/>
          <a:p>
            <a:endParaRPr/>
          </a:p>
          <a:p>
            <a:pPr algn="l">
              <a:spcBef>
                <a:spcPts val="0"/>
              </a:spcBef>
              <a:spcAft>
                <a:spcPts val="0"/>
              </a:spcAft>
            </a:pPr>
            <a:r>
              <a:rPr sz="1000" b="0">
                <a:solidFill>
                  <a:srgbClr val="555555"/>
                </a:solidFill>
                <a:latin typeface="Calibri"/>
              </a:rPr>
              <a:t>Prototype delta: flat JSON files instead of connectors; local extraction instead of vector store; SQLite instead of BigQuery. Every simplification is documented and justified.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Rollout Plan</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Three phases — trust first, scale second</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320040" y="1188720"/>
            <a:ext cx="3749039" cy="53492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188720"/>
            <a:ext cx="3749039" cy="4114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207008"/>
            <a:ext cx="3474720" cy="347472"/>
          </a:xfrm>
          <a:prstGeom prst="rect">
            <a:avLst/>
          </a:prstGeom>
          <a:noFill/>
        </p:spPr>
        <p:txBody>
          <a:bodyPr wrap="none">
            <a:spAutoFit/>
          </a:bodyPr>
          <a:lstStyle/>
          <a:p>
            <a:endParaRPr/>
          </a:p>
          <a:p>
            <a:pPr algn="l">
              <a:spcBef>
                <a:spcPts val="0"/>
              </a:spcBef>
              <a:spcAft>
                <a:spcPts val="0"/>
              </a:spcAft>
            </a:pPr>
            <a:r>
              <a:rPr sz="1200" b="1">
                <a:solidFill>
                  <a:srgbClr val="FFFFFF"/>
                </a:solidFill>
                <a:latin typeface="Calibri"/>
              </a:rPr>
              <a:t>Phase 1  ·  Weeks 1–4</a:t>
            </a:r>
          </a:p>
        </p:txBody>
      </p:sp>
      <p:sp>
        <p:nvSpPr>
          <p:cNvPr id="10" name="TextBox 9"/>
          <p:cNvSpPr txBox="1"/>
          <p:nvPr/>
        </p:nvSpPr>
        <p:spPr>
          <a:xfrm>
            <a:off x="457200" y="1664208"/>
            <a:ext cx="3474720" cy="347472"/>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Controlled pilot</a:t>
            </a:r>
          </a:p>
        </p:txBody>
      </p:sp>
      <p:sp>
        <p:nvSpPr>
          <p:cNvPr id="11" name="TextBox 10"/>
          <p:cNvSpPr txBox="1"/>
          <p:nvPr/>
        </p:nvSpPr>
        <p:spPr>
          <a:xfrm>
            <a:off x="457200" y="2057400"/>
            <a:ext cx="3474720" cy="4343400"/>
          </a:xfrm>
          <a:prstGeom prst="rect">
            <a:avLst/>
          </a:prstGeom>
          <a:noFill/>
        </p:spPr>
        <p:txBody>
          <a:bodyPr wrap="square">
            <a:spAutoFit/>
          </a:bodyPr>
          <a:lstStyle/>
          <a:p>
            <a:pPr algn="l">
              <a:spcBef>
                <a:spcPts val="600"/>
              </a:spcBef>
            </a:pPr>
            <a:r>
              <a:rPr sz="1100">
                <a:solidFill>
                  <a:srgbClr val="1A1A1A"/>
                </a:solidFill>
                <a:latin typeface="Calibri"/>
              </a:rPr>
              <a:t>2–3 upcoming meetings with one analyst as primary user</a:t>
            </a:r>
          </a:p>
          <a:p>
            <a:pPr algn="l">
              <a:spcBef>
                <a:spcPts val="600"/>
              </a:spcBef>
            </a:pPr>
            <a:r>
              <a:rPr sz="1100">
                <a:solidFill>
                  <a:srgbClr val="1A1A1A"/>
                </a:solidFill>
                <a:latin typeface="Calibri"/>
              </a:rPr>
              <a:t>Analyst runs the tool, reviews output, flags corrections</a:t>
            </a:r>
          </a:p>
          <a:p>
            <a:pPr algn="l">
              <a:spcBef>
                <a:spcPts val="600"/>
              </a:spcBef>
            </a:pPr>
            <a:r>
              <a:rPr sz="1100">
                <a:solidFill>
                  <a:srgbClr val="1A1A1A"/>
                </a:solidFill>
                <a:latin typeface="Calibri"/>
              </a:rPr>
              <a:t>Track correction rate weekly — target &lt;20% by week 4</a:t>
            </a:r>
          </a:p>
          <a:p>
            <a:pPr algn="l">
              <a:spcBef>
                <a:spcPts val="600"/>
              </a:spcBef>
            </a:pPr>
            <a:r>
              <a:rPr sz="1100">
                <a:solidFill>
                  <a:srgbClr val="1A1A1A"/>
                </a:solidFill>
                <a:latin typeface="Calibri"/>
              </a:rPr>
              <a:t>One structured debrief after each meeting: what did the packet get right?</a:t>
            </a:r>
          </a:p>
          <a:p>
            <a:pPr algn="l">
              <a:spcBef>
                <a:spcPts val="600"/>
              </a:spcBef>
            </a:pPr>
            <a:r>
              <a:rPr sz="1100">
                <a:solidFill>
                  <a:srgbClr val="1A1A1A"/>
                </a:solidFill>
                <a:latin typeface="Calibri"/>
              </a:rPr>
              <a:t>Success gate: packet catches one real issue the analyst would have missed</a:t>
            </a:r>
          </a:p>
        </p:txBody>
      </p:sp>
      <p:sp>
        <p:nvSpPr>
          <p:cNvPr id="12" name="Rectangle 11"/>
          <p:cNvSpPr/>
          <p:nvPr/>
        </p:nvSpPr>
        <p:spPr>
          <a:xfrm>
            <a:off x="4270248" y="1188720"/>
            <a:ext cx="3749039" cy="53492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70248" y="1188720"/>
            <a:ext cx="3749039" cy="411480"/>
          </a:xfrm>
          <a:prstGeom prst="rect">
            <a:avLst/>
          </a:prstGeom>
          <a:solidFill>
            <a:srgbClr val="960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07408" y="1207008"/>
            <a:ext cx="3474720" cy="347472"/>
          </a:xfrm>
          <a:prstGeom prst="rect">
            <a:avLst/>
          </a:prstGeom>
          <a:noFill/>
        </p:spPr>
        <p:txBody>
          <a:bodyPr wrap="none">
            <a:spAutoFit/>
          </a:bodyPr>
          <a:lstStyle/>
          <a:p>
            <a:endParaRPr/>
          </a:p>
          <a:p>
            <a:pPr algn="l">
              <a:spcBef>
                <a:spcPts val="0"/>
              </a:spcBef>
              <a:spcAft>
                <a:spcPts val="0"/>
              </a:spcAft>
            </a:pPr>
            <a:r>
              <a:rPr sz="1200" b="1">
                <a:solidFill>
                  <a:srgbClr val="FFFFFF"/>
                </a:solidFill>
                <a:latin typeface="Calibri"/>
              </a:rPr>
              <a:t>Phase 2  ·  Weeks 5–8</a:t>
            </a:r>
          </a:p>
        </p:txBody>
      </p:sp>
      <p:sp>
        <p:nvSpPr>
          <p:cNvPr id="15" name="TextBox 14"/>
          <p:cNvSpPr txBox="1"/>
          <p:nvPr/>
        </p:nvSpPr>
        <p:spPr>
          <a:xfrm>
            <a:off x="4407408" y="1664208"/>
            <a:ext cx="3474720" cy="347472"/>
          </a:xfrm>
          <a:prstGeom prst="rect">
            <a:avLst/>
          </a:prstGeom>
          <a:noFill/>
        </p:spPr>
        <p:txBody>
          <a:bodyPr wrap="none">
            <a:spAutoFit/>
          </a:bodyPr>
          <a:lstStyle/>
          <a:p>
            <a:endParaRPr/>
          </a:p>
          <a:p>
            <a:pPr algn="l">
              <a:spcBef>
                <a:spcPts val="0"/>
              </a:spcBef>
              <a:spcAft>
                <a:spcPts val="0"/>
              </a:spcAft>
            </a:pPr>
            <a:r>
              <a:rPr sz="1300" b="1">
                <a:solidFill>
                  <a:srgbClr val="960C22"/>
                </a:solidFill>
                <a:latin typeface="Calibri"/>
              </a:rPr>
              <a:t>Expanded pilot</a:t>
            </a:r>
          </a:p>
        </p:txBody>
      </p:sp>
      <p:sp>
        <p:nvSpPr>
          <p:cNvPr id="16" name="TextBox 15"/>
          <p:cNvSpPr txBox="1"/>
          <p:nvPr/>
        </p:nvSpPr>
        <p:spPr>
          <a:xfrm>
            <a:off x="4407408" y="2057400"/>
            <a:ext cx="3474720" cy="4343400"/>
          </a:xfrm>
          <a:prstGeom prst="rect">
            <a:avLst/>
          </a:prstGeom>
          <a:noFill/>
        </p:spPr>
        <p:txBody>
          <a:bodyPr wrap="square">
            <a:spAutoFit/>
          </a:bodyPr>
          <a:lstStyle/>
          <a:p>
            <a:pPr algn="l">
              <a:spcBef>
                <a:spcPts val="600"/>
              </a:spcBef>
            </a:pPr>
            <a:r>
              <a:rPr sz="1100">
                <a:solidFill>
                  <a:srgbClr val="1A1A1A"/>
                </a:solidFill>
                <a:latin typeface="Calibri"/>
              </a:rPr>
              <a:t>All 8 suppliers in scope; full procurement team using it</a:t>
            </a:r>
          </a:p>
          <a:p>
            <a:pPr algn="l">
              <a:spcBef>
                <a:spcPts val="600"/>
              </a:spcBef>
            </a:pPr>
            <a:r>
              <a:rPr sz="1100">
                <a:solidFill>
                  <a:srgbClr val="1A1A1A"/>
                </a:solidFill>
                <a:latin typeface="Calibri"/>
              </a:rPr>
              <a:t>IT review: security, data access, API key governance</a:t>
            </a:r>
          </a:p>
          <a:p>
            <a:pPr algn="l">
              <a:spcBef>
                <a:spcPts val="600"/>
              </a:spcBef>
            </a:pPr>
            <a:r>
              <a:rPr sz="1100">
                <a:solidFill>
                  <a:srgbClr val="1A1A1A"/>
                </a:solidFill>
                <a:latin typeface="Calibri"/>
              </a:rPr>
              <a:t>Integrate with calendar to auto-trigger packet generation 24h before each meeting</a:t>
            </a:r>
          </a:p>
          <a:p>
            <a:pPr algn="l">
              <a:spcBef>
                <a:spcPts val="600"/>
              </a:spcBef>
            </a:pPr>
            <a:r>
              <a:rPr sz="1100">
                <a:solidFill>
                  <a:srgbClr val="1A1A1A"/>
                </a:solidFill>
                <a:latin typeface="Calibri"/>
              </a:rPr>
              <a:t>Add live data sources: Graph API for emails, SharePoint for contracts</a:t>
            </a:r>
          </a:p>
          <a:p>
            <a:pPr algn="l">
              <a:spcBef>
                <a:spcPts val="600"/>
              </a:spcBef>
            </a:pPr>
            <a:r>
              <a:rPr sz="1100">
                <a:solidFill>
                  <a:srgbClr val="1A1A1A"/>
                </a:solidFill>
                <a:latin typeface="Calibri"/>
              </a:rPr>
              <a:t>Success gate: team uses packet without being reminded; correction rate &lt;10%</a:t>
            </a:r>
          </a:p>
        </p:txBody>
      </p:sp>
      <p:sp>
        <p:nvSpPr>
          <p:cNvPr id="17" name="Rectangle 16"/>
          <p:cNvSpPr/>
          <p:nvPr/>
        </p:nvSpPr>
        <p:spPr>
          <a:xfrm>
            <a:off x="8220456" y="1188720"/>
            <a:ext cx="3749039" cy="53492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20456" y="1188720"/>
            <a:ext cx="3749039" cy="41148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57616" y="1207008"/>
            <a:ext cx="3474720" cy="347472"/>
          </a:xfrm>
          <a:prstGeom prst="rect">
            <a:avLst/>
          </a:prstGeom>
          <a:noFill/>
        </p:spPr>
        <p:txBody>
          <a:bodyPr wrap="none">
            <a:spAutoFit/>
          </a:bodyPr>
          <a:lstStyle/>
          <a:p>
            <a:endParaRPr/>
          </a:p>
          <a:p>
            <a:pPr algn="l">
              <a:spcBef>
                <a:spcPts val="0"/>
              </a:spcBef>
              <a:spcAft>
                <a:spcPts val="0"/>
              </a:spcAft>
            </a:pPr>
            <a:r>
              <a:rPr sz="1200" b="1">
                <a:solidFill>
                  <a:srgbClr val="FFFFFF"/>
                </a:solidFill>
                <a:latin typeface="Calibri"/>
              </a:rPr>
              <a:t>Phase 3  ·  Weeks 9–12</a:t>
            </a:r>
          </a:p>
        </p:txBody>
      </p:sp>
      <p:sp>
        <p:nvSpPr>
          <p:cNvPr id="20" name="TextBox 19"/>
          <p:cNvSpPr txBox="1"/>
          <p:nvPr/>
        </p:nvSpPr>
        <p:spPr>
          <a:xfrm>
            <a:off x="8357616" y="1664208"/>
            <a:ext cx="3474720" cy="347472"/>
          </a:xfrm>
          <a:prstGeom prst="rect">
            <a:avLst/>
          </a:prstGeom>
          <a:noFill/>
        </p:spPr>
        <p:txBody>
          <a:bodyPr wrap="none">
            <a:spAutoFit/>
          </a:bodyPr>
          <a:lstStyle/>
          <a:p>
            <a:endParaRPr/>
          </a:p>
          <a:p>
            <a:pPr algn="l">
              <a:spcBef>
                <a:spcPts val="0"/>
              </a:spcBef>
              <a:spcAft>
                <a:spcPts val="0"/>
              </a:spcAft>
            </a:pPr>
            <a:r>
              <a:rPr sz="1300" b="1">
                <a:solidFill>
                  <a:srgbClr val="555555"/>
                </a:solidFill>
                <a:latin typeface="Calibri"/>
              </a:rPr>
              <a:t>Handover</a:t>
            </a:r>
          </a:p>
        </p:txBody>
      </p:sp>
      <p:sp>
        <p:nvSpPr>
          <p:cNvPr id="21" name="TextBox 20"/>
          <p:cNvSpPr txBox="1"/>
          <p:nvPr/>
        </p:nvSpPr>
        <p:spPr>
          <a:xfrm>
            <a:off x="8357616" y="2057400"/>
            <a:ext cx="3474720" cy="4343400"/>
          </a:xfrm>
          <a:prstGeom prst="rect">
            <a:avLst/>
          </a:prstGeom>
          <a:noFill/>
        </p:spPr>
        <p:txBody>
          <a:bodyPr wrap="square">
            <a:spAutoFit/>
          </a:bodyPr>
          <a:lstStyle/>
          <a:p>
            <a:pPr algn="l">
              <a:spcBef>
                <a:spcPts val="600"/>
              </a:spcBef>
            </a:pPr>
            <a:r>
              <a:rPr sz="1100">
                <a:solidFill>
                  <a:srgbClr val="1A1A1A"/>
                </a:solidFill>
                <a:latin typeface="Calibri"/>
              </a:rPr>
              <a:t>Ownership transferred to internal champion (Procurement Manager)</a:t>
            </a:r>
          </a:p>
          <a:p>
            <a:pPr algn="l">
              <a:spcBef>
                <a:spcPts val="600"/>
              </a:spcBef>
            </a:pPr>
            <a:r>
              <a:rPr sz="1100">
                <a:solidFill>
                  <a:srgbClr val="1A1A1A"/>
                </a:solidFill>
                <a:latin typeface="Calibri"/>
              </a:rPr>
              <a:t>ROI case presented to Finance/CFO with 90-day actuals</a:t>
            </a:r>
          </a:p>
          <a:p>
            <a:pPr algn="l">
              <a:spcBef>
                <a:spcPts val="600"/>
              </a:spcBef>
            </a:pPr>
            <a:r>
              <a:rPr sz="1100">
                <a:solidFill>
                  <a:srgbClr val="1A1A1A"/>
                </a:solidFill>
                <a:latin typeface="Calibri"/>
              </a:rPr>
              <a:t>Prompt tuning backlog based on correction_log.csv patterns</a:t>
            </a:r>
          </a:p>
          <a:p>
            <a:pPr algn="l">
              <a:spcBef>
                <a:spcPts val="600"/>
              </a:spcBef>
            </a:pPr>
            <a:r>
              <a:rPr sz="1100">
                <a:solidFill>
                  <a:srgbClr val="1A1A1A"/>
                </a:solidFill>
                <a:latin typeface="Calibri"/>
              </a:rPr>
              <a:t>Roadmap: supplier segmentation, auto-renewal alerts, negotiation history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Risks and Challenges</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Technical and organisational — what could go wrong and how I would handle it</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182880" y="1243584"/>
            <a:ext cx="1371600" cy="25603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1243584"/>
            <a:ext cx="1325880" cy="256032"/>
          </a:xfrm>
          <a:prstGeom prst="rect">
            <a:avLst/>
          </a:prstGeom>
          <a:noFill/>
        </p:spPr>
        <p:txBody>
          <a:bodyPr wrap="none">
            <a:spAutoFit/>
          </a:bodyPr>
          <a:lstStyle/>
          <a:p>
            <a:endParaRPr/>
          </a:p>
          <a:p>
            <a:pPr algn="ctr">
              <a:spcBef>
                <a:spcPts val="0"/>
              </a:spcBef>
              <a:spcAft>
                <a:spcPts val="0"/>
              </a:spcAft>
            </a:pPr>
            <a:r>
              <a:rPr sz="900" b="1">
                <a:solidFill>
                  <a:srgbClr val="FFFFFF"/>
                </a:solidFill>
                <a:latin typeface="Calibri"/>
              </a:rPr>
              <a:t>TECHNICAL</a:t>
            </a:r>
          </a:p>
        </p:txBody>
      </p:sp>
      <p:sp>
        <p:nvSpPr>
          <p:cNvPr id="9" name="TextBox 8"/>
          <p:cNvSpPr txBox="1"/>
          <p:nvPr/>
        </p:nvSpPr>
        <p:spPr>
          <a:xfrm>
            <a:off x="1691640" y="1170432"/>
            <a:ext cx="9875520" cy="347472"/>
          </a:xfrm>
          <a:prstGeom prst="rect">
            <a:avLst/>
          </a:prstGeom>
          <a:noFill/>
        </p:spPr>
        <p:txBody>
          <a:bodyPr wrap="none">
            <a:spAutoFit/>
          </a:bodyPr>
          <a:lstStyle/>
          <a:p>
            <a:endParaRPr/>
          </a:p>
          <a:p>
            <a:pPr algn="l">
              <a:spcBef>
                <a:spcPts val="0"/>
              </a:spcBef>
              <a:spcAft>
                <a:spcPts val="0"/>
              </a:spcAft>
            </a:pPr>
            <a:r>
              <a:rPr sz="1300" b="1">
                <a:solidFill>
                  <a:srgbClr val="1A1A1A"/>
                </a:solidFill>
                <a:latin typeface="Calibri"/>
              </a:rPr>
              <a:t>Extraction accuracy drift</a:t>
            </a:r>
          </a:p>
        </p:txBody>
      </p:sp>
      <p:sp>
        <p:nvSpPr>
          <p:cNvPr id="10" name="TextBox 9"/>
          <p:cNvSpPr txBox="1"/>
          <p:nvPr/>
        </p:nvSpPr>
        <p:spPr>
          <a:xfrm>
            <a:off x="182880" y="1554480"/>
            <a:ext cx="5394960" cy="868680"/>
          </a:xfrm>
          <a:prstGeom prst="rect">
            <a:avLst/>
          </a:prstGeom>
          <a:noFill/>
        </p:spPr>
        <p:txBody>
          <a:bodyPr wrap="square">
            <a:spAutoFit/>
          </a:bodyPr>
          <a:lstStyle/>
          <a:p>
            <a:endParaRPr/>
          </a:p>
          <a:p>
            <a:pPr algn="l">
              <a:spcBef>
                <a:spcPts val="0"/>
              </a:spcBef>
              <a:spcAft>
                <a:spcPts val="0"/>
              </a:spcAft>
            </a:pPr>
            <a:r>
              <a:rPr sz="1100" b="0">
                <a:solidFill>
                  <a:srgbClr val="555555"/>
                </a:solidFill>
                <a:latin typeface="Calibri"/>
              </a:rPr>
              <a:t>Risk: Claude extraction returns wrong contract terms or misses a dispute. Manager walks in with bad data.</a:t>
            </a:r>
          </a:p>
        </p:txBody>
      </p:sp>
      <p:sp>
        <p:nvSpPr>
          <p:cNvPr id="11" name="TextBox 10"/>
          <p:cNvSpPr txBox="1"/>
          <p:nvPr/>
        </p:nvSpPr>
        <p:spPr>
          <a:xfrm>
            <a:off x="5760720" y="1554480"/>
            <a:ext cx="6217920" cy="86868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Mitigation: Source attribution on every field makes errors visible. Correction log tracks error rate by field and supplier. Monthly prompt tuning cycle against correction_log.csv. Phase 1 KPI: correction rate &lt;10% by week 4.</a:t>
            </a:r>
          </a:p>
        </p:txBody>
      </p:sp>
      <p:sp>
        <p:nvSpPr>
          <p:cNvPr id="12" name="Rectangle 11"/>
          <p:cNvSpPr/>
          <p:nvPr/>
        </p:nvSpPr>
        <p:spPr>
          <a:xfrm>
            <a:off x="182880" y="2615184"/>
            <a:ext cx="1371600" cy="256032"/>
          </a:xfrm>
          <a:prstGeom prst="rect">
            <a:avLst/>
          </a:prstGeom>
          <a:solidFill>
            <a:srgbClr val="960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1168" y="2615184"/>
            <a:ext cx="1325880" cy="256032"/>
          </a:xfrm>
          <a:prstGeom prst="rect">
            <a:avLst/>
          </a:prstGeom>
          <a:noFill/>
        </p:spPr>
        <p:txBody>
          <a:bodyPr wrap="none">
            <a:spAutoFit/>
          </a:bodyPr>
          <a:lstStyle/>
          <a:p>
            <a:endParaRPr/>
          </a:p>
          <a:p>
            <a:pPr algn="ctr">
              <a:spcBef>
                <a:spcPts val="0"/>
              </a:spcBef>
              <a:spcAft>
                <a:spcPts val="0"/>
              </a:spcAft>
            </a:pPr>
            <a:r>
              <a:rPr sz="900" b="1">
                <a:solidFill>
                  <a:srgbClr val="FFFFFF"/>
                </a:solidFill>
                <a:latin typeface="Calibri"/>
              </a:rPr>
              <a:t>ORGANISATIONAL</a:t>
            </a:r>
          </a:p>
        </p:txBody>
      </p:sp>
      <p:sp>
        <p:nvSpPr>
          <p:cNvPr id="14" name="TextBox 13"/>
          <p:cNvSpPr txBox="1"/>
          <p:nvPr/>
        </p:nvSpPr>
        <p:spPr>
          <a:xfrm>
            <a:off x="1691640" y="2542032"/>
            <a:ext cx="9875520" cy="347472"/>
          </a:xfrm>
          <a:prstGeom prst="rect">
            <a:avLst/>
          </a:prstGeom>
          <a:noFill/>
        </p:spPr>
        <p:txBody>
          <a:bodyPr wrap="none">
            <a:spAutoFit/>
          </a:bodyPr>
          <a:lstStyle/>
          <a:p>
            <a:endParaRPr/>
          </a:p>
          <a:p>
            <a:pPr algn="l">
              <a:spcBef>
                <a:spcPts val="0"/>
              </a:spcBef>
              <a:spcAft>
                <a:spcPts val="0"/>
              </a:spcAft>
            </a:pPr>
            <a:r>
              <a:rPr sz="1300" b="1">
                <a:solidFill>
                  <a:srgbClr val="1A1A1A"/>
                </a:solidFill>
                <a:latin typeface="Calibri"/>
              </a:rPr>
              <a:t>Losing the internal champion</a:t>
            </a:r>
          </a:p>
        </p:txBody>
      </p:sp>
      <p:sp>
        <p:nvSpPr>
          <p:cNvPr id="15" name="TextBox 14"/>
          <p:cNvSpPr txBox="1"/>
          <p:nvPr/>
        </p:nvSpPr>
        <p:spPr>
          <a:xfrm>
            <a:off x="182880" y="2926080"/>
            <a:ext cx="5394960" cy="868680"/>
          </a:xfrm>
          <a:prstGeom prst="rect">
            <a:avLst/>
          </a:prstGeom>
          <a:noFill/>
        </p:spPr>
        <p:txBody>
          <a:bodyPr wrap="square">
            <a:spAutoFit/>
          </a:bodyPr>
          <a:lstStyle/>
          <a:p>
            <a:endParaRPr/>
          </a:p>
          <a:p>
            <a:pPr algn="l">
              <a:spcBef>
                <a:spcPts val="0"/>
              </a:spcBef>
              <a:spcAft>
                <a:spcPts val="0"/>
              </a:spcAft>
            </a:pPr>
            <a:r>
              <a:rPr sz="1100" b="0">
                <a:solidFill>
                  <a:srgbClr val="555555"/>
                </a:solidFill>
                <a:latin typeface="Calibri"/>
              </a:rPr>
              <a:t>Risk: Procurement Manager moves roles or loses interest. Tool loses its sponsor before Phase 2.</a:t>
            </a:r>
          </a:p>
        </p:txBody>
      </p:sp>
      <p:sp>
        <p:nvSpPr>
          <p:cNvPr id="16" name="TextBox 15"/>
          <p:cNvSpPr txBox="1"/>
          <p:nvPr/>
        </p:nvSpPr>
        <p:spPr>
          <a:xfrm>
            <a:off x="5760720" y="2926080"/>
            <a:ext cx="6217920" cy="86868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Mitigation: Involve the analyst as a co-owner from day one — they become the backup champion. Tie the tool to a calendar event (prep packet auto-sent) so it becomes habit, not a choice.</a:t>
            </a:r>
          </a:p>
        </p:txBody>
      </p:sp>
      <p:sp>
        <p:nvSpPr>
          <p:cNvPr id="17" name="Rectangle 16"/>
          <p:cNvSpPr/>
          <p:nvPr/>
        </p:nvSpPr>
        <p:spPr>
          <a:xfrm>
            <a:off x="182880" y="3986784"/>
            <a:ext cx="1371600" cy="256032"/>
          </a:xfrm>
          <a:prstGeom prst="rect">
            <a:avLst/>
          </a:prstGeom>
          <a:solidFill>
            <a:srgbClr val="960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1168" y="3986784"/>
            <a:ext cx="1325880" cy="256032"/>
          </a:xfrm>
          <a:prstGeom prst="rect">
            <a:avLst/>
          </a:prstGeom>
          <a:noFill/>
        </p:spPr>
        <p:txBody>
          <a:bodyPr wrap="none">
            <a:spAutoFit/>
          </a:bodyPr>
          <a:lstStyle/>
          <a:p>
            <a:endParaRPr/>
          </a:p>
          <a:p>
            <a:pPr algn="ctr">
              <a:spcBef>
                <a:spcPts val="0"/>
              </a:spcBef>
              <a:spcAft>
                <a:spcPts val="0"/>
              </a:spcAft>
            </a:pPr>
            <a:r>
              <a:rPr sz="900" b="1">
                <a:solidFill>
                  <a:srgbClr val="FFFFFF"/>
                </a:solidFill>
                <a:latin typeface="Calibri"/>
              </a:rPr>
              <a:t>ORGANISATIONAL</a:t>
            </a:r>
          </a:p>
        </p:txBody>
      </p:sp>
      <p:sp>
        <p:nvSpPr>
          <p:cNvPr id="19" name="TextBox 18"/>
          <p:cNvSpPr txBox="1"/>
          <p:nvPr/>
        </p:nvSpPr>
        <p:spPr>
          <a:xfrm>
            <a:off x="1691640" y="3913632"/>
            <a:ext cx="9875520" cy="347472"/>
          </a:xfrm>
          <a:prstGeom prst="rect">
            <a:avLst/>
          </a:prstGeom>
          <a:noFill/>
        </p:spPr>
        <p:txBody>
          <a:bodyPr wrap="none">
            <a:spAutoFit/>
          </a:bodyPr>
          <a:lstStyle/>
          <a:p>
            <a:endParaRPr/>
          </a:p>
          <a:p>
            <a:pPr algn="l">
              <a:spcBef>
                <a:spcPts val="0"/>
              </a:spcBef>
              <a:spcAft>
                <a:spcPts val="0"/>
              </a:spcAft>
            </a:pPr>
            <a:r>
              <a:rPr sz="1300" b="1">
                <a:solidFill>
                  <a:srgbClr val="1A1A1A"/>
                </a:solidFill>
                <a:latin typeface="Calibri"/>
              </a:rPr>
              <a:t>Low adoption from analysts</a:t>
            </a:r>
          </a:p>
        </p:txBody>
      </p:sp>
      <p:sp>
        <p:nvSpPr>
          <p:cNvPr id="20" name="TextBox 19"/>
          <p:cNvSpPr txBox="1"/>
          <p:nvPr/>
        </p:nvSpPr>
        <p:spPr>
          <a:xfrm>
            <a:off x="182880" y="4297680"/>
            <a:ext cx="5394960" cy="868680"/>
          </a:xfrm>
          <a:prstGeom prst="rect">
            <a:avLst/>
          </a:prstGeom>
          <a:noFill/>
        </p:spPr>
        <p:txBody>
          <a:bodyPr wrap="square">
            <a:spAutoFit/>
          </a:bodyPr>
          <a:lstStyle/>
          <a:p>
            <a:endParaRPr/>
          </a:p>
          <a:p>
            <a:pPr algn="l">
              <a:spcBef>
                <a:spcPts val="0"/>
              </a:spcBef>
              <a:spcAft>
                <a:spcPts val="0"/>
              </a:spcAft>
            </a:pPr>
            <a:r>
              <a:rPr sz="1100" b="0">
                <a:solidFill>
                  <a:srgbClr val="555555"/>
                </a:solidFill>
                <a:latin typeface="Calibri"/>
              </a:rPr>
              <a:t>Risk: Analyst uses the tool but doesn't trust it. Redoes the prep manually anyway. Tool adds a step instead of removing one.</a:t>
            </a:r>
          </a:p>
        </p:txBody>
      </p:sp>
      <p:sp>
        <p:nvSpPr>
          <p:cNvPr id="21" name="TextBox 20"/>
          <p:cNvSpPr txBox="1"/>
          <p:nvPr/>
        </p:nvSpPr>
        <p:spPr>
          <a:xfrm>
            <a:off x="5760720" y="4297680"/>
            <a:ext cx="6217920" cy="86868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Mitigation: Frame their role as reviewer, not recipient. Make corrections visibly theirs. Track adoption, not just deployment. If correction rate is low = they trust it. If they're still doing manual prep = investigate why.</a:t>
            </a:r>
          </a:p>
        </p:txBody>
      </p:sp>
      <p:sp>
        <p:nvSpPr>
          <p:cNvPr id="22" name="Rectangle 21"/>
          <p:cNvSpPr/>
          <p:nvPr/>
        </p:nvSpPr>
        <p:spPr>
          <a:xfrm>
            <a:off x="182880" y="5358384"/>
            <a:ext cx="1371600" cy="256032"/>
          </a:xfrm>
          <a:prstGeom prst="rect">
            <a:avLst/>
          </a:prstGeom>
          <a:solidFill>
            <a:srgbClr val="960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1168" y="5358384"/>
            <a:ext cx="1325880" cy="256032"/>
          </a:xfrm>
          <a:prstGeom prst="rect">
            <a:avLst/>
          </a:prstGeom>
          <a:noFill/>
        </p:spPr>
        <p:txBody>
          <a:bodyPr wrap="none">
            <a:spAutoFit/>
          </a:bodyPr>
          <a:lstStyle/>
          <a:p>
            <a:endParaRPr/>
          </a:p>
          <a:p>
            <a:pPr algn="ctr">
              <a:spcBef>
                <a:spcPts val="0"/>
              </a:spcBef>
              <a:spcAft>
                <a:spcPts val="0"/>
              </a:spcAft>
            </a:pPr>
            <a:r>
              <a:rPr sz="900" b="1">
                <a:solidFill>
                  <a:srgbClr val="FFFFFF"/>
                </a:solidFill>
                <a:latin typeface="Calibri"/>
              </a:rPr>
              <a:t>ORGANISATIONAL</a:t>
            </a:r>
          </a:p>
        </p:txBody>
      </p:sp>
      <p:sp>
        <p:nvSpPr>
          <p:cNvPr id="24" name="TextBox 23"/>
          <p:cNvSpPr txBox="1"/>
          <p:nvPr/>
        </p:nvSpPr>
        <p:spPr>
          <a:xfrm>
            <a:off x="1691640" y="5285232"/>
            <a:ext cx="9875520" cy="347472"/>
          </a:xfrm>
          <a:prstGeom prst="rect">
            <a:avLst/>
          </a:prstGeom>
          <a:noFill/>
        </p:spPr>
        <p:txBody>
          <a:bodyPr wrap="none">
            <a:spAutoFit/>
          </a:bodyPr>
          <a:lstStyle/>
          <a:p>
            <a:endParaRPr/>
          </a:p>
          <a:p>
            <a:pPr algn="l">
              <a:spcBef>
                <a:spcPts val="0"/>
              </a:spcBef>
              <a:spcAft>
                <a:spcPts val="0"/>
              </a:spcAft>
            </a:pPr>
            <a:r>
              <a:rPr sz="1300" b="1">
                <a:solidFill>
                  <a:srgbClr val="1A1A1A"/>
                </a:solidFill>
                <a:latin typeface="Calibri"/>
              </a:rPr>
              <a:t>Scope creep pressure</a:t>
            </a:r>
          </a:p>
        </p:txBody>
      </p:sp>
      <p:sp>
        <p:nvSpPr>
          <p:cNvPr id="25" name="TextBox 24"/>
          <p:cNvSpPr txBox="1"/>
          <p:nvPr/>
        </p:nvSpPr>
        <p:spPr>
          <a:xfrm>
            <a:off x="182880" y="5669280"/>
            <a:ext cx="5394960" cy="868680"/>
          </a:xfrm>
          <a:prstGeom prst="rect">
            <a:avLst/>
          </a:prstGeom>
          <a:noFill/>
        </p:spPr>
        <p:txBody>
          <a:bodyPr wrap="square">
            <a:spAutoFit/>
          </a:bodyPr>
          <a:lstStyle/>
          <a:p>
            <a:endParaRPr/>
          </a:p>
          <a:p>
            <a:pPr algn="l">
              <a:spcBef>
                <a:spcPts val="0"/>
              </a:spcBef>
              <a:spcAft>
                <a:spcPts val="0"/>
              </a:spcAft>
            </a:pPr>
            <a:r>
              <a:rPr sz="1100" b="0">
                <a:solidFill>
                  <a:srgbClr val="555555"/>
                </a:solidFill>
                <a:latin typeface="Calibri"/>
              </a:rPr>
              <a:t>Risk: 'Can it also do X?' requests accumulate before Phase 1 is proven. Build gets bloated, trust case gets muddied.</a:t>
            </a:r>
          </a:p>
        </p:txBody>
      </p:sp>
      <p:sp>
        <p:nvSpPr>
          <p:cNvPr id="26" name="TextBox 25"/>
          <p:cNvSpPr txBox="1"/>
          <p:nvPr/>
        </p:nvSpPr>
        <p:spPr>
          <a:xfrm>
            <a:off x="5760720" y="5669280"/>
            <a:ext cx="6217920" cy="86868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Mitigation: Phase-gate firmly. Every new request goes into a backlog for Phase 2. The answer in Phase 1 is always: let's prove this works first, then expand.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Change Management</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Building it is 20% of the job — getting people to use it is the other 80%</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320040" y="1188720"/>
            <a:ext cx="2743200" cy="502920"/>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79" y="1261872"/>
            <a:ext cx="2606040" cy="393192"/>
          </a:xfrm>
          <a:prstGeom prst="rect">
            <a:avLst/>
          </a:prstGeom>
          <a:noFill/>
        </p:spPr>
        <p:txBody>
          <a:bodyPr wrap="square">
            <a:spAutoFit/>
          </a:bodyPr>
          <a:lstStyle/>
          <a:p>
            <a:endParaRPr/>
          </a:p>
          <a:p>
            <a:pPr algn="l">
              <a:spcBef>
                <a:spcPts val="0"/>
              </a:spcBef>
              <a:spcAft>
                <a:spcPts val="0"/>
              </a:spcAft>
            </a:pPr>
            <a:r>
              <a:rPr sz="1100" b="1">
                <a:solidFill>
                  <a:srgbClr val="FFFFFF"/>
                </a:solidFill>
                <a:latin typeface="Calibri"/>
              </a:rPr>
              <a:t>Objection</a:t>
            </a:r>
          </a:p>
        </p:txBody>
      </p:sp>
      <p:sp>
        <p:nvSpPr>
          <p:cNvPr id="9" name="Rectangle 8"/>
          <p:cNvSpPr/>
          <p:nvPr/>
        </p:nvSpPr>
        <p:spPr>
          <a:xfrm>
            <a:off x="3154680" y="1188720"/>
            <a:ext cx="2926080" cy="502920"/>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46120" y="1261872"/>
            <a:ext cx="2788920" cy="393192"/>
          </a:xfrm>
          <a:prstGeom prst="rect">
            <a:avLst/>
          </a:prstGeom>
          <a:noFill/>
        </p:spPr>
        <p:txBody>
          <a:bodyPr wrap="square">
            <a:spAutoFit/>
          </a:bodyPr>
          <a:lstStyle/>
          <a:p>
            <a:endParaRPr/>
          </a:p>
          <a:p>
            <a:pPr algn="l">
              <a:spcBef>
                <a:spcPts val="0"/>
              </a:spcBef>
              <a:spcAft>
                <a:spcPts val="0"/>
              </a:spcAft>
            </a:pPr>
            <a:r>
              <a:rPr sz="1100" b="1">
                <a:solidFill>
                  <a:srgbClr val="FFFFFF"/>
                </a:solidFill>
                <a:latin typeface="Calibri"/>
              </a:rPr>
              <a:t>Who says it</a:t>
            </a:r>
          </a:p>
        </p:txBody>
      </p:sp>
      <p:sp>
        <p:nvSpPr>
          <p:cNvPr id="11" name="Rectangle 10"/>
          <p:cNvSpPr/>
          <p:nvPr/>
        </p:nvSpPr>
        <p:spPr>
          <a:xfrm>
            <a:off x="6172200" y="1188720"/>
            <a:ext cx="5577840" cy="502920"/>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1261872"/>
            <a:ext cx="5440679" cy="393192"/>
          </a:xfrm>
          <a:prstGeom prst="rect">
            <a:avLst/>
          </a:prstGeom>
          <a:noFill/>
        </p:spPr>
        <p:txBody>
          <a:bodyPr wrap="square">
            <a:spAutoFit/>
          </a:bodyPr>
          <a:lstStyle/>
          <a:p>
            <a:endParaRPr/>
          </a:p>
          <a:p>
            <a:pPr algn="l">
              <a:spcBef>
                <a:spcPts val="0"/>
              </a:spcBef>
              <a:spcAft>
                <a:spcPts val="0"/>
              </a:spcAft>
            </a:pPr>
            <a:r>
              <a:rPr sz="1100" b="1">
                <a:solidFill>
                  <a:srgbClr val="FFFFFF"/>
                </a:solidFill>
                <a:latin typeface="Calibri"/>
              </a:rPr>
              <a:t>How to handle it</a:t>
            </a:r>
          </a:p>
        </p:txBody>
      </p:sp>
      <p:sp>
        <p:nvSpPr>
          <p:cNvPr id="13" name="Rectangle 12"/>
          <p:cNvSpPr/>
          <p:nvPr/>
        </p:nvSpPr>
        <p:spPr>
          <a:xfrm>
            <a:off x="320040" y="2743200"/>
            <a:ext cx="2743200" cy="1463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79" y="2816352"/>
            <a:ext cx="2606040" cy="1353312"/>
          </a:xfrm>
          <a:prstGeom prst="rect">
            <a:avLst/>
          </a:prstGeom>
          <a:noFill/>
        </p:spPr>
        <p:txBody>
          <a:bodyPr wrap="square">
            <a:spAutoFit/>
          </a:bodyPr>
          <a:lstStyle/>
          <a:p>
            <a:endParaRPr/>
          </a:p>
          <a:p>
            <a:pPr algn="l">
              <a:spcBef>
                <a:spcPts val="0"/>
              </a:spcBef>
              <a:spcAft>
                <a:spcPts val="0"/>
              </a:spcAft>
            </a:pPr>
            <a:r>
              <a:rPr sz="1200" b="1">
                <a:solidFill>
                  <a:srgbClr val="C8102E"/>
                </a:solidFill>
                <a:latin typeface="Calibri"/>
              </a:rPr>
              <a:t>"The output is wrong."</a:t>
            </a:r>
          </a:p>
        </p:txBody>
      </p:sp>
      <p:sp>
        <p:nvSpPr>
          <p:cNvPr id="15" name="Rectangle 14"/>
          <p:cNvSpPr/>
          <p:nvPr/>
        </p:nvSpPr>
        <p:spPr>
          <a:xfrm>
            <a:off x="3154680" y="2743200"/>
            <a:ext cx="2926080" cy="1463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46120" y="2816352"/>
            <a:ext cx="2788920" cy="1353312"/>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Procurement Analyst
(highest adoption risk — feels threatened but won't say so)</a:t>
            </a:r>
            <a:r>
              <a:t/>
            </a:r>
            <a:br/>
            <a:r>
              <a:t>(highest adoption risk — feels threatened but won't say so)</a:t>
            </a:r>
          </a:p>
        </p:txBody>
      </p:sp>
      <p:sp>
        <p:nvSpPr>
          <p:cNvPr id="17" name="Rectangle 16"/>
          <p:cNvSpPr/>
          <p:nvPr/>
        </p:nvSpPr>
        <p:spPr>
          <a:xfrm>
            <a:off x="6172200" y="2743200"/>
            <a:ext cx="5577840" cy="1463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63640" y="2816352"/>
            <a:ext cx="5440679" cy="1353312"/>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Involve them in Phase 1 QA from day one. Make the correction feature visibly theirs. Frame their role as reviewer, not recipient. The tool makes them look more prepared, not redundant.</a:t>
            </a:r>
          </a:p>
        </p:txBody>
      </p:sp>
      <p:sp>
        <p:nvSpPr>
          <p:cNvPr id="19" name="Rectangle 18"/>
          <p:cNvSpPr/>
          <p:nvPr/>
        </p:nvSpPr>
        <p:spPr>
          <a:xfrm>
            <a:off x="320040" y="4297680"/>
            <a:ext cx="2743200" cy="1463040"/>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79" y="4370832"/>
            <a:ext cx="2606040" cy="1353312"/>
          </a:xfrm>
          <a:prstGeom prst="rect">
            <a:avLst/>
          </a:prstGeom>
          <a:noFill/>
        </p:spPr>
        <p:txBody>
          <a:bodyPr wrap="square">
            <a:spAutoFit/>
          </a:bodyPr>
          <a:lstStyle/>
          <a:p>
            <a:endParaRPr/>
          </a:p>
          <a:p>
            <a:pPr algn="l">
              <a:spcBef>
                <a:spcPts val="0"/>
              </a:spcBef>
              <a:spcAft>
                <a:spcPts val="0"/>
              </a:spcAft>
            </a:pPr>
            <a:r>
              <a:rPr sz="1200" b="1">
                <a:solidFill>
                  <a:srgbClr val="C8102E"/>
                </a:solidFill>
                <a:latin typeface="Calibri"/>
              </a:rPr>
              <a:t>"I don't trust AI to read
a contract."</a:t>
            </a:r>
            <a:r>
              <a:t/>
            </a:r>
            <a:br/>
            <a:r>
              <a:t>a contract."</a:t>
            </a:r>
          </a:p>
        </p:txBody>
      </p:sp>
      <p:sp>
        <p:nvSpPr>
          <p:cNvPr id="21" name="Rectangle 20"/>
          <p:cNvSpPr/>
          <p:nvPr/>
        </p:nvSpPr>
        <p:spPr>
          <a:xfrm>
            <a:off x="3154680" y="4297680"/>
            <a:ext cx="2926080" cy="1463040"/>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46120" y="4370832"/>
            <a:ext cx="2788920" cy="1353312"/>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Legal / Compliance</a:t>
            </a:r>
          </a:p>
        </p:txBody>
      </p:sp>
      <p:sp>
        <p:nvSpPr>
          <p:cNvPr id="23" name="Rectangle 22"/>
          <p:cNvSpPr/>
          <p:nvPr/>
        </p:nvSpPr>
        <p:spPr>
          <a:xfrm>
            <a:off x="6172200" y="4297680"/>
            <a:ext cx="5577840" cy="1463040"/>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63640" y="4370832"/>
            <a:ext cx="5440679" cy="1353312"/>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Every fact has a source citation. The design is 'surfaces for human review,' not 'interprets and acts.' Show them the correction log — the system has a visible trust mechanism.</a:t>
            </a:r>
          </a:p>
        </p:txBody>
      </p:sp>
      <p:sp>
        <p:nvSpPr>
          <p:cNvPr id="25" name="Rectangle 24"/>
          <p:cNvSpPr/>
          <p:nvPr/>
        </p:nvSpPr>
        <p:spPr>
          <a:xfrm>
            <a:off x="320040" y="5852159"/>
            <a:ext cx="2743200" cy="1463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1479" y="5925312"/>
            <a:ext cx="2606040" cy="1353312"/>
          </a:xfrm>
          <a:prstGeom prst="rect">
            <a:avLst/>
          </a:prstGeom>
          <a:noFill/>
        </p:spPr>
        <p:txBody>
          <a:bodyPr wrap="square">
            <a:spAutoFit/>
          </a:bodyPr>
          <a:lstStyle/>
          <a:p>
            <a:endParaRPr/>
          </a:p>
          <a:p>
            <a:pPr algn="l">
              <a:spcBef>
                <a:spcPts val="0"/>
              </a:spcBef>
              <a:spcAft>
                <a:spcPts val="0"/>
              </a:spcAft>
            </a:pPr>
            <a:r>
              <a:rPr sz="1200" b="1">
                <a:solidFill>
                  <a:srgbClr val="C8102E"/>
                </a:solidFill>
                <a:latin typeface="Calibri"/>
              </a:rPr>
              <a:t>"What does this cost
and who owns it?"</a:t>
            </a:r>
            <a:r>
              <a:t/>
            </a:r>
            <a:br/>
            <a:r>
              <a:t>and who owns it?"</a:t>
            </a:r>
          </a:p>
        </p:txBody>
      </p:sp>
      <p:sp>
        <p:nvSpPr>
          <p:cNvPr id="27" name="Rectangle 26"/>
          <p:cNvSpPr/>
          <p:nvPr/>
        </p:nvSpPr>
        <p:spPr>
          <a:xfrm>
            <a:off x="3154680" y="5852159"/>
            <a:ext cx="2926080" cy="1463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246120" y="5925312"/>
            <a:ext cx="2788920" cy="1353312"/>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Finance / IT</a:t>
            </a:r>
          </a:p>
        </p:txBody>
      </p:sp>
      <p:sp>
        <p:nvSpPr>
          <p:cNvPr id="29" name="Rectangle 28"/>
          <p:cNvSpPr/>
          <p:nvPr/>
        </p:nvSpPr>
        <p:spPr>
          <a:xfrm>
            <a:off x="6172200" y="5852159"/>
            <a:ext cx="5577840" cy="1463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63640" y="5925312"/>
            <a:ext cx="5440679" cy="1353312"/>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Phase 1 cost is API calls only (~$15/month). Nothing touches live systems. Static file architecture minimises security surface. ROI case ready for month 3 (next slide).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Quick Wins + Enablement</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First 30 days and what training actually looks like</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182880" y="1170432"/>
            <a:ext cx="5760720" cy="539496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234440"/>
            <a:ext cx="5394960" cy="36576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Quick wins — first 30 days</a:t>
            </a:r>
          </a:p>
        </p:txBody>
      </p:sp>
      <p:sp>
        <p:nvSpPr>
          <p:cNvPr id="9" name="TextBox 8"/>
          <p:cNvSpPr txBox="1"/>
          <p:nvPr/>
        </p:nvSpPr>
        <p:spPr>
          <a:xfrm>
            <a:off x="365760" y="1691640"/>
            <a:ext cx="5394960" cy="4572000"/>
          </a:xfrm>
          <a:prstGeom prst="rect">
            <a:avLst/>
          </a:prstGeom>
          <a:noFill/>
        </p:spPr>
        <p:txBody>
          <a:bodyPr wrap="square">
            <a:spAutoFit/>
          </a:bodyPr>
          <a:lstStyle/>
          <a:p>
            <a:pPr algn="l">
              <a:spcBef>
                <a:spcPts val="600"/>
              </a:spcBef>
            </a:pPr>
            <a:r>
              <a:rPr sz="1200">
                <a:solidFill>
                  <a:srgbClr val="1A1A1A"/>
                </a:solidFill>
                <a:latin typeface="Calibri"/>
              </a:rPr>
              <a:t>Week 1: First real packet generated for an upcoming meeting.</a:t>
            </a:r>
          </a:p>
          <a:p>
            <a:pPr algn="l">
              <a:spcBef>
                <a:spcPts val="600"/>
              </a:spcBef>
            </a:pPr>
            <a:r>
              <a:rPr sz="1200">
                <a:solidFill>
                  <a:srgbClr val="1A1A1A"/>
                </a:solidFill>
                <a:latin typeface="Calibri"/>
              </a:rPr>
              <a:t>         Manager reviews it live. One factual thing it got right</a:t>
            </a:r>
          </a:p>
          <a:p>
            <a:pPr algn="l">
              <a:spcBef>
                <a:spcPts val="600"/>
              </a:spcBef>
            </a:pPr>
            <a:r>
              <a:rPr sz="1200">
                <a:solidFill>
                  <a:srgbClr val="1A1A1A"/>
                </a:solidFill>
                <a:latin typeface="Calibri"/>
              </a:rPr>
              <a:t>         that manual prep would have taken 30 minutes to find.</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Week 2: First open issue caught that wasn't on anyone's radar.</a:t>
            </a:r>
          </a:p>
          <a:p>
            <a:pPr algn="l">
              <a:spcBef>
                <a:spcPts val="600"/>
              </a:spcBef>
            </a:pPr>
            <a:r>
              <a:rPr sz="1200">
                <a:solidFill>
                  <a:srgbClr val="1A1A1A"/>
                </a:solidFill>
                <a:latin typeface="Calibri"/>
              </a:rPr>
              <a:t>         The Galil Dairy price-cap violation is the template:</a:t>
            </a:r>
          </a:p>
          <a:p>
            <a:pPr algn="l">
              <a:spcBef>
                <a:spcPts val="600"/>
              </a:spcBef>
            </a:pPr>
            <a:r>
              <a:rPr sz="1200">
                <a:solidFill>
                  <a:srgbClr val="1A1A1A"/>
                </a:solidFill>
                <a:latin typeface="Calibri"/>
              </a:rPr>
              <a:t>         a supplier quote in email that violates contract Section 4.2.</a:t>
            </a:r>
          </a:p>
          <a:p>
            <a:pPr algn="l">
              <a:spcBef>
                <a:spcPts val="600"/>
              </a:spcBef>
            </a:pPr>
            <a:r>
              <a:rPr sz="1200">
                <a:solidFill>
                  <a:srgbClr val="1A1A1A"/>
                </a:solidFill>
                <a:latin typeface="Calibri"/>
              </a:rPr>
              <a:t>         One concrete catch = trust established faster than any demo.</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Week 3: Correction rate below 20%. Analyst marks fewer fields wrong.</a:t>
            </a:r>
          </a:p>
          <a:p>
            <a:pPr algn="l">
              <a:spcBef>
                <a:spcPts val="600"/>
              </a:spcBef>
            </a:pPr>
            <a:r>
              <a:rPr sz="1200">
                <a:solidFill>
                  <a:srgbClr val="1A1A1A"/>
                </a:solidFill>
                <a:latin typeface="Calibri"/>
              </a:rPr>
              <a:t>         Show them the trend. That number going down is the proof.</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Week 4: Manager walks into a meeting and says they didn't need</a:t>
            </a:r>
          </a:p>
          <a:p>
            <a:pPr algn="l">
              <a:spcBef>
                <a:spcPts val="600"/>
              </a:spcBef>
            </a:pPr>
            <a:r>
              <a:rPr sz="1200">
                <a:solidFill>
                  <a:srgbClr val="1A1A1A"/>
                </a:solidFill>
                <a:latin typeface="Calibri"/>
              </a:rPr>
              <a:t>         to do any manual prep. That is the success signal.</a:t>
            </a:r>
          </a:p>
        </p:txBody>
      </p:sp>
      <p:sp>
        <p:nvSpPr>
          <p:cNvPr id="10" name="Rectangle 9"/>
          <p:cNvSpPr/>
          <p:nvPr/>
        </p:nvSpPr>
        <p:spPr>
          <a:xfrm>
            <a:off x="6172200" y="1170432"/>
            <a:ext cx="5760720" cy="539496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1234440"/>
            <a:ext cx="5394960" cy="36576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Enablement — what training actually looks like</a:t>
            </a:r>
          </a:p>
        </p:txBody>
      </p:sp>
      <p:sp>
        <p:nvSpPr>
          <p:cNvPr id="12" name="TextBox 11"/>
          <p:cNvSpPr txBox="1"/>
          <p:nvPr/>
        </p:nvSpPr>
        <p:spPr>
          <a:xfrm>
            <a:off x="6355080" y="1691640"/>
            <a:ext cx="5394960" cy="4572000"/>
          </a:xfrm>
          <a:prstGeom prst="rect">
            <a:avLst/>
          </a:prstGeom>
          <a:noFill/>
        </p:spPr>
        <p:txBody>
          <a:bodyPr wrap="square">
            <a:spAutoFit/>
          </a:bodyPr>
          <a:lstStyle/>
          <a:p>
            <a:pPr algn="l">
              <a:spcBef>
                <a:spcPts val="600"/>
              </a:spcBef>
            </a:pPr>
            <a:r>
              <a:rPr sz="1200">
                <a:solidFill>
                  <a:srgbClr val="1A1A1A"/>
                </a:solidFill>
                <a:latin typeface="Calibri"/>
              </a:rPr>
              <a:t>Not a training deck. Not a webinar.</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Session 1 (30 min, Week 1):</a:t>
            </a:r>
          </a:p>
          <a:p>
            <a:pPr algn="l">
              <a:spcBef>
                <a:spcPts val="600"/>
              </a:spcBef>
            </a:pPr>
            <a:r>
              <a:rPr sz="1200">
                <a:solidFill>
                  <a:srgbClr val="1A1A1A"/>
                </a:solidFill>
                <a:latin typeface="Calibri"/>
              </a:rPr>
              <a:t>  Sit with the analyst. Run the tool together on a real</a:t>
            </a:r>
          </a:p>
          <a:p>
            <a:pPr algn="l">
              <a:spcBef>
                <a:spcPts val="600"/>
              </a:spcBef>
            </a:pPr>
            <a:r>
              <a:rPr sz="1200">
                <a:solidFill>
                  <a:srgbClr val="1A1A1A"/>
                </a:solidFill>
                <a:latin typeface="Calibri"/>
              </a:rPr>
              <a:t>  upcoming meeting. Walk through every section of the packet.</a:t>
            </a:r>
          </a:p>
          <a:p>
            <a:pPr algn="l">
              <a:spcBef>
                <a:spcPts val="600"/>
              </a:spcBef>
            </a:pPr>
            <a:r>
              <a:rPr sz="1200">
                <a:solidFill>
                  <a:srgbClr val="1A1A1A"/>
                </a:solidFill>
                <a:latin typeface="Calibri"/>
              </a:rPr>
              <a:t>  Show them the 'Show source' expanders.</a:t>
            </a:r>
          </a:p>
          <a:p>
            <a:pPr algn="l">
              <a:spcBef>
                <a:spcPts val="600"/>
              </a:spcBef>
            </a:pPr>
            <a:r>
              <a:rPr sz="1200">
                <a:solidFill>
                  <a:srgbClr val="1A1A1A"/>
                </a:solidFill>
                <a:latin typeface="Calibri"/>
              </a:rPr>
              <a:t>  Show them how to flag a correction.</a:t>
            </a:r>
          </a:p>
          <a:p>
            <a:pPr algn="l">
              <a:spcBef>
                <a:spcPts val="600"/>
              </a:spcBef>
            </a:pPr>
            <a:r>
              <a:rPr sz="1200">
                <a:solidFill>
                  <a:srgbClr val="1A1A1A"/>
                </a:solidFill>
                <a:latin typeface="Calibri"/>
              </a:rPr>
              <a:t>  That is the entire training.</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Session 2 (15 min, Week 3):</a:t>
            </a:r>
          </a:p>
          <a:p>
            <a:pPr algn="l">
              <a:spcBef>
                <a:spcPts val="600"/>
              </a:spcBef>
            </a:pPr>
            <a:r>
              <a:rPr sz="1200">
                <a:solidFill>
                  <a:srgbClr val="1A1A1A"/>
                </a:solidFill>
                <a:latin typeface="Calibri"/>
              </a:rPr>
              <a:t>  Review the correction log together.</a:t>
            </a:r>
          </a:p>
          <a:p>
            <a:pPr algn="l">
              <a:spcBef>
                <a:spcPts val="600"/>
              </a:spcBef>
            </a:pPr>
            <a:r>
              <a:rPr sz="1200">
                <a:solidFill>
                  <a:srgbClr val="1A1A1A"/>
                </a:solidFill>
                <a:latin typeface="Calibri"/>
              </a:rPr>
              <a:t>  Which fields did they flag? Any pattern?</a:t>
            </a:r>
          </a:p>
          <a:p>
            <a:pPr algn="l">
              <a:spcBef>
                <a:spcPts val="600"/>
              </a:spcBef>
            </a:pPr>
            <a:r>
              <a:rPr sz="1200">
                <a:solidFill>
                  <a:srgbClr val="1A1A1A"/>
                </a:solidFill>
                <a:latin typeface="Calibri"/>
              </a:rPr>
              <a:t>  This is the prompt tuning input, framed as their feedback.</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Ongoing:</a:t>
            </a:r>
          </a:p>
          <a:p>
            <a:pPr algn="l">
              <a:spcBef>
                <a:spcPts val="600"/>
              </a:spcBef>
            </a:pPr>
            <a:r>
              <a:rPr sz="1200">
                <a:solidFill>
                  <a:srgbClr val="1A1A1A"/>
                </a:solidFill>
                <a:latin typeface="Calibri"/>
              </a:rPr>
              <a:t>  One-page reference card: what each section means,</a:t>
            </a:r>
          </a:p>
          <a:p>
            <a:pPr algn="l">
              <a:spcBef>
                <a:spcPts val="600"/>
              </a:spcBef>
            </a:pPr>
            <a:r>
              <a:rPr sz="1200">
                <a:solidFill>
                  <a:srgbClr val="1A1A1A"/>
                </a:solidFill>
                <a:latin typeface="Calibri"/>
              </a:rPr>
              <a:t>  when to override, who to contact if something looks wrong.</a:t>
            </a:r>
          </a:p>
          <a:p>
            <a:pPr algn="l">
              <a:spcBef>
                <a:spcPts val="600"/>
              </a:spcBef>
            </a:pPr>
            <a:r>
              <a:rPr sz="1200">
                <a:solidFill>
                  <a:srgbClr val="1A1A1A"/>
                </a:solidFill>
                <a:latin typeface="Calibri"/>
              </a:rPr>
              <a:t>  Non-technical. No jargon.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The ROI Case</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Conservative anchor — lead with what's measurable, then the multiplier</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320040" y="1188720"/>
            <a:ext cx="6400800" cy="53492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261872"/>
            <a:ext cx="6035040" cy="365760"/>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Labor cost avoidance — the conservative number</a:t>
            </a:r>
          </a:p>
        </p:txBody>
      </p:sp>
      <p:sp>
        <p:nvSpPr>
          <p:cNvPr id="9" name="TextBox 8"/>
          <p:cNvSpPr txBox="1"/>
          <p:nvPr/>
        </p:nvSpPr>
        <p:spPr>
          <a:xfrm>
            <a:off x="502920" y="1691640"/>
            <a:ext cx="6035040" cy="4663440"/>
          </a:xfrm>
          <a:prstGeom prst="rect">
            <a:avLst/>
          </a:prstGeom>
          <a:noFill/>
        </p:spPr>
        <p:txBody>
          <a:bodyPr wrap="square">
            <a:spAutoFit/>
          </a:bodyPr>
          <a:lstStyle/>
          <a:p>
            <a:pPr algn="l">
              <a:spcBef>
                <a:spcPts val="600"/>
              </a:spcBef>
            </a:pPr>
            <a:r>
              <a:rPr sz="1200">
                <a:solidFill>
                  <a:srgbClr val="1A1A1A"/>
                </a:solidFill>
                <a:latin typeface="Calibri"/>
              </a:rPr>
              <a:t>Assumption 1:  7 meetings/month (14 meetings over the 60-day calendar)</a:t>
            </a:r>
          </a:p>
          <a:p>
            <a:pPr algn="l">
              <a:spcBef>
                <a:spcPts val="600"/>
              </a:spcBef>
            </a:pPr>
            <a:r>
              <a:rPr sz="1200">
                <a:solidFill>
                  <a:srgbClr val="1A1A1A"/>
                </a:solidFill>
                <a:latin typeface="Calibri"/>
              </a:rPr>
              <a:t>Assumption 2:  Prep time reduced from 90 min → 15 min per meeting</a:t>
            </a:r>
          </a:p>
          <a:p>
            <a:pPr algn="l">
              <a:spcBef>
                <a:spcPts val="600"/>
              </a:spcBef>
            </a:pPr>
            <a:r>
              <a:rPr sz="1200">
                <a:solidFill>
                  <a:srgbClr val="1A1A1A"/>
                </a:solidFill>
                <a:latin typeface="Calibri"/>
              </a:rPr>
              <a:t>                      (review packet + flag corrections)</a:t>
            </a:r>
          </a:p>
          <a:p>
            <a:pPr algn="l">
              <a:spcBef>
                <a:spcPts val="600"/>
              </a:spcBef>
            </a:pPr>
            <a:r>
              <a:rPr sz="1200">
                <a:solidFill>
                  <a:srgbClr val="1A1A1A"/>
                </a:solidFill>
                <a:latin typeface="Calibri"/>
              </a:rPr>
              <a:t>Time saved:      75 min × 7 meetings = 8.75 hrs/month</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Assumption 3:  Analyst fully-loaded cost: ₪200/hr</a:t>
            </a:r>
          </a:p>
          <a:p>
            <a:pPr algn="l">
              <a:spcBef>
                <a:spcPts val="600"/>
              </a:spcBef>
            </a:pPr>
            <a:r>
              <a:rPr sz="1200">
                <a:solidFill>
                  <a:srgbClr val="1A1A1A"/>
                </a:solidFill>
                <a:latin typeface="Calibri"/>
              </a:rPr>
              <a:t>                      [confirm with HR — this is the key input]</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Monthly saving:   8.75 hrs × ₪200 = ₪1,750/month</a:t>
            </a:r>
          </a:p>
          <a:p>
            <a:pPr algn="l">
              <a:spcBef>
                <a:spcPts val="600"/>
              </a:spcBef>
            </a:pPr>
            <a:r>
              <a:rPr sz="1200">
                <a:solidFill>
                  <a:srgbClr val="1A1A1A"/>
                </a:solidFill>
                <a:latin typeface="Calibri"/>
              </a:rPr>
              <a:t>Annual saving:    ₪1,750 × 12 = ₪21,000/year</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API cost:           ~7 meetings × ~$1/call = ~$7/month</a:t>
            </a:r>
          </a:p>
          <a:p>
            <a:pPr algn="l">
              <a:spcBef>
                <a:spcPts val="600"/>
              </a:spcBef>
            </a:pPr>
            <a:r>
              <a:rPr sz="1200">
                <a:solidFill>
                  <a:srgbClr val="1A1A1A"/>
                </a:solidFill>
                <a:latin typeface="Calibri"/>
              </a:rPr>
              <a:t>                      Negligible. Rounds to zero.</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Conservative 12-month ROI:   ₪21,000 in analyst time</a:t>
            </a:r>
          </a:p>
        </p:txBody>
      </p:sp>
      <p:sp>
        <p:nvSpPr>
          <p:cNvPr id="10" name="Rectangle 9"/>
          <p:cNvSpPr/>
          <p:nvPr/>
        </p:nvSpPr>
        <p:spPr>
          <a:xfrm>
            <a:off x="6903720" y="1188720"/>
            <a:ext cx="4937760" cy="2560320"/>
          </a:xfrm>
          <a:prstGeom prst="rect">
            <a:avLst/>
          </a:prstGeom>
          <a:solidFill>
            <a:srgbClr val="FBEBE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86600" y="1261872"/>
            <a:ext cx="4572000" cy="365760"/>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The multiplier: one caught violation</a:t>
            </a:r>
          </a:p>
        </p:txBody>
      </p:sp>
      <p:sp>
        <p:nvSpPr>
          <p:cNvPr id="12" name="TextBox 11"/>
          <p:cNvSpPr txBox="1"/>
          <p:nvPr/>
        </p:nvSpPr>
        <p:spPr>
          <a:xfrm>
            <a:off x="7086600" y="1691640"/>
            <a:ext cx="4572000" cy="1920240"/>
          </a:xfrm>
          <a:prstGeom prst="rect">
            <a:avLst/>
          </a:prstGeom>
          <a:noFill/>
        </p:spPr>
        <p:txBody>
          <a:bodyPr wrap="square">
            <a:spAutoFit/>
          </a:bodyPr>
          <a:lstStyle/>
          <a:p>
            <a:pPr algn="l">
              <a:spcBef>
                <a:spcPts val="600"/>
              </a:spcBef>
            </a:pPr>
            <a:r>
              <a:rPr sz="1200">
                <a:solidFill>
                  <a:srgbClr val="1A1A1A"/>
                </a:solidFill>
                <a:latin typeface="Calibri"/>
              </a:rPr>
              <a:t>Galil Dairy (live in the demo):</a:t>
            </a:r>
          </a:p>
          <a:p>
            <a:pPr algn="l">
              <a:spcBef>
                <a:spcPts val="600"/>
              </a:spcBef>
            </a:pPr>
            <a:r>
              <a:rPr sz="1200">
                <a:solidFill>
                  <a:srgbClr val="1A1A1A"/>
                </a:solidFill>
                <a:latin typeface="Calibri"/>
              </a:rPr>
              <a:t>+₪1.30/kg quoted over contract cap</a:t>
            </a:r>
          </a:p>
          <a:p>
            <a:pPr algn="l">
              <a:spcBef>
                <a:spcPts val="600"/>
              </a:spcBef>
            </a:pPr>
            <a:r>
              <a:rPr sz="1200">
                <a:solidFill>
                  <a:srgbClr val="1A1A1A"/>
                </a:solidFill>
                <a:latin typeface="Calibri"/>
              </a:rPr>
              <a:t>22 tons/quarter × 4 quarters = 88 tons/year</a:t>
            </a:r>
          </a:p>
          <a:p>
            <a:pPr algn="l">
              <a:spcBef>
                <a:spcPts val="600"/>
              </a:spcBef>
            </a:pPr>
            <a:r>
              <a:rPr sz="1200">
                <a:solidFill>
                  <a:srgbClr val="1A1A1A"/>
                </a:solidFill>
                <a:latin typeface="Calibri"/>
              </a:rPr>
              <a:t>Unchallenged cost: ₪1.30 × 88,000 kg = ₪114,400</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The tool caught this in the prep packet.</a:t>
            </a:r>
          </a:p>
          <a:p>
            <a:pPr algn="l">
              <a:spcBef>
                <a:spcPts val="600"/>
              </a:spcBef>
            </a:pPr>
            <a:r>
              <a:rPr sz="1200">
                <a:solidFill>
                  <a:srgbClr val="1A1A1A"/>
                </a:solidFill>
                <a:latin typeface="Calibri"/>
              </a:rPr>
              <a:t>One meeting. One flagged clause.</a:t>
            </a:r>
          </a:p>
          <a:p>
            <a:pPr algn="l">
              <a:spcBef>
                <a:spcPts val="600"/>
              </a:spcBef>
            </a:pPr>
            <a:r>
              <a:rPr sz="1200">
                <a:solidFill>
                  <a:srgbClr val="1A1A1A"/>
                </a:solidFill>
                <a:latin typeface="Calibri"/>
              </a:rPr>
              <a:t>That alone covers 3+ years of the tool's cost.</a:t>
            </a:r>
          </a:p>
        </p:txBody>
      </p:sp>
      <p:sp>
        <p:nvSpPr>
          <p:cNvPr id="13" name="Rectangle 12"/>
          <p:cNvSpPr/>
          <p:nvPr/>
        </p:nvSpPr>
        <p:spPr>
          <a:xfrm>
            <a:off x="6903720" y="3931920"/>
            <a:ext cx="4937760" cy="2606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86600" y="4005072"/>
            <a:ext cx="4572000" cy="365760"/>
          </a:xfrm>
          <a:prstGeom prst="rect">
            <a:avLst/>
          </a:prstGeom>
          <a:noFill/>
        </p:spPr>
        <p:txBody>
          <a:bodyPr wrap="none">
            <a:spAutoFit/>
          </a:bodyPr>
          <a:lstStyle/>
          <a:p>
            <a:endParaRPr/>
          </a:p>
          <a:p>
            <a:pPr algn="l">
              <a:spcBef>
                <a:spcPts val="0"/>
              </a:spcBef>
              <a:spcAft>
                <a:spcPts val="0"/>
              </a:spcAft>
            </a:pPr>
            <a:r>
              <a:rPr sz="1300" b="1">
                <a:solidFill>
                  <a:srgbClr val="1A1A1A"/>
                </a:solidFill>
                <a:latin typeface="Calibri"/>
              </a:rPr>
              <a:t>What to tell the CFO at month 3</a:t>
            </a:r>
          </a:p>
        </p:txBody>
      </p:sp>
      <p:sp>
        <p:nvSpPr>
          <p:cNvPr id="15" name="TextBox 14"/>
          <p:cNvSpPr txBox="1"/>
          <p:nvPr/>
        </p:nvSpPr>
        <p:spPr>
          <a:xfrm>
            <a:off x="7086600" y="4434840"/>
            <a:ext cx="4572000" cy="1965960"/>
          </a:xfrm>
          <a:prstGeom prst="rect">
            <a:avLst/>
          </a:prstGeom>
          <a:noFill/>
        </p:spPr>
        <p:txBody>
          <a:bodyPr wrap="square">
            <a:spAutoFit/>
          </a:bodyPr>
          <a:lstStyle/>
          <a:p>
            <a:pPr algn="l">
              <a:spcBef>
                <a:spcPts val="600"/>
              </a:spcBef>
            </a:pPr>
            <a:r>
              <a:rPr sz="1200">
                <a:solidFill>
                  <a:srgbClr val="1A1A1A"/>
                </a:solidFill>
                <a:latin typeface="Calibri"/>
              </a:rPr>
              <a:t>Lead with: ₪21k/year in analyst time reclaimed.</a:t>
            </a:r>
          </a:p>
          <a:p>
            <a:pPr algn="l">
              <a:spcBef>
                <a:spcPts val="600"/>
              </a:spcBef>
            </a:pPr>
            <a:r>
              <a:rPr sz="1200">
                <a:solidFill>
                  <a:srgbClr val="1A1A1A"/>
                </a:solidFill>
                <a:latin typeface="Calibri"/>
              </a:rPr>
              <a:t>Don't lead with: speculative negotiation savings.</a:t>
            </a:r>
          </a:p>
          <a:p>
            <a:pPr algn="l">
              <a:spcBef>
                <a:spcPts val="600"/>
              </a:spcBef>
            </a:pPr>
            <a:r>
              <a:rPr sz="1200">
                <a:solidFill>
                  <a:srgbClr val="1A1A1A"/>
                </a:solidFill>
                <a:latin typeface="Calibri"/>
              </a:rPr>
              <a:t>Add: correction rate trending down (trust improving).</a:t>
            </a:r>
          </a:p>
          <a:p>
            <a:pPr algn="l">
              <a:spcBef>
                <a:spcPts val="600"/>
              </a:spcBef>
            </a:pPr>
            <a:r>
              <a:rPr sz="1200">
                <a:solidFill>
                  <a:srgbClr val="1A1A1A"/>
                </a:solidFill>
                <a:latin typeface="Calibri"/>
              </a:rPr>
              <a:t>Add: open issues caught before meetings (count them).</a:t>
            </a:r>
          </a:p>
          <a:p>
            <a:pPr algn="l">
              <a:spcBef>
                <a:spcPts val="600"/>
              </a:spcBef>
            </a:pPr>
            <a:r>
              <a:rPr sz="1200">
                <a:solidFill>
                  <a:srgbClr val="1A1A1A"/>
                </a:solidFill>
                <a:latin typeface="Calibri"/>
              </a:rPr>
              <a:t>The ₪114k violation multiplier is the kicker —</a:t>
            </a:r>
          </a:p>
          <a:p>
            <a:pPr algn="l">
              <a:spcBef>
                <a:spcPts val="600"/>
              </a:spcBef>
            </a:pPr>
            <a:r>
              <a:rPr sz="1200">
                <a:solidFill>
                  <a:srgbClr val="1A1A1A"/>
                </a:solidFill>
                <a:latin typeface="Calibri"/>
              </a:rPr>
              <a:t>present it as 'one example already found in pilot.'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What's Next</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What I'd prioritise in Phase 2 — and what I deliberately left out</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TextBox 6"/>
          <p:cNvSpPr txBox="1"/>
          <p:nvPr/>
        </p:nvSpPr>
        <p:spPr>
          <a:xfrm>
            <a:off x="320040" y="1234440"/>
            <a:ext cx="6858000" cy="5303520"/>
          </a:xfrm>
          <a:prstGeom prst="rect">
            <a:avLst/>
          </a:prstGeom>
          <a:noFill/>
        </p:spPr>
        <p:txBody>
          <a:bodyPr wrap="square">
            <a:spAutoFit/>
          </a:bodyPr>
          <a:lstStyle/>
          <a:p>
            <a:pPr algn="l">
              <a:spcBef>
                <a:spcPts val="600"/>
              </a:spcBef>
            </a:pPr>
            <a:r>
              <a:rPr sz="1300">
                <a:solidFill>
                  <a:srgbClr val="1A1A1A"/>
                </a:solidFill>
                <a:latin typeface="Calibri"/>
              </a:rPr>
              <a:t>Priority 1: Live email connector (Microsoft Graph API)</a:t>
            </a:r>
          </a:p>
          <a:p>
            <a:pPr algn="l">
              <a:spcBef>
                <a:spcPts val="600"/>
              </a:spcBef>
            </a:pPr>
            <a:r>
              <a:rPr sz="1300">
                <a:solidFill>
                  <a:srgbClr val="1A1A1A"/>
                </a:solidFill>
                <a:latin typeface="Calibri"/>
              </a:rPr>
              <a:t>    → Real supplier threads, no synthetic data</a:t>
            </a:r>
          </a:p>
          <a:p>
            <a:pPr algn="l">
              <a:spcBef>
                <a:spcPts val="600"/>
              </a:spcBef>
            </a:pPr>
            <a:r>
              <a:rPr sz="1300">
                <a:solidFill>
                  <a:srgbClr val="1A1A1A"/>
                </a:solidFill>
                <a:latin typeface="Calibri"/>
              </a:rPr>
              <a:t>    → Scheduled pull, triggered before each meeting</a:t>
            </a:r>
          </a:p>
          <a:p>
            <a:pPr algn="l">
              <a:spcBef>
                <a:spcPts val="600"/>
              </a:spcBef>
            </a:pPr>
            <a:endParaRPr sz="1300">
              <a:solidFill>
                <a:srgbClr val="1A1A1A"/>
              </a:solidFill>
              <a:latin typeface="Calibri"/>
            </a:endParaRPr>
          </a:p>
          <a:p>
            <a:pPr algn="l">
              <a:spcBef>
                <a:spcPts val="600"/>
              </a:spcBef>
            </a:pPr>
            <a:r>
              <a:rPr sz="1300">
                <a:solidFill>
                  <a:srgbClr val="1A1A1A"/>
                </a:solidFill>
                <a:latin typeface="Calibri"/>
              </a:rPr>
              <a:t>Priority 2: SharePoint contract connector</a:t>
            </a:r>
          </a:p>
          <a:p>
            <a:pPr algn="l">
              <a:spcBef>
                <a:spcPts val="600"/>
              </a:spcBef>
            </a:pPr>
            <a:r>
              <a:rPr sz="1300">
                <a:solidFill>
                  <a:srgbClr val="1A1A1A"/>
                </a:solidFill>
                <a:latin typeface="Calibri"/>
              </a:rPr>
              <a:t>    → Always the active version, not a stale copy</a:t>
            </a:r>
          </a:p>
          <a:p>
            <a:pPr algn="l">
              <a:spcBef>
                <a:spcPts val="600"/>
              </a:spcBef>
            </a:pPr>
            <a:r>
              <a:rPr sz="1300">
                <a:solidFill>
                  <a:srgbClr val="1A1A1A"/>
                </a:solidFill>
                <a:latin typeface="Calibri"/>
              </a:rPr>
              <a:t>    → OCR pipeline for scanned PDFs</a:t>
            </a:r>
          </a:p>
          <a:p>
            <a:pPr algn="l">
              <a:spcBef>
                <a:spcPts val="600"/>
              </a:spcBef>
            </a:pPr>
            <a:endParaRPr sz="1300">
              <a:solidFill>
                <a:srgbClr val="1A1A1A"/>
              </a:solidFill>
              <a:latin typeface="Calibri"/>
            </a:endParaRPr>
          </a:p>
          <a:p>
            <a:pPr algn="l">
              <a:spcBef>
                <a:spcPts val="600"/>
              </a:spcBef>
            </a:pPr>
            <a:r>
              <a:rPr sz="1300">
                <a:solidFill>
                  <a:srgbClr val="1A1A1A"/>
                </a:solidFill>
                <a:latin typeface="Calibri"/>
              </a:rPr>
              <a:t>Priority 3: Persist correction log → prompt tuning cycle</a:t>
            </a:r>
          </a:p>
          <a:p>
            <a:pPr algn="l">
              <a:spcBef>
                <a:spcPts val="600"/>
              </a:spcBef>
            </a:pPr>
            <a:r>
              <a:rPr sz="1300">
                <a:solidFill>
                  <a:srgbClr val="1A1A1A"/>
                </a:solidFill>
                <a:latin typeface="Calibri"/>
              </a:rPr>
              <a:t>    → correction_log.csv already captures this</a:t>
            </a:r>
          </a:p>
          <a:p>
            <a:pPr algn="l">
              <a:spcBef>
                <a:spcPts val="600"/>
              </a:spcBef>
            </a:pPr>
            <a:r>
              <a:rPr sz="1300">
                <a:solidFill>
                  <a:srgbClr val="1A1A1A"/>
                </a:solidFill>
                <a:latin typeface="Calibri"/>
              </a:rPr>
              <a:t>    → Monthly review: which fields/suppliers have high error rate?</a:t>
            </a:r>
          </a:p>
          <a:p>
            <a:pPr algn="l">
              <a:spcBef>
                <a:spcPts val="600"/>
              </a:spcBef>
            </a:pPr>
            <a:r>
              <a:rPr sz="1300">
                <a:solidFill>
                  <a:srgbClr val="1A1A1A"/>
                </a:solidFill>
                <a:latin typeface="Calibri"/>
              </a:rPr>
              <a:t>    → Update extraction prompt accordingly</a:t>
            </a:r>
          </a:p>
          <a:p>
            <a:pPr algn="l">
              <a:spcBef>
                <a:spcPts val="600"/>
              </a:spcBef>
            </a:pPr>
            <a:endParaRPr sz="1300">
              <a:solidFill>
                <a:srgbClr val="1A1A1A"/>
              </a:solidFill>
              <a:latin typeface="Calibri"/>
            </a:endParaRPr>
          </a:p>
          <a:p>
            <a:pPr algn="l">
              <a:spcBef>
                <a:spcPts val="600"/>
              </a:spcBef>
            </a:pPr>
            <a:r>
              <a:rPr sz="1300">
                <a:solidFill>
                  <a:srgbClr val="1A1A1A"/>
                </a:solidFill>
                <a:latin typeface="Calibri"/>
              </a:rPr>
              <a:t>Priority 4: Supplier segmentation</a:t>
            </a:r>
          </a:p>
          <a:p>
            <a:pPr algn="l">
              <a:spcBef>
                <a:spcPts val="600"/>
              </a:spcBef>
            </a:pPr>
            <a:r>
              <a:rPr sz="1300">
                <a:solidFill>
                  <a:srgbClr val="1A1A1A"/>
                </a:solidFill>
                <a:latin typeface="Calibri"/>
              </a:rPr>
              <a:t>    → Flag high-risk suppliers based on relationship health score</a:t>
            </a:r>
          </a:p>
          <a:p>
            <a:pPr algn="l">
              <a:spcBef>
                <a:spcPts val="600"/>
              </a:spcBef>
            </a:pPr>
            <a:r>
              <a:rPr sz="1300">
                <a:solidFill>
                  <a:srgbClr val="1A1A1A"/>
                </a:solidFill>
                <a:latin typeface="Calibri"/>
              </a:rPr>
              <a:t>    → Auto-generate prep for every meeting, not just on-demand</a:t>
            </a:r>
          </a:p>
        </p:txBody>
      </p:sp>
      <p:sp>
        <p:nvSpPr>
          <p:cNvPr id="8" name="Rectangle 7"/>
          <p:cNvSpPr/>
          <p:nvPr/>
        </p:nvSpPr>
        <p:spPr>
          <a:xfrm>
            <a:off x="7406640" y="1234440"/>
            <a:ext cx="4434840" cy="53035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0" y="1307592"/>
            <a:ext cx="4114800" cy="365760"/>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Deliberately out of scope</a:t>
            </a:r>
          </a:p>
        </p:txBody>
      </p:sp>
      <p:sp>
        <p:nvSpPr>
          <p:cNvPr id="10" name="TextBox 9"/>
          <p:cNvSpPr txBox="1"/>
          <p:nvPr/>
        </p:nvSpPr>
        <p:spPr>
          <a:xfrm>
            <a:off x="7589520" y="1737360"/>
            <a:ext cx="4114800" cy="4663440"/>
          </a:xfrm>
          <a:prstGeom prst="rect">
            <a:avLst/>
          </a:prstGeom>
          <a:noFill/>
        </p:spPr>
        <p:txBody>
          <a:bodyPr wrap="square">
            <a:spAutoFit/>
          </a:bodyPr>
          <a:lstStyle/>
          <a:p>
            <a:pPr algn="l">
              <a:spcBef>
                <a:spcPts val="600"/>
              </a:spcBef>
            </a:pPr>
            <a:r>
              <a:rPr sz="1200">
                <a:solidFill>
                  <a:srgbClr val="1A1A1A"/>
                </a:solidFill>
                <a:latin typeface="Calibri"/>
              </a:rPr>
              <a:t>❌  Negotiation strategy advice</a:t>
            </a:r>
          </a:p>
          <a:p>
            <a:pPr algn="l">
              <a:spcBef>
                <a:spcPts val="600"/>
              </a:spcBef>
            </a:pPr>
            <a:r>
              <a:rPr sz="1200">
                <a:solidFill>
                  <a:srgbClr val="1A1A1A"/>
                </a:solidFill>
                <a:latin typeface="Calibri"/>
              </a:rPr>
              <a:t>     Human judgment stays human</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Full contract lifecycle mgmt</a:t>
            </a:r>
          </a:p>
          <a:p>
            <a:pPr algn="l">
              <a:spcBef>
                <a:spcPts val="600"/>
              </a:spcBef>
            </a:pPr>
            <a:r>
              <a:rPr sz="1200">
                <a:solidFill>
                  <a:srgbClr val="1A1A1A"/>
                </a:solidFill>
                <a:latin typeface="Calibri"/>
              </a:rPr>
              <a:t>     Different problem, different tool</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Live MCP connector in prototype</a:t>
            </a:r>
          </a:p>
          <a:p>
            <a:pPr algn="l">
              <a:spcBef>
                <a:spcPts val="600"/>
              </a:spcBef>
            </a:pPr>
            <a:r>
              <a:rPr sz="1200">
                <a:solidFill>
                  <a:srgbClr val="1A1A1A"/>
                </a:solidFill>
                <a:latin typeface="Calibri"/>
              </a:rPr>
              <a:t>     Demo-day network risk not worth it</a:t>
            </a:r>
          </a:p>
          <a:p>
            <a:pPr algn="l">
              <a:spcBef>
                <a:spcPts val="600"/>
              </a:spcBef>
            </a:pPr>
            <a:r>
              <a:rPr sz="1200">
                <a:solidFill>
                  <a:srgbClr val="1A1A1A"/>
                </a:solidFill>
                <a:latin typeface="Calibri"/>
              </a:rPr>
              <a:t>     — documented as production path</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Vector store in prototype</a:t>
            </a:r>
          </a:p>
          <a:p>
            <a:pPr algn="l">
              <a:spcBef>
                <a:spcPts val="600"/>
              </a:spcBef>
            </a:pPr>
            <a:r>
              <a:rPr sz="1200">
                <a:solidFill>
                  <a:srgbClr val="1A1A1A"/>
                </a:solidFill>
                <a:latin typeface="Calibri"/>
              </a:rPr>
              <a:t>     Unjustified at 8 suppliers / 111 emails</a:t>
            </a:r>
          </a:p>
          <a:p>
            <a:pPr algn="l">
              <a:spcBef>
                <a:spcPts val="600"/>
              </a:spcBef>
            </a:pPr>
            <a:r>
              <a:rPr sz="1200">
                <a:solidFill>
                  <a:srgbClr val="1A1A1A"/>
                </a:solidFill>
                <a:latin typeface="Calibri"/>
              </a:rPr>
              <a:t>     — right call at real scale</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Teams / Slack integration</a:t>
            </a:r>
          </a:p>
          <a:p>
            <a:pPr algn="l">
              <a:spcBef>
                <a:spcPts val="600"/>
              </a:spcBef>
            </a:pPr>
            <a:r>
              <a:rPr sz="1200">
                <a:solidFill>
                  <a:srgbClr val="1A1A1A"/>
                </a:solidFill>
                <a:latin typeface="Calibri"/>
              </a:rPr>
              <a:t>     Phase 3, after trust is established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3793</Words>
  <Application>Microsoft Office PowerPoint</Application>
  <PresentationFormat>Custom</PresentationFormat>
  <Paragraphs>760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Windows User</cp:lastModifiedBy>
  <cp:revision>4</cp:revision>
  <dcterms:created xsi:type="dcterms:W3CDTF">2013-01-27T09:14:16Z</dcterms:created>
  <dcterms:modified xsi:type="dcterms:W3CDTF">2026-06-26T11:14:39Z</dcterms:modified>
  <cp:category/>
</cp:coreProperties>
</file>